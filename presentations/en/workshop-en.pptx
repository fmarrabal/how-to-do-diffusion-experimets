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5.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scatterChart>
        <c:scatterStyle val="lineMarker"/>
        <c:varyColors val="1"/>
        <c:ser>
          <c:idx val="0"/>
          <c:order val="0"/>
          <c:tx>
            <c:v>Ideal zg model</c:v>
          </c:tx>
          <c:spPr>
            <a:ln w="28575">
              <a:solidFill>
                <a:srgbClr val="087E98"/>
              </a:solidFill>
            </a:ln>
          </c:spPr>
          <c:marker>
            <c:symbol val="none"/>
          </c:marker>
          <c:xVal>
            <c:numRef>
              <c:f>'Chart Data'!$A$2:$A$122</c:f>
              <c:numCache>
                <c:formatCode>General</c:formatCode>
                <c:ptCount val="121"/>
                <c:pt idx="0">
                  <c:v>0</c:v>
                </c:pt>
                <c:pt idx="1">
                  <c:v>0.4</c:v>
                </c:pt>
                <c:pt idx="2">
                  <c:v>0.8</c:v>
                </c:pt>
                <c:pt idx="3">
                  <c:v>1.2</c:v>
                </c:pt>
                <c:pt idx="4">
                  <c:v>1.6</c:v>
                </c:pt>
                <c:pt idx="5">
                  <c:v>2</c:v>
                </c:pt>
                <c:pt idx="6">
                  <c:v>2.4</c:v>
                </c:pt>
                <c:pt idx="7">
                  <c:v>2.8</c:v>
                </c:pt>
                <c:pt idx="8">
                  <c:v>3.2</c:v>
                </c:pt>
                <c:pt idx="9">
                  <c:v>3.6</c:v>
                </c:pt>
                <c:pt idx="10">
                  <c:v>4</c:v>
                </c:pt>
                <c:pt idx="11">
                  <c:v>4.4</c:v>
                </c:pt>
                <c:pt idx="12">
                  <c:v>4.8</c:v>
                </c:pt>
                <c:pt idx="13">
                  <c:v>5.2</c:v>
                </c:pt>
                <c:pt idx="14">
                  <c:v>5.6</c:v>
                </c:pt>
                <c:pt idx="15">
                  <c:v>6</c:v>
                </c:pt>
                <c:pt idx="16">
                  <c:v>6.4</c:v>
                </c:pt>
                <c:pt idx="17">
                  <c:v>6.8</c:v>
                </c:pt>
                <c:pt idx="18">
                  <c:v>7.2</c:v>
                </c:pt>
                <c:pt idx="19">
                  <c:v>7.6</c:v>
                </c:pt>
                <c:pt idx="20">
                  <c:v>8</c:v>
                </c:pt>
                <c:pt idx="21">
                  <c:v>8.4</c:v>
                </c:pt>
                <c:pt idx="22">
                  <c:v>8.8</c:v>
                </c:pt>
                <c:pt idx="23">
                  <c:v>9.2</c:v>
                </c:pt>
                <c:pt idx="24">
                  <c:v>9.6</c:v>
                </c:pt>
                <c:pt idx="25">
                  <c:v>10</c:v>
                </c:pt>
                <c:pt idx="26">
                  <c:v>10.4</c:v>
                </c:pt>
                <c:pt idx="27">
                  <c:v>10.8</c:v>
                </c:pt>
                <c:pt idx="28">
                  <c:v>11.2</c:v>
                </c:pt>
                <c:pt idx="29">
                  <c:v>11.6</c:v>
                </c:pt>
                <c:pt idx="30">
                  <c:v>12</c:v>
                </c:pt>
                <c:pt idx="31">
                  <c:v>12.4</c:v>
                </c:pt>
                <c:pt idx="32">
                  <c:v>12.8</c:v>
                </c:pt>
                <c:pt idx="33">
                  <c:v>13.2</c:v>
                </c:pt>
                <c:pt idx="34">
                  <c:v>13.6</c:v>
                </c:pt>
                <c:pt idx="35">
                  <c:v>14</c:v>
                </c:pt>
                <c:pt idx="36">
                  <c:v>14.4</c:v>
                </c:pt>
                <c:pt idx="37">
                  <c:v>14.8</c:v>
                </c:pt>
                <c:pt idx="38">
                  <c:v>15.2</c:v>
                </c:pt>
                <c:pt idx="39">
                  <c:v>15.6</c:v>
                </c:pt>
                <c:pt idx="40">
                  <c:v>16</c:v>
                </c:pt>
                <c:pt idx="41">
                  <c:v>16.4</c:v>
                </c:pt>
                <c:pt idx="42">
                  <c:v>16.8</c:v>
                </c:pt>
                <c:pt idx="43">
                  <c:v>17.2</c:v>
                </c:pt>
                <c:pt idx="44">
                  <c:v>17.6</c:v>
                </c:pt>
                <c:pt idx="45">
                  <c:v>18</c:v>
                </c:pt>
                <c:pt idx="46">
                  <c:v>18.4</c:v>
                </c:pt>
                <c:pt idx="47">
                  <c:v>18.8</c:v>
                </c:pt>
                <c:pt idx="48">
                  <c:v>19.2</c:v>
                </c:pt>
                <c:pt idx="49">
                  <c:v>19.6</c:v>
                </c:pt>
                <c:pt idx="50">
                  <c:v>20</c:v>
                </c:pt>
                <c:pt idx="51">
                  <c:v>20.4</c:v>
                </c:pt>
                <c:pt idx="52">
                  <c:v>20.8</c:v>
                </c:pt>
                <c:pt idx="53">
                  <c:v>21.2</c:v>
                </c:pt>
                <c:pt idx="54">
                  <c:v>21.6</c:v>
                </c:pt>
                <c:pt idx="55">
                  <c:v>22</c:v>
                </c:pt>
                <c:pt idx="56">
                  <c:v>22.4</c:v>
                </c:pt>
                <c:pt idx="57">
                  <c:v>22.8</c:v>
                </c:pt>
                <c:pt idx="58">
                  <c:v>23.2</c:v>
                </c:pt>
                <c:pt idx="59">
                  <c:v>23.6</c:v>
                </c:pt>
                <c:pt idx="60">
                  <c:v>24</c:v>
                </c:pt>
                <c:pt idx="61">
                  <c:v>24.4</c:v>
                </c:pt>
                <c:pt idx="62">
                  <c:v>24.8</c:v>
                </c:pt>
                <c:pt idx="63">
                  <c:v>25.2</c:v>
                </c:pt>
                <c:pt idx="64">
                  <c:v>25.6</c:v>
                </c:pt>
                <c:pt idx="65">
                  <c:v>26</c:v>
                </c:pt>
                <c:pt idx="66">
                  <c:v>26.4</c:v>
                </c:pt>
                <c:pt idx="67">
                  <c:v>26.8</c:v>
                </c:pt>
                <c:pt idx="68">
                  <c:v>27.2</c:v>
                </c:pt>
                <c:pt idx="69">
                  <c:v>27.6</c:v>
                </c:pt>
                <c:pt idx="70">
                  <c:v>28</c:v>
                </c:pt>
                <c:pt idx="71">
                  <c:v>28.4</c:v>
                </c:pt>
                <c:pt idx="72">
                  <c:v>28.8</c:v>
                </c:pt>
                <c:pt idx="73">
                  <c:v>29.2</c:v>
                </c:pt>
                <c:pt idx="74">
                  <c:v>29.6</c:v>
                </c:pt>
                <c:pt idx="75">
                  <c:v>30</c:v>
                </c:pt>
                <c:pt idx="76">
                  <c:v>30.4</c:v>
                </c:pt>
                <c:pt idx="77">
                  <c:v>30.8</c:v>
                </c:pt>
                <c:pt idx="78">
                  <c:v>31.2</c:v>
                </c:pt>
                <c:pt idx="79">
                  <c:v>31.6</c:v>
                </c:pt>
                <c:pt idx="80">
                  <c:v>32</c:v>
                </c:pt>
                <c:pt idx="81">
                  <c:v>32.4</c:v>
                </c:pt>
                <c:pt idx="82">
                  <c:v>32.8</c:v>
                </c:pt>
                <c:pt idx="83">
                  <c:v>33.2</c:v>
                </c:pt>
                <c:pt idx="84">
                  <c:v>33.6</c:v>
                </c:pt>
                <c:pt idx="85">
                  <c:v>34</c:v>
                </c:pt>
                <c:pt idx="86">
                  <c:v>34.4</c:v>
                </c:pt>
                <c:pt idx="87">
                  <c:v>34.8</c:v>
                </c:pt>
                <c:pt idx="88">
                  <c:v>35.2</c:v>
                </c:pt>
                <c:pt idx="89">
                  <c:v>35.6</c:v>
                </c:pt>
                <c:pt idx="90">
                  <c:v>36</c:v>
                </c:pt>
                <c:pt idx="91">
                  <c:v>36.4</c:v>
                </c:pt>
                <c:pt idx="92">
                  <c:v>36.8</c:v>
                </c:pt>
                <c:pt idx="93">
                  <c:v>37.2</c:v>
                </c:pt>
                <c:pt idx="94">
                  <c:v>37.6</c:v>
                </c:pt>
                <c:pt idx="95">
                  <c:v>38</c:v>
                </c:pt>
                <c:pt idx="96">
                  <c:v>38.4</c:v>
                </c:pt>
                <c:pt idx="97">
                  <c:v>38.8</c:v>
                </c:pt>
                <c:pt idx="98">
                  <c:v>39.2</c:v>
                </c:pt>
                <c:pt idx="99">
                  <c:v>39.6</c:v>
                </c:pt>
                <c:pt idx="100">
                  <c:v>40</c:v>
                </c:pt>
                <c:pt idx="101">
                  <c:v>40.4</c:v>
                </c:pt>
                <c:pt idx="102">
                  <c:v>40.8</c:v>
                </c:pt>
                <c:pt idx="103">
                  <c:v>41.2</c:v>
                </c:pt>
                <c:pt idx="104">
                  <c:v>41.6</c:v>
                </c:pt>
                <c:pt idx="105">
                  <c:v>42</c:v>
                </c:pt>
                <c:pt idx="106">
                  <c:v>42.4</c:v>
                </c:pt>
                <c:pt idx="107">
                  <c:v>42.8</c:v>
                </c:pt>
                <c:pt idx="108">
                  <c:v>43.2</c:v>
                </c:pt>
                <c:pt idx="109">
                  <c:v>43.6</c:v>
                </c:pt>
                <c:pt idx="110">
                  <c:v>44</c:v>
                </c:pt>
                <c:pt idx="111">
                  <c:v>44.4</c:v>
                </c:pt>
                <c:pt idx="112">
                  <c:v>44.8</c:v>
                </c:pt>
                <c:pt idx="113">
                  <c:v>45.2</c:v>
                </c:pt>
                <c:pt idx="114">
                  <c:v>45.6</c:v>
                </c:pt>
                <c:pt idx="115">
                  <c:v>46</c:v>
                </c:pt>
                <c:pt idx="116">
                  <c:v>46.4</c:v>
                </c:pt>
                <c:pt idx="117">
                  <c:v>46.8</c:v>
                </c:pt>
                <c:pt idx="118">
                  <c:v>47.2</c:v>
                </c:pt>
                <c:pt idx="119">
                  <c:v>47.6</c:v>
                </c:pt>
                <c:pt idx="120">
                  <c:v>48</c:v>
                </c:pt>
              </c:numCache>
            </c:numRef>
          </c:xVal>
          <c:yVal>
            <c:numRef>
              <c:f>'Chart Data'!$B$2:$B$122</c:f>
              <c:numCache>
                <c:formatCode>0.0</c:formatCode>
                <c:ptCount val="121"/>
                <c:pt idx="0">
                  <c:v>0</c:v>
                </c:pt>
                <c:pt idx="1">
                  <c:v>0.0570888108628</c:v>
                </c:pt>
                <c:pt idx="2">
                  <c:v>0.113991409891</c:v>
                </c:pt>
                <c:pt idx="3">
                  <c:v>0.170522192633</c:v>
                </c:pt>
                <c:pt idx="4">
                  <c:v>0.226496767426</c:v>
                </c:pt>
                <c:pt idx="5">
                  <c:v>0.281732556841</c:v>
                </c:pt>
                <c:pt idx="6">
                  <c:v>0.336049393215</c:v>
                </c:pt>
                <c:pt idx="7">
                  <c:v>0.389270106317</c:v>
                </c:pt>
                <c:pt idx="8">
                  <c:v>0.441221101243</c:v>
                </c:pt>
                <c:pt idx="9">
                  <c:v>0.491732924646</c:v>
                </c:pt>
                <c:pt idx="10">
                  <c:v>0.540640817456</c:v>
                </c:pt>
                <c:pt idx="11">
                  <c:v>0.587785252292</c:v>
                </c:pt>
                <c:pt idx="12">
                  <c:v>0.633012453809</c:v>
                </c:pt>
                <c:pt idx="13">
                  <c:v>0.676174900274</c:v>
                </c:pt>
                <c:pt idx="14">
                  <c:v>0.717131804759</c:v>
                </c:pt>
                <c:pt idx="15">
                  <c:v>0.755749574354</c:v>
                </c:pt>
                <c:pt idx="16">
                  <c:v>0.791902245922</c:v>
                </c:pt>
                <c:pt idx="17">
                  <c:v>0.825471896963</c:v>
                </c:pt>
                <c:pt idx="18">
                  <c:v>0.856349030252</c:v>
                </c:pt>
                <c:pt idx="19">
                  <c:v>0.884432930998</c:v>
                </c:pt>
                <c:pt idx="20">
                  <c:v>0.909631995355</c:v>
                </c:pt>
                <c:pt idx="21">
                  <c:v>0.931864029211</c:v>
                </c:pt>
                <c:pt idx="22">
                  <c:v>0.951056516295</c:v>
                </c:pt>
                <c:pt idx="23">
                  <c:v>0.967146854702</c:v>
                </c:pt>
                <c:pt idx="24">
                  <c:v>0.980082561092</c:v>
                </c:pt>
                <c:pt idx="25">
                  <c:v>0.989821441881</c:v>
                </c:pt>
                <c:pt idx="26">
                  <c:v>0.996331730863</c:v>
                </c:pt>
                <c:pt idx="27">
                  <c:v>0.999592192828</c:v>
                </c:pt>
                <c:pt idx="28">
                  <c:v>0.999592192828</c:v>
                </c:pt>
                <c:pt idx="29">
                  <c:v>0.996331730863</c:v>
                </c:pt>
                <c:pt idx="30">
                  <c:v>0.989821441881</c:v>
                </c:pt>
                <c:pt idx="31">
                  <c:v>0.980082561092</c:v>
                </c:pt>
                <c:pt idx="32">
                  <c:v>0.967146854702</c:v>
                </c:pt>
                <c:pt idx="33">
                  <c:v>0.951056516295</c:v>
                </c:pt>
                <c:pt idx="34">
                  <c:v>0.931864029211</c:v>
                </c:pt>
                <c:pt idx="35">
                  <c:v>0.909631995355</c:v>
                </c:pt>
                <c:pt idx="36">
                  <c:v>0.884432930998</c:v>
                </c:pt>
                <c:pt idx="37">
                  <c:v>0.856349030252</c:v>
                </c:pt>
                <c:pt idx="38">
                  <c:v>0.825471896963</c:v>
                </c:pt>
                <c:pt idx="39">
                  <c:v>0.791902245922</c:v>
                </c:pt>
                <c:pt idx="40">
                  <c:v>0.755749574354</c:v>
                </c:pt>
                <c:pt idx="41">
                  <c:v>0.717131804759</c:v>
                </c:pt>
                <c:pt idx="42">
                  <c:v>0.676174900274</c:v>
                </c:pt>
                <c:pt idx="43">
                  <c:v>0.633012453809</c:v>
                </c:pt>
                <c:pt idx="44">
                  <c:v>0.587785252292</c:v>
                </c:pt>
                <c:pt idx="45">
                  <c:v>0.540640817456</c:v>
                </c:pt>
                <c:pt idx="46">
                  <c:v>0.491732924646</c:v>
                </c:pt>
                <c:pt idx="47">
                  <c:v>0.441221101243</c:v>
                </c:pt>
                <c:pt idx="48">
                  <c:v>0.389270106317</c:v>
                </c:pt>
                <c:pt idx="49">
                  <c:v>0.336049393215</c:v>
                </c:pt>
                <c:pt idx="50">
                  <c:v>0.281732556841</c:v>
                </c:pt>
                <c:pt idx="51">
                  <c:v>0.226496767426</c:v>
                </c:pt>
                <c:pt idx="52">
                  <c:v>0.170522192633</c:v>
                </c:pt>
                <c:pt idx="53">
                  <c:v>0.113991409891</c:v>
                </c:pt>
                <c:pt idx="54">
                  <c:v>0.0570888108628</c:v>
                </c:pt>
                <c:pt idx="55">
                  <c:v>5.66553889765E-16</c:v>
                </c:pt>
                <c:pt idx="56">
                  <c:v>-0.0570888108628</c:v>
                </c:pt>
                <c:pt idx="57">
                  <c:v>-0.113991409891</c:v>
                </c:pt>
                <c:pt idx="58">
                  <c:v>-0.170522192633</c:v>
                </c:pt>
                <c:pt idx="59">
                  <c:v>-0.226496767426</c:v>
                </c:pt>
                <c:pt idx="60">
                  <c:v>-0.281732556841</c:v>
                </c:pt>
                <c:pt idx="61">
                  <c:v>-0.336049393215</c:v>
                </c:pt>
                <c:pt idx="62">
                  <c:v>-0.389270106317</c:v>
                </c:pt>
                <c:pt idx="63">
                  <c:v>-0.441221101243</c:v>
                </c:pt>
                <c:pt idx="64">
                  <c:v>-0.491732924646</c:v>
                </c:pt>
                <c:pt idx="65">
                  <c:v>-0.540640817456</c:v>
                </c:pt>
                <c:pt idx="66">
                  <c:v>-0.587785252292</c:v>
                </c:pt>
                <c:pt idx="67">
                  <c:v>-0.633012453809</c:v>
                </c:pt>
                <c:pt idx="68">
                  <c:v>-0.676174900274</c:v>
                </c:pt>
                <c:pt idx="69">
                  <c:v>-0.717131804759</c:v>
                </c:pt>
                <c:pt idx="70">
                  <c:v>-0.755749574354</c:v>
                </c:pt>
                <c:pt idx="71">
                  <c:v>-0.791902245922</c:v>
                </c:pt>
                <c:pt idx="72">
                  <c:v>-0.825471896963</c:v>
                </c:pt>
                <c:pt idx="73">
                  <c:v>-0.856349030252</c:v>
                </c:pt>
                <c:pt idx="74">
                  <c:v>-0.884432930998</c:v>
                </c:pt>
                <c:pt idx="75">
                  <c:v>-0.909631995355</c:v>
                </c:pt>
                <c:pt idx="76">
                  <c:v>-0.931864029211</c:v>
                </c:pt>
                <c:pt idx="77">
                  <c:v>-0.951056516295</c:v>
                </c:pt>
                <c:pt idx="78">
                  <c:v>-0.967146854702</c:v>
                </c:pt>
                <c:pt idx="79">
                  <c:v>-0.980082561092</c:v>
                </c:pt>
                <c:pt idx="80">
                  <c:v>-0.989821441881</c:v>
                </c:pt>
                <c:pt idx="81">
                  <c:v>-0.996331730863</c:v>
                </c:pt>
                <c:pt idx="82">
                  <c:v>-0.999592192828</c:v>
                </c:pt>
                <c:pt idx="83">
                  <c:v>-0.999592192828</c:v>
                </c:pt>
                <c:pt idx="84">
                  <c:v>-0.996331730863</c:v>
                </c:pt>
                <c:pt idx="85">
                  <c:v>-0.989821441881</c:v>
                </c:pt>
                <c:pt idx="86">
                  <c:v>-0.980082561092</c:v>
                </c:pt>
                <c:pt idx="87">
                  <c:v>-0.967146854702</c:v>
                </c:pt>
                <c:pt idx="88">
                  <c:v>-0.951056516295</c:v>
                </c:pt>
                <c:pt idx="89">
                  <c:v>-0.931864029211</c:v>
                </c:pt>
                <c:pt idx="90">
                  <c:v>-0.909631995355</c:v>
                </c:pt>
                <c:pt idx="91">
                  <c:v>-0.884432930998</c:v>
                </c:pt>
                <c:pt idx="92">
                  <c:v>-0.856349030252</c:v>
                </c:pt>
                <c:pt idx="93">
                  <c:v>-0.825471896963</c:v>
                </c:pt>
                <c:pt idx="94">
                  <c:v>-0.791902245922</c:v>
                </c:pt>
                <c:pt idx="95">
                  <c:v>-0.755749574354</c:v>
                </c:pt>
                <c:pt idx="96">
                  <c:v>-0.717131804759</c:v>
                </c:pt>
                <c:pt idx="97">
                  <c:v>-0.676174900274</c:v>
                </c:pt>
                <c:pt idx="98">
                  <c:v>-0.633012453809</c:v>
                </c:pt>
                <c:pt idx="99">
                  <c:v>-0.587785252292</c:v>
                </c:pt>
                <c:pt idx="100">
                  <c:v>-0.540640817456</c:v>
                </c:pt>
                <c:pt idx="101">
                  <c:v>-0.491732924646</c:v>
                </c:pt>
                <c:pt idx="102">
                  <c:v>-0.441221101243</c:v>
                </c:pt>
                <c:pt idx="103">
                  <c:v>-0.389270106317</c:v>
                </c:pt>
                <c:pt idx="104">
                  <c:v>-0.336049393215</c:v>
                </c:pt>
                <c:pt idx="105">
                  <c:v>-0.281732556841</c:v>
                </c:pt>
                <c:pt idx="106">
                  <c:v>-0.226496767426</c:v>
                </c:pt>
                <c:pt idx="107">
                  <c:v>-0.170522192633</c:v>
                </c:pt>
                <c:pt idx="108">
                  <c:v>-0.113991409891</c:v>
                </c:pt>
                <c:pt idx="109">
                  <c:v>-0.0570888108628</c:v>
                </c:pt>
                <c:pt idx="110">
                  <c:v>-1.13310777953E-15</c:v>
                </c:pt>
                <c:pt idx="111">
                  <c:v>0.0570888108628</c:v>
                </c:pt>
                <c:pt idx="112">
                  <c:v>0.113991409891</c:v>
                </c:pt>
                <c:pt idx="113">
                  <c:v>0.170522192633</c:v>
                </c:pt>
                <c:pt idx="114">
                  <c:v>0.226496767426</c:v>
                </c:pt>
                <c:pt idx="115">
                  <c:v>0.281732556841</c:v>
                </c:pt>
                <c:pt idx="116">
                  <c:v>0.336049393215</c:v>
                </c:pt>
                <c:pt idx="117">
                  <c:v>0.389270106317</c:v>
                </c:pt>
                <c:pt idx="118">
                  <c:v>0.441221101243</c:v>
                </c:pt>
                <c:pt idx="119">
                  <c:v>0.491732924646</c:v>
                </c:pt>
                <c:pt idx="120">
                  <c:v>0.540640817456</c:v>
                </c:pt>
              </c:numCache>
            </c:numRef>
          </c:yVal>
          <c:smooth val="1"/>
          <c:extLst>
            <c:ext xmlns:c16="http://schemas.microsoft.com/office/drawing/2014/chart" uri="{C3380CC4-5D6E-409C-BE32-E72D297353CC}">
              <c16:uniqueId val="{00000000-F552-4401-A492-03C30ED4D3E4}"/>
            </c:ext>
          </c:extLst>
        </c:ser>
        <c:ser>
          <c:idx val="1"/>
          <c:order val="1"/>
          <c:tx>
            <c:v>90°</c:v>
          </c:tx>
          <c:spPr>
            <a:ln w="0" cap="rnd">
              <a:noFill/>
              <a:prstDash val="solid"/>
              <a:round/>
            </a:ln>
            <a:effectLst/>
            <a:extLst>
              <a:ext uri="{91240B29-F687-4F45-9708-019B960494DF}">
                <a14:hiddenLine xmlns:a14="http://schemas.microsoft.com/office/drawing/2010/main" w="0" cap="rnd">
                  <a:solidFill>
                    <a:srgbClr val="087E98"/>
                  </a:solidFill>
                  <a:prstDash val="solid"/>
                  <a:round/>
                </a14:hiddenLine>
              </a:ext>
            </a:extLst>
          </c:spPr>
          <c:marker>
            <c:symbol val="circle"/>
            <c:size val="7"/>
            <c:spPr>
              <a:solidFill>
                <a:srgbClr val="087E98"/>
              </a:solidFill>
              <a:ln w="12700">
                <a:solidFill>
                  <a:srgbClr val="087E98"/>
                </a:solidFill>
                <a:prstDash val="solid"/>
              </a:ln>
              <a:effectLst/>
              <a:extLst>
                <a:ext uri="{91240B29-F687-4F45-9708-019B960494DF}">
                  <a14:hiddenLine xmlns:a14="http://schemas.microsoft.com/office/drawing/2010/main" w="12700">
                    <a:solidFill>
                      <a:srgbClr val="E97132"/>
                    </a:solidFill>
                    <a:prstDash val="solid"/>
                    <a:round/>
                  </a14:hiddenLine>
                </a:ext>
              </a:extLst>
            </c:spPr>
          </c:marker>
          <c:xVal>
            <c:numRef>
              <c:f>'Chart Data'!$C$2:$C$2</c:f>
              <c:numCache>
                <c:formatCode>General</c:formatCode>
                <c:ptCount val="1"/>
                <c:pt idx="0">
                  <c:v>11</c:v>
                </c:pt>
              </c:numCache>
            </c:numRef>
          </c:xVal>
          <c:yVal>
            <c:numRef>
              <c:f>'Chart Data'!$D$2:$D$2</c:f>
              <c:numCache>
                <c:formatCode>0.0</c:formatCode>
                <c:ptCount val="1"/>
                <c:pt idx="0">
                  <c:v>1</c:v>
                </c:pt>
              </c:numCache>
            </c:numRef>
          </c:yVal>
          <c:smooth val="1"/>
          <c:extLst>
            <c:ext xmlns:c16="http://schemas.microsoft.com/office/drawing/2014/chart" uri="{C3380CC4-5D6E-409C-BE32-E72D297353CC}">
              <c16:uniqueId val="{00000001-F552-4401-A492-03C30ED4D3E4}"/>
            </c:ext>
          </c:extLst>
        </c:ser>
        <c:ser>
          <c:idx val="2"/>
          <c:order val="2"/>
          <c:tx>
            <c:v>180° / 360°</c:v>
          </c:tx>
          <c:spPr>
            <a:ln w="0" cap="rnd">
              <a:noFill/>
              <a:prstDash val="solid"/>
              <a:round/>
            </a:ln>
            <a:effectLst/>
            <a:extLst>
              <a:ext uri="{91240B29-F687-4F45-9708-019B960494DF}">
                <a14:hiddenLine xmlns:a14="http://schemas.microsoft.com/office/drawing/2010/main" w="0" cap="rnd">
                  <a:solidFill>
                    <a:srgbClr val="BE4038"/>
                  </a:solidFill>
                  <a:prstDash val="solid"/>
                  <a:round/>
                </a14:hiddenLine>
              </a:ext>
            </a:extLst>
          </c:spPr>
          <c:marker>
            <c:symbol val="circle"/>
            <c:size val="7"/>
            <c:spPr>
              <a:solidFill>
                <a:srgbClr val="BE4038"/>
              </a:solidFill>
              <a:ln w="12700">
                <a:solidFill>
                  <a:srgbClr val="BE4038"/>
                </a:solidFill>
                <a:prstDash val="solid"/>
              </a:ln>
              <a:effectLst/>
              <a:extLst>
                <a:ext uri="{91240B29-F687-4F45-9708-019B960494DF}">
                  <a14:hiddenLine xmlns:a14="http://schemas.microsoft.com/office/drawing/2010/main" w="12700">
                    <a:solidFill>
                      <a:srgbClr val="196B24"/>
                    </a:solidFill>
                    <a:prstDash val="solid"/>
                    <a:round/>
                  </a14:hiddenLine>
                </a:ext>
              </a:extLst>
            </c:spPr>
          </c:marker>
          <c:xVal>
            <c:numRef>
              <c:f>'Chart Data'!$E$2:$E$3</c:f>
              <c:numCache>
                <c:formatCode>General</c:formatCode>
                <c:ptCount val="2"/>
                <c:pt idx="0">
                  <c:v>22</c:v>
                </c:pt>
                <c:pt idx="1">
                  <c:v>44</c:v>
                </c:pt>
              </c:numCache>
            </c:numRef>
          </c:xVal>
          <c:yVal>
            <c:numRef>
              <c:f>'Chart Data'!$F$2:$F$3</c:f>
              <c:numCache>
                <c:formatCode>0.0</c:formatCode>
                <c:ptCount val="2"/>
                <c:pt idx="0">
                  <c:v>0</c:v>
                </c:pt>
                <c:pt idx="1">
                  <c:v>0</c:v>
                </c:pt>
              </c:numCache>
            </c:numRef>
          </c:yVal>
          <c:smooth val="1"/>
          <c:extLst>
            <c:ext xmlns:c16="http://schemas.microsoft.com/office/drawing/2014/chart" uri="{C3380CC4-5D6E-409C-BE32-E72D297353CC}">
              <c16:uniqueId val="{00000002-F552-4401-A492-03C30ED4D3E4}"/>
            </c:ext>
          </c:extLst>
        </c:ser>
        <c:dLbls>
          <c:showLegendKey val="0"/>
          <c:showVal val="0"/>
          <c:showCatName val="0"/>
          <c:showSerName val="0"/>
          <c:showPercent val="0"/>
          <c:showBubbleSize val="0"/>
        </c:dLbls>
        <c:axId val="48650112"/>
        <c:axId val="48672768"/>
      </c:scatterChart>
      <c:valAx>
        <c:axId val="48672768"/>
        <c:scaling>
          <c:orientation val="minMax"/>
          <c:max val="1.1000000000000001"/>
          <c:min val="-1.1000000000000001"/>
        </c:scaling>
        <c:delete val="0"/>
        <c:axPos val="l"/>
        <c:title>
          <c:tx>
            <c:rich>
              <a:bodyPr/>
              <a:lstStyle/>
              <a:p>
                <a:r>
                  <a:rPr>
                    <a:solidFill>
                      <a:srgbClr val="123447"/>
                    </a:solidFill>
                    <a:latin typeface="Segoe UI" panose="020B0502040204020203" pitchFamily="34" charset="0"/>
                  </a:rPr>
                  <a:t>Signed signal</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50112"/>
        <c:crosses val="autoZero"/>
        <c:crossBetween val="midCat"/>
      </c:valAx>
      <c:valAx>
        <c:axId val="48650112"/>
        <c:scaling>
          <c:orientation val="minMax"/>
          <c:max val="48"/>
          <c:min val="0"/>
        </c:scaling>
        <c:delete val="0"/>
        <c:axPos val="b"/>
        <c:title>
          <c:tx>
            <c:rich>
              <a:bodyPr/>
              <a:lstStyle/>
              <a:p>
                <a:r>
                  <a:rPr>
                    <a:solidFill>
                      <a:srgbClr val="123447"/>
                    </a:solidFill>
                    <a:latin typeface="Segoe UI" panose="020B0502040204020203" pitchFamily="34" charset="0"/>
                  </a:rPr>
                  <a:t>P1 / µs</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72768"/>
        <c:crosses val="autoZero"/>
        <c:crossBetween val="midCat"/>
        <c:majorUnit val="11"/>
      </c:valAx>
      <c:spPr>
        <a:solidFill>
          <a:srgbClr val="F5F5F0"/>
        </a:solidFill>
      </c:spPr>
    </c:plotArea>
    <c:legend>
      <c:legendPos val="b"/>
      <c:overlay val="0"/>
      <c:txPr>
        <a:bodyPr anchorCtr="1"/>
        <a:lstStyle/>
        <a:p>
          <a:pPr>
            <a:defRPr sz="1650">
              <a:solidFill>
                <a:srgbClr val="123447"/>
              </a:solidFill>
              <a:latin typeface="Segoe UI"/>
              <a:ea typeface="Segoe UI"/>
              <a:cs typeface="Segoe UI"/>
            </a:defRPr>
          </a:pPr>
          <a:endParaRPr lang="es-ES_tradnl"/>
        </a:p>
      </c:txPr>
    </c:legend>
    <c:plotVisOnly val="1"/>
    <c:dispBlanksAs val="zero"/>
    <c:showDLblsOverMax val="1"/>
  </c:chart>
  <c:spPr>
    <a:solidFill>
      <a:srgbClr val="F5F5F0"/>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scatterChart>
        <c:scatterStyle val="lineMarker"/>
        <c:varyColors val="1"/>
        <c:ser>
          <c:idx val="0"/>
          <c:order val="0"/>
          <c:tx>
            <c:v>Measured HDO</c:v>
          </c:tx>
          <c:spPr>
            <a:ln w="0">
              <a:solidFill>
                <a:srgbClr val="087E98"/>
              </a:solidFill>
            </a:ln>
          </c:spPr>
          <c:marker>
            <c:symbol val="circle"/>
            <c:size val="7"/>
            <c:spPr>
              <a:solidFill>
                <a:srgbClr val="087E98"/>
              </a:solidFill>
            </c:spPr>
          </c:marker>
          <c:xVal>
            <c:numRef>
              <c:f>'Chart Data'!$A$2:$A$24</c:f>
              <c:numCache>
                <c:formatCode>General</c:formatCode>
                <c:ptCount val="23"/>
                <c:pt idx="0">
                  <c:v>0.0064</c:v>
                </c:pt>
                <c:pt idx="1">
                  <c:v>0.0144</c:v>
                </c:pt>
                <c:pt idx="2">
                  <c:v>0.0256</c:v>
                </c:pt>
                <c:pt idx="3">
                  <c:v>0.04</c:v>
                </c:pt>
                <c:pt idx="4">
                  <c:v>0.0576</c:v>
                </c:pt>
                <c:pt idx="5">
                  <c:v>0.0784</c:v>
                </c:pt>
                <c:pt idx="6">
                  <c:v>0.1024</c:v>
                </c:pt>
                <c:pt idx="7">
                  <c:v>0.1296</c:v>
                </c:pt>
                <c:pt idx="8">
                  <c:v>0.16</c:v>
                </c:pt>
                <c:pt idx="9">
                  <c:v>0.1936</c:v>
                </c:pt>
                <c:pt idx="10">
                  <c:v>0.2304</c:v>
                </c:pt>
                <c:pt idx="11">
                  <c:v>0.2704</c:v>
                </c:pt>
                <c:pt idx="12">
                  <c:v>0.3136</c:v>
                </c:pt>
                <c:pt idx="13">
                  <c:v>0.36</c:v>
                </c:pt>
                <c:pt idx="14">
                  <c:v>0.4096</c:v>
                </c:pt>
                <c:pt idx="15">
                  <c:v>0.4624</c:v>
                </c:pt>
                <c:pt idx="16">
                  <c:v>0.5184</c:v>
                </c:pt>
                <c:pt idx="17">
                  <c:v>0.5776</c:v>
                </c:pt>
                <c:pt idx="18">
                  <c:v>0.64</c:v>
                </c:pt>
                <c:pt idx="19">
                  <c:v>0.7056</c:v>
                </c:pt>
                <c:pt idx="20">
                  <c:v>0.7744</c:v>
                </c:pt>
                <c:pt idx="21">
                  <c:v>0.8464</c:v>
                </c:pt>
                <c:pt idx="22">
                  <c:v>0.9216</c:v>
                </c:pt>
              </c:numCache>
            </c:numRef>
          </c:xVal>
          <c:yVal>
            <c:numRef>
              <c:f>'Chart Data'!$B$2:$B$24</c:f>
              <c:numCache>
                <c:formatCode>0.0</c:formatCode>
                <c:ptCount val="23"/>
                <c:pt idx="0">
                  <c:v>0</c:v>
                </c:pt>
                <c:pt idx="1">
                  <c:v>0.00434557991417</c:v>
                </c:pt>
                <c:pt idx="2">
                  <c:v>0.0226195463623</c:v>
                </c:pt>
                <c:pt idx="3">
                  <c:v>0.0454872877104</c:v>
                </c:pt>
                <c:pt idx="4">
                  <c:v>0.0796079214162</c:v>
                </c:pt>
                <c:pt idx="5">
                  <c:v>0.102780571484</c:v>
                </c:pt>
                <c:pt idx="6">
                  <c:v>0.145347196992</c:v>
                </c:pt>
                <c:pt idx="7">
                  <c:v>0.190778271256</c:v>
                </c:pt>
                <c:pt idx="8">
                  <c:v>0.24179088834</c:v>
                </c:pt>
                <c:pt idx="9">
                  <c:v>0.288431276242</c:v>
                </c:pt>
                <c:pt idx="10">
                  <c:v>0.353820238552</c:v>
                </c:pt>
                <c:pt idx="11">
                  <c:v>0.414148373105</c:v>
                </c:pt>
                <c:pt idx="12">
                  <c:v>0.494519237685</c:v>
                </c:pt>
                <c:pt idx="13">
                  <c:v>0.560923156696</c:v>
                </c:pt>
                <c:pt idx="14">
                  <c:v>0.6481989569</c:v>
                </c:pt>
                <c:pt idx="15">
                  <c:v>0.726040915482</c:v>
                </c:pt>
                <c:pt idx="16">
                  <c:v>0.809033128399</c:v>
                </c:pt>
                <c:pt idx="17">
                  <c:v>0.907466016238</c:v>
                </c:pt>
                <c:pt idx="18">
                  <c:v>1.00168822472</c:v>
                </c:pt>
                <c:pt idx="19">
                  <c:v>1.10693033448</c:v>
                </c:pt>
                <c:pt idx="20">
                  <c:v>1.219643171</c:v>
                </c:pt>
                <c:pt idx="21">
                  <c:v>1.32377101174</c:v>
                </c:pt>
                <c:pt idx="22">
                  <c:v>1.4334963509</c:v>
                </c:pt>
              </c:numCache>
            </c:numRef>
          </c:yVal>
          <c:smooth val="1"/>
          <c:extLst>
            <c:ext xmlns:c16="http://schemas.microsoft.com/office/drawing/2014/chart" uri="{C3380CC4-5D6E-409C-BE32-E72D297353CC}">
              <c16:uniqueId val="{00000000-25BD-496C-98DE-0EAEBA361076}"/>
            </c:ext>
          </c:extLst>
        </c:ser>
        <c:ser>
          <c:idx val="1"/>
          <c:order val="1"/>
          <c:tx>
            <c:v>Fit</c:v>
          </c:tx>
          <c:spPr>
            <a:ln w="28575">
              <a:solidFill>
                <a:srgbClr val="99521E"/>
              </a:solidFill>
            </a:ln>
          </c:spPr>
          <c:marker>
            <c:symbol val="none"/>
          </c:marker>
          <c:xVal>
            <c:numRef>
              <c:f>'Chart Data'!$C$2:$C$3</c:f>
              <c:numCache>
                <c:formatCode>General</c:formatCode>
                <c:ptCount val="2"/>
                <c:pt idx="0">
                  <c:v>0</c:v>
                </c:pt>
                <c:pt idx="1">
                  <c:v>1</c:v>
                </c:pt>
              </c:numCache>
            </c:numRef>
          </c:xVal>
          <c:yVal>
            <c:numRef>
              <c:f>'Chart Data'!$D$2:$D$3</c:f>
              <c:numCache>
                <c:formatCode>0.0</c:formatCode>
                <c:ptCount val="2"/>
                <c:pt idx="0">
                  <c:v>-0.0136077066163</c:v>
                </c:pt>
                <c:pt idx="1">
                  <c:v>1.57266562822</c:v>
                </c:pt>
              </c:numCache>
            </c:numRef>
          </c:yVal>
          <c:smooth val="1"/>
          <c:extLst>
            <c:ext xmlns:c16="http://schemas.microsoft.com/office/drawing/2014/chart" uri="{C3380CC4-5D6E-409C-BE32-E72D297353CC}">
              <c16:uniqueId val="{00000001-25BD-496C-98DE-0EAEBA361076}"/>
            </c:ext>
          </c:extLst>
        </c:ser>
        <c:dLbls>
          <c:showLegendKey val="0"/>
          <c:showVal val="0"/>
          <c:showCatName val="0"/>
          <c:showSerName val="0"/>
          <c:showPercent val="0"/>
          <c:showBubbleSize val="0"/>
        </c:dLbls>
        <c:axId val="48650112"/>
        <c:axId val="48672768"/>
      </c:scatterChart>
      <c:valAx>
        <c:axId val="48672768"/>
        <c:scaling>
          <c:orientation val="minMax"/>
          <c:max val="1.6"/>
          <c:min val="0"/>
        </c:scaling>
        <c:delete val="0"/>
        <c:axPos val="l"/>
        <c:title>
          <c:tx>
            <c:rich>
              <a:bodyPr/>
              <a:lstStyle/>
              <a:p>
                <a:r>
                  <a:rPr>
                    <a:solidFill>
                      <a:srgbClr val="123447"/>
                    </a:solidFill>
                    <a:latin typeface="Segoe UI" panose="020B0502040204020203" pitchFamily="34" charset="0"/>
                  </a:rPr>
                  <a:t>−ln(I / I₈%)</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50112"/>
        <c:crosses val="autoZero"/>
        <c:crossBetween val="midCat"/>
      </c:valAx>
      <c:valAx>
        <c:axId val="48650112"/>
        <c:scaling>
          <c:orientation val="minMax"/>
          <c:max val="1"/>
          <c:min val="0"/>
        </c:scaling>
        <c:delete val="0"/>
        <c:axPos val="b"/>
        <c:title>
          <c:tx>
            <c:rich>
              <a:bodyPr/>
              <a:lstStyle/>
              <a:p>
                <a:r>
                  <a:rPr>
                    <a:solidFill>
                      <a:srgbClr val="123447"/>
                    </a:solidFill>
                    <a:latin typeface="Segoe UI" panose="020B0502040204020203" pitchFamily="34" charset="0"/>
                  </a:rPr>
                  <a:t>(GPZ6 / 100)²</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72768"/>
        <c:crosses val="autoZero"/>
        <c:crossBetween val="midCat"/>
        <c:majorUnit val="0.2"/>
      </c:valAx>
      <c:spPr>
        <a:solidFill>
          <a:srgbClr val="F5F5F0"/>
        </a:solidFill>
      </c:spPr>
    </c:plotArea>
    <c:legend>
      <c:legendPos val="b"/>
      <c:overlay val="0"/>
      <c:txPr>
        <a:bodyPr anchorCtr="1"/>
        <a:lstStyle/>
        <a:p>
          <a:pPr>
            <a:defRPr sz="1650">
              <a:solidFill>
                <a:srgbClr val="123447"/>
              </a:solidFill>
              <a:latin typeface="Segoe UI"/>
              <a:ea typeface="Segoe UI"/>
              <a:cs typeface="Segoe UI"/>
            </a:defRPr>
          </a:pPr>
          <a:endParaRPr lang="es-ES_tradnl"/>
        </a:p>
      </c:txPr>
    </c:legend>
    <c:plotVisOnly val="1"/>
    <c:dispBlanksAs val="zero"/>
    <c:showDLblsOverMax val="1"/>
  </c:chart>
  <c:spPr>
    <a:solidFill>
      <a:srgbClr val="F5F5F0"/>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scatterChart>
        <c:scatterStyle val="lineMarker"/>
        <c:varyColors val="1"/>
        <c:ser>
          <c:idx val="0"/>
          <c:order val="0"/>
          <c:tx>
            <c:v>Simulated data</c:v>
          </c:tx>
          <c:spPr>
            <a:ln w="0">
              <a:solidFill>
                <a:srgbClr val="087E98"/>
              </a:solidFill>
            </a:ln>
          </c:spPr>
          <c:marker>
            <c:symbol val="circle"/>
            <c:size val="7"/>
            <c:spPr>
              <a:solidFill>
                <a:srgbClr val="087E98"/>
              </a:solidFill>
            </c:spPr>
          </c:marker>
          <c:xVal>
            <c:numRef>
              <c:f>'Chart Data'!$A$2:$A$24</c:f>
              <c:numCache>
                <c:formatCode>General</c:formatCode>
                <c:ptCount val="23"/>
                <c:pt idx="0">
                  <c:v>0.0064</c:v>
                </c:pt>
                <c:pt idx="1">
                  <c:v>0.0144</c:v>
                </c:pt>
                <c:pt idx="2">
                  <c:v>0.0256</c:v>
                </c:pt>
                <c:pt idx="3">
                  <c:v>0.04</c:v>
                </c:pt>
                <c:pt idx="4">
                  <c:v>0.0576</c:v>
                </c:pt>
                <c:pt idx="5">
                  <c:v>0.0784</c:v>
                </c:pt>
                <c:pt idx="6">
                  <c:v>0.1024</c:v>
                </c:pt>
                <c:pt idx="7">
                  <c:v>0.1296</c:v>
                </c:pt>
                <c:pt idx="8">
                  <c:v>0.16</c:v>
                </c:pt>
                <c:pt idx="9">
                  <c:v>0.1936</c:v>
                </c:pt>
                <c:pt idx="10">
                  <c:v>0.2304</c:v>
                </c:pt>
                <c:pt idx="11">
                  <c:v>0.2704</c:v>
                </c:pt>
                <c:pt idx="12">
                  <c:v>0.3136</c:v>
                </c:pt>
                <c:pt idx="13">
                  <c:v>0.36</c:v>
                </c:pt>
                <c:pt idx="14">
                  <c:v>0.4096</c:v>
                </c:pt>
                <c:pt idx="15">
                  <c:v>0.4624</c:v>
                </c:pt>
                <c:pt idx="16">
                  <c:v>0.5184</c:v>
                </c:pt>
                <c:pt idx="17">
                  <c:v>0.5776</c:v>
                </c:pt>
                <c:pt idx="18">
                  <c:v>0.64</c:v>
                </c:pt>
                <c:pt idx="19">
                  <c:v>0.7056</c:v>
                </c:pt>
                <c:pt idx="20">
                  <c:v>0.7744</c:v>
                </c:pt>
                <c:pt idx="21">
                  <c:v>0.8464</c:v>
                </c:pt>
                <c:pt idx="22">
                  <c:v>0.9216</c:v>
                </c:pt>
              </c:numCache>
            </c:numRef>
          </c:xVal>
          <c:yVal>
            <c:numRef>
              <c:f>'Chart Data'!$B$2:$B$24</c:f>
              <c:numCache>
                <c:formatCode>0.0</c:formatCode>
                <c:ptCount val="23"/>
                <c:pt idx="0">
                  <c:v>0.993462211855</c:v>
                </c:pt>
                <c:pt idx="1">
                  <c:v>0.985350050771</c:v>
                </c:pt>
                <c:pt idx="2">
                  <c:v>0.974104187519</c:v>
                </c:pt>
                <c:pt idx="3">
                  <c:v>0.959833610628</c:v>
                </c:pt>
                <c:pt idx="4">
                  <c:v>0.942675398473</c:v>
                </c:pt>
                <c:pt idx="5">
                  <c:v>0.922792527515</c:v>
                </c:pt>
                <c:pt idx="6">
                  <c:v>0.900371296183</c:v>
                </c:pt>
                <c:pt idx="7">
                  <c:v>0.875618421318</c:v>
                </c:pt>
                <c:pt idx="8">
                  <c:v>0.848757870403</c:v>
                </c:pt>
                <c:pt idx="9">
                  <c:v>0.820027497349</c:v>
                </c:pt>
                <c:pt idx="10">
                  <c:v>0.789675552281</c:v>
                </c:pt>
                <c:pt idx="11">
                  <c:v>0.757957136571</c:v>
                </c:pt>
                <c:pt idx="12">
                  <c:v>0.725130673291</c:v>
                </c:pt>
                <c:pt idx="13">
                  <c:v>0.691454460442</c:v>
                </c:pt>
                <c:pt idx="14">
                  <c:v>0.657183369857</c:v>
                </c:pt>
                <c:pt idx="15">
                  <c:v>0.622565748799</c:v>
                </c:pt>
                <c:pt idx="16">
                  <c:v>0.587840574185</c:v>
                </c:pt>
                <c:pt idx="17">
                  <c:v>0.553234901347</c:v>
                </c:pt>
                <c:pt idx="18">
                  <c:v>0.518961640542</c:v>
                </c:pt>
                <c:pt idx="19">
                  <c:v>0.48521768532</c:v>
                </c:pt>
                <c:pt idx="20">
                  <c:v>0.452182407684</c:v>
                </c:pt>
                <c:pt idx="21">
                  <c:v>0.420016525949</c:v>
                </c:pt>
                <c:pt idx="22">
                  <c:v>0.388861342557</c:v>
                </c:pt>
              </c:numCache>
            </c:numRef>
          </c:yVal>
          <c:smooth val="1"/>
          <c:extLst>
            <c:ext xmlns:c16="http://schemas.microsoft.com/office/drawing/2014/chart" uri="{C3380CC4-5D6E-409C-BE32-E72D297353CC}">
              <c16:uniqueId val="{00000000-69ED-446E-A91C-E3615E06EFF6}"/>
            </c:ext>
          </c:extLst>
        </c:ser>
        <c:ser>
          <c:idx val="1"/>
          <c:order val="1"/>
          <c:tx>
            <c:v>Both models</c:v>
          </c:tx>
          <c:spPr>
            <a:ln w="28575">
              <a:solidFill>
                <a:srgbClr val="99521E"/>
              </a:solidFill>
            </a:ln>
          </c:spPr>
          <c:marker>
            <c:symbol val="none"/>
          </c:marker>
          <c:xVal>
            <c:numRef>
              <c:f>'Chart Data'!$C$2:$C$62</c:f>
              <c:numCache>
                <c:formatCode>General</c:formatCode>
                <c:ptCount val="61"/>
                <c:pt idx="0">
                  <c:v>0</c:v>
                </c:pt>
                <c:pt idx="1">
                  <c:v>0.0166666666667</c:v>
                </c:pt>
                <c:pt idx="2">
                  <c:v>0.0333333333333</c:v>
                </c:pt>
                <c:pt idx="3">
                  <c:v>0.05</c:v>
                </c:pt>
                <c:pt idx="4">
                  <c:v>0.0666666666667</c:v>
                </c:pt>
                <c:pt idx="5">
                  <c:v>0.0833333333333</c:v>
                </c:pt>
                <c:pt idx="6">
                  <c:v>0.1</c:v>
                </c:pt>
                <c:pt idx="7">
                  <c:v>0.116666666667</c:v>
                </c:pt>
                <c:pt idx="8">
                  <c:v>0.133333333333</c:v>
                </c:pt>
                <c:pt idx="9">
                  <c:v>0.15</c:v>
                </c:pt>
                <c:pt idx="10">
                  <c:v>0.166666666667</c:v>
                </c:pt>
                <c:pt idx="11">
                  <c:v>0.183333333333</c:v>
                </c:pt>
                <c:pt idx="12">
                  <c:v>0.2</c:v>
                </c:pt>
                <c:pt idx="13">
                  <c:v>0.216666666667</c:v>
                </c:pt>
                <c:pt idx="14">
                  <c:v>0.233333333333</c:v>
                </c:pt>
                <c:pt idx="15">
                  <c:v>0.25</c:v>
                </c:pt>
                <c:pt idx="16">
                  <c:v>0.266666666667</c:v>
                </c:pt>
                <c:pt idx="17">
                  <c:v>0.283333333333</c:v>
                </c:pt>
                <c:pt idx="18">
                  <c:v>0.3</c:v>
                </c:pt>
                <c:pt idx="19">
                  <c:v>0.316666666667</c:v>
                </c:pt>
                <c:pt idx="20">
                  <c:v>0.333333333333</c:v>
                </c:pt>
                <c:pt idx="21">
                  <c:v>0.35</c:v>
                </c:pt>
                <c:pt idx="22">
                  <c:v>0.366666666667</c:v>
                </c:pt>
                <c:pt idx="23">
                  <c:v>0.383333333333</c:v>
                </c:pt>
                <c:pt idx="24">
                  <c:v>0.4</c:v>
                </c:pt>
                <c:pt idx="25">
                  <c:v>0.416666666667</c:v>
                </c:pt>
                <c:pt idx="26">
                  <c:v>0.433333333333</c:v>
                </c:pt>
                <c:pt idx="27">
                  <c:v>0.45</c:v>
                </c:pt>
                <c:pt idx="28">
                  <c:v>0.466666666667</c:v>
                </c:pt>
                <c:pt idx="29">
                  <c:v>0.483333333333</c:v>
                </c:pt>
                <c:pt idx="30">
                  <c:v>0.5</c:v>
                </c:pt>
                <c:pt idx="31">
                  <c:v>0.516666666667</c:v>
                </c:pt>
                <c:pt idx="32">
                  <c:v>0.533333333333</c:v>
                </c:pt>
                <c:pt idx="33">
                  <c:v>0.55</c:v>
                </c:pt>
                <c:pt idx="34">
                  <c:v>0.566666666667</c:v>
                </c:pt>
                <c:pt idx="35">
                  <c:v>0.583333333333</c:v>
                </c:pt>
                <c:pt idx="36">
                  <c:v>0.6</c:v>
                </c:pt>
                <c:pt idx="37">
                  <c:v>0.616666666667</c:v>
                </c:pt>
                <c:pt idx="38">
                  <c:v>0.633333333333</c:v>
                </c:pt>
                <c:pt idx="39">
                  <c:v>0.65</c:v>
                </c:pt>
                <c:pt idx="40">
                  <c:v>0.666666666667</c:v>
                </c:pt>
                <c:pt idx="41">
                  <c:v>0.683333333333</c:v>
                </c:pt>
                <c:pt idx="42">
                  <c:v>0.7</c:v>
                </c:pt>
                <c:pt idx="43">
                  <c:v>0.716666666667</c:v>
                </c:pt>
                <c:pt idx="44">
                  <c:v>0.733333333333</c:v>
                </c:pt>
                <c:pt idx="45">
                  <c:v>0.75</c:v>
                </c:pt>
                <c:pt idx="46">
                  <c:v>0.766666666667</c:v>
                </c:pt>
                <c:pt idx="47">
                  <c:v>0.783333333333</c:v>
                </c:pt>
                <c:pt idx="48">
                  <c:v>0.8</c:v>
                </c:pt>
                <c:pt idx="49">
                  <c:v>0.816666666667</c:v>
                </c:pt>
                <c:pt idx="50">
                  <c:v>0.833333333333</c:v>
                </c:pt>
                <c:pt idx="51">
                  <c:v>0.85</c:v>
                </c:pt>
                <c:pt idx="52">
                  <c:v>0.866666666667</c:v>
                </c:pt>
                <c:pt idx="53">
                  <c:v>0.883333333333</c:v>
                </c:pt>
                <c:pt idx="54">
                  <c:v>0.9</c:v>
                </c:pt>
                <c:pt idx="55">
                  <c:v>0.916666666667</c:v>
                </c:pt>
                <c:pt idx="56">
                  <c:v>0.933333333333</c:v>
                </c:pt>
                <c:pt idx="57">
                  <c:v>0.95</c:v>
                </c:pt>
                <c:pt idx="58">
                  <c:v>0.966666666667</c:v>
                </c:pt>
                <c:pt idx="59">
                  <c:v>0.983333333333</c:v>
                </c:pt>
                <c:pt idx="60">
                  <c:v>1</c:v>
                </c:pt>
              </c:numCache>
            </c:numRef>
          </c:xVal>
          <c:yVal>
            <c:numRef>
              <c:f>'Chart Data'!$D$2:$D$62</c:f>
              <c:numCache>
                <c:formatCode>0.0</c:formatCode>
                <c:ptCount val="61"/>
                <c:pt idx="0">
                  <c:v>1</c:v>
                </c:pt>
                <c:pt idx="1">
                  <c:v>0.983063671545</c:v>
                </c:pt>
                <c:pt idx="2">
                  <c:v>0.966414182312</c:v>
                </c:pt>
                <c:pt idx="3">
                  <c:v>0.950046674297</c:v>
                </c:pt>
                <c:pt idx="4">
                  <c:v>0.933956371774</c:v>
                </c:pt>
                <c:pt idx="5">
                  <c:v>0.918138579899</c:v>
                </c:pt>
                <c:pt idx="6">
                  <c:v>0.902588683343</c:v>
                </c:pt>
                <c:pt idx="7">
                  <c:v>0.887302144942</c:v>
                </c:pt>
                <c:pt idx="8">
                  <c:v>0.872274504377</c:v>
                </c:pt>
                <c:pt idx="9">
                  <c:v>0.857501376868</c:v>
                </c:pt>
                <c:pt idx="10">
                  <c:v>0.842978451899</c:v>
                </c:pt>
                <c:pt idx="11">
                  <c:v>0.828701491957</c:v>
                </c:pt>
                <c:pt idx="12">
                  <c:v>0.814666331298</c:v>
                </c:pt>
                <c:pt idx="13">
                  <c:v>0.80086887473</c:v>
                </c:pt>
                <c:pt idx="14">
                  <c:v>0.787305096419</c:v>
                </c:pt>
                <c:pt idx="15">
                  <c:v>0.773971038712</c:v>
                </c:pt>
                <c:pt idx="16">
                  <c:v>0.760862810985</c:v>
                </c:pt>
                <c:pt idx="17">
                  <c:v>0.74797658851</c:v>
                </c:pt>
                <c:pt idx="18">
                  <c:v>0.73530861133</c:v>
                </c:pt>
                <c:pt idx="19">
                  <c:v>0.722855183173</c:v>
                </c:pt>
                <c:pt idx="20">
                  <c:v>0.710612670365</c:v>
                </c:pt>
                <c:pt idx="21">
                  <c:v>0.698577500776</c:v>
                </c:pt>
                <c:pt idx="22">
                  <c:v>0.686746162772</c:v>
                </c:pt>
                <c:pt idx="23">
                  <c:v>0.675115204194</c:v>
                </c:pt>
                <c:pt idx="24">
                  <c:v>0.663681231351</c:v>
                </c:pt>
                <c:pt idx="25">
                  <c:v>0.652440908027</c:v>
                </c:pt>
                <c:pt idx="26">
                  <c:v>0.641390954512</c:v>
                </c:pt>
                <c:pt idx="27">
                  <c:v>0.630528146638</c:v>
                </c:pt>
                <c:pt idx="28">
                  <c:v>0.619849314847</c:v>
                </c:pt>
                <c:pt idx="29">
                  <c:v>0.609351343258</c:v>
                </c:pt>
                <c:pt idx="30">
                  <c:v>0.599031168764</c:v>
                </c:pt>
                <c:pt idx="31">
                  <c:v>0.588885780135</c:v>
                </c:pt>
                <c:pt idx="32">
                  <c:v>0.578912217141</c:v>
                </c:pt>
                <c:pt idx="33">
                  <c:v>0.569107569685</c:v>
                </c:pt>
                <c:pt idx="34">
                  <c:v>0.559468976958</c:v>
                </c:pt>
                <c:pt idx="35">
                  <c:v>0.549993626604</c:v>
                </c:pt>
                <c:pt idx="36">
                  <c:v>0.540678753896</c:v>
                </c:pt>
                <c:pt idx="37">
                  <c:v>0.531521640932</c:v>
                </c:pt>
                <c:pt idx="38">
                  <c:v>0.52251961584</c:v>
                </c:pt>
                <c:pt idx="39">
                  <c:v>0.513670052002</c:v>
                </c:pt>
                <c:pt idx="40">
                  <c:v>0.504970367284</c:v>
                </c:pt>
                <c:pt idx="41">
                  <c:v>0.496418023284</c:v>
                </c:pt>
                <c:pt idx="42">
                  <c:v>0.48801052459</c:v>
                </c:pt>
                <c:pt idx="43">
                  <c:v>0.479745418057</c:v>
                </c:pt>
                <c:pt idx="44">
                  <c:v>0.471620292082</c:v>
                </c:pt>
                <c:pt idx="45">
                  <c:v>0.463632775909</c:v>
                </c:pt>
                <c:pt idx="46">
                  <c:v>0.455780538934</c:v>
                </c:pt>
                <c:pt idx="47">
                  <c:v>0.448061290023</c:v>
                </c:pt>
                <c:pt idx="48">
                  <c:v>0.440472776847</c:v>
                </c:pt>
                <c:pt idx="49">
                  <c:v>0.433012785223</c:v>
                </c:pt>
                <c:pt idx="50">
                  <c:v>0.425679138468</c:v>
                </c:pt>
                <c:pt idx="51">
                  <c:v>0.418469696762</c:v>
                </c:pt>
                <c:pt idx="52">
                  <c:v>0.41138235653</c:v>
                </c:pt>
                <c:pt idx="53">
                  <c:v>0.404415049819</c:v>
                </c:pt>
                <c:pt idx="54">
                  <c:v>0.397565743703</c:v>
                </c:pt>
                <c:pt idx="55">
                  <c:v>0.390832439685</c:v>
                </c:pt>
                <c:pt idx="56">
                  <c:v>0.384213173116</c:v>
                </c:pt>
                <c:pt idx="57">
                  <c:v>0.377706012619</c:v>
                </c:pt>
                <c:pt idx="58">
                  <c:v>0.37130905953</c:v>
                </c:pt>
                <c:pt idx="59">
                  <c:v>0.36502044734</c:v>
                </c:pt>
                <c:pt idx="60">
                  <c:v>0.358838341151</c:v>
                </c:pt>
              </c:numCache>
            </c:numRef>
          </c:yVal>
          <c:smooth val="1"/>
          <c:extLst>
            <c:ext xmlns:c16="http://schemas.microsoft.com/office/drawing/2014/chart" uri="{C3380CC4-5D6E-409C-BE32-E72D297353CC}">
              <c16:uniqueId val="{00000001-69ED-446E-A91C-E3615E06EFF6}"/>
            </c:ext>
          </c:extLst>
        </c:ser>
        <c:dLbls>
          <c:showLegendKey val="0"/>
          <c:showVal val="0"/>
          <c:showCatName val="0"/>
          <c:showSerName val="0"/>
          <c:showPercent val="0"/>
          <c:showBubbleSize val="0"/>
        </c:dLbls>
        <c:axId val="48650112"/>
        <c:axId val="48672768"/>
      </c:scatterChart>
      <c:valAx>
        <c:axId val="48672768"/>
        <c:scaling>
          <c:orientation val="minMax"/>
          <c:max val="1.05"/>
          <c:min val="0"/>
        </c:scaling>
        <c:delete val="0"/>
        <c:axPos val="l"/>
        <c:title>
          <c:tx>
            <c:rich>
              <a:bodyPr/>
              <a:lstStyle/>
              <a:p>
                <a:r>
                  <a:rPr>
                    <a:solidFill>
                      <a:srgbClr val="123447"/>
                    </a:solidFill>
                    <a:latin typeface="Segoe UI" panose="020B0502040204020203" pitchFamily="34" charset="0"/>
                  </a:rPr>
                  <a:t>I / I₀</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50112"/>
        <c:crosses val="autoZero"/>
        <c:crossBetween val="midCat"/>
      </c:valAx>
      <c:valAx>
        <c:axId val="48650112"/>
        <c:scaling>
          <c:orientation val="minMax"/>
          <c:max val="1"/>
          <c:min val="0"/>
        </c:scaling>
        <c:delete val="0"/>
        <c:axPos val="b"/>
        <c:title>
          <c:tx>
            <c:rich>
              <a:bodyPr/>
              <a:lstStyle/>
              <a:p>
                <a:r>
                  <a:rPr>
                    <a:solidFill>
                      <a:srgbClr val="123447"/>
                    </a:solidFill>
                    <a:latin typeface="Segoe UI" panose="020B0502040204020203" pitchFamily="34" charset="0"/>
                  </a:rPr>
                  <a:t>(GPZ6 / 100)²</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72768"/>
        <c:crosses val="autoZero"/>
        <c:crossBetween val="midCat"/>
        <c:majorUnit val="0.2"/>
      </c:valAx>
      <c:spPr>
        <a:solidFill>
          <a:srgbClr val="F5F5F0"/>
        </a:solidFill>
      </c:spPr>
    </c:plotArea>
    <c:legend>
      <c:legendPos val="b"/>
      <c:overlay val="0"/>
      <c:txPr>
        <a:bodyPr anchorCtr="1"/>
        <a:lstStyle/>
        <a:p>
          <a:pPr>
            <a:defRPr sz="1650">
              <a:solidFill>
                <a:srgbClr val="123447"/>
              </a:solidFill>
              <a:latin typeface="Segoe UI"/>
              <a:ea typeface="Segoe UI"/>
              <a:cs typeface="Segoe UI"/>
            </a:defRPr>
          </a:pPr>
          <a:endParaRPr lang="es-ES_tradnl"/>
        </a:p>
      </c:txPr>
    </c:legend>
    <c:plotVisOnly val="1"/>
    <c:dispBlanksAs val="zero"/>
    <c:showDLblsOverMax val="1"/>
  </c:chart>
  <c:spPr>
    <a:solidFill>
      <a:srgbClr val="F5F5F0"/>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scatterChart>
        <c:scatterStyle val="lineMarker"/>
        <c:varyColors val="1"/>
        <c:ser>
          <c:idx val="0"/>
          <c:order val="0"/>
          <c:tx>
            <c:v>Pure diffusion</c:v>
          </c:tx>
          <c:spPr>
            <a:ln w="28575">
              <a:solidFill>
                <a:srgbClr val="087E98"/>
              </a:solidFill>
            </a:ln>
          </c:spPr>
          <c:marker>
            <c:symbol val="none"/>
          </c:marker>
          <c:xVal>
            <c:numRef>
              <c:f>'Chart Data'!$A$2:$A$4</c:f>
              <c:numCache>
                <c:formatCode>General</c:formatCode>
                <c:ptCount val="3"/>
                <c:pt idx="0">
                  <c:v>50</c:v>
                </c:pt>
                <c:pt idx="1">
                  <c:v>100</c:v>
                </c:pt>
                <c:pt idx="2">
                  <c:v>150</c:v>
                </c:pt>
              </c:numCache>
            </c:numRef>
          </c:xVal>
          <c:yVal>
            <c:numRef>
              <c:f>'Chart Data'!$B$2:$B$4</c:f>
              <c:numCache>
                <c:formatCode>0.0</c:formatCode>
                <c:ptCount val="3"/>
                <c:pt idx="0">
                  <c:v>0.8</c:v>
                </c:pt>
                <c:pt idx="1">
                  <c:v>0.8</c:v>
                </c:pt>
                <c:pt idx="2">
                  <c:v>0.8</c:v>
                </c:pt>
              </c:numCache>
            </c:numRef>
          </c:yVal>
          <c:smooth val="1"/>
          <c:extLst>
            <c:ext xmlns:c16="http://schemas.microsoft.com/office/drawing/2014/chart" uri="{C3380CC4-5D6E-409C-BE32-E72D297353CC}">
              <c16:uniqueId val="{00000000-920B-4E25-A447-7169602EF8FE}"/>
            </c:ext>
          </c:extLst>
        </c:ser>
        <c:ser>
          <c:idx val="1"/>
          <c:order val="1"/>
          <c:tx>
            <c:v>Velocity dispersion</c:v>
          </c:tx>
          <c:spPr>
            <a:ln w="28575">
              <a:solidFill>
                <a:srgbClr val="BE4038"/>
              </a:solidFill>
            </a:ln>
          </c:spPr>
          <c:marker>
            <c:symbol val="none"/>
          </c:marker>
          <c:xVal>
            <c:numRef>
              <c:f>'Chart Data'!$C$2:$C$4</c:f>
              <c:numCache>
                <c:formatCode>General</c:formatCode>
                <c:ptCount val="3"/>
                <c:pt idx="0">
                  <c:v>50</c:v>
                </c:pt>
                <c:pt idx="1">
                  <c:v>100</c:v>
                </c:pt>
                <c:pt idx="2">
                  <c:v>150</c:v>
                </c:pt>
              </c:numCache>
            </c:numRef>
          </c:xVal>
          <c:yVal>
            <c:numRef>
              <c:f>'Chart Data'!$D$2:$D$4</c:f>
              <c:numCache>
                <c:formatCode>0.0</c:formatCode>
                <c:ptCount val="3"/>
                <c:pt idx="0">
                  <c:v>1.05</c:v>
                </c:pt>
                <c:pt idx="1">
                  <c:v>1.3</c:v>
                </c:pt>
                <c:pt idx="2">
                  <c:v>1.55</c:v>
                </c:pt>
              </c:numCache>
            </c:numRef>
          </c:yVal>
          <c:smooth val="1"/>
          <c:extLst>
            <c:ext xmlns:c16="http://schemas.microsoft.com/office/drawing/2014/chart" uri="{C3380CC4-5D6E-409C-BE32-E72D297353CC}">
              <c16:uniqueId val="{00000001-920B-4E25-A447-7169602EF8FE}"/>
            </c:ext>
          </c:extLst>
        </c:ser>
        <c:dLbls>
          <c:showLegendKey val="0"/>
          <c:showVal val="0"/>
          <c:showCatName val="0"/>
          <c:showSerName val="0"/>
          <c:showPercent val="0"/>
          <c:showBubbleSize val="0"/>
        </c:dLbls>
        <c:axId val="48650112"/>
        <c:axId val="48672768"/>
      </c:scatterChart>
      <c:valAx>
        <c:axId val="48672768"/>
        <c:scaling>
          <c:orientation val="minMax"/>
          <c:max val="1.7"/>
          <c:min val="0.5"/>
        </c:scaling>
        <c:delete val="0"/>
        <c:axPos val="l"/>
        <c:title>
          <c:tx>
            <c:rich>
              <a:bodyPr/>
              <a:lstStyle/>
              <a:p>
                <a:r>
                  <a:rPr>
                    <a:solidFill>
                      <a:srgbClr val="123447"/>
                    </a:solidFill>
                    <a:latin typeface="Segoe UI" panose="020B0502040204020203" pitchFamily="34" charset="0"/>
                  </a:rPr>
                  <a:t>Apparent D / 10⁻⁹ m² s⁻¹</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50112"/>
        <c:crosses val="autoZero"/>
        <c:crossBetween val="midCat"/>
      </c:valAx>
      <c:valAx>
        <c:axId val="48650112"/>
        <c:scaling>
          <c:orientation val="minMax"/>
          <c:max val="150"/>
          <c:min val="50"/>
        </c:scaling>
        <c:delete val="0"/>
        <c:axPos val="b"/>
        <c:title>
          <c:tx>
            <c:rich>
              <a:bodyPr/>
              <a:lstStyle/>
              <a:p>
                <a:r>
                  <a:rPr>
                    <a:solidFill>
                      <a:srgbClr val="123447"/>
                    </a:solidFill>
                    <a:latin typeface="Segoe UI" panose="020B0502040204020203" pitchFamily="34" charset="0"/>
                  </a:rPr>
                  <a:t>Δ / ms</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72768"/>
        <c:crosses val="autoZero"/>
        <c:crossBetween val="midCat"/>
        <c:majorUnit val="50"/>
      </c:valAx>
      <c:spPr>
        <a:solidFill>
          <a:srgbClr val="F5F5F0"/>
        </a:solidFill>
      </c:spPr>
    </c:plotArea>
    <c:legend>
      <c:legendPos val="b"/>
      <c:overlay val="0"/>
      <c:txPr>
        <a:bodyPr anchorCtr="1"/>
        <a:lstStyle/>
        <a:p>
          <a:pPr>
            <a:defRPr sz="1650">
              <a:solidFill>
                <a:srgbClr val="123447"/>
              </a:solidFill>
              <a:latin typeface="Segoe UI"/>
              <a:ea typeface="Segoe UI"/>
              <a:cs typeface="Segoe UI"/>
            </a:defRPr>
          </a:pPr>
          <a:endParaRPr lang="es-ES_tradnl"/>
        </a:p>
      </c:txPr>
    </c:legend>
    <c:plotVisOnly val="1"/>
    <c:dispBlanksAs val="zero"/>
    <c:showDLblsOverMax val="1"/>
  </c:chart>
  <c:spPr>
    <a:solidFill>
      <a:srgbClr val="F5F5F0"/>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scatterChart>
        <c:scatterStyle val="lineMarker"/>
        <c:varyColors val="1"/>
        <c:ser>
          <c:idx val="0"/>
          <c:order val="0"/>
          <c:tx>
            <c:v>Δ 75 ms</c:v>
          </c:tx>
          <c:spPr>
            <a:ln w="28575">
              <a:solidFill>
                <a:srgbClr val="087E98"/>
              </a:solidFill>
            </a:ln>
          </c:spPr>
          <c:marker>
            <c:symbol val="circle"/>
            <c:size val="6"/>
            <c:spPr>
              <a:solidFill>
                <a:srgbClr val="087E98"/>
              </a:solidFill>
            </c:spPr>
          </c:marker>
          <c:xVal>
            <c:numRef>
              <c:f>'Chart Data'!$A$2:$A$24</c:f>
              <c:numCache>
                <c:formatCode>General</c:formatCode>
                <c:ptCount val="23"/>
                <c:pt idx="0">
                  <c:v>0.0685762998078</c:v>
                </c:pt>
                <c:pt idx="1">
                  <c:v>0.154296674568</c:v>
                </c:pt>
                <c:pt idx="2">
                  <c:v>0.274305199231</c:v>
                </c:pt>
                <c:pt idx="3">
                  <c:v>0.428601873799</c:v>
                </c:pt>
                <c:pt idx="4">
                  <c:v>0.61718669827</c:v>
                </c:pt>
                <c:pt idx="5">
                  <c:v>0.840059672645</c:v>
                </c:pt>
                <c:pt idx="6">
                  <c:v>1.09722079692</c:v>
                </c:pt>
                <c:pt idx="7">
                  <c:v>1.38867007111</c:v>
                </c:pt>
                <c:pt idx="8">
                  <c:v>1.71440749519</c:v>
                </c:pt>
                <c:pt idx="9">
                  <c:v>2.07443306919</c:v>
                </c:pt>
                <c:pt idx="10">
                  <c:v>2.46874679308</c:v>
                </c:pt>
                <c:pt idx="11">
                  <c:v>2.89734866688</c:v>
                </c:pt>
                <c:pt idx="12">
                  <c:v>3.36023869058</c:v>
                </c:pt>
                <c:pt idx="13">
                  <c:v>3.85741686419</c:v>
                </c:pt>
                <c:pt idx="14">
                  <c:v>4.3888831877</c:v>
                </c:pt>
                <c:pt idx="15">
                  <c:v>4.95463766111</c:v>
                </c:pt>
                <c:pt idx="16">
                  <c:v>5.55468028443</c:v>
                </c:pt>
                <c:pt idx="17">
                  <c:v>6.18901105765</c:v>
                </c:pt>
                <c:pt idx="18">
                  <c:v>6.85762998078</c:v>
                </c:pt>
                <c:pt idx="19">
                  <c:v>7.56053705381</c:v>
                </c:pt>
                <c:pt idx="20">
                  <c:v>8.29773227674</c:v>
                </c:pt>
                <c:pt idx="21">
                  <c:v>9.06921564958</c:v>
                </c:pt>
                <c:pt idx="22">
                  <c:v>9.87498717232</c:v>
                </c:pt>
              </c:numCache>
            </c:numRef>
          </c:xVal>
          <c:yVal>
            <c:numRef>
              <c:f>'Chart Data'!$B$2:$B$24</c:f>
              <c:numCache>
                <c:formatCode>0.0</c:formatCode>
                <c:ptCount val="23"/>
                <c:pt idx="0">
                  <c:v>1</c:v>
                </c:pt>
                <c:pt idx="1">
                  <c:v>0.984813707185</c:v>
                </c:pt>
                <c:pt idx="2">
                  <c:v>0.961385350058</c:v>
                </c:pt>
                <c:pt idx="3">
                  <c:v>0.940433796897</c:v>
                </c:pt>
                <c:pt idx="4">
                  <c:v>0.910124426195</c:v>
                </c:pt>
                <c:pt idx="5">
                  <c:v>0.872415755608</c:v>
                </c:pt>
                <c:pt idx="6">
                  <c:v>0.841199538826</c:v>
                </c:pt>
                <c:pt idx="7">
                  <c:v>0.798340807415</c:v>
                </c:pt>
                <c:pt idx="8">
                  <c:v>0.751406104049</c:v>
                </c:pt>
                <c:pt idx="9">
                  <c:v>0.712133028694</c:v>
                </c:pt>
                <c:pt idx="10">
                  <c:v>0.662532667294</c:v>
                </c:pt>
                <c:pt idx="11">
                  <c:v>0.616454791877</c:v>
                </c:pt>
                <c:pt idx="12">
                  <c:v>0.568991026631</c:v>
                </c:pt>
                <c:pt idx="13">
                  <c:v>0.52494140114</c:v>
                </c:pt>
                <c:pt idx="14">
                  <c:v>0.476974077153</c:v>
                </c:pt>
                <c:pt idx="15">
                  <c:v>0.43554312328</c:v>
                </c:pt>
                <c:pt idx="16">
                  <c:v>0.398382831889</c:v>
                </c:pt>
                <c:pt idx="17">
                  <c:v>0.35521865344</c:v>
                </c:pt>
                <c:pt idx="18">
                  <c:v>0.318128395405</c:v>
                </c:pt>
                <c:pt idx="19">
                  <c:v>0.284410629113</c:v>
                </c:pt>
                <c:pt idx="20">
                  <c:v>0.252847511853</c:v>
                </c:pt>
                <c:pt idx="21">
                  <c:v>0.224260792505</c:v>
                </c:pt>
                <c:pt idx="22">
                  <c:v>0.197732257656</c:v>
                </c:pt>
              </c:numCache>
            </c:numRef>
          </c:yVal>
          <c:smooth val="1"/>
          <c:extLst>
            <c:ext xmlns:c16="http://schemas.microsoft.com/office/drawing/2014/chart" uri="{C3380CC4-5D6E-409C-BE32-E72D297353CC}">
              <c16:uniqueId val="{00000000-563A-40E9-8074-90E79F9A63BD}"/>
            </c:ext>
          </c:extLst>
        </c:ser>
        <c:ser>
          <c:idx val="1"/>
          <c:order val="1"/>
          <c:tx>
            <c:v>Δ 100 ms</c:v>
          </c:tx>
          <c:spPr>
            <a:ln w="28575">
              <a:solidFill>
                <a:srgbClr val="3478C8"/>
              </a:solidFill>
            </a:ln>
          </c:spPr>
          <c:marker>
            <c:symbol val="circle"/>
            <c:size val="6"/>
            <c:spPr>
              <a:solidFill>
                <a:srgbClr val="3478C8"/>
              </a:solidFill>
            </c:spPr>
          </c:marker>
          <c:xVal>
            <c:numRef>
              <c:f>'Chart Data'!$C$2:$C$24</c:f>
              <c:numCache>
                <c:formatCode>General</c:formatCode>
                <c:ptCount val="23"/>
                <c:pt idx="0">
                  <c:v>0.0919248648244</c:v>
                </c:pt>
                <c:pt idx="1">
                  <c:v>0.206830945855</c:v>
                </c:pt>
                <c:pt idx="2">
                  <c:v>0.367699459298</c:v>
                </c:pt>
                <c:pt idx="3">
                  <c:v>0.574530405153</c:v>
                </c:pt>
                <c:pt idx="4">
                  <c:v>0.82732378342</c:v>
                </c:pt>
                <c:pt idx="5">
                  <c:v>1.1260795941</c:v>
                </c:pt>
                <c:pt idx="6">
                  <c:v>1.47079783719</c:v>
                </c:pt>
                <c:pt idx="7">
                  <c:v>1.86147851269</c:v>
                </c:pt>
                <c:pt idx="8">
                  <c:v>2.29812162061</c:v>
                </c:pt>
                <c:pt idx="9">
                  <c:v>2.78072716094</c:v>
                </c:pt>
                <c:pt idx="10">
                  <c:v>3.30929513368</c:v>
                </c:pt>
                <c:pt idx="11">
                  <c:v>3.88382553883</c:v>
                </c:pt>
                <c:pt idx="12">
                  <c:v>4.5043183764</c:v>
                </c:pt>
                <c:pt idx="13">
                  <c:v>5.17077364637</c:v>
                </c:pt>
                <c:pt idx="14">
                  <c:v>5.88319134876</c:v>
                </c:pt>
                <c:pt idx="15">
                  <c:v>6.64157148357</c:v>
                </c:pt>
                <c:pt idx="16">
                  <c:v>7.44591405078</c:v>
                </c:pt>
                <c:pt idx="17">
                  <c:v>8.29621905041</c:v>
                </c:pt>
                <c:pt idx="18">
                  <c:v>9.19248648244</c:v>
                </c:pt>
                <c:pt idx="19">
                  <c:v>10.1347163469</c:v>
                </c:pt>
                <c:pt idx="20">
                  <c:v>11.1229086438</c:v>
                </c:pt>
                <c:pt idx="21">
                  <c:v>12.157063373</c:v>
                </c:pt>
                <c:pt idx="22">
                  <c:v>13.2371805347</c:v>
                </c:pt>
              </c:numCache>
            </c:numRef>
          </c:xVal>
          <c:yVal>
            <c:numRef>
              <c:f>'Chart Data'!$D$2:$D$24</c:f>
              <c:numCache>
                <c:formatCode>0.0</c:formatCode>
                <c:ptCount val="23"/>
                <c:pt idx="0">
                  <c:v>1</c:v>
                </c:pt>
                <c:pt idx="1">
                  <c:v>0.983775772572</c:v>
                </c:pt>
                <c:pt idx="2">
                  <c:v>0.955662114868</c:v>
                </c:pt>
                <c:pt idx="3">
                  <c:v>0.921338355631</c:v>
                </c:pt>
                <c:pt idx="4">
                  <c:v>0.879438209732</c:v>
                </c:pt>
                <c:pt idx="5">
                  <c:v>0.835942928689</c:v>
                </c:pt>
                <c:pt idx="6">
                  <c:v>0.786810924578</c:v>
                </c:pt>
                <c:pt idx="7">
                  <c:v>0.736563920545</c:v>
                </c:pt>
                <c:pt idx="8">
                  <c:v>0.685144108298</c:v>
                </c:pt>
                <c:pt idx="9">
                  <c:v>0.627462501069</c:v>
                </c:pt>
                <c:pt idx="10">
                  <c:v>0.572136659558</c:v>
                </c:pt>
                <c:pt idx="11">
                  <c:v>0.520877161564</c:v>
                </c:pt>
                <c:pt idx="12">
                  <c:v>0.467363616784</c:v>
                </c:pt>
                <c:pt idx="13">
                  <c:v>0.416974624969</c:v>
                </c:pt>
                <c:pt idx="14">
                  <c:v>0.371566462236</c:v>
                </c:pt>
                <c:pt idx="15">
                  <c:v>0.32718233106</c:v>
                </c:pt>
                <c:pt idx="16">
                  <c:v>0.286487604023</c:v>
                </c:pt>
                <c:pt idx="17">
                  <c:v>0.248724020972</c:v>
                </c:pt>
                <c:pt idx="18">
                  <c:v>0.214805178098</c:v>
                </c:pt>
                <c:pt idx="19">
                  <c:v>0.18453632497</c:v>
                </c:pt>
                <c:pt idx="20">
                  <c:v>0.157992934039</c:v>
                </c:pt>
                <c:pt idx="21">
                  <c:v>0.134507878226</c:v>
                </c:pt>
                <c:pt idx="22">
                  <c:v>0.112686116413</c:v>
                </c:pt>
              </c:numCache>
            </c:numRef>
          </c:yVal>
          <c:smooth val="1"/>
          <c:extLst>
            <c:ext xmlns:c16="http://schemas.microsoft.com/office/drawing/2014/chart" uri="{C3380CC4-5D6E-409C-BE32-E72D297353CC}">
              <c16:uniqueId val="{00000001-563A-40E9-8074-90E79F9A63BD}"/>
            </c:ext>
          </c:extLst>
        </c:ser>
        <c:ser>
          <c:idx val="2"/>
          <c:order val="2"/>
          <c:tx>
            <c:v>Δ 125 ms</c:v>
          </c:tx>
          <c:spPr>
            <a:ln w="28575">
              <a:solidFill>
                <a:srgbClr val="99521E"/>
              </a:solidFill>
            </a:ln>
          </c:spPr>
          <c:marker>
            <c:symbol val="circle"/>
            <c:size val="6"/>
            <c:spPr>
              <a:solidFill>
                <a:srgbClr val="99521E"/>
              </a:solidFill>
            </c:spPr>
          </c:marker>
          <c:xVal>
            <c:numRef>
              <c:f>'Chart Data'!$E$2:$E$24</c:f>
              <c:numCache>
                <c:formatCode>General</c:formatCode>
                <c:ptCount val="23"/>
                <c:pt idx="0">
                  <c:v>0.115273429841</c:v>
                </c:pt>
                <c:pt idx="1">
                  <c:v>0.259365217142</c:v>
                </c:pt>
                <c:pt idx="2">
                  <c:v>0.461093719364</c:v>
                </c:pt>
                <c:pt idx="3">
                  <c:v>0.720458936507</c:v>
                </c:pt>
                <c:pt idx="4">
                  <c:v>1.03746086857</c:v>
                </c:pt>
                <c:pt idx="5">
                  <c:v>1.41209951555</c:v>
                </c:pt>
                <c:pt idx="6">
                  <c:v>1.84437487746</c:v>
                </c:pt>
                <c:pt idx="7">
                  <c:v>2.33428695428</c:v>
                </c:pt>
                <c:pt idx="8">
                  <c:v>2.88183574603</c:v>
                </c:pt>
                <c:pt idx="9">
                  <c:v>3.48702125269</c:v>
                </c:pt>
                <c:pt idx="10">
                  <c:v>4.14984347428</c:v>
                </c:pt>
                <c:pt idx="11">
                  <c:v>4.87030241079</c:v>
                </c:pt>
                <c:pt idx="12">
                  <c:v>5.64839806221</c:v>
                </c:pt>
                <c:pt idx="13">
                  <c:v>6.48413042856</c:v>
                </c:pt>
                <c:pt idx="14">
                  <c:v>7.37749950983</c:v>
                </c:pt>
                <c:pt idx="15">
                  <c:v>8.32850530602</c:v>
                </c:pt>
                <c:pt idx="16">
                  <c:v>9.33714781713</c:v>
                </c:pt>
                <c:pt idx="17">
                  <c:v>10.4034270432</c:v>
                </c:pt>
                <c:pt idx="18">
                  <c:v>11.5273429841</c:v>
                </c:pt>
                <c:pt idx="19">
                  <c:v>12.70889564</c:v>
                </c:pt>
                <c:pt idx="20">
                  <c:v>13.9480850108</c:v>
                </c:pt>
                <c:pt idx="21">
                  <c:v>15.2449110965</c:v>
                </c:pt>
                <c:pt idx="22">
                  <c:v>16.5993738971</c:v>
                </c:pt>
              </c:numCache>
            </c:numRef>
          </c:xVal>
          <c:yVal>
            <c:numRef>
              <c:f>'Chart Data'!$F$2:$F$24</c:f>
              <c:numCache>
                <c:formatCode>0.0</c:formatCode>
                <c:ptCount val="23"/>
                <c:pt idx="0">
                  <c:v>1</c:v>
                </c:pt>
                <c:pt idx="1">
                  <c:v>0.977532485881</c:v>
                </c:pt>
                <c:pt idx="2">
                  <c:v>0.945283007011</c:v>
                </c:pt>
                <c:pt idx="3">
                  <c:v>0.90277968356</c:v>
                </c:pt>
                <c:pt idx="4">
                  <c:v>0.85573930472</c:v>
                </c:pt>
                <c:pt idx="5">
                  <c:v>0.802511336499</c:v>
                </c:pt>
                <c:pt idx="6">
                  <c:v>0.740859622288</c:v>
                </c:pt>
                <c:pt idx="7">
                  <c:v>0.681235995359</c:v>
                </c:pt>
                <c:pt idx="8">
                  <c:v>0.622429157655</c:v>
                </c:pt>
                <c:pt idx="9">
                  <c:v>0.560609583812</c:v>
                </c:pt>
                <c:pt idx="10">
                  <c:v>0.501007940654</c:v>
                </c:pt>
                <c:pt idx="11">
                  <c:v>0.443652877455</c:v>
                </c:pt>
                <c:pt idx="12">
                  <c:v>0.388418698365</c:v>
                </c:pt>
                <c:pt idx="13">
                  <c:v>0.339287238145</c:v>
                </c:pt>
                <c:pt idx="14">
                  <c:v>0.291913806275</c:v>
                </c:pt>
                <c:pt idx="15">
                  <c:v>0.250501709049</c:v>
                </c:pt>
                <c:pt idx="16">
                  <c:v>0.212379462572</c:v>
                </c:pt>
                <c:pt idx="17">
                  <c:v>0.177687468235</c:v>
                </c:pt>
                <c:pt idx="18">
                  <c:v>0.149556065758</c:v>
                </c:pt>
                <c:pt idx="19">
                  <c:v>0.12281196579</c:v>
                </c:pt>
                <c:pt idx="20">
                  <c:v>0.102244824719</c:v>
                </c:pt>
                <c:pt idx="21">
                  <c:v>0.084551871128</c:v>
                </c:pt>
                <c:pt idx="22">
                  <c:v>0.0665560025127</c:v>
                </c:pt>
              </c:numCache>
            </c:numRef>
          </c:yVal>
          <c:smooth val="1"/>
          <c:extLst>
            <c:ext xmlns:c16="http://schemas.microsoft.com/office/drawing/2014/chart" uri="{C3380CC4-5D6E-409C-BE32-E72D297353CC}">
              <c16:uniqueId val="{00000002-563A-40E9-8074-90E79F9A63BD}"/>
            </c:ext>
          </c:extLst>
        </c:ser>
        <c:dLbls>
          <c:showLegendKey val="0"/>
          <c:showVal val="0"/>
          <c:showCatName val="0"/>
          <c:showSerName val="0"/>
          <c:showPercent val="0"/>
          <c:showBubbleSize val="0"/>
        </c:dLbls>
        <c:axId val="48650112"/>
        <c:axId val="48672768"/>
      </c:scatterChart>
      <c:valAx>
        <c:axId val="48672768"/>
        <c:scaling>
          <c:orientation val="minMax"/>
          <c:max val="1.05"/>
          <c:min val="0"/>
        </c:scaling>
        <c:delete val="0"/>
        <c:axPos val="l"/>
        <c:title>
          <c:tx>
            <c:rich>
              <a:bodyPr/>
              <a:lstStyle/>
              <a:p>
                <a:r>
                  <a:rPr>
                    <a:solidFill>
                      <a:srgbClr val="123447"/>
                    </a:solidFill>
                    <a:latin typeface="Segoe UI" panose="020B0502040204020203" pitchFamily="34" charset="0"/>
                  </a:rPr>
                  <a:t>I / I first point</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50112"/>
        <c:crosses val="autoZero"/>
        <c:crossBetween val="midCat"/>
      </c:valAx>
      <c:valAx>
        <c:axId val="48650112"/>
        <c:scaling>
          <c:orientation val="minMax"/>
          <c:max val="18"/>
          <c:min val="0"/>
        </c:scaling>
        <c:delete val="0"/>
        <c:axPos val="b"/>
        <c:title>
          <c:tx>
            <c:rich>
              <a:bodyPr/>
              <a:lstStyle/>
              <a:p>
                <a:r>
                  <a:rPr>
                    <a:solidFill>
                      <a:srgbClr val="123447"/>
                    </a:solidFill>
                    <a:latin typeface="Segoe UI" panose="020B0502040204020203" pitchFamily="34" charset="0"/>
                  </a:rPr>
                  <a:t>b / 10⁹ s m⁻²</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72768"/>
        <c:crosses val="autoZero"/>
        <c:crossBetween val="midCat"/>
        <c:majorUnit val="5"/>
      </c:valAx>
      <c:spPr>
        <a:solidFill>
          <a:srgbClr val="F5F5F0"/>
        </a:solidFill>
      </c:spPr>
    </c:plotArea>
    <c:legend>
      <c:legendPos val="b"/>
      <c:overlay val="0"/>
      <c:txPr>
        <a:bodyPr anchorCtr="1"/>
        <a:lstStyle/>
        <a:p>
          <a:pPr>
            <a:defRPr sz="1650">
              <a:solidFill>
                <a:srgbClr val="123447"/>
              </a:solidFill>
              <a:latin typeface="Segoe UI"/>
              <a:ea typeface="Segoe UI"/>
              <a:cs typeface="Segoe UI"/>
            </a:defRPr>
          </a:pPr>
          <a:endParaRPr lang="es-ES_tradnl"/>
        </a:p>
      </c:txPr>
    </c:legend>
    <c:plotVisOnly val="1"/>
    <c:dispBlanksAs val="zero"/>
    <c:showDLblsOverMax val="1"/>
  </c:chart>
  <c:spPr>
    <a:solidFill>
      <a:srgbClr val="F5F5F0"/>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00:00–00:20 · 20 s</a:t>
            </a:r>
          </a:p>
          <a:p>
            <a:endParaRPr/>
          </a:p>
          <a:p>
            <a:r>
              <a:t>This is the story of turning a spectral series into a result we can explain and repeat. Before showing our software, we will examine the two obstacles that motivated its development: preparing the spectrometer properly and processing without changing diffusion information. We then use the tools in three concrete examples. Let us start with the whole route.</a:t>
            </a:r>
          </a:p>
          <a:p>
            <a:endParaRPr/>
          </a:p>
          <a:p>
            <a:endParaRP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00:20–00:45 · 25 s</a:t>
            </a:r>
          </a:p>
          <a:p>
            <a:endParaRPr/>
          </a:p>
          <a:p>
            <a:r>
              <a:t>The workshop has four parts but tells one story. First, we need intensity that reflects diffusion and a correct b scale. We then need to preserve that intensity and understand why inversion has no unique answer. Only then will I show how our programs make the work more manageable, using saved examples that can be reviewed. The first operation is to calibrate the 90-degree pulse.</a:t>
            </a:r>
          </a:p>
          <a:p>
            <a:endParaRPr/>
          </a:p>
          <a:p>
            <a:endParaRP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00:45–01:35 · 50 s</a:t>
            </a:r>
          </a:p>
          <a:p>
            <a:endParaRPr/>
          </a:p>
          <a:p>
            <a:r>
              <a:t>Pulse length depends on the sample, tuning and power. Copying P1 from another preparation can lose signal and alter sequence behaviour. At fixed power, find the first positive-to-negative crossing after the maximum: the 180-degree null. Keep phase, gain and D1 fixed; separate automatic phasing would lose the sign. The sine curve is an ideal model explaining the procedure, not a new spectrometer measurement. Now we do this with your experiment 1000.</a:t>
            </a:r>
          </a:p>
          <a:p>
            <a:endParaRPr/>
          </a:p>
          <a:p>
            <a:endParaRPr/>
          </a:p>
          <a:p>
            <a:endParaRPr/>
          </a:p>
          <a:p>
            <a:r>
              <a:t>Sources:</a:t>
            </a:r>
          </a:p>
          <a:p>
            <a:r>
              <a:t>PLA-D1 pulse calibration: user screenshots and saved experiments 1000 / 10</a:t>
            </a:r>
          </a:p>
          <a:p>
            <a:endParaRPr/>
          </a:p>
          <a:p>
            <a:r>
              <a:t>[local-source: 20250321_PLA-D1_diff_CDCL3]</a:t>
            </a:r>
          </a:p>
          <a:p>
            <a:r>
              <a:t>Bruker TopSpin 3.6 Basic Experiments, pp.109-116; UCSB NMR pulse width calibration</a:t>
            </a:r>
          </a:p>
          <a:p>
            <a:r>
              <a:t>https://nmr.chem.ucsb.edu/protocols/pw90cal.html</a:t>
            </a:r>
          </a:p>
          <a:p>
            <a:r>
              <a:t>&lt;TopSpin&gt;/prog/docu/English/topspin/pdf/step_basic.pdf</a:t>
            </a:r>
          </a:p>
          <a:p>
            <a:r>
              <a:t>Read-only audit of pulse calibration and sequence-dependent timing parameters</a:t>
            </a:r>
          </a:p>
          <a:p>
            <a:endParaRPr/>
          </a:p>
          <a:p>
            <a:r>
              <a:t>[local-source: parameters_pulse_evidence.json]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01:35–02:25 · 50 s</a:t>
            </a:r>
          </a:p>
          <a:p>
            <a:endParaRPr/>
          </a:p>
          <a:p>
            <a:r>
              <a:t>This is the actual PLA/CDCl3 example. In zg, experiment 1000, P1 is 22 microseconds at PLW1 of 22 watts; the user identifies this first null as 180 degrees. Halving it gives 11 microseconds. DOSY experiment 10 stores P1=11 and P2=22 at the same power. The practical result is a documented value transferable under the same conditions; verify the 90-degree maximum in zg before acquisition. Red and blue use different gain, scans and sequences, so this comparison is qualitative, not an absolute sensitivity-recovery measurement. We now have RF; next the diffusion axis needs a physical scale.</a:t>
            </a:r>
          </a:p>
          <a:p>
            <a:endParaRPr/>
          </a:p>
          <a:p>
            <a:endParaRPr/>
          </a:p>
          <a:p>
            <a:endParaRPr/>
          </a:p>
          <a:p>
            <a:r>
              <a:t>Sources:</a:t>
            </a:r>
          </a:p>
          <a:p>
            <a:r>
              <a:t>PLA-D1 pulse calibration: user screenshots and saved experiments 1000 / 10</a:t>
            </a:r>
          </a:p>
          <a:p>
            <a:endParaRPr/>
          </a:p>
          <a:p>
            <a:r>
              <a:t>[local-source: 20250321_PLA-D1_diff_CDCL3]</a:t>
            </a:r>
          </a:p>
          <a:p>
            <a:r>
              <a:t>Bruker TopSpin 3.6 Basic Experiments, pp.109-116; UCSB NMR pulse width calibration</a:t>
            </a:r>
          </a:p>
          <a:p>
            <a:r>
              <a:t>https://nmr.chem.ucsb.edu/protocols/pw90cal.html</a:t>
            </a:r>
          </a:p>
          <a:p>
            <a:r>
              <a:t>&lt;TopSpin&gt;/prog/docu/English/topspin/pdf/step_basic.pdf</a:t>
            </a:r>
          </a:p>
          <a:p>
            <a:r>
              <a:t>Read-only audit of pulse calibration and sequence-dependent timing parameters</a:t>
            </a:r>
          </a:p>
          <a:p>
            <a:endParaRPr/>
          </a:p>
          <a:p>
            <a:r>
              <a:t>[local-source: parameters_pulse_evidence.json]</a:t>
            </a:r>
          </a:p>
          <a:p>
            <a:r>
              <a:t>p1 evidence</a:t>
            </a:r>
          </a:p>
          <a:p>
            <a:endParaRPr/>
          </a:p>
          <a:p>
            <a:r>
              <a:t>[local-source: parameters_pulse_evidence.json]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02:25–03:45 · 80 s</a:t>
            </a:r>
          </a:p>
          <a:p>
            <a:endParaRPr/>
          </a:p>
          <a:p>
            <a:r>
              <a:t>Gradient scale enters b quadratically. In the hypothetical example, actual G ten percent above the value used gives apparent D twenty-one percent higher without spoiling the exponential. Calibrate using a reference ramp at actual temperature, uniform processing, a fixed region and a compatible sequence model. Inspect signed signal, residuals and drift rather than R squared alone. The retained experimental HDO/TBO example has slope 1.58627 at Delta=50 ms, delta=1.20 ms and SMSQ10.100. That historical profile uses point-height extraction, not the new helper integral. HDO value 1.902 times ten to the minus nine applies at 298.15 K; the actual ramp has a different temperature and uses a documented thermal approximation. With a compatible model, new G equals old G times the square root of measured D over reference D. We later replay the helper offline using integrals, retaining the two extractions separately without replacing protected calibration. A compatible equation is not a detail: it changes what b means.</a:t>
            </a:r>
          </a:p>
          <a:p>
            <a:endParaRPr/>
          </a:p>
          <a:p>
            <a:endParaRPr/>
          </a:p>
          <a:p>
            <a:endParaRPr/>
          </a:p>
          <a:p>
            <a:r>
              <a:t>Sources:</a:t>
            </a:r>
          </a:p>
          <a:p>
            <a:r>
              <a:t>DiffAtOnce DOSY TopSpin console assistant</a:t>
            </a:r>
          </a:p>
          <a:p>
            <a:endParaRPr/>
          </a:p>
          <a:p>
            <a:r>
              <a:t>[local-source: README_ES.md]</a:t>
            </a:r>
          </a:p>
          <a:p>
            <a:r>
              <a:t>TBO HDO experimental calibration, 4 September 2026</a:t>
            </a:r>
          </a:p>
          <a:p>
            <a:endParaRPr/>
          </a:p>
          <a:p>
            <a:r>
              <a:t>[local-source: TBO_HDO_20260904.json]</a:t>
            </a:r>
          </a:p>
          <a:p>
            <a:r>
              <a:t>Calibración DOSY según la sonda, secuencia, gradiente, temperatura y referencia interna</a:t>
            </a:r>
          </a:p>
          <a:p>
            <a:endParaRPr/>
          </a:p>
          <a:p>
            <a:r>
              <a:t>[local-source: CALIBRACION_SONDA_SECUENCIA_GRADIENTE.md]</a:t>
            </a:r>
          </a:p>
          <a:p>
            <a:r>
              <a:t>tbo calibration</a:t>
            </a:r>
          </a:p>
          <a:p>
            <a:endParaRPr/>
          </a:p>
          <a:p>
            <a:r>
              <a:t>[local-source: TBO_HDO_20260904.json]</a:t>
            </a:r>
          </a:p>
          <a:p>
            <a:r>
              <a:t>tbo calculation</a:t>
            </a:r>
          </a:p>
          <a:p>
            <a:endParaRPr/>
          </a:p>
          <a:p>
            <a:r>
              <a:t>[local-source: calibracion_tbo.py]</a:t>
            </a:r>
          </a:p>
          <a:p>
            <a:r>
              <a:t>topspin readme</a:t>
            </a:r>
          </a:p>
          <a:p>
            <a:endParaRPr/>
          </a:p>
          <a:p>
            <a:r>
              <a:t>[local-source: README_ES.md]</a:t>
            </a:r>
          </a:p>
          <a:p>
            <a:r>
              <a:t>topspin verification</a:t>
            </a:r>
          </a:p>
          <a:p>
            <a:endParaRPr/>
          </a:p>
          <a:p>
            <a:r>
              <a:t>[local-source: VERIFICACION.txt]</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03:45–04:30 · 45 s</a:t>
            </a:r>
          </a:p>
          <a:p>
            <a:endParaRPr/>
          </a:p>
          <a:p>
            <a:r>
              <a:t>Diffusion equations are not interchangeable. This simulation uses SMSQ-shaped bipolar gradients and fixed physical G. Its proper model gives D=1; rectangular PGSE gives approximately 0.802 with the same decay and R squared equal to one. Check pulse program, shape, units, total delta and RF gaps. In stebpgp1s1d, delta equals twice P30. A reference can absorb a constant b factor in an empirical calibration, but this does not justify transferring it across sequences or timings. Full equations remain in the appendix. Even with correct b, the ramp may lack sufficient information.</a:t>
            </a:r>
          </a:p>
          <a:p>
            <a:endParaRPr/>
          </a:p>
          <a:p>
            <a:endParaRPr/>
          </a:p>
          <a:p>
            <a:endParaRPr/>
          </a:p>
          <a:p>
            <a:r>
              <a:t>Sources:</a:t>
            </a:r>
          </a:p>
          <a:p>
            <a:r>
              <a:t>Read-only comparison of the TBO software profile and acquired pulse program</a:t>
            </a:r>
          </a:p>
          <a:p>
            <a:endParaRPr/>
          </a:p>
          <a:p>
            <a:r>
              <a:t>[local-source: local_equation_audit.json]</a:t>
            </a:r>
          </a:p>
          <a:p>
            <a:r>
              <a:t>D. Sinnaeve (2012), The Stejskal–Tanner Equation Generalized for Any Gradient Shape. Table 2, p.58; definitions pp.50–51</a:t>
            </a:r>
          </a:p>
          <a:p>
            <a:r>
              <a:t>https://doi.org/10.1002/cmr.a.21223</a:t>
            </a:r>
          </a:p>
          <a:p>
            <a:r>
              <a:t>[local-source: Mendeley] Reference Manager\userfiles\35ec08f9-3640-0c4b-0bcc-fe3f454aba96.pdf</a:t>
            </a:r>
          </a:p>
          <a:p>
            <a:r>
              <a:t>TBO HDO experimental calibration, 4 September 2026</a:t>
            </a:r>
          </a:p>
          <a:p>
            <a:endParaRPr/>
          </a:p>
          <a:p>
            <a:r>
              <a:t>[local-source: TBO_HDO_20260904.json]</a:t>
            </a:r>
          </a:p>
          <a:p>
            <a:r>
              <a:t>Ghent University repository — Sinnaeve 2012</a:t>
            </a:r>
          </a:p>
          <a:p>
            <a:r>
              <a:t>https://biblio.ugent.be/publication/2109280</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04:30–05:30 · 60 s</a:t>
            </a:r>
          </a:p>
          <a:p>
            <a:endParaRPr/>
          </a:p>
          <a:p>
            <a:r>
              <a:t>The three simulated ramps have the same true D of one times ten to the minus nine and one-percent absolute noise. The nearly flat ramp estimates 0.714 with a nominal interval from zero to 1.81. The extinguished ramp estimates 0.237 with an interval from 0.05 to an unidentifiable upper endpoint. The useful ramp estimates 1.007 with an interval from 0.986 to 1.029. Residuals are similar, around one sigma. Acquisition information, not fit appearance, has changed. These intervals are conditional on the simulation model and known noise, not universal limits. Repeat the pilot with different P30/D20 or sensitivity, rather than ask an algorithm for information absent from the data. That is why we choose P30 and D20 from a pilot.</a:t>
            </a:r>
          </a:p>
          <a:p>
            <a:endParaRPr/>
          </a:p>
          <a:p>
            <a:endParaRPr/>
          </a:p>
          <a:p>
            <a:endParaRPr/>
          </a:p>
          <a:p>
            <a:r>
              <a:t>Sources:</a:t>
            </a:r>
          </a:p>
          <a:p>
            <a:r>
              <a:t>P30/D20 teaching simulation and fixed-noise model</a:t>
            </a:r>
          </a:p>
          <a:p>
            <a:endParaRPr/>
          </a:p>
          <a:p>
            <a:r>
              <a:t>[local-source: parameter_simulation_model.json]</a:t>
            </a:r>
          </a:p>
          <a:p>
            <a:r>
              <a:t>Generador configurable de rampas DOSY para TopSpin</a:t>
            </a:r>
          </a:p>
          <a:p>
            <a:endParaRPr/>
          </a:p>
          <a:p>
            <a:r>
              <a:t>[local-source: README.md]</a:t>
            </a:r>
          </a:p>
          <a:p>
            <a:r>
              <a:t>V6 controlled ramp and preprocessing simulations</a:t>
            </a:r>
          </a:p>
          <a:p>
            <a:endParaRPr/>
          </a:p>
          <a:p>
            <a:r>
              <a:t>[local-source: problem_simulations.json]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05:30–06:40 · 70 s</a:t>
            </a:r>
          </a:p>
          <a:p>
            <a:endParaRPr/>
          </a:p>
          <a:p>
            <a:r>
              <a:t>We do not enter P30 and D20 simply because they worked for a previous sample. Low-, medium- and high-gradient pilots show attenuation of fast and slow signals. Increasing delta or Delta adds diffusion weighting but costs relaxation and sensitivity; Delta also increases exposure to motion, exchange and other dynamics. The animation separates normalized attenuation from absolute signal and uses hypothetical relaxation times; it does not prescribe limits for the real probe. Keep power, temperature and treatment comparable and seek appreciable decay with points remaining above noise. Recovery delays need their own checks too.</a:t>
            </a:r>
          </a:p>
          <a:p>
            <a:endParaRPr/>
          </a:p>
          <a:p>
            <a:endParaRPr/>
          </a:p>
          <a:p>
            <a:endParaRPr/>
          </a:p>
          <a:p>
            <a:r>
              <a:t>Sources:</a:t>
            </a:r>
          </a:p>
          <a:p>
            <a:r>
              <a:t>Read-only audit of pulse calibration and sequence-dependent timing parameters</a:t>
            </a:r>
          </a:p>
          <a:p>
            <a:endParaRPr/>
          </a:p>
          <a:p>
            <a:r>
              <a:t>[local-source: parameters_pulse_evidence.json]</a:t>
            </a:r>
          </a:p>
          <a:p>
            <a:r>
              <a:t>P30/D20 teaching simulation and fixed-noise model</a:t>
            </a:r>
          </a:p>
          <a:p>
            <a:endParaRPr/>
          </a:p>
          <a:p>
            <a:r>
              <a:t>[local-source: parameter_simulation_model.json]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06:40–07:35 · 55 s</a:t>
            </a:r>
          </a:p>
          <a:p>
            <a:endParaRPr/>
          </a:p>
          <a:p>
            <a:r>
              <a:t>The next problem is phase and line shape after gradients. LED permits recovery but also costs time and signal. LED is D21 and D5 is unused in ledbpgp2s and dstebpgp3s; in diffSteLED, LED is D19 and D5 is the remaining diffusion interval. For double STE, check two DELTA1 blocks, eight lobes, additional RF pulses and the sixteen-step phase cycle. Convection compensation covers a motion model, not every flow. Three comparable Delta values and temperature controls help investigate Delta-dependent D, but do not identify the cause alone. There is no universal optimizer for these delays. We also repeat different Delta values to look beyond one ramp fit.</a:t>
            </a:r>
          </a:p>
          <a:p>
            <a:endParaRPr/>
          </a:p>
          <a:p>
            <a:endParaRPr/>
          </a:p>
          <a:p>
            <a:endParaRPr/>
          </a:p>
          <a:p>
            <a:r>
              <a:t>Sources:</a:t>
            </a:r>
          </a:p>
          <a:p>
            <a:r>
              <a:t>Read-only audit of pulse calibration and sequence-dependent timing parameters</a:t>
            </a:r>
          </a:p>
          <a:p>
            <a:endParaRPr/>
          </a:p>
          <a:p>
            <a:r>
              <a:t>[local-source: parameters_pulse_evidence.json]</a:t>
            </a:r>
          </a:p>
          <a:p>
            <a:r>
              <a:t>D. Sinnaeve (2012), The Stejskal–Tanner Equation Generalized for Any Gradient Shape. Table 2, p.58; definitions pp.50–51</a:t>
            </a:r>
          </a:p>
          <a:p>
            <a:r>
              <a:t>https://doi.org/10.1002/cmr.a.21223</a:t>
            </a:r>
          </a:p>
          <a:p>
            <a:r>
              <a:t>[local-source: Mendeley] Reference Manager\userfiles\35ec08f9-3640-0c4b-0bcc-fe3f454aba96.pdf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07:35–08:10 · 35 s</a:t>
            </a:r>
          </a:p>
          <a:p>
            <a:endParaRPr/>
          </a:p>
          <a:p>
            <a:r>
              <a:t>SPOKEN ROUTE (35 s):</a:t>
            </a:r>
          </a:p>
          <a:p>
            <a:r>
              <a:t>If D changes with Delta, diffusion may not be the only cause of attenuation. The simulation shows dispersed velocities: apparent D increases while true D is constant, and the fit remains excellent. This observation alone does not diagnose convection; inspect temperature, amplitudes and the reference, and consider exchange or restriction. Three Delta values help define the next check.</a:t>
            </a:r>
          </a:p>
          <a:p>
            <a:endParaRPr/>
          </a:p>
          <a:p>
            <a:r>
              <a:t>CONSULTATION DETAILS (do not read during the talk):</a:t>
            </a:r>
          </a:p>
          <a:p>
            <a:r>
              <a:t>In this idealized simulation, Gaussian velocity dispersion of 100 micrometres per second makes apparent D increase from 1.05 to 1.30 and 1.55 as Delta increases from 50 to 100 and 150 ms while true D remains 0.8. The exponential still fits perfectly. This follows from a narrow-pulse model with velocities constant during each encoding, not a universal convection law or the exact acquired pulse program. Experimental Delta dependence can have several causes. Inspect temperature, ramp-specific amplitudes and reference controls before attributing it to convection. After instrument preparation, the second difficulty begins: processing.</a:t>
            </a:r>
          </a:p>
          <a:p>
            <a:endParaRPr/>
          </a:p>
          <a:p>
            <a:endParaRPr/>
          </a:p>
          <a:p>
            <a:endParaRPr/>
          </a:p>
          <a:p>
            <a:r>
              <a:t>Sources:</a:t>
            </a:r>
          </a:p>
          <a:p>
            <a:r>
              <a:t>Idealised velocity-distribution attenuation and Delta dependence</a:t>
            </a:r>
          </a:p>
          <a:p>
            <a:endParaRPr/>
          </a:p>
          <a:p>
            <a:r>
              <a:t>[local-source: convection_idealized_model.json]</a:t>
            </a:r>
          </a:p>
          <a:p>
            <a:r>
              <a:t>prime readme</a:t>
            </a:r>
          </a:p>
          <a:p>
            <a:endParaRPr/>
          </a:p>
          <a:p>
            <a:r>
              <a:t>[local-source: README.md]</a:t>
            </a:r>
          </a:p>
          <a:p>
            <a:r>
              <a:t>Read-only audit of pulse calibration and sequence-dependent timing parameters</a:t>
            </a:r>
          </a:p>
          <a:p>
            <a:endParaRPr/>
          </a:p>
          <a:p>
            <a:r>
              <a:t>[local-source: parameters_pulse_evidence.json]</a:t>
            </a:r>
          </a:p>
          <a:p>
            <a:r>
              <a:t>Williamson et al. (2020), Limits to flow detection in phase contrast MRI</a:t>
            </a:r>
          </a:p>
          <a:p>
            <a:r>
              <a:t>https://pmc.ncbi.nlm.nih.gov/articles/PMC7745993/</a:t>
            </a:r>
          </a:p>
          <a:p>
            <a:endParaRPr/>
          </a:p>
          <a:p>
            <a:r>
              <a:t>Gottwald et al. (2003), Separation of velocity distribution and diffusion using PFG NMR</a:t>
            </a:r>
          </a:p>
          <a:p>
            <a:r>
              <a:t>https://pubmed.ncbi.nlm.nih.gov/12810021/</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08:10–09:10 · 60 s</a:t>
            </a:r>
          </a:p>
          <a:p>
            <a:endParaRPr/>
          </a:p>
          <a:p>
            <a:r>
              <a:t>A DOSY series is not a collection of independent spectra optimized for appearance. Phase, baseline, ppm axis, gain, scans and NC_PROC scaling must permit intensity comparison. In the simulation, a background of just four percent of the first point changes D from one to 0.922 without conspicuous residual failure. Removing the known background recovers 0.999. Normalizing each spectrum by its own signal destroys attenuation and gives artificial D=0. In experiments, background is not known by decree: inspect signal-free regions, overlays and peak shifts. If a signal moves outside the window, extraction is no longer measuring diffusion alone. Correct processing on a derived copy while retaining originals. With comparable intensities, we still need to decide what information can be reconstructed.</a:t>
            </a:r>
          </a:p>
          <a:p>
            <a:endParaRPr/>
          </a:p>
          <a:p>
            <a:endParaRPr/>
          </a:p>
          <a:p>
            <a:endParaRPr/>
          </a:p>
          <a:p>
            <a:r>
              <a:t>Sources:</a:t>
            </a:r>
          </a:p>
          <a:p>
            <a:r>
              <a:t>V6 controlled ramp and preprocessing simulations</a:t>
            </a:r>
          </a:p>
          <a:p>
            <a:endParaRPr/>
          </a:p>
          <a:p>
            <a:r>
              <a:t>[local-source: problem_simulations.json]</a:t>
            </a:r>
          </a:p>
          <a:p>
            <a:r>
              <a:t>prime guide</a:t>
            </a:r>
          </a:p>
          <a:p>
            <a:endParaRPr/>
          </a:p>
          <a:p>
            <a:r>
              <a:t>[local-source: GUIA_PRIME.md]</a:t>
            </a:r>
          </a:p>
          <a:p>
            <a:r>
              <a:t>V6 audit of software actions, observable checks and limitations</a:t>
            </a:r>
          </a:p>
          <a:p>
            <a:endParaRPr/>
          </a:p>
          <a:p>
            <a:r>
              <a:t>[local-source: solutions_mapping.json]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09:10–10:20 · 70 s</a:t>
            </a:r>
          </a:p>
          <a:p>
            <a:endParaRPr/>
          </a:p>
          <a:p>
            <a:r>
              <a:t>This is the central difficulty of ILT. A narrow distribution and two nearby components produce curves differing by at most about 0.61 percent of the first point in this design; simulated noise has one-percent sigma. This is not a universal impossibility proof, but shows how easily requested resolution exceeds acquisition support. Inverting the Laplace kernel amplifies noise along weak directions. The useful question is not which algorithm draws two peaks, but whether data, repetition and controls support two diffusion behaviours. We need an explicit preference and a way to check its effect.</a:t>
            </a:r>
          </a:p>
          <a:p>
            <a:endParaRPr/>
          </a:p>
          <a:p>
            <a:endParaRPr/>
          </a:p>
          <a:p>
            <a:endParaRPr/>
          </a:p>
          <a:p>
            <a:r>
              <a:t>Sources:</a:t>
            </a:r>
          </a:p>
          <a:p>
            <a:r>
              <a:t>Reproducible v5 ILT ambiguity and regularization simulations</a:t>
            </a:r>
          </a:p>
          <a:p>
            <a:endParaRPr/>
          </a:p>
          <a:p>
            <a:r>
              <a:t>[local-source: ilt_simulations.json]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10:20–11:15 · 55 s</a:t>
            </a:r>
          </a:p>
          <a:p>
            <a:endParaRPr/>
          </a:p>
          <a:p>
            <a:r>
              <a:t>Regularization stabilizes inversion by imposing a preference. In this computed simulation, three lambda values give RMS residuals around 0.00833, 0.00834 and 0.00842 while producing spiky, moderate or excessively broad solutions. Do not choose using an isolated minimum residual. Start with a minimal model for a simple signal; compare smoothness or entropy for broad distributions, sparsity or model order for few components, and shared structure for overlap. NNLS, Tikhonov, MaxEnt/PALMA, L1/ITAMeD, VP/SCORE and MF/TRAIn-MF/SILT embody different assumptions. SVD, FISTA and ADMM are numerical engines, not evidence of species. The uses-and-limits catalogue remains reference material rather than interrupting the story. We do not always need to solve every frequency independently.</a:t>
            </a:r>
          </a:p>
          <a:p>
            <a:endParaRPr/>
          </a:p>
          <a:p>
            <a:endParaRPr/>
          </a:p>
          <a:p>
            <a:endParaRPr/>
          </a:p>
          <a:p>
            <a:r>
              <a:t>Sources:</a:t>
            </a:r>
          </a:p>
          <a:p>
            <a:r>
              <a:t>Reproducible v5 ILT ambiguity and regularization simulations</a:t>
            </a:r>
          </a:p>
          <a:p>
            <a:endParaRPr/>
          </a:p>
          <a:p>
            <a:r>
              <a:t>[local-source: ilt_simulations.json]</a:t>
            </a:r>
          </a:p>
          <a:p>
            <a:r>
              <a:t>ILT method-choice and appendix guidance</a:t>
            </a:r>
          </a:p>
          <a:p>
            <a:endParaRPr/>
          </a:p>
          <a:p>
            <a:r>
              <a:t>[local-source: ilt_teaching_guidance.json]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11:15–11:50 · 35 s</a:t>
            </a:r>
          </a:p>
          <a:p>
            <a:endParaRPr/>
          </a:p>
          <a:p>
            <a:r>
              <a:t>Several signals can share diffusion profiles with different amplitudes. A joint calculation uses that redundancy: a strong region can help a weak one. We do not impose one D on the whole spectrum. MF and TRAIn-MF share factors, while per-bin TRAIn provides an independent comparison. This movie is conceptual, without added noise. Correlation establishes neither interaction nor chemical identity, and rank is not a molecule count. We will keep the local decay visible while working with the map. We can now explain why we developed our tools.</a:t>
            </a:r>
          </a:p>
          <a:p>
            <a:endParaRPr/>
          </a:p>
          <a:p>
            <a:endParaRPr/>
          </a:p>
          <a:p>
            <a:endParaRPr/>
          </a:p>
          <a:p>
            <a:r>
              <a:t>Sources:</a:t>
            </a:r>
          </a:p>
          <a:p>
            <a:r>
              <a:t>Native signed TRAIn-MF and rank selection</a:t>
            </a:r>
          </a:p>
          <a:p>
            <a:endParaRPr/>
          </a:p>
          <a:p>
            <a:endParaRPr/>
          </a:p>
          <a:p>
            <a:r>
              <a:t>ILT method-choice and appendix guidance</a:t>
            </a:r>
          </a:p>
          <a:p>
            <a:endParaRPr/>
          </a:p>
          <a:p>
            <a:r>
              <a:t>[local-source: ilt_teaching_guidance.json]</a:t>
            </a:r>
          </a:p>
          <a:p>
            <a:r>
              <a:t>Audited bilingual catalogue of local inversion methods and context families</a:t>
            </a:r>
          </a:p>
          <a:p>
            <a:endParaRPr/>
          </a:p>
          <a:p>
            <a:r>
              <a:t>[local-source: ilt_algorithm_catalog_bilingual.json]</a:t>
            </a:r>
          </a:p>
          <a:p>
            <a:r>
              <a:t>University of Manchester NMR — Multivariate DOSY</a:t>
            </a:r>
          </a:p>
          <a:p>
            <a:r>
              <a:t>https://www.nmr.chemistry.manchester.ac.uk/?q=node%2F26</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11:50–12:10 · 20 s</a:t>
            </a:r>
          </a:p>
          <a:p>
            <a:endParaRPr/>
          </a:p>
          <a:p>
            <a:r>
              <a:t>SPOKEN ROUTE (20 s):</a:t>
            </a:r>
          </a:p>
          <a:p>
            <a:r>
              <a:t>We now understand the obstacles and how to review them. This is why we developed the programs: prepare without transcription, preserve the measurement, analyse a signal or a spectrum, and check the result. Each case starts with an input, performs an operation and retains its output.</a:t>
            </a:r>
          </a:p>
          <a:p>
            <a:endParaRPr/>
          </a:p>
          <a:p>
            <a:r>
              <a:t>CONSULTATION DETAILS (do not read during the talk):</a:t>
            </a:r>
          </a:p>
          <a:p>
            <a:r>
              <a:t>These programs were developed for precisely these obstacles. They automate preparation, reading and comparison while retaining steps needing review. The concrete advantages are less transcription, traceable calibration, progression from one decay to a spectrum and controls alongside the result. A tool cannot rescue an uninformative ramp or replace calibration. Each program addresses a concrete task along the route.</a:t>
            </a:r>
          </a:p>
          <a:p>
            <a:endParaRPr/>
          </a:p>
          <a:p>
            <a:endParaRP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12:10–12:45 · 35 s</a:t>
            </a:r>
          </a:p>
          <a:p>
            <a:endParaRPr/>
          </a:p>
          <a:p>
            <a:r>
              <a:t>SPOKEN ROUTE (35 s):</a:t>
            </a:r>
          </a:p>
          <a:p>
            <a:r>
              <a:t>The TopSpin helper prepares ramps and records calibration. Prime lets us explore one signal, a map and diagnostics. ResinAtOnce guides resin/polymer analysis, separating references from conditional results. DALTAIL runs MATLAB/Python batches and reproduces tables from saved settings. These are workflow tools; TRAIn, MF and SILT are engines they use. Let us see the work they save and the output they retain.</a:t>
            </a:r>
          </a:p>
          <a:p>
            <a:endParaRPr/>
          </a:p>
          <a:p>
            <a:r>
              <a:t>CONSULTATION DETAILS (do not read during the talk):</a:t>
            </a:r>
          </a:p>
          <a:p>
            <a:r>
              <a:t>The TopSpin helper prepares ramps and calibrates a reference signal in the console. Prime brings together general DOSY analysis: local signal, whole spectrum, methods and checks. ResinAtOnce organizes resin/polymer samples and ramps, separates references and presents D, Rh and apparent mass with assumptions. DALTAIL is the reproducible MATLAB/Python batch route, sharing functions and saving tables, factors and diagnostics. These are products and workflows, not four new ILT algorithms: TRAIn, MF, SILT and RAI-S are engines within the analysis. We now follow cases showing the work addressed at each stage. First we return to HDO calibration.</a:t>
            </a:r>
          </a:p>
          <a:p>
            <a:endParaRPr/>
          </a:p>
          <a:p>
            <a:endParaRPr/>
          </a:p>
          <a:p>
            <a:endParaRPr/>
          </a:p>
          <a:p>
            <a:r>
              <a:t>Sources:</a:t>
            </a:r>
          </a:p>
          <a:p>
            <a:r>
              <a:t>V6 audit of software actions, observable checks and limitations</a:t>
            </a:r>
          </a:p>
          <a:p>
            <a:endParaRPr/>
          </a:p>
          <a:p>
            <a:r>
              <a:t>[local-source: solutions_mapping.json]</a:t>
            </a:r>
          </a:p>
          <a:p>
            <a:r>
              <a:t>prime readme</a:t>
            </a:r>
          </a:p>
          <a:p>
            <a:endParaRPr/>
          </a:p>
          <a:p>
            <a:r>
              <a:t>[local-source: README.md]</a:t>
            </a:r>
          </a:p>
          <a:p>
            <a:r>
              <a:t>prime guide</a:t>
            </a:r>
          </a:p>
          <a:p>
            <a:endParaRPr/>
          </a:p>
          <a:p>
            <a:r>
              <a:t>[local-source: GUIA_PRIME.md]</a:t>
            </a:r>
          </a:p>
          <a:p>
            <a:r>
              <a:t>Read-only audit of pulse calibration and sequence-dependent timing parameters</a:t>
            </a:r>
          </a:p>
          <a:p>
            <a:endParaRPr/>
          </a:p>
          <a:p>
            <a:r>
              <a:t>[local-source: parameters_pulse_evidence.json]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12:45–13:50 · 65 s</a:t>
            </a:r>
          </a:p>
          <a:p>
            <a:endParaRPr/>
          </a:p>
          <a:p>
            <a:r>
              <a:t>SPOKEN ROUTE (65 s):</a:t>
            </a:r>
          </a:p>
          <a:p>
            <a:r>
              <a:t>Select HDO series 10 through 32 and a fixed 4.5–4.9 ppm window. The helper integrates, fits and reports. Offline replay gives R squared of 0.99977, but detects 0.77 K temperature drift above the 0.5 K limit and warns about varying phase and dummy scans. Success is preventing an attractive fit from being mistaken for accepted calibration. The illustrative integral candidate does not replace historical height-based calibration. Review, stabilize and repeat; the instrument remains unchanged.</a:t>
            </a:r>
          </a:p>
          <a:p>
            <a:endParaRPr/>
          </a:p>
          <a:p>
            <a:r>
              <a:t>CONSULTATION DETAILS (do not read during the talk):</a:t>
            </a:r>
          </a:p>
          <a:p>
            <a:r>
              <a:t>Open xpy dosy_workshop.py and Calibrate from 1D series. Enter experiments 10 through 32, window 4.5 to 4.9 ppm, the HDO reference and documented reference D. The helper integrates signed areas and checks metadata before accepting a fit. We show an offline replay on actual experimental data: its candidate has slope 1.55703 and R squared of 0.99977, but the default thermal review rejects the ramp because recorded TE spans 0.77 K, above the 0.5 K tolerance. It also detects varying phase and DS. The tolerance was explicitly raised to 0.8 K to produce an illustrative report; that is not calibration acceptance. Success is turning a reassuring-looking fit into a traceable decision. The report retains input, integral, residuals, warnings and a scale proposal. The protected historical profile uses point height and slope 1.58627; it is not replaced or confused with this integral. This is neither a new 3.6.4 console run nor an instrument-constant update. Stabilize temperature and review phase and preparation before using the candidate as calibration. The same console removes manual transcription of three ramps.</a:t>
            </a:r>
          </a:p>
          <a:p>
            <a:endParaRPr/>
          </a:p>
          <a:p>
            <a:endParaRPr/>
          </a:p>
          <a:p>
            <a:endParaRPr/>
          </a:p>
          <a:p>
            <a:r>
              <a:t>Sources:</a:t>
            </a:r>
          </a:p>
          <a:p>
            <a:r>
              <a:t>DiffAtOnce DOSY TopSpin console assistant</a:t>
            </a:r>
          </a:p>
          <a:p>
            <a:endParaRPr/>
          </a:p>
          <a:p>
            <a:r>
              <a:t>[local-source: README_ES.md]</a:t>
            </a:r>
          </a:p>
          <a:p>
            <a:r>
              <a:t>V6 audit of software actions, observable checks and limitations</a:t>
            </a:r>
          </a:p>
          <a:p>
            <a:endParaRPr/>
          </a:p>
          <a:p>
            <a:r>
              <a:t>[local-source: solutions_mapping.json]</a:t>
            </a:r>
          </a:p>
          <a:p>
            <a:r>
              <a:t>prime readme</a:t>
            </a:r>
          </a:p>
          <a:p>
            <a:endParaRPr/>
          </a:p>
          <a:p>
            <a:r>
              <a:t>[local-source: README.md]</a:t>
            </a:r>
          </a:p>
          <a:p>
            <a:r>
              <a:t>prime guide</a:t>
            </a:r>
          </a:p>
          <a:p>
            <a:endParaRPr/>
          </a:p>
          <a:p>
            <a:r>
              <a:t>[local-source: GUIA_PRIME.md]</a:t>
            </a:r>
          </a:p>
          <a:p>
            <a:r>
              <a:t>Read-only audit of pulse calibration and sequence-dependent timing parameters</a:t>
            </a:r>
          </a:p>
          <a:p>
            <a:endParaRPr/>
          </a:p>
          <a:p>
            <a:r>
              <a:t>[local-source: parameters_pulse_evidence.json]</a:t>
            </a:r>
          </a:p>
          <a:p>
            <a:r>
              <a:t>HDO signed-area offline calibration summary</a:t>
            </a:r>
          </a:p>
          <a:p>
            <a:endParaRPr/>
          </a:p>
          <a:p>
            <a:r>
              <a:t>[local-source: summary.json]</a:t>
            </a:r>
          </a:p>
          <a:p>
            <a:r>
              <a:t>HDO signed-area candidate with thermal rejection</a:t>
            </a:r>
          </a:p>
          <a:p>
            <a:endParaRPr/>
          </a:p>
          <a:p>
            <a:r>
              <a:t>[local-source: calibracion_integral_offline.json]</a:t>
            </a:r>
          </a:p>
          <a:p>
            <a:r>
              <a:t>HDO signed-area extracted attenuation</a:t>
            </a:r>
          </a:p>
          <a:p>
            <a:endParaRPr/>
          </a:p>
          <a:p>
            <a:r>
              <a:t>[local-source: atenuacion_integral_residuos.csv]</a:t>
            </a:r>
          </a:p>
          <a:p>
            <a:r>
              <a:t>HDO offline calibration report</a:t>
            </a:r>
          </a:p>
          <a:p>
            <a:endParaRPr/>
          </a:p>
          <a:p>
            <a:r>
              <a:t>[local-source: informe_integral_offline.html]</a:t>
            </a:r>
          </a:p>
          <a:p>
            <a:r>
              <a:t>integral replay summary</a:t>
            </a:r>
          </a:p>
          <a:p>
            <a:endParaRPr/>
          </a:p>
          <a:p>
            <a:r>
              <a:t>[local-source: summary.json]</a:t>
            </a:r>
          </a:p>
          <a:p>
            <a:r>
              <a:t>integral replay result</a:t>
            </a:r>
          </a:p>
          <a:p>
            <a:endParaRPr/>
          </a:p>
          <a:p>
            <a:r>
              <a:t>[local-source: calibracion_integral_offline.json]</a:t>
            </a:r>
          </a:p>
          <a:p>
            <a:r>
              <a:t>integral replay csv</a:t>
            </a:r>
          </a:p>
          <a:p>
            <a:endParaRPr/>
          </a:p>
          <a:p>
            <a:r>
              <a:t>[local-source: atenuacion_integral_residuos.csv]</a:t>
            </a:r>
          </a:p>
          <a:p>
            <a:r>
              <a:t>integral replay script</a:t>
            </a:r>
          </a:p>
          <a:p>
            <a:endParaRPr/>
          </a:p>
          <a:p>
            <a:r>
              <a:t>[local-source: replay_integral_calibration.py]</a:t>
            </a:r>
          </a:p>
          <a:p>
            <a:r>
              <a:t>integral replay spectrum</a:t>
            </a:r>
          </a:p>
          <a:p>
            <a:endParaRPr/>
          </a:p>
          <a:p>
            <a:r>
              <a:t>[local-source: HDO_spectral_inspection.png]</a:t>
            </a:r>
          </a:p>
          <a:p>
            <a:r>
              <a:t>topspin calibration source</a:t>
            </a:r>
          </a:p>
          <a:p>
            <a:endParaRPr/>
          </a:p>
          <a:p>
            <a:r>
              <a:t>[local-source: dosy_calibration.py]</a:t>
            </a:r>
          </a:p>
          <a:p>
            <a:r>
              <a:t>topspin console source</a:t>
            </a:r>
          </a:p>
          <a:p>
            <a:endParaRPr/>
          </a:p>
          <a:p>
            <a:r>
              <a:t>[local-source: dosy_console_ui.py]</a:t>
            </a:r>
          </a:p>
          <a:p>
            <a:r>
              <a:t>tbo calibration</a:t>
            </a:r>
          </a:p>
          <a:p>
            <a:endParaRPr/>
          </a:p>
          <a:p>
            <a:r>
              <a:t>[local-source: TBO_HDO_20260904.json]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13:50–14:35 · 45 s</a:t>
            </a:r>
          </a:p>
          <a:p>
            <a:endParaRPr/>
          </a:p>
          <a:p>
            <a:r>
              <a:t>SPOKEN ROUTE (45 s):</a:t>
            </a:r>
          </a:p>
          <a:p>
            <a:r>
              <a:t>Start from a reviewed template and choose three configurable Delta values. The example uses 50, 100 and 150 ms, fixed P30 and 23 gradients from 8 to 96 percent. That is 69 destinations without transcription. Inspect the plan and collisions before creation; retain CSV and JSON. Prepare in the console or export a macro/Python plan. This demonstrates preparation, not a new acquisition.</a:t>
            </a:r>
          </a:p>
          <a:p>
            <a:endParaRPr/>
          </a:p>
          <a:p>
            <a:r>
              <a:t>CONSULTATION DETAILS (do not read during the talk):</a:t>
            </a:r>
          </a:p>
          <a:p>
            <a:r>
              <a:t>Start with a reviewed template. Define three Delta values, shown as editable examples of 50, 100 and 150 ms, and GPZ6 from 8 to 96 in increments of four. That is 23 points per ramp, 69 experiments, with configurable destinations. Before creation, inspect the plan, ms-to-s units and experiment collisions. The program preserves P30, inherits the template, saves the plan and returns to the open experiment. It does not acquire or decide probe limits. The same generator can export macros or prepare through Python. This demonstration succeeds in producing a coherent, auditable plan without repetitive transcription; it is not a new acquisition of 69 spectra. With acquired, consistently processed data, we open Prime.</a:t>
            </a:r>
          </a:p>
          <a:p>
            <a:endParaRPr/>
          </a:p>
          <a:p>
            <a:endParaRPr/>
          </a:p>
          <a:p>
            <a:endParaRPr/>
          </a:p>
          <a:p>
            <a:r>
              <a:t>Sources:</a:t>
            </a:r>
          </a:p>
          <a:p>
            <a:r>
              <a:t>DiffAtOnce DOSY TopSpin console assistant</a:t>
            </a:r>
          </a:p>
          <a:p>
            <a:endParaRPr/>
          </a:p>
          <a:p>
            <a:r>
              <a:t>[local-source: README_ES.md]</a:t>
            </a:r>
          </a:p>
          <a:p>
            <a:r>
              <a:t>V6 audit of software actions, observable checks and limitations</a:t>
            </a:r>
          </a:p>
          <a:p>
            <a:endParaRPr/>
          </a:p>
          <a:p>
            <a:r>
              <a:t>[local-source: solutions_mapping.json]</a:t>
            </a:r>
          </a:p>
          <a:p>
            <a:r>
              <a:t>prime readme</a:t>
            </a:r>
          </a:p>
          <a:p>
            <a:endParaRPr/>
          </a:p>
          <a:p>
            <a:r>
              <a:t>[local-source: README.md]</a:t>
            </a:r>
          </a:p>
          <a:p>
            <a:r>
              <a:t>prime guide</a:t>
            </a:r>
          </a:p>
          <a:p>
            <a:endParaRPr/>
          </a:p>
          <a:p>
            <a:r>
              <a:t>[local-source: GUIA_PRIME.md]</a:t>
            </a:r>
          </a:p>
          <a:p>
            <a:r>
              <a:t>Read-only audit of pulse calibration and sequence-dependent timing parameters</a:t>
            </a:r>
          </a:p>
          <a:p>
            <a:endParaRPr/>
          </a:p>
          <a:p>
            <a:r>
              <a:t>[local-source: parameters_pulse_evidence.json]</a:t>
            </a:r>
          </a:p>
          <a:p>
            <a:r>
              <a:t>topspin readme</a:t>
            </a:r>
          </a:p>
          <a:p>
            <a:endParaRPr/>
          </a:p>
          <a:p>
            <a:r>
              <a:t>[local-source: README_ES.md]</a:t>
            </a:r>
          </a:p>
          <a:p>
            <a:r>
              <a:t>topspin verification</a:t>
            </a:r>
          </a:p>
          <a:p>
            <a:endParaRPr/>
          </a:p>
          <a:p>
            <a:r>
              <a:t>[local-source: VERIFICACION.txt]</a:t>
            </a:r>
          </a:p>
          <a:p>
            <a:r>
              <a:t>topspin console source</a:t>
            </a:r>
          </a:p>
          <a:p>
            <a:endParaRPr/>
          </a:p>
          <a:p>
            <a:r>
              <a:t>[local-source: dosy_console_ui.py]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14:35–15:30 · 55 s</a:t>
            </a:r>
          </a:p>
          <a:p>
            <a:endParaRPr/>
          </a:p>
          <a:p>
            <a:r>
              <a:t>For TP194, select 4.4182 plus/minus 0.04 ppm. Prime displays signed extraction and all 23 points with no exclusions, giving final D around 0.327 times ten to the minus nine. This is a local monoexponential fit, different from the distribution peak we will see at another region. First inspect all points, tail and residuals; compare methods when information supports it. The panel signed point mean is not the calibrator trapezoidal integral. The saved result retains parameters and calibration: measured D=0.3723534, reference factor=0.8772583, temperature factor=1 and final D=0.3266501. Displayed OLS error=0.00249 is conditional rather than total uncertainty. Success is moving from a spectrum to a traceable, reviewable decay, not identifying a molecule from R squared or optimizing by excluding points. Another difficulty appears when two routes draw different distributions for the same point.</a:t>
            </a:r>
          </a:p>
          <a:p>
            <a:endParaRPr/>
          </a:p>
          <a:p>
            <a:endParaRPr/>
          </a:p>
          <a:p>
            <a:endParaRPr/>
          </a:p>
          <a:p>
            <a:r>
              <a:t>Sources:</a:t>
            </a:r>
          </a:p>
          <a:p>
            <a:r>
              <a:t>prime guide</a:t>
            </a:r>
          </a:p>
          <a:p>
            <a:endParaRPr/>
          </a:p>
          <a:p>
            <a:r>
              <a:t>[local-source: GUIA_PRIME.md]</a:t>
            </a:r>
          </a:p>
          <a:p>
            <a:r>
              <a:t>prime readme</a:t>
            </a:r>
          </a:p>
          <a:p>
            <a:endParaRPr/>
          </a:p>
          <a:p>
            <a:r>
              <a:t>[local-source: README.md]</a:t>
            </a:r>
          </a:p>
          <a:p>
            <a:r>
              <a:t>V6 audit of software actions, observable checks and limitations</a:t>
            </a:r>
          </a:p>
          <a:p>
            <a:endParaRPr/>
          </a:p>
          <a:p>
            <a:r>
              <a:t>[local-source: solutions_mapping.json]</a:t>
            </a:r>
          </a:p>
          <a:p>
            <a:r>
              <a:t>Read-only audit of pulse calibration and sequence-dependent timing parameters</a:t>
            </a:r>
          </a:p>
          <a:p>
            <a:endParaRPr/>
          </a:p>
          <a:p>
            <a:r>
              <a:t>[local-source: parameters_pulse_evidence.json]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15:30–16:30 · 60 s</a:t>
            </a:r>
          </a:p>
          <a:p>
            <a:endParaRPr/>
          </a:p>
          <a:p>
            <a:r>
              <a:t>SPOKEN ROUTE (60 s):</a:t>
            </a:r>
          </a:p>
          <a:p>
            <a:r>
              <a:t>At about 7.736 ppm in TP194, the old map and local curve appeared to have similar means but very different distributions. The solution was identical extraction, a 2048-point grid and TRAIn protocol rather than factor changes to force agreement. Peak positions and shapes now match between routes in all three ramps, as the table shows. This succeeds in analysis consistency on real data. Differences across ramps remain visible; numerical agreement neither identifies molecules nor establishes absolute accuracy.</a:t>
            </a:r>
          </a:p>
          <a:p>
            <a:endParaRPr/>
          </a:p>
          <a:p>
            <a:r>
              <a:t>CONSULTATION DETAILS (do not read during the talk):</a:t>
            </a:r>
          </a:p>
          <a:p>
            <a:r>
              <a:t>We now use a different TP194 experimental point, around 7.736 ppm. In the archived comparison, the old map had peak D=0.2982 and mean D=0.3673; the mean looked close to the local route, but normalized shape difference was 84.87 percent. The solution was not to modify factors to force agreement. With identical extraction, a 2048-point grid and TRAIn protocol, local and map routes agree numerically in all three documented ramps. Their peaks are 0.3270, 0.3426 and 0.3806 times ten to the minus nine; between-route shape difference is zero. Success is removing a numerical analysis inconsistency and detecting when another route needs review. Differences across ramps remain visible; route agreement neither establishes chemical identity nor validates absolute D. A 256-bin screenshot has other values and must not be mixed with the 2048-point table. ResinAtOnce and DALTAIL extend that care to the entire batch.</a:t>
            </a:r>
          </a:p>
          <a:p>
            <a:endParaRPr/>
          </a:p>
          <a:p>
            <a:endParaRPr/>
          </a:p>
          <a:p>
            <a:endParaRPr/>
          </a:p>
          <a:p>
            <a:r>
              <a:t>Sources:</a:t>
            </a:r>
          </a:p>
          <a:p>
            <a:r>
              <a:t>ILT method-choice and appendix guidance</a:t>
            </a:r>
          </a:p>
          <a:p>
            <a:endParaRPr/>
          </a:p>
          <a:p>
            <a:r>
              <a:t>[local-source: ilt_teaching_guidance.json]</a:t>
            </a:r>
          </a:p>
          <a:p>
            <a:r>
              <a:t>Read-only comparison of the TBO software profile and acquired pulse program</a:t>
            </a:r>
          </a:p>
          <a:p>
            <a:endParaRPr/>
          </a:p>
          <a:p>
            <a:r>
              <a:t>[local-source: local_equation_audit.json]</a:t>
            </a:r>
          </a:p>
          <a:p>
            <a:r>
              <a:t>prime guide</a:t>
            </a:r>
          </a:p>
          <a:p>
            <a:endParaRPr/>
          </a:p>
          <a:p>
            <a:r>
              <a:t>[local-source: GUIA_PRIME.md]</a:t>
            </a:r>
          </a:p>
          <a:p>
            <a:r>
              <a:t>V6 audit of software actions, observable checks and limitations</a:t>
            </a:r>
          </a:p>
          <a:p>
            <a:endParaRPr/>
          </a:p>
          <a:p>
            <a:r>
              <a:t>[local-source: solutions_mapping.json]</a:t>
            </a:r>
          </a:p>
          <a:p>
            <a:r>
              <a:t>prime readme</a:t>
            </a:r>
          </a:p>
          <a:p>
            <a:endParaRPr/>
          </a:p>
          <a:p>
            <a:r>
              <a:t>[local-source: README.md]</a:t>
            </a:r>
          </a:p>
          <a:p>
            <a:r>
              <a:t>Read-only audit of pulse calibration and sequence-dependent timing parameters</a:t>
            </a:r>
          </a:p>
          <a:p>
            <a:endParaRPr/>
          </a:p>
          <a:p>
            <a:r>
              <a:t>[local-source: parameters_pulse_evidence.json]</a:t>
            </a:r>
          </a:p>
          <a:p>
            <a:r>
              <a:t>local coherence doc</a:t>
            </a:r>
          </a:p>
          <a:p>
            <a:endParaRPr/>
          </a:p>
          <a:p>
            <a:r>
              <a:t>[local-source: DOSY_COHERENCIA_0.46.0.md]</a:t>
            </a:r>
          </a:p>
          <a:p>
            <a:r>
              <a:t>tp194 parity</a:t>
            </a:r>
          </a:p>
          <a:p>
            <a:endParaRPr/>
          </a:p>
          <a:p>
            <a:r>
              <a:t>[local-source: real-tp194-parity.json]</a:t>
            </a:r>
          </a:p>
          <a:p>
            <a:r>
              <a:t>local signal screenshot</a:t>
            </a:r>
          </a:p>
          <a:p>
            <a:endParaRPr/>
          </a:p>
          <a:p>
            <a:r>
              <a:t>[local-source: resin-local-signal.png]</a:t>
            </a:r>
          </a:p>
          <a:p>
            <a:r>
              <a:t>local signal ui check</a:t>
            </a:r>
          </a:p>
          <a:p>
            <a:endParaRPr/>
          </a:p>
          <a:p>
            <a:r>
              <a:t>[local-source: local-signal-ui.json]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16:30–17:25 · 55 s</a:t>
            </a:r>
          </a:p>
          <a:p>
            <a:endParaRPr/>
          </a:p>
          <a:p>
            <a:r>
              <a:t>SPOKEN ROUTE (55 s):</a:t>
            </a:r>
          </a:p>
          <a:p>
            <a:r>
              <a:t>DALTAIL retains settings, decays, factors and tables. This KK2 case is an archived report of 230 spectra and ten ramps. KK2-50 and KK2-51 are summarized by block; KK2-52 keeps an exploratory case rather than averaging artefactual ramps. Reference and temperature factors are applied together once and retained. Success is automating the batch while keeping failures visible. It is neither a current-processing replay nor absolute-mass validation; ResinAtOnce offers the complementary guided workflow.</a:t>
            </a:r>
          </a:p>
          <a:p>
            <a:endParaRPr/>
          </a:p>
          <a:p>
            <a:r>
              <a:t>CONSULTATION DETAILS (do not read during the talk):</a:t>
            </a:r>
          </a:p>
          <a:p>
            <a:r>
              <a:t>ResinAtOnce organizes samples, references and ramps for this analysis. The displayed case was calculated through DALTAIL MATLAB/Python and is not attributed to a ResinAtOnce replay. The archived KK2 report covers 230 spectra and ten ramps. It saves fTTMS, fT=293/T and their product, applied once to the complete axis. KK2-50 and KK2-51 summarize three blocks each; KK2-52 retains one exploratory block rather than averaging long artefactual ramps. Archived TTMS-corrected results at 293 K give D=0.1433 for KK2-50 and 0.08861 for KK2-51, times ten to the minus nine. Between-block SD values are 0.00826 and 0.00658, not population intervals. Success is processing the batch without concealing failures. Masses remain apparent for branched architectures. The current audit finds 213 processed files differing from the archived manifest; checked FIDs and acquired metadata match. These numbers are therefore archived results, not a new run on every current file. The result must also retain what the model does not yet explain.</a:t>
            </a:r>
          </a:p>
          <a:p>
            <a:endParaRPr/>
          </a:p>
          <a:p>
            <a:endParaRPr/>
          </a:p>
          <a:p>
            <a:endParaRPr/>
          </a:p>
          <a:p>
            <a:r>
              <a:t>Sources:</a:t>
            </a:r>
          </a:p>
          <a:p>
            <a:r>
              <a:t>V6 audit of software actions, observable checks and limitations</a:t>
            </a:r>
          </a:p>
          <a:p>
            <a:endParaRPr/>
          </a:p>
          <a:p>
            <a:r>
              <a:t>[local-source: solutions_mapping.json]</a:t>
            </a:r>
          </a:p>
          <a:p>
            <a:r>
              <a:t>prime readme</a:t>
            </a:r>
          </a:p>
          <a:p>
            <a:endParaRPr/>
          </a:p>
          <a:p>
            <a:r>
              <a:t>[local-source: README.md]</a:t>
            </a:r>
          </a:p>
          <a:p>
            <a:r>
              <a:t>prime guide</a:t>
            </a:r>
          </a:p>
          <a:p>
            <a:endParaRPr/>
          </a:p>
          <a:p>
            <a:r>
              <a:t>[local-source: GUIA_PRIME.md]</a:t>
            </a:r>
          </a:p>
          <a:p>
            <a:r>
              <a:t>Read-only audit of pulse calibration and sequence-dependent timing parameters</a:t>
            </a:r>
          </a:p>
          <a:p>
            <a:endParaRPr/>
          </a:p>
          <a:p>
            <a:r>
              <a:t>[local-source: parameters_pulse_evidence.json]</a:t>
            </a:r>
          </a:p>
          <a:p>
            <a:r>
              <a:t>root readme</a:t>
            </a:r>
          </a:p>
          <a:p>
            <a:endParaRPr/>
          </a:p>
          <a:p>
            <a:r>
              <a:t>[local-source: README.md]</a:t>
            </a:r>
          </a:p>
          <a:p>
            <a:r>
              <a:t>kk2 results</a:t>
            </a:r>
          </a:p>
          <a:p>
            <a:endParaRPr/>
          </a:p>
          <a:p>
            <a:r>
              <a:t>[local-source: resumen_principal.csv]</a:t>
            </a:r>
          </a:p>
          <a:p>
            <a:r>
              <a:t>kk2 factors</a:t>
            </a:r>
          </a:p>
          <a:p>
            <a:endParaRPr/>
          </a:p>
          <a:p>
            <a:r>
              <a:t>[local-source: factores_TTMS_temperatura.csv]</a:t>
            </a:r>
          </a:p>
          <a:p>
            <a:r>
              <a:t>kk2 verification</a:t>
            </a:r>
          </a:p>
          <a:p>
            <a:endParaRPr/>
          </a:p>
          <a:p>
            <a:r>
              <a:t>[local-source: validacion.json]</a:t>
            </a:r>
          </a:p>
          <a:p>
            <a:r>
              <a:t>kk2 source manifest</a:t>
            </a:r>
          </a:p>
          <a:p>
            <a:endParaRPr/>
          </a:p>
          <a:p>
            <a:r>
              <a:t>[local-source: fuentes_sha256.csv]</a:t>
            </a:r>
          </a:p>
          <a:p>
            <a:r>
              <a:t>kk2 fid check</a:t>
            </a:r>
          </a:p>
          <a:p>
            <a:endParaRPr/>
          </a:p>
          <a:p>
            <a:r>
              <a:t>[local-source: verificacion_FID.csv]</a:t>
            </a:r>
          </a:p>
          <a:p>
            <a:r>
              <a:t>kk2 region fits</a:t>
            </a:r>
          </a:p>
          <a:p>
            <a:endParaRPr/>
          </a:p>
          <a:p>
            <a:r>
              <a:t>[local-source: ajustes_todas_senales.csv]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17:25–18:10 · 45 s</a:t>
            </a:r>
          </a:p>
          <a:p>
            <a:endParaRPr/>
          </a:p>
          <a:p>
            <a:r>
              <a:t>SPOKEN ROUTE (45 s):</a:t>
            </a:r>
          </a:p>
          <a:p>
            <a:r>
              <a:t>The model describes two bands while retaining about six percent of signal unassigned. We neither erase it nor invent another species to complete the story. Prime lets us revisit signals, compare methods and open Scientific Workbench to explore stability and held-out gradient prediction. These are subsequent checks, not tests claimed to have run in this example. Success is retaining both explained and unresolved signal alongside the saved result.</a:t>
            </a:r>
          </a:p>
          <a:p>
            <a:endParaRPr/>
          </a:p>
          <a:p>
            <a:r>
              <a:t>CONSULTATION DETAILS (do not read during the talk):</a:t>
            </a:r>
          </a:p>
          <a:p>
            <a:r>
              <a:t>The modeled TP194 projection has two descriptive bands centred around 0.375 and 1.847 times ten to the minus nine, but 5.96 percent of area remains unassigned and status remains review_residuals. The original projection gives close results with 6.42 percent unassigned. Residual signal is neither erased nor conveniently converted into another species. Success is representation that retains doubt and lets us trace which signals support each band. Open Prime Scientific Workbench to compare methods, grids and settings and inspect held-out b prediction when design and convergence permit. These checks are implemented; we do not claim every check was run on TP194. QA screenshots of controls are labelled as such. Saving a review does not overwrite D or calibration. After making the conventional route checkable, we consider its next bottleneck: time.</a:t>
            </a:r>
          </a:p>
          <a:p>
            <a:endParaRPr/>
          </a:p>
          <a:p>
            <a:endParaRPr/>
          </a:p>
          <a:p>
            <a:endParaRPr/>
          </a:p>
          <a:p>
            <a:r>
              <a:t>Sources:</a:t>
            </a:r>
          </a:p>
          <a:p>
            <a:r>
              <a:t>ILT method-choice and appendix guidance</a:t>
            </a:r>
          </a:p>
          <a:p>
            <a:endParaRPr/>
          </a:p>
          <a:p>
            <a:r>
              <a:t>[local-source: ilt_teaching_guidance.json]</a:t>
            </a:r>
          </a:p>
          <a:p>
            <a:r>
              <a:t>Read-only comparison of the TBO software profile and acquired pulse program</a:t>
            </a:r>
          </a:p>
          <a:p>
            <a:endParaRPr/>
          </a:p>
          <a:p>
            <a:r>
              <a:t>[local-source: local_equation_audit.json]</a:t>
            </a:r>
          </a:p>
          <a:p>
            <a:r>
              <a:t>prime guide</a:t>
            </a:r>
          </a:p>
          <a:p>
            <a:endParaRPr/>
          </a:p>
          <a:p>
            <a:r>
              <a:t>[local-source: GUIA_PRIME.md]</a:t>
            </a:r>
          </a:p>
          <a:p>
            <a:r>
              <a:t>V6 audit of software actions, observable checks and limitations</a:t>
            </a:r>
          </a:p>
          <a:p>
            <a:endParaRPr/>
          </a:p>
          <a:p>
            <a:r>
              <a:t>[local-source: solutions_mapping.json]</a:t>
            </a:r>
          </a:p>
          <a:p>
            <a:r>
              <a:t>prime readme</a:t>
            </a:r>
          </a:p>
          <a:p>
            <a:endParaRPr/>
          </a:p>
          <a:p>
            <a:r>
              <a:t>[local-source: README.md]</a:t>
            </a:r>
          </a:p>
          <a:p>
            <a:r>
              <a:t>Read-only audit of pulse calibration and sequence-dependent timing parameters</a:t>
            </a:r>
          </a:p>
          <a:p>
            <a:endParaRPr/>
          </a:p>
          <a:p>
            <a:r>
              <a:t>[local-source: parameters_pulse_evidence.json]</a:t>
            </a:r>
          </a:p>
          <a:p>
            <a:r>
              <a:t>tp194 projection doc</a:t>
            </a:r>
          </a:p>
          <a:p>
            <a:endParaRPr/>
          </a:p>
          <a:p>
            <a:r>
              <a:t>[local-source: DOSY_PROJECTION_0.46.1.md]</a:t>
            </a:r>
          </a:p>
          <a:p>
            <a:r>
              <a:t>tp194 projection audit</a:t>
            </a:r>
          </a:p>
          <a:p>
            <a:endParaRPr/>
          </a:p>
          <a:p>
            <a:r>
              <a:t>[local-source: audit.json]</a:t>
            </a:r>
          </a:p>
          <a:p>
            <a:r>
              <a:t>tp194 projection screenshot</a:t>
            </a:r>
          </a:p>
          <a:p>
            <a:endParaRPr/>
          </a:p>
          <a:p>
            <a:r>
              <a:t>[local-source: prime-projection-map.png]</a:t>
            </a:r>
          </a:p>
          <a:p>
            <a:r>
              <a:t>tp194 projection ui check</a:t>
            </a:r>
          </a:p>
          <a:p>
            <a:endParaRPr/>
          </a:p>
          <a:p>
            <a:r>
              <a:t>[local-source: projection-ui.json]</a:t>
            </a:r>
          </a:p>
          <a:p>
            <a:r>
              <a:t>tp194 saved project</a:t>
            </a:r>
          </a:p>
          <a:p>
            <a:endParaRPr/>
          </a:p>
          <a:p>
            <a:r>
              <a:t>[local-source: DiffAtOnce] Prime Results\Calibracion_20260929_084154_43b4f1\calibrado.prime.json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18:10–19:10 · 60 s</a:t>
            </a:r>
          </a:p>
          <a:p>
            <a:endParaRPr/>
          </a:p>
          <a:p>
            <a:r>
              <a:t>Conventional acquisition repeats gradients and assumes the preparation remains comparable throughout the series. Time may be limiting for rapid processes, reactions and hyperpolarized signals. Ultrafast DOSY uses spatial encoding: different positions receive different weighting followed by spatial readout. SPEN is the spatial encoding used in these routes, not a wholly separate competitor. Faster acquisition shifts difficulties to phase, spatial sensitivity, bandwidth and b(z) calibration. Cited literature demonstrates applications; these are not attributed to our prototype. Prime’s guided route prompts echo-order, profile and kernel review against conventional controls. This is also the direction of our development for z-gradient probes.</a:t>
            </a:r>
          </a:p>
          <a:p>
            <a:endParaRPr/>
          </a:p>
          <a:p>
            <a:endParaRPr/>
          </a:p>
          <a:p>
            <a:endParaRPr/>
          </a:p>
          <a:p>
            <a:r>
              <a:t>Sources:</a:t>
            </a:r>
          </a:p>
          <a:p>
            <a:r>
              <a:t>Single-scan 2D DOSY NMR spectroscopy</a:t>
            </a:r>
          </a:p>
          <a:p>
            <a:r>
              <a:t>https://pubmed.ncbi.nlm.nih.gov/18835796/</a:t>
            </a:r>
          </a:p>
          <a:p>
            <a:endParaRPr/>
          </a:p>
          <a:p>
            <a:r>
              <a:t>Spatially encoded 2D and 3D diffusion-ordered NMR spectroscopy</a:t>
            </a:r>
          </a:p>
          <a:p>
            <a:r>
              <a:t>https://pubs.rsc.org/en/content/articlehtml/2017/cc/c6cc09028a</a:t>
            </a:r>
          </a:p>
          <a:p>
            <a:endParaRPr/>
          </a:p>
          <a:p>
            <a:r>
              <a:t>Spatially encoded diffusion-ordered NMR spectroscopy of reaction mixtures in organic solvents</a:t>
            </a:r>
          </a:p>
          <a:p>
            <a:r>
              <a:t>https://pubs.rsc.org/en/content/articlelanding/2018/an/c8an00434j</a:t>
            </a:r>
          </a:p>
          <a:p>
            <a:endParaRPr/>
          </a:p>
          <a:p>
            <a:r>
              <a:t>Single-Scan 13C Diffusion-Ordered NMR Spectroscopy of DNP-Hyperpolarised Substrates</a:t>
            </a:r>
          </a:p>
          <a:p>
            <a:r>
              <a:t>https://chemistry-europe.onlinelibrary.wiley.com/doi/10.1002/chem.201703300</a:t>
            </a:r>
          </a:p>
          <a:p>
            <a:endParaRPr/>
          </a:p>
          <a:p>
            <a:r>
              <a:t>Ultrafast diffusion-based unmixing of 1H NMR spectra</a:t>
            </a:r>
          </a:p>
          <a:p>
            <a:r>
              <a:t>https://pubs.rsc.org/en/content/articlehtml/2021/cc/d0cc07757g</a:t>
            </a:r>
          </a:p>
          <a:p>
            <a:endParaRPr/>
          </a:p>
          <a:p>
            <a:r>
              <a:t>Accounting for gradient non-uniformity in spatially-encoded diffusion-ordered NMR spectroscopy</a:t>
            </a:r>
          </a:p>
          <a:p>
            <a:r>
              <a:t>https://www.sciencedirect.com/science/article/pii/S1090780723001787</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19:10–19:50 · 40 s</a:t>
            </a:r>
          </a:p>
          <a:p>
            <a:endParaRPr/>
          </a:p>
          <a:p>
            <a:r>
              <a:t>This image is a TRAIN2D reconstruction of UF D–T2 experiment 10, acquired on 3 June 2025 using 4 scans and 32 echoes in 27.768 s. Diffusion is on the vertical axis and T2 on the horizontal axis; the projections summarize both axes. This experimental example precedes UF_DT2_CS_EPSI v9.4 development: it is neither an output of that program nor a D–ppm map. The notebook uses a nominal maximum gradient and a 1% graphical threshold; the dominant peak reaches the lower D boundary. Do not interpret that boundary as a validated species. Absolute D and T2 accuracy requires calibration controls. Our current development uses a z gradient and EPSI readout; b(z), sensitivity and accuracy with standards remain pending.</a:t>
            </a:r>
          </a:p>
          <a:p>
            <a:endParaRPr/>
          </a:p>
          <a:p>
            <a:r>
              <a:t>Technical reference for EPSI development:</a:t>
            </a:r>
          </a:p>
          <a:p>
            <a:r>
              <a:t>SPOKEN ROUTE (40 s):</a:t>
            </a:r>
          </a:p>
          <a:p>
            <a:r>
              <a:t>We are developing ultrafast for conventional probes with z gradients and shaped RF. Chirp/STE, CPMG and EPSI pulse programs, a calculator and diagnostic reconstruction exist. The difficulty shifts to b(z) calibration and checking sensitivity and accuracy with references and conventional controls. Quantitative experimental validation remains pending: this is a concrete development route, not a new absolute single-scan DOSY demonstration.</a:t>
            </a:r>
          </a:p>
          <a:p>
            <a:endParaRPr/>
          </a:p>
          <a:p>
            <a:r>
              <a:t>CONSULTATION DETAILS (do not read during the talk):</a:t>
            </a:r>
          </a:p>
          <a:p>
            <a:r>
              <a:t>Our current development implements chirp stimulated-echo encoding, CPMG and bipolar EPSI readout, with programs for PABBO, TBI and TBO, a calculator and diagnostic reconstruction. A conventional probe here requires a z gradient and shaped RF, not a gradient-free probe. Current target is Avance III 500 with TopSpin 3.8.0 and scan counts in multiples of sixteen, separate from the helper prepared for 3.6.4. Pulse programs and software exist; quantitative experimental validation of absolute DOSY remains pending. The next success to demonstrate is reference b(z) calibration and accuracy/stability against conventional DOSY. This is a concrete prospect rather than an announced experimental result. Let us return to what the audience can use tomorrow.</a:t>
            </a:r>
          </a:p>
          <a:p>
            <a:endParaRPr/>
          </a:p>
          <a:p>
            <a:endParaRPr/>
          </a:p>
          <a:p>
            <a:endParaRPr/>
          </a:p>
          <a:p>
            <a:r>
              <a:t>Sources:</a:t>
            </a:r>
          </a:p>
          <a:p>
            <a:r>
              <a:t>local_readme</a:t>
            </a:r>
          </a:p>
          <a:p>
            <a:endParaRPr/>
          </a:p>
          <a:p>
            <a:r>
              <a:t>[local-source: README.md]</a:t>
            </a:r>
          </a:p>
          <a:p>
            <a:r>
              <a:t>local_audit</a:t>
            </a:r>
          </a:p>
          <a:p>
            <a:endParaRPr/>
          </a:p>
          <a:p>
            <a:r>
              <a:t>[local-source: AUDITORIA_METODO_UF_DT2_CS_2026-09-19.md]</a:t>
            </a:r>
          </a:p>
          <a:p>
            <a:r>
              <a:t>local_pp</a:t>
            </a:r>
          </a:p>
          <a:p>
            <a:endParaRPr/>
          </a:p>
          <a:p>
            <a:r>
              <a:t>[local-source: UF_DT2_CS_EPSI_v9_4_TBO]</a:t>
            </a:r>
          </a:p>
          <a:p>
            <a:r>
              <a:t>local_calc</a:t>
            </a:r>
          </a:p>
          <a:p>
            <a:endParaRPr/>
          </a:p>
          <a:p>
            <a:r>
              <a:t>[local-source: UF_DT2_CS_calculator_v9_4.py]</a:t>
            </a:r>
          </a:p>
          <a:p>
            <a:r>
              <a:t>local_recon</a:t>
            </a:r>
          </a:p>
          <a:p>
            <a:endParaRPr/>
          </a:p>
          <a:p>
            <a:r>
              <a:t>[local-source: reconstruct_uf_dt2_cs_v9_4.py]</a:t>
            </a:r>
          </a:p>
          <a:p>
            <a:r>
              <a:t>Spatially encoded diffusion-ordered NMR spectroscopy of reaction mixtures in organic solvents</a:t>
            </a:r>
          </a:p>
          <a:p>
            <a:r>
              <a:t>https://pubs.rsc.org/en/content/articlelanding/2018/an/c8an00434j</a:t>
            </a:r>
          </a:p>
          <a:p>
            <a:endParaRPr/>
          </a:p>
          <a:p>
            <a:r>
              <a:t>Single-Scan 13C Diffusion-Ordered NMR Spectroscopy of DNP-Hyperpolarised Substrates</a:t>
            </a:r>
          </a:p>
          <a:p>
            <a:r>
              <a:t>https://chemistry-europe.onlinelibrary.wiley.com/doi/10.1002/chem.201703300</a:t>
            </a:r>
          </a:p>
          <a:p>
            <a:endParaRPr/>
          </a:p>
          <a:p>
            <a:r>
              <a:t>Experimental UF D–T2 experiment 10 (2025), TRAIN2D reconstruction</a:t>
            </a:r>
          </a:p>
          <a:p>
            <a:endParaRPr/>
          </a:p>
          <a:p>
            <a:r>
              <a:t>[local-source: DT2_map_10.png]</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19:50–20:00 · 10 s</a:t>
            </a:r>
          </a:p>
          <a:p>
            <a:endParaRPr/>
          </a:p>
          <a:p>
            <a:r>
              <a:t>DOSY calibration and processing are difficult. These examples show how to do the work and where our programs help. A defensible result retains the measurement, assumptions and checks. </a:t>
            </a:r>
          </a:p>
          <a:p>
            <a:endParaRPr/>
          </a:p>
          <a:p>
            <a:endParaRP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Positive least squares [nnls]</a:t>
            </a:r>
          </a:p>
          <a:p>
            <a:r>
              <a:t>Use: Positive baseline without smoothing; diagnose minimum residual.</a:t>
            </a:r>
          </a:p>
          <a:p>
            <a:r>
              <a:t>Limitations: SciPy NNLS / active-set NNLS; explicit dictionary</a:t>
            </a:r>
          </a:p>
          <a:p>
            <a:r>
              <a:t>Availability: Prime ILT selector</a:t>
            </a:r>
          </a:p>
          <a:p>
            <a:r>
              <a:t>Objective: `0.5 ‖AC-Y‖F², C&gt;=0`.</a:t>
            </a:r>
          </a:p>
          <a:p>
            <a:r>
              <a:t>Source: [local-source: METHOD_REFERENCE.es.md#nnls]</a:t>
            </a:r>
          </a:p>
          <a:p>
            <a:endParaRPr/>
          </a:p>
          <a:p>
            <a:r>
              <a:t>Positive Tikhonov [tikhonov]</a:t>
            </a:r>
          </a:p>
          <a:p>
            <a:r>
              <a:t>Use: Continuous distributions with controlled smoothness; polymers/polydispersity.</a:t>
            </a:r>
          </a:p>
          <a:p>
            <a:r>
              <a:t>Limitations: Fixed user lambda and order 0/1/2; no automatic CONTIN selection</a:t>
            </a:r>
          </a:p>
          <a:p>
            <a:r>
              <a:t>Availability: Prime ILT selector</a:t>
            </a:r>
          </a:p>
          <a:p>
            <a:r>
              <a:t>Objective: `0.5 ‖AC-Y‖F² + lambda/2 ‖RC‖F², C&gt;=0`.</a:t>
            </a:r>
          </a:p>
          <a:p>
            <a:r>
              <a:t>Source: [local-source: METHOD_REFERENCE.es.md#tikhonov]</a:t>
            </a:r>
          </a:p>
          <a:p>
            <a:endParaRPr/>
          </a:p>
          <a:p>
            <a:r>
              <a:t>FLINT quadratic objective [flint]</a:t>
            </a:r>
          </a:p>
          <a:p>
            <a:r>
              <a:t>Use: Positive L2 objective for stable inversion; this library uses NNLS.</a:t>
            </a:r>
          </a:p>
          <a:p>
            <a:r>
              <a:t>Limitations: Same positive L2 objective; NNLS engine, not FLINT original iteration</a:t>
            </a:r>
          </a:p>
          <a:p>
            <a:r>
              <a:t>Availability: Prime ILT selector</a:t>
            </a:r>
          </a:p>
          <a:p>
            <a:r>
              <a:t>Objective: `0.5 ‖AC-Y‖F² + lambda/2 ‖C‖F², C&gt;=0`.</a:t>
            </a:r>
          </a:p>
          <a:p>
            <a:r>
              <a:t>Source: [local-source: METHOD_REFERENCE.es.md#flint]</a:t>
            </a:r>
          </a:p>
          <a:p>
            <a:endParaRPr/>
          </a:p>
          <a:p>
            <a:r>
              <a:t>GNAT positive ILT branch [gnat_ilt_nnls]</a:t>
            </a:r>
          </a:p>
          <a:p>
            <a:r>
              <a:t>Use: Compare GNAT positive ILT branch at a manual lambda.</a:t>
            </a:r>
          </a:p>
          <a:p>
            <a:r>
              <a:t>Limitations: Manual lambda squared; excludes GNAT GCV/L-curve/UI peak picking</a:t>
            </a:r>
          </a:p>
          <a:p>
            <a:r>
              <a:t>Availability: Prime ILT selector</a:t>
            </a:r>
          </a:p>
          <a:p>
            <a:r>
              <a:t>Objective: `0.5 ‖AC-Y‖F² + lambda²/2 ‖RC‖F², C&gt;=0`.</a:t>
            </a:r>
          </a:p>
          <a:p>
            <a:r>
              <a:t>Source: [local-source: METHOD_REFERENCE.es.md#gnat_ilt_nnls]</a:t>
            </a:r>
          </a:p>
          <a:p>
            <a:endParaRPr/>
          </a:p>
          <a:p>
            <a:r>
              <a:t>TRAIn-style trust region [train]</a:t>
            </a:r>
          </a:p>
          <a:p>
            <a:r>
              <a:t>Use: Iterative positive trust-region inversion; control its stopping criterion.</a:t>
            </a:r>
          </a:p>
          <a:p>
            <a:r>
              <a:t>Limitations: Prime TRAIn uses the shared original engine: termFac × NNLS residual. The library record describes a separate explicit-noise-radius variant; do not interchange parameters.</a:t>
            </a:r>
          </a:p>
          <a:p>
            <a:r>
              <a:t>Availability: Prime ILT selector</a:t>
            </a:r>
          </a:p>
          <a:p>
            <a:r>
              <a:t>Objective: `RSS(A*(eta elementwise squared),Y); discrepancy stopping`.</a:t>
            </a:r>
          </a:p>
          <a:p>
            <a:r>
              <a:t>Source: [local-source: METHOD_REFERENCE.es.md#train]</a:t>
            </a:r>
          </a:p>
          <a:p>
            <a:endParaRPr/>
          </a:p>
          <a:p>
            <a:r>
              <a:t>Sources: [ilt_catalog] Audited bilingual catalogue of local inversion methods and context families: [local-source: ilt_algorithm_catalog_bilingual.json]</a:t>
            </a:r>
          </a:p>
          <a:p>
            <a:r>
              <a:t>[catalog_nnls] Positive least squares: [local-source: METHOD_REFERENCE.es.md#nnls]</a:t>
            </a:r>
          </a:p>
          <a:p>
            <a:r>
              <a:t>[catalog_tikhonov] Positive Tikhonov: [local-source: METHOD_REFERENCE.es.md#tikhonov]</a:t>
            </a:r>
          </a:p>
          <a:p>
            <a:r>
              <a:t>[catalog_flint] FLINT quadratic objective: [local-source: METHOD_REFERENCE.es.md#flint]</a:t>
            </a:r>
          </a:p>
          <a:p>
            <a:r>
              <a:t>[catalog_gnat_ilt_nnls] GNAT positive ILT branch: [local-source: METHOD_REFERENCE.es.md#gnat_ilt_nnls]</a:t>
            </a:r>
          </a:p>
          <a:p>
            <a:r>
              <a:t>[catalog_train] TRAIn-style trust region: [local-source: METHOD_REFERENCE.es.md#train]</a:t>
            </a:r>
          </a:p>
          <a:p>
            <a:endParaRPr/>
          </a:p>
          <a:p>
            <a:r>
              <a:t>nnls — Positive least squares</a:t>
            </a:r>
          </a:p>
          <a:p>
            <a:r>
              <a:t>Prime ILT selector</a:t>
            </a:r>
          </a:p>
          <a:p>
            <a:r>
              <a:t>Positive baseline without smoothing; diagnose minimum residual.</a:t>
            </a:r>
          </a:p>
          <a:p>
            <a:r>
              <a:t>SciPy NNLS / active-set NNLS; explicit dictionary</a:t>
            </a:r>
          </a:p>
          <a:p>
            <a:r>
              <a:t>`0.5 ‖AC-Y‖F², C&gt;=0`.</a:t>
            </a:r>
          </a:p>
          <a:p>
            <a:r>
              <a:t>[local-source: METHOD_REFERENCE.es.md#nnls]</a:t>
            </a:r>
          </a:p>
          <a:p>
            <a:endParaRPr/>
          </a:p>
          <a:p>
            <a:r>
              <a:t>tikhonov — Positive Tikhonov</a:t>
            </a:r>
          </a:p>
          <a:p>
            <a:r>
              <a:t>Prime ILT selector</a:t>
            </a:r>
          </a:p>
          <a:p>
            <a:r>
              <a:t>Continuous distributions with controlled smoothness; polymers/polydispersity.</a:t>
            </a:r>
          </a:p>
          <a:p>
            <a:r>
              <a:t>Fixed user lambda and order 0/1/2; no automatic CONTIN selection</a:t>
            </a:r>
          </a:p>
          <a:p>
            <a:r>
              <a:t>`0.5 ‖AC-Y‖F² + lambda/2 ‖RC‖F², C&gt;=0`.</a:t>
            </a:r>
          </a:p>
          <a:p>
            <a:r>
              <a:t>[local-source: METHOD_REFERENCE.es.md#tikhonov]</a:t>
            </a:r>
          </a:p>
          <a:p>
            <a:endParaRPr/>
          </a:p>
          <a:p>
            <a:r>
              <a:t>flint — FLINT quadratic objective</a:t>
            </a:r>
          </a:p>
          <a:p>
            <a:r>
              <a:t>Prime ILT selector</a:t>
            </a:r>
          </a:p>
          <a:p>
            <a:r>
              <a:t>Positive L2 objective for stable inversion; this library uses NNLS.</a:t>
            </a:r>
          </a:p>
          <a:p>
            <a:r>
              <a:t>Same positive L2 objective; NNLS engine, not FLINT original iteration</a:t>
            </a:r>
          </a:p>
          <a:p>
            <a:r>
              <a:t>`0.5 ‖AC-Y‖F² + lambda/2 ‖C‖F², C&gt;=0`.</a:t>
            </a:r>
          </a:p>
          <a:p>
            <a:r>
              <a:t>[local-source: METHOD_REFERENCE.es.md#flint]</a:t>
            </a:r>
          </a:p>
          <a:p>
            <a:endParaRPr/>
          </a:p>
          <a:p>
            <a:r>
              <a:t>gnat_ilt_nnls — GNAT positive ILT branch</a:t>
            </a:r>
          </a:p>
          <a:p>
            <a:r>
              <a:t>Prime ILT selector</a:t>
            </a:r>
          </a:p>
          <a:p>
            <a:r>
              <a:t>Compare GNAT positive ILT branch at a manual lambda.</a:t>
            </a:r>
          </a:p>
          <a:p>
            <a:r>
              <a:t>Manual lambda squared; excludes GNAT GCV/L-curve/UI peak picking</a:t>
            </a:r>
          </a:p>
          <a:p>
            <a:r>
              <a:t>`0.5 ‖AC-Y‖F² + lambda²/2 ‖RC‖F², C&gt;=0`.</a:t>
            </a:r>
          </a:p>
          <a:p>
            <a:r>
              <a:t>[local-source: METHOD_REFERENCE.es.md#gnat_ilt_nnls]</a:t>
            </a:r>
          </a:p>
          <a:p>
            <a:endParaRPr/>
          </a:p>
          <a:p>
            <a:r>
              <a:t>train — TRAIn-style trust region</a:t>
            </a:r>
          </a:p>
          <a:p>
            <a:r>
              <a:t>Prime ILT selector</a:t>
            </a:r>
          </a:p>
          <a:p>
            <a:r>
              <a:t>Iterative positive trust-region inversion; control its stopping criterion.</a:t>
            </a:r>
          </a:p>
          <a:p>
            <a:r>
              <a:t>Prime TRAIn uses the shared original engine: termFac × NNLS residual. The library record describes a separate explicit-noise-radius variant; do not interchange parameters.</a:t>
            </a:r>
          </a:p>
          <a:p>
            <a:r>
              <a:t>`RSS(A*(eta elementwise squared),Y); discrepancy stopping`.</a:t>
            </a:r>
          </a:p>
          <a:p>
            <a:r>
              <a:t>[local-source: METHOD_REFERENCE.es.md#train]</a:t>
            </a:r>
          </a:p>
          <a:p>
            <a:endParaRPr/>
          </a:p>
          <a:p>
            <a:r>
              <a:t>Sources:</a:t>
            </a:r>
          </a:p>
          <a:p>
            <a:r>
              <a:t>Audited bilingual catalogue of local inversion methods and context families</a:t>
            </a:r>
          </a:p>
          <a:p>
            <a:endParaRPr/>
          </a:p>
          <a:p>
            <a:r>
              <a:t>[local-source: ilt_algorithm_catalog_bilingual.json]</a:t>
            </a:r>
          </a:p>
          <a:p>
            <a:r>
              <a:t>Positive least squares</a:t>
            </a:r>
          </a:p>
          <a:p>
            <a:endParaRPr/>
          </a:p>
          <a:p>
            <a:r>
              <a:t>[local-source: METHOD_REFERENCE.es.md#nnls]</a:t>
            </a:r>
          </a:p>
          <a:p>
            <a:r>
              <a:t>Positive Tikhonov</a:t>
            </a:r>
          </a:p>
          <a:p>
            <a:endParaRPr/>
          </a:p>
          <a:p>
            <a:r>
              <a:t>[local-source: METHOD_REFERENCE.es.md#tikhonov]</a:t>
            </a:r>
          </a:p>
          <a:p>
            <a:r>
              <a:t>FLINT quadratic objective</a:t>
            </a:r>
          </a:p>
          <a:p>
            <a:endParaRPr/>
          </a:p>
          <a:p>
            <a:r>
              <a:t>[local-source: METHOD_REFERENCE.es.md#flint]</a:t>
            </a:r>
          </a:p>
          <a:p>
            <a:r>
              <a:t>GNAT positive ILT branch</a:t>
            </a:r>
          </a:p>
          <a:p>
            <a:endParaRPr/>
          </a:p>
          <a:p>
            <a:r>
              <a:t>[local-source: METHOD_REFERENCE.es.md#gnat_ilt_nnls]</a:t>
            </a:r>
          </a:p>
          <a:p>
            <a:r>
              <a:t>TRAIn-style trust region</a:t>
            </a:r>
          </a:p>
          <a:p>
            <a:endParaRPr/>
          </a:p>
          <a:p>
            <a:r>
              <a:t>[local-source: METHOD_REFERENCE.es.md#train]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ITAMeD positive FISTA [itamed]</a:t>
            </a:r>
          </a:p>
          <a:p>
            <a:r>
              <a:t>Use: Sparse distributions with few peaks through L1 and FISTA.</a:t>
            </a:r>
          </a:p>
          <a:p>
            <a:r>
              <a:t>Limitations: Pure diffusion kernel, lambda L1, scaled step and Nesterov; no original GUI</a:t>
            </a:r>
          </a:p>
          <a:p>
            <a:r>
              <a:t>Availability: Prime ILT selector</a:t>
            </a:r>
          </a:p>
          <a:p>
            <a:r>
              <a:t>Objective: `RSS + lambda sum(C), C&gt;=0`.</a:t>
            </a:r>
          </a:p>
          <a:p>
            <a:r>
              <a:t>Source: [local-source: METHOD_REFERENCE.es.md#itamed]</a:t>
            </a:r>
          </a:p>
          <a:p>
            <a:endParaRPr/>
          </a:p>
          <a:p>
            <a:r>
              <a:t>Positive smooth sparse inversion [elastic_net]</a:t>
            </a:r>
          </a:p>
          <a:p>
            <a:r>
              <a:t>Use: Compromise between few peaks and smoothness.</a:t>
            </a:r>
          </a:p>
          <a:p>
            <a:r>
              <a:t>Limitations: L1 plus finite-difference quadratic</a:t>
            </a:r>
          </a:p>
          <a:p>
            <a:r>
              <a:t>Availability: Prime ILT selector</a:t>
            </a:r>
          </a:p>
          <a:p>
            <a:r>
              <a:t>Objective: `0.5 ‖AC-Y‖F² + lambda/2 ‖RC‖F² + l1 sum(C), C&gt;=0`.</a:t>
            </a:r>
          </a:p>
          <a:p>
            <a:r>
              <a:t>Source: [local-source: METHOD_REFERENCE.es.md#elastic_net]</a:t>
            </a:r>
          </a:p>
          <a:p>
            <a:endParaRPr/>
          </a:p>
          <a:p>
            <a:r>
              <a:t>Positive maximum entropy [maxent]</a:t>
            </a:r>
          </a:p>
          <a:p>
            <a:r>
              <a:t>Use: Positive distributions regularized by entropy relative to a reference.</a:t>
            </a:r>
          </a:p>
          <a:p>
            <a:r>
              <a:t>Limitations: Fixed reference; Python L-BFGS and MATLAB/C# projected line search differ</a:t>
            </a:r>
          </a:p>
          <a:p>
            <a:r>
              <a:t>Availability: Prime ILT selector</a:t>
            </a:r>
          </a:p>
          <a:p>
            <a:r>
              <a:t>Objective: `0.5 ‖AC-Y‖F² + lambda sum(C log(C/ref)-C)`.</a:t>
            </a:r>
          </a:p>
          <a:p>
            <a:r>
              <a:t>Source: [local-source: METHOD_REFERENCE.es.md#maxent]</a:t>
            </a:r>
          </a:p>
          <a:p>
            <a:endParaRPr/>
          </a:p>
          <a:p>
            <a:r>
              <a:t>PALMA entropy/L1 PPXA+ [palma]</a:t>
            </a:r>
          </a:p>
          <a:p>
            <a:r>
              <a:t>Use: Combine peaks and broad distributions with entropy/L1 and a noise radius.</a:t>
            </a:r>
          </a:p>
          <a:p>
            <a:r>
              <a:t>Limitations: Positive entropy weight 0&lt;lambda&lt;=1; per-curve ball; lambda=0 signed variant excluded</a:t>
            </a:r>
          </a:p>
          <a:p>
            <a:r>
              <a:t>Availability: Prime ILT selector</a:t>
            </a:r>
          </a:p>
          <a:p>
            <a:r>
              <a:t>Objective: `(1-w)‖x‖1 + w sum(x log x), ‖Ax-Y/scale‖2&lt;=eta/scale`.</a:t>
            </a:r>
          </a:p>
          <a:p>
            <a:r>
              <a:t>Source: [local-source: METHOD_REFERENCE.es.md#palma]</a:t>
            </a:r>
          </a:p>
          <a:p>
            <a:endParaRPr/>
          </a:p>
          <a:p>
            <a:r>
              <a:t>Local curvature reweighted Tikhonov [curvature_reweighted]</a:t>
            </a:r>
          </a:p>
          <a:p>
            <a:r>
              <a:t>Use: Adapt local smoothing to curvature; compare sensitivity.</a:t>
            </a:r>
          </a:p>
          <a:p>
            <a:r>
              <a:t>Limitations: Not authentic UPEN2D/MUPEN2D</a:t>
            </a:r>
          </a:p>
          <a:p>
            <a:r>
              <a:t>Availability: Prime ILT selector</a:t>
            </a:r>
          </a:p>
          <a:p>
            <a:r>
              <a:t>Objective: `Sequence of positive quadratic fits with local curvature weights`.</a:t>
            </a:r>
          </a:p>
          <a:p>
            <a:r>
              <a:t>Source: [local-source: METHOD_REFERENCE.es.md#curvature_reweighted]</a:t>
            </a:r>
          </a:p>
          <a:p>
            <a:endParaRPr/>
          </a:p>
          <a:p>
            <a:r>
              <a:t>Sources: [ilt_catalog] Audited bilingual catalogue of local inversion methods and context families: [local-source: ilt_algorithm_catalog_bilingual.json]</a:t>
            </a:r>
          </a:p>
          <a:p>
            <a:r>
              <a:t>[catalog_itamed] ITAMeD positive FISTA: [local-source: METHOD_REFERENCE.es.md#itamed]</a:t>
            </a:r>
          </a:p>
          <a:p>
            <a:r>
              <a:t>[catalog_elastic_net] Positive smooth sparse inversion: [local-source: METHOD_REFERENCE.es.md#elastic_net]</a:t>
            </a:r>
          </a:p>
          <a:p>
            <a:r>
              <a:t>[catalog_maxent] Positive maximum entropy: [local-source: METHOD_REFERENCE.es.md#maxent]</a:t>
            </a:r>
          </a:p>
          <a:p>
            <a:r>
              <a:t>[catalog_palma] PALMA entropy/L1 PPXA+: [local-source: METHOD_REFERENCE.es.md#palma]</a:t>
            </a:r>
          </a:p>
          <a:p>
            <a:r>
              <a:t>[catalog_curvature_reweighted] Local curvature reweighted Tikhonov: [local-source: METHOD_REFERENCE.es.md#curvature_reweighted]</a:t>
            </a:r>
          </a:p>
          <a:p>
            <a:endParaRPr/>
          </a:p>
          <a:p>
            <a:r>
              <a:t>itamed — ITAMeD positive FISTA</a:t>
            </a:r>
          </a:p>
          <a:p>
            <a:r>
              <a:t>Prime ILT selector</a:t>
            </a:r>
          </a:p>
          <a:p>
            <a:r>
              <a:t>Sparse distributions with few peaks through L1 and FISTA.</a:t>
            </a:r>
          </a:p>
          <a:p>
            <a:r>
              <a:t>Pure diffusion kernel, lambda L1, scaled step and Nesterov; no original GUI</a:t>
            </a:r>
          </a:p>
          <a:p>
            <a:r>
              <a:t>`RSS + lambda sum(C), C&gt;=0`.</a:t>
            </a:r>
          </a:p>
          <a:p>
            <a:r>
              <a:t>[local-source: METHOD_REFERENCE.es.md#itamed]</a:t>
            </a:r>
          </a:p>
          <a:p>
            <a:endParaRPr/>
          </a:p>
          <a:p>
            <a:r>
              <a:t>elastic_net — Positive smooth sparse inversion</a:t>
            </a:r>
          </a:p>
          <a:p>
            <a:r>
              <a:t>Prime ILT selector</a:t>
            </a:r>
          </a:p>
          <a:p>
            <a:r>
              <a:t>Compromise between few peaks and smoothness.</a:t>
            </a:r>
          </a:p>
          <a:p>
            <a:r>
              <a:t>L1 plus finite-difference quadratic</a:t>
            </a:r>
          </a:p>
          <a:p>
            <a:r>
              <a:t>`0.5 ‖AC-Y‖F² + lambda/2 ‖RC‖F² + l1 sum(C), C&gt;=0`.</a:t>
            </a:r>
          </a:p>
          <a:p>
            <a:r>
              <a:t>[local-source: METHOD_REFERENCE.es.md#elastic_net]</a:t>
            </a:r>
          </a:p>
          <a:p>
            <a:endParaRPr/>
          </a:p>
          <a:p>
            <a:r>
              <a:t>maxent — Positive maximum entropy</a:t>
            </a:r>
          </a:p>
          <a:p>
            <a:r>
              <a:t>Prime ILT selector</a:t>
            </a:r>
          </a:p>
          <a:p>
            <a:r>
              <a:t>Positive distributions regularized by entropy relative to a reference.</a:t>
            </a:r>
          </a:p>
          <a:p>
            <a:r>
              <a:t>Fixed reference; Python L-BFGS and MATLAB/C# projected line search differ</a:t>
            </a:r>
          </a:p>
          <a:p>
            <a:r>
              <a:t>`0.5 ‖AC-Y‖F² + lambda sum(C log(C/ref)-C)`.</a:t>
            </a:r>
          </a:p>
          <a:p>
            <a:r>
              <a:t>[local-source: METHOD_REFERENCE.es.md#maxent]</a:t>
            </a:r>
          </a:p>
          <a:p>
            <a:endParaRPr/>
          </a:p>
          <a:p>
            <a:r>
              <a:t>palma — PALMA entropy/L1 PPXA+</a:t>
            </a:r>
          </a:p>
          <a:p>
            <a:r>
              <a:t>Prime ILT selector</a:t>
            </a:r>
          </a:p>
          <a:p>
            <a:r>
              <a:t>Combine peaks and broad distributions with entropy/L1 and a noise radius.</a:t>
            </a:r>
          </a:p>
          <a:p>
            <a:r>
              <a:t>Positive entropy weight 0&lt;lambda&lt;=1; per-curve ball; lambda=0 signed variant excluded</a:t>
            </a:r>
          </a:p>
          <a:p>
            <a:r>
              <a:t>`(1-w)‖x‖1 + w sum(x log x), ‖Ax-Y/scale‖2&lt;=eta/scale`.</a:t>
            </a:r>
          </a:p>
          <a:p>
            <a:r>
              <a:t>[local-source: METHOD_REFERENCE.es.md#palma]</a:t>
            </a:r>
          </a:p>
          <a:p>
            <a:endParaRPr/>
          </a:p>
          <a:p>
            <a:r>
              <a:t>curvature_reweighted — Local curvature reweighted Tikhonov</a:t>
            </a:r>
          </a:p>
          <a:p>
            <a:r>
              <a:t>Prime ILT selector</a:t>
            </a:r>
          </a:p>
          <a:p>
            <a:r>
              <a:t>Adapt local smoothing to curvature; compare sensitivity.</a:t>
            </a:r>
          </a:p>
          <a:p>
            <a:r>
              <a:t>Not authentic UPEN2D/MUPEN2D</a:t>
            </a:r>
          </a:p>
          <a:p>
            <a:r>
              <a:t>`Sequence of positive quadratic fits with local curvature weights`.</a:t>
            </a:r>
          </a:p>
          <a:p>
            <a:r>
              <a:t>[local-source: METHOD_REFERENCE.es.md#curvature_reweighted]</a:t>
            </a:r>
          </a:p>
          <a:p>
            <a:endParaRPr/>
          </a:p>
          <a:p>
            <a:r>
              <a:t>Sources:</a:t>
            </a:r>
          </a:p>
          <a:p>
            <a:r>
              <a:t>Audited bilingual catalogue of local inversion methods and context families</a:t>
            </a:r>
          </a:p>
          <a:p>
            <a:endParaRPr/>
          </a:p>
          <a:p>
            <a:r>
              <a:t>[local-source: ilt_algorithm_catalog_bilingual.json]</a:t>
            </a:r>
          </a:p>
          <a:p>
            <a:r>
              <a:t>ITAMeD positive FISTA</a:t>
            </a:r>
          </a:p>
          <a:p>
            <a:endParaRPr/>
          </a:p>
          <a:p>
            <a:r>
              <a:t>[local-source: METHOD_REFERENCE.es.md#itamed]</a:t>
            </a:r>
          </a:p>
          <a:p>
            <a:r>
              <a:t>Positive smooth sparse inversion</a:t>
            </a:r>
          </a:p>
          <a:p>
            <a:endParaRPr/>
          </a:p>
          <a:p>
            <a:r>
              <a:t>[local-source: METHOD_REFERENCE.es.md#elastic_net]</a:t>
            </a:r>
          </a:p>
          <a:p>
            <a:r>
              <a:t>Positive maximum entropy</a:t>
            </a:r>
          </a:p>
          <a:p>
            <a:endParaRPr/>
          </a:p>
          <a:p>
            <a:r>
              <a:t>[local-source: METHOD_REFERENCE.es.md#maxent]</a:t>
            </a:r>
          </a:p>
          <a:p>
            <a:r>
              <a:t>PALMA entropy/L1 PPXA+</a:t>
            </a:r>
          </a:p>
          <a:p>
            <a:endParaRPr/>
          </a:p>
          <a:p>
            <a:r>
              <a:t>[local-source: METHOD_REFERENCE.es.md#palma]</a:t>
            </a:r>
          </a:p>
          <a:p>
            <a:r>
              <a:t>Local curvature reweighted Tikhonov</a:t>
            </a:r>
          </a:p>
          <a:p>
            <a:endParaRPr/>
          </a:p>
          <a:p>
            <a:r>
              <a:t>[local-source: METHOD_REFERENCE.es.md#curvature_reweighted]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BRD dual positive L2 [brd]</a:t>
            </a:r>
          </a:p>
          <a:p>
            <a:r>
              <a:t>Use: Solve positive L2 via a dual formulation; explicit lambda.</a:t>
            </a:r>
          </a:p>
          <a:p>
            <a:r>
              <a:t>Limitations: Fixed positive alpha and identity regularizer; damped semismooth Newton differs from Julia trust region. No OSILAP automatic alpha/compression pipeline.</a:t>
            </a:r>
          </a:p>
          <a:p>
            <a:r>
              <a:t>Availability: Prime ILT selector</a:t>
            </a:r>
          </a:p>
          <a:p>
            <a:r>
              <a:t>Objective: `0.5 ‖AC-Y‖F² + alpha/2 ‖C‖F², C&gt;=0, solved through dual`.</a:t>
            </a:r>
          </a:p>
          <a:p>
            <a:r>
              <a:t>Source: [local-source: METHOD_REFERENCE.es.md#brd]</a:t>
            </a:r>
          </a:p>
          <a:p>
            <a:endParaRPr/>
          </a:p>
          <a:p>
            <a:r>
              <a:t>Chambolle-Pock positive L1 [pdhg_l1]</a:t>
            </a:r>
          </a:p>
          <a:p>
            <a:r>
              <a:t>Use: Solve sparse L1 inversion by primal-dual splitting.</a:t>
            </a:r>
          </a:p>
          <a:p>
            <a:r>
              <a:t>Limitations: Least-squares dual and positive L1 primal prox; not the archived PDHGM/PDHGM2 update.</a:t>
            </a:r>
          </a:p>
          <a:p>
            <a:r>
              <a:t>Availability: Prime ILT selector</a:t>
            </a:r>
          </a:p>
          <a:p>
            <a:r>
              <a:t>Objective: `0.5 ‖AC-Y‖F² + alpha sum(C), C&gt;=0`.</a:t>
            </a:r>
          </a:p>
          <a:p>
            <a:r>
              <a:t>Source: [local-source: METHOD_REFERENCE.es.md#pdhg_l1]</a:t>
            </a:r>
          </a:p>
          <a:p>
            <a:endParaRPr/>
          </a:p>
          <a:p>
            <a:r>
              <a:t>Regularized block Kaczmarz [kaczmarz]</a:t>
            </a:r>
          </a:p>
          <a:p>
            <a:r>
              <a:t>Use: Solve regularized inversion using row/block updates.</a:t>
            </a:r>
          </a:p>
          <a:p>
            <a:r>
              <a:t>Limitations: The grid adapter uses the engine defaults. Use linear_fit / linearFit / LinearEngines.Fit for seed, block size, inner iterations and explicit row orders. Ordering is a portable generator, not the original NumPy generator; line-search failures are retained.</a:t>
            </a:r>
          </a:p>
          <a:p>
            <a:r>
              <a:t>Availability: Prime ILT selector</a:t>
            </a:r>
          </a:p>
          <a:p>
            <a:r>
              <a:t>Objective: `0.5 ‖AC-Y‖F² + alpha/2 ‖C‖F², C&gt;=0`.</a:t>
            </a:r>
          </a:p>
          <a:p>
            <a:r>
              <a:t>Source: [local-source: METHOD_REFERENCE.es.md#kaczmarz]</a:t>
            </a:r>
          </a:p>
          <a:p>
            <a:endParaRPr/>
          </a:p>
          <a:p>
            <a:r>
              <a:t>Nonnegative L1 interior point [l1_ls_nonnegative]</a:t>
            </a:r>
          </a:p>
          <a:p>
            <a:r>
              <a:t>Use: Positive L1 solution by interior point; optimization reference.</a:t>
            </a:r>
          </a:p>
          <a:p>
            <a:r>
              <a:t>Limitations: Boyd barrier/primal-dual formulation; dense Newton, not original PCG. Fixed lambda; absolute-scaled gap near zero.</a:t>
            </a:r>
          </a:p>
          <a:p>
            <a:r>
              <a:t>Availability: Prime ILT selector</a:t>
            </a:r>
          </a:p>
          <a:p>
            <a:r>
              <a:t>Objective: `RSS + alpha ‖C‖1, C&gt;=0`.</a:t>
            </a:r>
          </a:p>
          <a:p>
            <a:r>
              <a:t>Source: [local-source: METHOD_REFERENCE.es.md#l1_ls_nonnegative]</a:t>
            </a:r>
          </a:p>
          <a:p>
            <a:endParaRPr/>
          </a:p>
          <a:p>
            <a:r>
              <a:t>FLINT positive quadratic iterative core [flint_fista]</a:t>
            </a:r>
          </a:p>
          <a:p>
            <a:r>
              <a:t>Use: Iteratively solve the positive FLINT quadratic objective.</a:t>
            </a:r>
          </a:p>
          <a:p>
            <a:r>
              <a:t>Limitations: FISTA for FLINT objective; exact spectral step and projected-gradient stop differ from upstream power iteration/stagnation.</a:t>
            </a:r>
          </a:p>
          <a:p>
            <a:r>
              <a:t>Availability: Prime ILT selector</a:t>
            </a:r>
          </a:p>
          <a:p>
            <a:r>
              <a:t>Objective: `RSS + alpha ‖C‖F², C&gt;=0`.</a:t>
            </a:r>
          </a:p>
          <a:p>
            <a:r>
              <a:t>Source: [local-source: METHOD_REFERENCE.es.md#flint_fista]</a:t>
            </a:r>
          </a:p>
          <a:p>
            <a:endParaRPr/>
          </a:p>
          <a:p>
            <a:r>
              <a:t>Sources: [ilt_catalog] Audited bilingual catalogue of local inversion methods and context families: [local-source: ilt_algorithm_catalog_bilingual.json]</a:t>
            </a:r>
          </a:p>
          <a:p>
            <a:r>
              <a:t>[catalog_brd] BRD dual positive L2: [local-source: METHOD_REFERENCE.es.md#brd]</a:t>
            </a:r>
          </a:p>
          <a:p>
            <a:r>
              <a:t>[catalog_pdhg_l1] Chambolle-Pock positive L1: [local-source: METHOD_REFERENCE.es.md#pdhg_l1]</a:t>
            </a:r>
          </a:p>
          <a:p>
            <a:r>
              <a:t>[catalog_kaczmarz] Regularized block Kaczmarz: [local-source: METHOD_REFERENCE.es.md#kaczmarz]</a:t>
            </a:r>
          </a:p>
          <a:p>
            <a:r>
              <a:t>[catalog_l1_ls_nonnegative] Nonnegative L1 interior point: [local-source: METHOD_REFERENCE.es.md#l1_ls_nonnegative]</a:t>
            </a:r>
          </a:p>
          <a:p>
            <a:r>
              <a:t>[catalog_flint_fista] FLINT positive quadratic iterative core: [local-source: METHOD_REFERENCE.es.md#flint_fista]</a:t>
            </a:r>
          </a:p>
          <a:p>
            <a:endParaRPr/>
          </a:p>
          <a:p>
            <a:r>
              <a:t>brd — BRD dual positive L2</a:t>
            </a:r>
          </a:p>
          <a:p>
            <a:r>
              <a:t>Prime ILT selector</a:t>
            </a:r>
          </a:p>
          <a:p>
            <a:r>
              <a:t>Solve positive L2 via a dual formulation; explicit lambda.</a:t>
            </a:r>
          </a:p>
          <a:p>
            <a:r>
              <a:t>Fixed positive alpha and identity regularizer; damped semismooth Newton differs from Julia trust region. No OSILAP automatic alpha/compression pipeline.</a:t>
            </a:r>
          </a:p>
          <a:p>
            <a:r>
              <a:t>`0.5 ‖AC-Y‖F² + alpha/2 ‖C‖F², C&gt;=0, solved through dual`.</a:t>
            </a:r>
          </a:p>
          <a:p>
            <a:r>
              <a:t>[local-source: METHOD_REFERENCE.es.md#brd]</a:t>
            </a:r>
          </a:p>
          <a:p>
            <a:endParaRPr/>
          </a:p>
          <a:p>
            <a:r>
              <a:t>pdhg_l1 — Chambolle-Pock positive L1</a:t>
            </a:r>
          </a:p>
          <a:p>
            <a:r>
              <a:t>Prime ILT selector</a:t>
            </a:r>
          </a:p>
          <a:p>
            <a:r>
              <a:t>Solve sparse L1 inversion by primal-dual splitting.</a:t>
            </a:r>
          </a:p>
          <a:p>
            <a:r>
              <a:t>Least-squares dual and positive L1 primal prox; not the archived PDHGM/PDHGM2 update.</a:t>
            </a:r>
          </a:p>
          <a:p>
            <a:r>
              <a:t>`0.5 ‖AC-Y‖F² + alpha sum(C), C&gt;=0`.</a:t>
            </a:r>
          </a:p>
          <a:p>
            <a:r>
              <a:t>[local-source: METHOD_REFERENCE.es.md#pdhg_l1]</a:t>
            </a:r>
          </a:p>
          <a:p>
            <a:endParaRPr/>
          </a:p>
          <a:p>
            <a:r>
              <a:t>kaczmarz — Regularized block Kaczmarz</a:t>
            </a:r>
          </a:p>
          <a:p>
            <a:r>
              <a:t>Prime ILT selector</a:t>
            </a:r>
          </a:p>
          <a:p>
            <a:r>
              <a:t>Solve regularized inversion using row/block updates.</a:t>
            </a:r>
          </a:p>
          <a:p>
            <a:r>
              <a:t>The grid adapter uses the engine defaults. Use linear_fit / linearFit / LinearEngines.Fit for seed, block size, inner iterations and explicit row orders. Ordering is a portable generator, not the original NumPy generator; line-search failures are retained.</a:t>
            </a:r>
          </a:p>
          <a:p>
            <a:r>
              <a:t>`0.5 ‖AC-Y‖F² + alpha/2 ‖C‖F², C&gt;=0`.</a:t>
            </a:r>
          </a:p>
          <a:p>
            <a:r>
              <a:t>[local-source: METHOD_REFERENCE.es.md#kaczmarz]</a:t>
            </a:r>
          </a:p>
          <a:p>
            <a:endParaRPr/>
          </a:p>
          <a:p>
            <a:r>
              <a:t>l1_ls_nonnegative — Nonnegative L1 interior point</a:t>
            </a:r>
          </a:p>
          <a:p>
            <a:r>
              <a:t>Prime ILT selector</a:t>
            </a:r>
          </a:p>
          <a:p>
            <a:r>
              <a:t>Positive L1 solution by interior point; optimization reference.</a:t>
            </a:r>
          </a:p>
          <a:p>
            <a:r>
              <a:t>Boyd barrier/primal-dual formulation; dense Newton, not original PCG. Fixed lambda; absolute-scaled gap near zero.</a:t>
            </a:r>
          </a:p>
          <a:p>
            <a:r>
              <a:t>`RSS + alpha ‖C‖1, C&gt;=0`.</a:t>
            </a:r>
          </a:p>
          <a:p>
            <a:r>
              <a:t>[local-source: METHOD_REFERENCE.es.md#l1_ls_nonnegative]</a:t>
            </a:r>
          </a:p>
          <a:p>
            <a:endParaRPr/>
          </a:p>
          <a:p>
            <a:r>
              <a:t>flint_fista — FLINT positive quadratic iterative core</a:t>
            </a:r>
          </a:p>
          <a:p>
            <a:r>
              <a:t>Prime ILT selector</a:t>
            </a:r>
          </a:p>
          <a:p>
            <a:r>
              <a:t>Iteratively solve the positive FLINT quadratic objective.</a:t>
            </a:r>
          </a:p>
          <a:p>
            <a:r>
              <a:t>FISTA for FLINT objective; exact spectral step and projected-gradient stop differ from upstream power iteration/stagnation.</a:t>
            </a:r>
          </a:p>
          <a:p>
            <a:r>
              <a:t>`RSS + alpha ‖C‖F², C&gt;=0`.</a:t>
            </a:r>
          </a:p>
          <a:p>
            <a:r>
              <a:t>[local-source: METHOD_REFERENCE.es.md#flint_fista]</a:t>
            </a:r>
          </a:p>
          <a:p>
            <a:endParaRPr/>
          </a:p>
          <a:p>
            <a:r>
              <a:t>Sources:</a:t>
            </a:r>
          </a:p>
          <a:p>
            <a:r>
              <a:t>Audited bilingual catalogue of local inversion methods and context families</a:t>
            </a:r>
          </a:p>
          <a:p>
            <a:endParaRPr/>
          </a:p>
          <a:p>
            <a:r>
              <a:t>[local-source: ilt_algorithm_catalog_bilingual.json]</a:t>
            </a:r>
          </a:p>
          <a:p>
            <a:r>
              <a:t>BRD dual positive L2</a:t>
            </a:r>
          </a:p>
          <a:p>
            <a:endParaRPr/>
          </a:p>
          <a:p>
            <a:r>
              <a:t>[local-source: METHOD_REFERENCE.es.md#brd]</a:t>
            </a:r>
          </a:p>
          <a:p>
            <a:r>
              <a:t>Chambolle-Pock positive L1</a:t>
            </a:r>
          </a:p>
          <a:p>
            <a:endParaRPr/>
          </a:p>
          <a:p>
            <a:r>
              <a:t>[local-source: METHOD_REFERENCE.es.md#pdhg_l1]</a:t>
            </a:r>
          </a:p>
          <a:p>
            <a:r>
              <a:t>Regularized block Kaczmarz</a:t>
            </a:r>
          </a:p>
          <a:p>
            <a:endParaRPr/>
          </a:p>
          <a:p>
            <a:r>
              <a:t>[local-source: METHOD_REFERENCE.es.md#kaczmarz]</a:t>
            </a:r>
          </a:p>
          <a:p>
            <a:r>
              <a:t>Nonnegative L1 interior point</a:t>
            </a:r>
          </a:p>
          <a:p>
            <a:endParaRPr/>
          </a:p>
          <a:p>
            <a:r>
              <a:t>[local-source: METHOD_REFERENCE.es.md#l1_ls_nonnegative]</a:t>
            </a:r>
          </a:p>
          <a:p>
            <a:r>
              <a:t>FLINT positive quadratic iterative core</a:t>
            </a:r>
          </a:p>
          <a:p>
            <a:endParaRPr/>
          </a:p>
          <a:p>
            <a:r>
              <a:t>[local-source: METHOD_REFERENCE.es.md#flint_fista]</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Positive row-group sparse inversion [group_sparse]</a:t>
            </a:r>
          </a:p>
          <a:p>
            <a:r>
              <a:t>Use: Shared D support across multiple frequencies.</a:t>
            </a:r>
          </a:p>
          <a:p>
            <a:r>
              <a:t>Limitations: Shared row L2 sparsity; not chemical identity</a:t>
            </a:r>
          </a:p>
          <a:p>
            <a:r>
              <a:t>Availability: Prime ILT selector</a:t>
            </a:r>
          </a:p>
          <a:p>
            <a:r>
              <a:t>Objective: `0.5 ‖AC-Y‖F² + lambda sum_k ‖C[k,:]‖2, C&gt;=0`.</a:t>
            </a:r>
          </a:p>
          <a:p>
            <a:r>
              <a:t>Source: [local-source: METHOD_REFERENCE.es.md#group_sparse]</a:t>
            </a:r>
          </a:p>
          <a:p>
            <a:endParaRPr/>
          </a:p>
          <a:p>
            <a:r>
              <a:t>Nonnegative sparse nuclear regularization [lowrank_sparse]</a:t>
            </a:r>
          </a:p>
          <a:p>
            <a:r>
              <a:t>Use: Joint map with few profiles and sparse significant coefficients.</a:t>
            </a:r>
          </a:p>
          <a:p>
            <a:r>
              <a:t>Limitations: ADMM; not branded ADSpLRU/LRSpILT</a:t>
            </a:r>
          </a:p>
          <a:p>
            <a:r>
              <a:t>Availability: Prime ILT selector</a:t>
            </a:r>
          </a:p>
          <a:p>
            <a:r>
              <a:t>Objective: `0.5 ‖AC-Y‖F² + l1 sum(C) + low_rank ‖C‖*, C&gt;=0`.</a:t>
            </a:r>
          </a:p>
          <a:p>
            <a:r>
              <a:t>Source: [local-source: METHOD_REFERENCE.es.md#lowrank_sparse]</a:t>
            </a:r>
          </a:p>
          <a:p>
            <a:endParaRPr/>
          </a:p>
          <a:p>
            <a:r>
              <a:t>Reweighted nuclear heuristic [reweighted_lowrank_sparse]</a:t>
            </a:r>
          </a:p>
          <a:p>
            <a:r>
              <a:t>Use: Strengthen rank/support selection through adaptive weights.</a:t>
            </a:r>
          </a:p>
          <a:p>
            <a:r>
              <a:t>Limitations: Changing weights; no fixed convex objective certificate</a:t>
            </a:r>
          </a:p>
          <a:p>
            <a:r>
              <a:t>Availability: Prime ILT selector</a:t>
            </a:r>
          </a:p>
          <a:p>
            <a:r>
              <a:t>Objective: `Adaptive singular-value thresholds inside ADMM`.</a:t>
            </a:r>
          </a:p>
          <a:p>
            <a:r>
              <a:t>Source: [local-source: METHOD_REFERENCE.es.md#reweighted_lowrank_sparse]</a:t>
            </a:r>
          </a:p>
          <a:p>
            <a:endParaRPr/>
          </a:p>
          <a:p>
            <a:r>
              <a:t>Orthogonal matching pursuit dictionary adapter [omp]</a:t>
            </a:r>
          </a:p>
          <a:p>
            <a:r>
              <a:t>Use: Select few D atoms from a dictionary; explicit support limit.</a:t>
            </a:r>
          </a:p>
          <a:p>
            <a:r>
              <a:t>Limitations: Explicit dictionary, positive or signed refits; differs from original CS Fourier mapping. No automatic noise estimate.</a:t>
            </a:r>
          </a:p>
          <a:p>
            <a:r>
              <a:t>Availability: Prime ILT selector</a:t>
            </a:r>
          </a:p>
          <a:p>
            <a:r>
              <a:t>Objective: `Greedy dictionary correlation + restricted LS/NNLS refit`.</a:t>
            </a:r>
          </a:p>
          <a:p>
            <a:r>
              <a:t>Source: [local-source: METHOD_REFERENCE.es.md#omp]</a:t>
            </a:r>
          </a:p>
          <a:p>
            <a:endParaRPr/>
          </a:p>
          <a:p>
            <a:r>
              <a:t>Sources: [ilt_catalog] Audited bilingual catalogue of local inversion methods and context families: [local-source: ilt_algorithm_catalog_bilingual.json]</a:t>
            </a:r>
          </a:p>
          <a:p>
            <a:r>
              <a:t>[catalog_group_sparse] Positive row-group sparse inversion: [local-source: METHOD_REFERENCE.es.md#group_sparse]</a:t>
            </a:r>
          </a:p>
          <a:p>
            <a:r>
              <a:t>[catalog_lowrank_sparse] Nonnegative sparse nuclear regularization: [local-source: METHOD_REFERENCE.es.md#lowrank_sparse]</a:t>
            </a:r>
          </a:p>
          <a:p>
            <a:r>
              <a:t>[catalog_reweighted_lowrank_sparse] Reweighted nuclear heuristic: [local-source: METHOD_REFERENCE.es.md#reweighted_lowrank_sparse]</a:t>
            </a:r>
          </a:p>
          <a:p>
            <a:r>
              <a:t>[catalog_omp] Orthogonal matching pursuit dictionary adapter: [local-source: METHOD_REFERENCE.es.md#omp]</a:t>
            </a:r>
          </a:p>
          <a:p>
            <a:endParaRPr/>
          </a:p>
          <a:p>
            <a:r>
              <a:t>group_sparse — Positive row-group sparse inversion</a:t>
            </a:r>
          </a:p>
          <a:p>
            <a:r>
              <a:t>Prime ILT selector</a:t>
            </a:r>
          </a:p>
          <a:p>
            <a:r>
              <a:t>Shared D support across multiple frequencies.</a:t>
            </a:r>
          </a:p>
          <a:p>
            <a:r>
              <a:t>Shared row L2 sparsity; not chemical identity</a:t>
            </a:r>
          </a:p>
          <a:p>
            <a:r>
              <a:t>`0.5 ‖AC-Y‖F² + lambda sum_k ‖C[k,:]‖2, C&gt;=0`.</a:t>
            </a:r>
          </a:p>
          <a:p>
            <a:r>
              <a:t>[local-source: METHOD_REFERENCE.es.md#group_sparse]</a:t>
            </a:r>
          </a:p>
          <a:p>
            <a:endParaRPr/>
          </a:p>
          <a:p>
            <a:r>
              <a:t>lowrank_sparse — Nonnegative sparse nuclear regularization</a:t>
            </a:r>
          </a:p>
          <a:p>
            <a:r>
              <a:t>Prime ILT selector</a:t>
            </a:r>
          </a:p>
          <a:p>
            <a:r>
              <a:t>Joint map with few profiles and sparse significant coefficients.</a:t>
            </a:r>
          </a:p>
          <a:p>
            <a:r>
              <a:t>ADMM; not branded ADSpLRU/LRSpILT</a:t>
            </a:r>
          </a:p>
          <a:p>
            <a:r>
              <a:t>`0.5 ‖AC-Y‖F² + l1 sum(C) + low_rank ‖C‖*, C&gt;=0`.</a:t>
            </a:r>
          </a:p>
          <a:p>
            <a:r>
              <a:t>[local-source: METHOD_REFERENCE.es.md#lowrank_sparse]</a:t>
            </a:r>
          </a:p>
          <a:p>
            <a:endParaRPr/>
          </a:p>
          <a:p>
            <a:r>
              <a:t>reweighted_lowrank_sparse — Reweighted nuclear heuristic</a:t>
            </a:r>
          </a:p>
          <a:p>
            <a:r>
              <a:t>Prime ILT selector</a:t>
            </a:r>
          </a:p>
          <a:p>
            <a:r>
              <a:t>Strengthen rank/support selection through adaptive weights.</a:t>
            </a:r>
          </a:p>
          <a:p>
            <a:r>
              <a:t>Changing weights; no fixed convex objective certificate</a:t>
            </a:r>
          </a:p>
          <a:p>
            <a:r>
              <a:t>`Adaptive singular-value thresholds inside ADMM`.</a:t>
            </a:r>
          </a:p>
          <a:p>
            <a:r>
              <a:t>[local-source: METHOD_REFERENCE.es.md#reweighted_lowrank_sparse]</a:t>
            </a:r>
          </a:p>
          <a:p>
            <a:endParaRPr/>
          </a:p>
          <a:p>
            <a:r>
              <a:t>omp — Orthogonal matching pursuit dictionary adapter</a:t>
            </a:r>
          </a:p>
          <a:p>
            <a:r>
              <a:t>Prime ILT selector</a:t>
            </a:r>
          </a:p>
          <a:p>
            <a:r>
              <a:t>Select few D atoms from a dictionary; explicit support limit.</a:t>
            </a:r>
          </a:p>
          <a:p>
            <a:r>
              <a:t>Explicit dictionary, positive or signed refits; differs from original CS Fourier mapping. No automatic noise estimate.</a:t>
            </a:r>
          </a:p>
          <a:p>
            <a:r>
              <a:t>`Greedy dictionary correlation + restricted LS/NNLS refit`.</a:t>
            </a:r>
          </a:p>
          <a:p>
            <a:r>
              <a:t>[local-source: METHOD_REFERENCE.es.md#omp]</a:t>
            </a:r>
          </a:p>
          <a:p>
            <a:endParaRPr/>
          </a:p>
          <a:p>
            <a:r>
              <a:t>Sources:</a:t>
            </a:r>
          </a:p>
          <a:p>
            <a:r>
              <a:t>Audited bilingual catalogue of local inversion methods and context families</a:t>
            </a:r>
          </a:p>
          <a:p>
            <a:endParaRPr/>
          </a:p>
          <a:p>
            <a:r>
              <a:t>[local-source: ilt_algorithm_catalog_bilingual.json]</a:t>
            </a:r>
          </a:p>
          <a:p>
            <a:r>
              <a:t>Positive row-group sparse inversion</a:t>
            </a:r>
          </a:p>
          <a:p>
            <a:endParaRPr/>
          </a:p>
          <a:p>
            <a:r>
              <a:t>[local-source: METHOD_REFERENCE.es.md#group_sparse]</a:t>
            </a:r>
          </a:p>
          <a:p>
            <a:r>
              <a:t>Nonnegative sparse nuclear regularization</a:t>
            </a:r>
          </a:p>
          <a:p>
            <a:endParaRPr/>
          </a:p>
          <a:p>
            <a:r>
              <a:t>[local-source: METHOD_REFERENCE.es.md#lowrank_sparse]</a:t>
            </a:r>
          </a:p>
          <a:p>
            <a:r>
              <a:t>Reweighted nuclear heuristic</a:t>
            </a:r>
          </a:p>
          <a:p>
            <a:endParaRPr/>
          </a:p>
          <a:p>
            <a:r>
              <a:t>[local-source: METHOD_REFERENCE.es.md#reweighted_lowrank_sparse]</a:t>
            </a:r>
          </a:p>
          <a:p>
            <a:r>
              <a:t>Orthogonal matching pursuit dictionary adapter</a:t>
            </a:r>
          </a:p>
          <a:p>
            <a:endParaRPr/>
          </a:p>
          <a:p>
            <a:r>
              <a:t>[local-source: METHOD_REFERENCE.es.md#omp]</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MF-NNLS256 [mf-nnls256]</a:t>
            </a:r>
          </a:p>
          <a:p>
            <a:r>
              <a:t>Use: Joint distribution map with shared factors.</a:t>
            </a:r>
          </a:p>
          <a:p>
            <a:r>
              <a:t>Limitations: Predictive rank ≠ molecules; inspect lambdaS, lambdaA, bounds and residuals.</a:t>
            </a:r>
          </a:p>
          <a:p>
            <a:r>
              <a:t>Availability: Native Prime route</a:t>
            </a:r>
          </a:p>
          <a:p>
            <a:r>
              <a:t>Source: [local-source: StudioWindows.Library.cs]</a:t>
            </a:r>
          </a:p>
          <a:p>
            <a:endParaRPr/>
          </a:p>
          <a:p>
            <a:r>
              <a:t>TRAIn-MF (protocolo revisado) [train-mf-historical]</a:t>
            </a:r>
          </a:p>
          <a:p>
            <a:r>
              <a:t>Use: Joint model with signed attenuations; explicit legacy replay.</a:t>
            </a:r>
          </a:p>
          <a:p>
            <a:r>
              <a:t>Limitations: Historical identifier label does not describe the revised route. Not per-bin TRAIn.</a:t>
            </a:r>
          </a:p>
          <a:p>
            <a:r>
              <a:t>Availability: Native Prime route</a:t>
            </a:r>
          </a:p>
          <a:p>
            <a:r>
              <a:t>Source: [local-source: StudioWindows.Library.cs]</a:t>
            </a:r>
          </a:p>
          <a:p>
            <a:endParaRPr/>
          </a:p>
          <a:p>
            <a:r>
              <a:t>TRAIn por bin / per bin [train-per-bin]</a:t>
            </a:r>
          </a:p>
          <a:p>
            <a:r>
              <a:t>Use: Same local fit for every frequency in a region.</a:t>
            </a:r>
          </a:p>
          <a:p>
            <a:r>
              <a:t>Limitations: Does not impose inter-frequency correlations or shared factors.</a:t>
            </a:r>
          </a:p>
          <a:p>
            <a:r>
              <a:t>Availability: Native Prime route</a:t>
            </a:r>
          </a:p>
          <a:p>
            <a:r>
              <a:t>Source: [local-source: StudioWindows.Library.cs]</a:t>
            </a:r>
          </a:p>
          <a:p>
            <a:endParaRPr/>
          </a:p>
          <a:p>
            <a:r>
              <a:t>RAI-S [rai-s]</a:t>
            </a:r>
          </a:p>
          <a:p>
            <a:r>
              <a:t>Use: Few discrete D values with spectral support selection.</a:t>
            </a:r>
          </a:p>
          <a:p>
            <a:r>
              <a:t>Limitations: Not RAI-Net or a trained network; a broad distribution may violate the discrete model.</a:t>
            </a:r>
          </a:p>
          <a:p>
            <a:r>
              <a:t>Availability: Native Prime route</a:t>
            </a:r>
          </a:p>
          <a:p>
            <a:r>
              <a:t>Source: [local-source: StudioWindows.Library.cs]</a:t>
            </a:r>
          </a:p>
          <a:p>
            <a:endParaRPr/>
          </a:p>
          <a:p>
            <a:r>
              <a:t>DOME-S [dome-s]</a:t>
            </a:r>
          </a:p>
          <a:p>
            <a:r>
              <a:t>Use: Shared discrete rates with coverage and support review.</a:t>
            </a:r>
          </a:p>
          <a:p>
            <a:r>
              <a:t>Limitations: Check boundaries, held-out prediction and component count.</a:t>
            </a:r>
          </a:p>
          <a:p>
            <a:r>
              <a:t>Availability: Native Prime route</a:t>
            </a:r>
          </a:p>
          <a:p>
            <a:r>
              <a:t>Source: [local-source: StudioWindows.Library.cs]</a:t>
            </a:r>
          </a:p>
          <a:p>
            <a:endParaRPr/>
          </a:p>
          <a:p>
            <a:r>
              <a:t>Sources: [ilt_catalog] Audited bilingual catalogue of local inversion methods and context families: [local-source: ilt_algorithm_catalog_bilingual.json]</a:t>
            </a:r>
          </a:p>
          <a:p>
            <a:r>
              <a:t>[catalog_mf-nnls256] MF-NNLS256: [local-source: StudioWindows.Library.cs]</a:t>
            </a:r>
          </a:p>
          <a:p>
            <a:r>
              <a:t>[catalog_train-mf-historical] TRAIn-MF (protocolo revisado): [local-source: StudioWindows.Library.cs]</a:t>
            </a:r>
          </a:p>
          <a:p>
            <a:r>
              <a:t>[catalog_train-per-bin] TRAIn por bin / per bin: [local-source: StudioWindows.Library.cs]</a:t>
            </a:r>
          </a:p>
          <a:p>
            <a:r>
              <a:t>[catalog_rai-s] RAI-S: [local-source: StudioWindows.Library.cs]</a:t>
            </a:r>
          </a:p>
          <a:p>
            <a:r>
              <a:t>[catalog_dome-s] DOME-S: [local-source: StudioWindows.Library.cs]</a:t>
            </a:r>
          </a:p>
          <a:p>
            <a:endParaRPr/>
          </a:p>
          <a:p>
            <a:r>
              <a:t>mf-nnls256 — MF-NNLS256</a:t>
            </a:r>
          </a:p>
          <a:p>
            <a:r>
              <a:t>Native Prime route</a:t>
            </a:r>
          </a:p>
          <a:p>
            <a:r>
              <a:t>Joint distribution map with shared factors.</a:t>
            </a:r>
          </a:p>
          <a:p>
            <a:r>
              <a:t>Predictive rank ≠ molecules; inspect lambdaS, lambdaA, bounds and residuals.</a:t>
            </a:r>
          </a:p>
          <a:p>
            <a:endParaRPr/>
          </a:p>
          <a:p>
            <a:r>
              <a:t>[local-source: StudioWindows.Library.cs]</a:t>
            </a:r>
          </a:p>
          <a:p>
            <a:endParaRPr/>
          </a:p>
          <a:p>
            <a:r>
              <a:t>train-mf-historical — TRAIn-MF (protocolo revisado)</a:t>
            </a:r>
          </a:p>
          <a:p>
            <a:r>
              <a:t>Native Prime route</a:t>
            </a:r>
          </a:p>
          <a:p>
            <a:r>
              <a:t>Joint model with signed attenuations; explicit legacy replay.</a:t>
            </a:r>
          </a:p>
          <a:p>
            <a:r>
              <a:t>Historical identifier label does not describe the revised route. Not per-bin TRAIn.</a:t>
            </a:r>
          </a:p>
          <a:p>
            <a:endParaRPr/>
          </a:p>
          <a:p>
            <a:r>
              <a:t>[local-source: StudioWindows.Library.cs]</a:t>
            </a:r>
          </a:p>
          <a:p>
            <a:endParaRPr/>
          </a:p>
          <a:p>
            <a:r>
              <a:t>train-per-bin — TRAIn por bin / per bin</a:t>
            </a:r>
          </a:p>
          <a:p>
            <a:r>
              <a:t>Native Prime route</a:t>
            </a:r>
          </a:p>
          <a:p>
            <a:r>
              <a:t>Same local fit for every frequency in a region.</a:t>
            </a:r>
          </a:p>
          <a:p>
            <a:r>
              <a:t>Does not impose inter-frequency correlations or shared factors.</a:t>
            </a:r>
          </a:p>
          <a:p>
            <a:endParaRPr/>
          </a:p>
          <a:p>
            <a:r>
              <a:t>[local-source: StudioWindows.Library.cs]</a:t>
            </a:r>
          </a:p>
          <a:p>
            <a:endParaRPr/>
          </a:p>
          <a:p>
            <a:r>
              <a:t>rai-s — RAI-S</a:t>
            </a:r>
          </a:p>
          <a:p>
            <a:r>
              <a:t>Native Prime route</a:t>
            </a:r>
          </a:p>
          <a:p>
            <a:r>
              <a:t>Few discrete D values with spectral support selection.</a:t>
            </a:r>
          </a:p>
          <a:p>
            <a:r>
              <a:t>Not RAI-Net or a trained network; a broad distribution may violate the discrete model.</a:t>
            </a:r>
          </a:p>
          <a:p>
            <a:endParaRPr/>
          </a:p>
          <a:p>
            <a:r>
              <a:t>[local-source: StudioWindows.Library.cs]</a:t>
            </a:r>
          </a:p>
          <a:p>
            <a:endParaRPr/>
          </a:p>
          <a:p>
            <a:r>
              <a:t>dome-s — DOME-S</a:t>
            </a:r>
          </a:p>
          <a:p>
            <a:r>
              <a:t>Native Prime route</a:t>
            </a:r>
          </a:p>
          <a:p>
            <a:r>
              <a:t>Shared discrete rates with coverage and support review.</a:t>
            </a:r>
          </a:p>
          <a:p>
            <a:r>
              <a:t>Check boundaries, held-out prediction and component count.</a:t>
            </a:r>
          </a:p>
          <a:p>
            <a:endParaRPr/>
          </a:p>
          <a:p>
            <a:r>
              <a:t>[local-source: StudioWindows.Library.cs]</a:t>
            </a:r>
          </a:p>
          <a:p>
            <a:endParaRPr/>
          </a:p>
          <a:p>
            <a:r>
              <a:t>Sources:</a:t>
            </a:r>
          </a:p>
          <a:p>
            <a:r>
              <a:t>Audited bilingual catalogue of local inversion methods and context families</a:t>
            </a:r>
          </a:p>
          <a:p>
            <a:endParaRPr/>
          </a:p>
          <a:p>
            <a:r>
              <a:t>[local-source: ilt_algorithm_catalog_bilingual.json]</a:t>
            </a:r>
          </a:p>
          <a:p>
            <a:r>
              <a:t>MF-NNLS256</a:t>
            </a:r>
          </a:p>
          <a:p>
            <a:endParaRPr/>
          </a:p>
          <a:p>
            <a:r>
              <a:t>[local-source: StudioWindows.Library.cs]</a:t>
            </a:r>
          </a:p>
          <a:p>
            <a:r>
              <a:t>TRAIn-MF (protocolo revisado)</a:t>
            </a:r>
          </a:p>
          <a:p>
            <a:endParaRPr/>
          </a:p>
          <a:p>
            <a:r>
              <a:t>[local-source: StudioWindows.Library.cs]</a:t>
            </a:r>
          </a:p>
          <a:p>
            <a:r>
              <a:t>TRAIn por bin / per bin</a:t>
            </a:r>
          </a:p>
          <a:p>
            <a:endParaRPr/>
          </a:p>
          <a:p>
            <a:r>
              <a:t>[local-source: StudioWindows.Library.cs]</a:t>
            </a:r>
          </a:p>
          <a:p>
            <a:r>
              <a:t>RAI-S</a:t>
            </a:r>
          </a:p>
          <a:p>
            <a:endParaRPr/>
          </a:p>
          <a:p>
            <a:r>
              <a:t>[local-source: StudioWindows.Library.cs]</a:t>
            </a:r>
          </a:p>
          <a:p>
            <a:r>
              <a:t>DOME-S</a:t>
            </a:r>
          </a:p>
          <a:p>
            <a:endParaRPr/>
          </a:p>
          <a:p>
            <a:r>
              <a:t>[local-source: StudioWindows.Library.cs]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SILT revisado / revised [silt-dosy]</a:t>
            </a:r>
          </a:p>
          <a:p>
            <a:r>
              <a:t>Use: Joint map with sparse and low-rank penalties.</a:t>
            </a:r>
          </a:p>
          <a:p>
            <a:r>
              <a:t>Limitations: Nonconvex reweighting; operational stop ≠ global optimum.</a:t>
            </a:r>
          </a:p>
          <a:p>
            <a:r>
              <a:t>Availability: Native Prime route</a:t>
            </a:r>
          </a:p>
          <a:p>
            <a:r>
              <a:t>Source: [local-source: StudioWindows.Library.cs]</a:t>
            </a:r>
          </a:p>
          <a:p>
            <a:endParaRPr/>
          </a:p>
          <a:p>
            <a:r>
              <a:t>SILT original / ADSpLRU [silt-original]</a:t>
            </a:r>
          </a:p>
          <a:p>
            <a:r>
              <a:t>Use: Replay the supplied original core with diagnostics.</a:t>
            </a:r>
          </a:p>
          <a:p>
            <a:r>
              <a:t>Limitations: Historical stop ≠ KKT certificate; separate from revised SILT.</a:t>
            </a:r>
          </a:p>
          <a:p>
            <a:r>
              <a:t>Availability: Native Prime route</a:t>
            </a:r>
          </a:p>
          <a:p>
            <a:r>
              <a:t>Source: [local-source: StudioWindows.Library.cs]</a:t>
            </a:r>
          </a:p>
          <a:p>
            <a:endParaRPr/>
          </a:p>
          <a:p>
            <a:r>
              <a:t>TRAIn2D (adaptación C#) [train2d_prime]</a:t>
            </a:r>
          </a:p>
          <a:p>
            <a:r>
              <a:t>Use: Separable D–T2 inversion or other two-operator problems.</a:t>
            </a:r>
          </a:p>
          <a:p>
            <a:r>
              <a:t>Limitations: No lambda; termFac and NNLS residual. Physical kernel/profile must be reviewed.</a:t>
            </a:r>
          </a:p>
          <a:p>
            <a:r>
              <a:t>Availability: Native Prime route</a:t>
            </a:r>
          </a:p>
          <a:p>
            <a:r>
              <a:t>Source: [local-source: UfNotebookWindow.cs]</a:t>
            </a:r>
          </a:p>
          <a:p>
            <a:endParaRPr/>
          </a:p>
          <a:p>
            <a:r>
              <a:t>FISTA 2D (variante C# inspirada en ITAMeD) [fista2d_prime]</a:t>
            </a:r>
          </a:p>
          <a:p>
            <a:r>
              <a:t>Use: Positive L1 2D inversion using a separable operator.</a:t>
            </a:r>
          </a:p>
          <a:p>
            <a:r>
              <a:t>Limitations: Not a verbatim ITAMeD copy; KKT does not validate the physical model.</a:t>
            </a:r>
          </a:p>
          <a:p>
            <a:r>
              <a:t>Availability: Native Prime route</a:t>
            </a:r>
          </a:p>
          <a:p>
            <a:r>
              <a:t>Source: [local-source: UfNotebookWindow.cs]</a:t>
            </a:r>
          </a:p>
          <a:p>
            <a:endParaRPr/>
          </a:p>
          <a:p>
            <a:r>
              <a:t>Sources: [ilt_catalog] Audited bilingual catalogue of local inversion methods and context families: [local-source: ilt_algorithm_catalog_bilingual.json]</a:t>
            </a:r>
          </a:p>
          <a:p>
            <a:r>
              <a:t>[catalog_silt-dosy] SILT revisado / revised: [local-source: StudioWindows.Library.cs]</a:t>
            </a:r>
          </a:p>
          <a:p>
            <a:r>
              <a:t>[catalog_silt-original] SILT original / ADSpLRU: [local-source: StudioWindows.Library.cs]</a:t>
            </a:r>
          </a:p>
          <a:p>
            <a:r>
              <a:t>[catalog_train2d_prime] TRAIn2D (adaptación C#): [local-source: UfNotebookWindow.cs]</a:t>
            </a:r>
          </a:p>
          <a:p>
            <a:r>
              <a:t>[catalog_fista2d_prime] FISTA 2D (variante C# inspirada en ITAMeD): [local-source: UfNotebookWindow.cs]</a:t>
            </a:r>
          </a:p>
          <a:p>
            <a:endParaRPr/>
          </a:p>
          <a:p>
            <a:r>
              <a:t>silt-dosy — SILT revisado / revised</a:t>
            </a:r>
          </a:p>
          <a:p>
            <a:r>
              <a:t>Native Prime route</a:t>
            </a:r>
          </a:p>
          <a:p>
            <a:r>
              <a:t>Joint map with sparse and low-rank penalties.</a:t>
            </a:r>
          </a:p>
          <a:p>
            <a:r>
              <a:t>Nonconvex reweighting; operational stop ≠ global optimum.</a:t>
            </a:r>
          </a:p>
          <a:p>
            <a:endParaRPr/>
          </a:p>
          <a:p>
            <a:r>
              <a:t>[local-source: StudioWindows.Library.cs]</a:t>
            </a:r>
          </a:p>
          <a:p>
            <a:endParaRPr/>
          </a:p>
          <a:p>
            <a:r>
              <a:t>silt-original — SILT original / ADSpLRU</a:t>
            </a:r>
          </a:p>
          <a:p>
            <a:r>
              <a:t>Native Prime route</a:t>
            </a:r>
          </a:p>
          <a:p>
            <a:r>
              <a:t>Replay the supplied original core with diagnostics.</a:t>
            </a:r>
          </a:p>
          <a:p>
            <a:r>
              <a:t>Historical stop ≠ KKT certificate; separate from revised SILT.</a:t>
            </a:r>
          </a:p>
          <a:p>
            <a:endParaRPr/>
          </a:p>
          <a:p>
            <a:r>
              <a:t>[local-source: StudioWindows.Library.cs]</a:t>
            </a:r>
          </a:p>
          <a:p>
            <a:endParaRPr/>
          </a:p>
          <a:p>
            <a:r>
              <a:t>train2d_prime — TRAIn2D (adaptación C#)</a:t>
            </a:r>
          </a:p>
          <a:p>
            <a:r>
              <a:t>Native Prime route</a:t>
            </a:r>
          </a:p>
          <a:p>
            <a:r>
              <a:t>Separable D–T2 inversion or other two-operator problems.</a:t>
            </a:r>
          </a:p>
          <a:p>
            <a:r>
              <a:t>No lambda; termFac and NNLS residual. Physical kernel/profile must be reviewed.</a:t>
            </a:r>
          </a:p>
          <a:p>
            <a:endParaRPr/>
          </a:p>
          <a:p>
            <a:r>
              <a:t>[local-source: UfNotebookWindow.cs]</a:t>
            </a:r>
          </a:p>
          <a:p>
            <a:endParaRPr/>
          </a:p>
          <a:p>
            <a:r>
              <a:t>fista2d_prime — FISTA 2D (variante C# inspirada en ITAMeD)</a:t>
            </a:r>
          </a:p>
          <a:p>
            <a:r>
              <a:t>Native Prime route</a:t>
            </a:r>
          </a:p>
          <a:p>
            <a:r>
              <a:t>Positive L1 2D inversion using a separable operator.</a:t>
            </a:r>
          </a:p>
          <a:p>
            <a:r>
              <a:t>Not a verbatim ITAMeD copy; KKT does not validate the physical model.</a:t>
            </a:r>
          </a:p>
          <a:p>
            <a:endParaRPr/>
          </a:p>
          <a:p>
            <a:r>
              <a:t>[local-source: UfNotebookWindow.cs]</a:t>
            </a:r>
          </a:p>
          <a:p>
            <a:endParaRPr/>
          </a:p>
          <a:p>
            <a:r>
              <a:t>Sources:</a:t>
            </a:r>
          </a:p>
          <a:p>
            <a:r>
              <a:t>Audited bilingual catalogue of local inversion methods and context families</a:t>
            </a:r>
          </a:p>
          <a:p>
            <a:endParaRPr/>
          </a:p>
          <a:p>
            <a:r>
              <a:t>[local-source: ilt_algorithm_catalog_bilingual.json]</a:t>
            </a:r>
          </a:p>
          <a:p>
            <a:r>
              <a:t>SILT revisado / revised</a:t>
            </a:r>
          </a:p>
          <a:p>
            <a:endParaRPr/>
          </a:p>
          <a:p>
            <a:r>
              <a:t>[local-source: StudioWindows.Library.cs]</a:t>
            </a:r>
          </a:p>
          <a:p>
            <a:r>
              <a:t>SILT original / ADSpLRU</a:t>
            </a:r>
          </a:p>
          <a:p>
            <a:endParaRPr/>
          </a:p>
          <a:p>
            <a:r>
              <a:t>[local-source: StudioWindows.Library.cs]</a:t>
            </a:r>
          </a:p>
          <a:p>
            <a:r>
              <a:t>TRAIn2D (adaptación C#)</a:t>
            </a:r>
          </a:p>
          <a:p>
            <a:endParaRPr/>
          </a:p>
          <a:p>
            <a:r>
              <a:t>[local-source: UfNotebookWindow.cs]</a:t>
            </a:r>
          </a:p>
          <a:p>
            <a:r>
              <a:t>FISTA 2D (variante C# inspirada en ITAMeD)</a:t>
            </a:r>
          </a:p>
          <a:p>
            <a:endParaRPr/>
          </a:p>
          <a:p>
            <a:r>
              <a:t>[local-source: UfNotebookWindow.cs]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Positive variable projection [vp]</a:t>
            </a:r>
          </a:p>
          <a:p>
            <a:r>
              <a:t>Use: Fit a fixed number of exponential components without a D grid.</a:t>
            </a:r>
          </a:p>
          <a:p>
            <a:r>
              <a:t>Limitations: Fixed rank; independent local engines and deterministic starts</a:t>
            </a:r>
          </a:p>
          <a:p>
            <a:r>
              <a:t>Availability: Specialized API; not in Prime ILT selector</a:t>
            </a:r>
          </a:p>
          <a:p>
            <a:r>
              <a:t>Objective: `min over log(D): 0.5 ‖A(D) C*(D)-Y‖F², C*(D)&gt;=0`.</a:t>
            </a:r>
          </a:p>
          <a:p>
            <a:r>
              <a:t>Source: [local-source: METHOD_REFERENCE.es.md#vp]</a:t>
            </a:r>
          </a:p>
          <a:p>
            <a:endParaRPr/>
          </a:p>
          <a:p>
            <a:r>
              <a:t>SCORE [score]</a:t>
            </a:r>
          </a:p>
          <a:p>
            <a:r>
              <a:t>Use: Separate component spectra by sharing D across frequencies.</a:t>
            </a:r>
          </a:p>
          <a:p>
            <a:r>
              <a:t>Limitations: VP with unconstrained amplitudes for GNAT SCORE; fixed-D and explicit NUG supported</a:t>
            </a:r>
          </a:p>
          <a:p>
            <a:r>
              <a:t>Availability: Specialized API; not in Prime ILT selector</a:t>
            </a:r>
          </a:p>
          <a:p>
            <a:r>
              <a:t>Objective: `Variable projection with signed linear amplitudes when Positive=false`.</a:t>
            </a:r>
          </a:p>
          <a:p>
            <a:r>
              <a:t>Source: [local-source: METHOD_REFERENCE.es.md#score]</a:t>
            </a:r>
          </a:p>
          <a:p>
            <a:endParaRPr/>
          </a:p>
          <a:p>
            <a:r>
              <a:t>OUTSCORE [outscore]</a:t>
            </a:r>
          </a:p>
          <a:p>
            <a:r>
              <a:t>Use: Unmixing that penalizes overlap between component spectra.</a:t>
            </a:r>
          </a:p>
          <a:p>
            <a:r>
              <a:t>Limitations: GNAT absolute spectral cross-talk objective; fixed rank</a:t>
            </a:r>
          </a:p>
          <a:p>
            <a:r>
              <a:t>Availability: Specialized API; not in Prime ILT selector</a:t>
            </a:r>
          </a:p>
          <a:p>
            <a:r>
              <a:t>Objective: `GNAT constant + pairwise overlap of absolute area-normalized spectra`.</a:t>
            </a:r>
          </a:p>
          <a:p>
            <a:r>
              <a:t>Source: [local-source: METHOD_REFERENCE.es.md#outscore]</a:t>
            </a:r>
          </a:p>
          <a:p>
            <a:endParaRPr/>
          </a:p>
          <a:p>
            <a:r>
              <a:t>HYSCORE [hyscore]</a:t>
            </a:r>
          </a:p>
          <a:p>
            <a:r>
              <a:t>Use: Balance reconstruction and spectral separation in a discrete model.</a:t>
            </a:r>
          </a:p>
          <a:p>
            <a:r>
              <a:t>Limitations: GNAT hybrid residual/cross-talk objective; explicit relative weight</a:t>
            </a:r>
          </a:p>
          <a:p>
            <a:r>
              <a:t>Availability: Specialized API; not in Prime ILT selector</a:t>
            </a:r>
          </a:p>
          <a:p>
            <a:r>
              <a:t>Objective: `hybrid_weight * RSS + (1-hybrid_weight) * OUTSCORE`.</a:t>
            </a:r>
          </a:p>
          <a:p>
            <a:r>
              <a:t>Source: [local-source: METHOD_REFERENCE.es.md#hyscore]</a:t>
            </a:r>
          </a:p>
          <a:p>
            <a:endParaRPr/>
          </a:p>
          <a:p>
            <a:r>
              <a:t>AIC/BIC selection over VP [discrete_selection]</a:t>
            </a:r>
          </a:p>
          <a:p>
            <a:r>
              <a:t>Use: Choose model order among variable-projection models using AIC/BIC.</a:t>
            </a:r>
          </a:p>
          <a:p>
            <a:r>
              <a:t>Limitations: Not original Provencher DISCRETE or SPLMOD</a:t>
            </a:r>
          </a:p>
          <a:p>
            <a:r>
              <a:t>Availability: Specialized API; not in Prime ILT selector</a:t>
            </a:r>
          </a:p>
          <a:p>
            <a:r>
              <a:t>Objective: `Known-noise RSS plus AIC/BIC/AICc model penalty over K&gt;=1`.</a:t>
            </a:r>
          </a:p>
          <a:p>
            <a:r>
              <a:t>Source: [local-source: METHOD_REFERENCE.es.md#discrete_selection]</a:t>
            </a:r>
          </a:p>
          <a:p>
            <a:endParaRPr/>
          </a:p>
          <a:p>
            <a:r>
              <a:t>Sources: [ilt_catalog] Audited bilingual catalogue of local inversion methods and context families: [local-source: ilt_algorithm_catalog_bilingual.json]</a:t>
            </a:r>
          </a:p>
          <a:p>
            <a:r>
              <a:t>[catalog_vp] Positive variable projection: [local-source: METHOD_REFERENCE.es.md#vp]</a:t>
            </a:r>
          </a:p>
          <a:p>
            <a:r>
              <a:t>[catalog_score] SCORE: [local-source: METHOD_REFERENCE.es.md#score]</a:t>
            </a:r>
          </a:p>
          <a:p>
            <a:r>
              <a:t>[catalog_outscore] OUTSCORE: [local-source: METHOD_REFERENCE.es.md#outscore]</a:t>
            </a:r>
          </a:p>
          <a:p>
            <a:r>
              <a:t>[catalog_hyscore] HYSCORE: [local-source: METHOD_REFERENCE.es.md#hyscore]</a:t>
            </a:r>
          </a:p>
          <a:p>
            <a:r>
              <a:t>[catalog_discrete_selection] AIC/BIC selection over VP: [local-source: METHOD_REFERENCE.es.md#discrete_selection]</a:t>
            </a:r>
          </a:p>
          <a:p>
            <a:endParaRPr/>
          </a:p>
          <a:p>
            <a:r>
              <a:t>vp — Positive variable projection</a:t>
            </a:r>
          </a:p>
          <a:p>
            <a:r>
              <a:t>Specialized API; not in Prime ILT selector</a:t>
            </a:r>
          </a:p>
          <a:p>
            <a:r>
              <a:t>Fit a fixed number of exponential components without a D grid.</a:t>
            </a:r>
          </a:p>
          <a:p>
            <a:r>
              <a:t>Fixed rank; independent local engines and deterministic starts</a:t>
            </a:r>
          </a:p>
          <a:p>
            <a:r>
              <a:t>`min over log(D): 0.5 ‖A(D) C*(D)-Y‖F², C*(D)&gt;=0`.</a:t>
            </a:r>
          </a:p>
          <a:p>
            <a:r>
              <a:t>[local-source: METHOD_REFERENCE.es.md#vp]</a:t>
            </a:r>
          </a:p>
          <a:p>
            <a:endParaRPr/>
          </a:p>
          <a:p>
            <a:r>
              <a:t>score — SCORE</a:t>
            </a:r>
          </a:p>
          <a:p>
            <a:r>
              <a:t>Specialized API; not in Prime ILT selector</a:t>
            </a:r>
          </a:p>
          <a:p>
            <a:r>
              <a:t>Separate component spectra by sharing D across frequencies.</a:t>
            </a:r>
          </a:p>
          <a:p>
            <a:r>
              <a:t>VP with unconstrained amplitudes for GNAT SCORE; fixed-D and explicit NUG supported</a:t>
            </a:r>
          </a:p>
          <a:p>
            <a:r>
              <a:t>`Variable projection with signed linear amplitudes when Positive=false`.</a:t>
            </a:r>
          </a:p>
          <a:p>
            <a:r>
              <a:t>[local-source: METHOD_REFERENCE.es.md#score]</a:t>
            </a:r>
          </a:p>
          <a:p>
            <a:endParaRPr/>
          </a:p>
          <a:p>
            <a:r>
              <a:t>outscore — OUTSCORE</a:t>
            </a:r>
          </a:p>
          <a:p>
            <a:r>
              <a:t>Specialized API; not in Prime ILT selector</a:t>
            </a:r>
          </a:p>
          <a:p>
            <a:r>
              <a:t>Unmixing that penalizes overlap between component spectra.</a:t>
            </a:r>
          </a:p>
          <a:p>
            <a:r>
              <a:t>GNAT absolute spectral cross-talk objective; fixed rank</a:t>
            </a:r>
          </a:p>
          <a:p>
            <a:r>
              <a:t>`GNAT constant + pairwise overlap of absolute area-normalized spectra`.</a:t>
            </a:r>
          </a:p>
          <a:p>
            <a:r>
              <a:t>[local-source: METHOD_REFERENCE.es.md#outscore]</a:t>
            </a:r>
          </a:p>
          <a:p>
            <a:endParaRPr/>
          </a:p>
          <a:p>
            <a:r>
              <a:t>hyscore — HYSCORE</a:t>
            </a:r>
          </a:p>
          <a:p>
            <a:r>
              <a:t>Specialized API; not in Prime ILT selector</a:t>
            </a:r>
          </a:p>
          <a:p>
            <a:r>
              <a:t>Balance reconstruction and spectral separation in a discrete model.</a:t>
            </a:r>
          </a:p>
          <a:p>
            <a:r>
              <a:t>GNAT hybrid residual/cross-talk objective; explicit relative weight</a:t>
            </a:r>
          </a:p>
          <a:p>
            <a:r>
              <a:t>`hybrid_weight * RSS + (1-hybrid_weight) * OUTSCORE`.</a:t>
            </a:r>
          </a:p>
          <a:p>
            <a:r>
              <a:t>[local-source: METHOD_REFERENCE.es.md#hyscore]</a:t>
            </a:r>
          </a:p>
          <a:p>
            <a:endParaRPr/>
          </a:p>
          <a:p>
            <a:r>
              <a:t>discrete_selection — AIC/BIC selection over VP</a:t>
            </a:r>
          </a:p>
          <a:p>
            <a:r>
              <a:t>Specialized API; not in Prime ILT selector</a:t>
            </a:r>
          </a:p>
          <a:p>
            <a:r>
              <a:t>Choose model order among variable-projection models using AIC/BIC.</a:t>
            </a:r>
          </a:p>
          <a:p>
            <a:r>
              <a:t>Not original Provencher DISCRETE or SPLMOD</a:t>
            </a:r>
          </a:p>
          <a:p>
            <a:r>
              <a:t>`Known-noise RSS plus AIC/BIC/AICc model penalty over K&gt;=1`.</a:t>
            </a:r>
          </a:p>
          <a:p>
            <a:r>
              <a:t>[local-source: METHOD_REFERENCE.es.md#discrete_selection]</a:t>
            </a:r>
          </a:p>
          <a:p>
            <a:endParaRPr/>
          </a:p>
          <a:p>
            <a:r>
              <a:t>Sources:</a:t>
            </a:r>
          </a:p>
          <a:p>
            <a:r>
              <a:t>Audited bilingual catalogue of local inversion methods and context families</a:t>
            </a:r>
          </a:p>
          <a:p>
            <a:endParaRPr/>
          </a:p>
          <a:p>
            <a:r>
              <a:t>[local-source: ilt_algorithm_catalog_bilingual.json]</a:t>
            </a:r>
          </a:p>
          <a:p>
            <a:r>
              <a:t>Positive variable projection</a:t>
            </a:r>
          </a:p>
          <a:p>
            <a:endParaRPr/>
          </a:p>
          <a:p>
            <a:r>
              <a:t>[local-source: METHOD_REFERENCE.es.md#vp]</a:t>
            </a:r>
          </a:p>
          <a:p>
            <a:r>
              <a:t>SCORE</a:t>
            </a:r>
          </a:p>
          <a:p>
            <a:endParaRPr/>
          </a:p>
          <a:p>
            <a:r>
              <a:t>[local-source: METHOD_REFERENCE.es.md#score]</a:t>
            </a:r>
          </a:p>
          <a:p>
            <a:r>
              <a:t>OUTSCORE</a:t>
            </a:r>
          </a:p>
          <a:p>
            <a:endParaRPr/>
          </a:p>
          <a:p>
            <a:r>
              <a:t>[local-source: METHOD_REFERENCE.es.md#outscore]</a:t>
            </a:r>
          </a:p>
          <a:p>
            <a:r>
              <a:t>HYSCORE</a:t>
            </a:r>
          </a:p>
          <a:p>
            <a:endParaRPr/>
          </a:p>
          <a:p>
            <a:r>
              <a:t>[local-source: METHOD_REFERENCE.es.md#hyscore]</a:t>
            </a:r>
          </a:p>
          <a:p>
            <a:r>
              <a:t>AIC/BIC selection over VP</a:t>
            </a:r>
          </a:p>
          <a:p>
            <a:endParaRPr/>
          </a:p>
          <a:p>
            <a:r>
              <a:t>[local-source: METHOD_REFERENCE.es.md#discrete_selection]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DECRA [decra]</a:t>
            </a:r>
          </a:p>
          <a:p>
            <a:r>
              <a:t>Use: Algebraic decomposition of exponential components with uniform b.</a:t>
            </a:r>
          </a:p>
          <a:p>
            <a:r>
              <a:t>Limitations: Original GNAT algebra; uniform b, isotropic noise, full rank; nonphysical eigenvalues fail</a:t>
            </a:r>
          </a:p>
          <a:p>
            <a:r>
              <a:t>Availability: Specialized API; not in Prime ILT selector</a:t>
            </a:r>
          </a:p>
          <a:p>
            <a:r>
              <a:t>Objective: `SVD and eigenvalues of shifted equally spaced attenuation blocks`.</a:t>
            </a:r>
          </a:p>
          <a:p>
            <a:r>
              <a:t>Source: [local-source: METHOD_REFERENCE.es.md#decra]</a:t>
            </a:r>
          </a:p>
          <a:p>
            <a:endParaRPr/>
          </a:p>
          <a:p>
            <a:r>
              <a:t>Explicit-region local SCORE [local_score]</a:t>
            </a:r>
          </a:p>
          <a:p>
            <a:r>
              <a:t>Use: Apply SCORE to explicitly selected ppm regions.</a:t>
            </a:r>
          </a:p>
          <a:p>
            <a:r>
              <a:t>Limitations: Use disjoint regions for portable use: MATLAB does not check overlap across regions. Explicit local SCORE does not segment automatically.</a:t>
            </a:r>
          </a:p>
          <a:p>
            <a:r>
              <a:t>Availability: Specialized API; not in Prime ILT selector</a:t>
            </a:r>
          </a:p>
          <a:p>
            <a:r>
              <a:t>Objective: `SCORE independently on explicit column-index regions`.</a:t>
            </a:r>
          </a:p>
          <a:p>
            <a:r>
              <a:t>Source: [local-source: METHOD_REFERENCE.es.md#local_score]</a:t>
            </a:r>
          </a:p>
          <a:p>
            <a:endParaRPr/>
          </a:p>
          <a:p>
            <a:r>
              <a:t>Automatic LOCODOSY local inversion [locodosy_auto]</a:t>
            </a:r>
          </a:p>
          <a:p>
            <a:r>
              <a:t>Use: Segment regions, estimate local order and reduce components.</a:t>
            </a:r>
          </a:p>
          <a:p>
            <a:r>
              <a:t>Limitations: Native automatic inversion; C# legacy error refit (LM), display and fuzzy clustering now separate APIs. Original GUI segmentation adapted; no calibrated confidence intervals.</a:t>
            </a:r>
          </a:p>
          <a:p>
            <a:r>
              <a:t>Availability: Specialized API; not in Prime ILT selector</a:t>
            </a:r>
          </a:p>
          <a:p>
            <a:r>
              <a:t>Objective: `Threshold segmentation, SVD order, local SCORE/OUTSCORE/DECRA, component reduction`.</a:t>
            </a:r>
          </a:p>
          <a:p>
            <a:r>
              <a:t>Source: [local-source: METHOD_REFERENCE.es.md#locodosy_auto]</a:t>
            </a:r>
          </a:p>
          <a:p>
            <a:endParaRPr/>
          </a:p>
          <a:p>
            <a:r>
              <a:t>ESPIRA-II AAA-selected Loewner pencil [espira2]</a:t>
            </a:r>
          </a:p>
          <a:p>
            <a:r>
              <a:t>Use: Identify exponential sums through poles and a fixed rank.</a:t>
            </a:r>
          </a:p>
          <a:p>
            <a:r>
              <a:t>Limitations: Uniform sample spacing; fixed rank; complex/nonphysical poles retained; optional uniform-b diffusion validation; no ESPIRA-I or general AAA package</a:t>
            </a:r>
          </a:p>
          <a:p>
            <a:r>
              <a:t>Availability: Specialized API; not in Prime ILT selector</a:t>
            </a:r>
          </a:p>
          <a:p>
            <a:r>
              <a:t>Objective: `AAA-selected Loewner pencil + complex exponential amplitude fit`.</a:t>
            </a:r>
          </a:p>
          <a:p>
            <a:r>
              <a:t>Source: [local-source: METHOD_REFERENCE.es.md#espira2]</a:t>
            </a:r>
          </a:p>
          <a:p>
            <a:endParaRPr/>
          </a:p>
          <a:p>
            <a:r>
              <a:t>Sources: [ilt_catalog] Audited bilingual catalogue of local inversion methods and context families: [local-source: ilt_algorithm_catalog_bilingual.json]</a:t>
            </a:r>
          </a:p>
          <a:p>
            <a:r>
              <a:t>[catalog_decra] DECRA: [local-source: METHOD_REFERENCE.es.md#decra]</a:t>
            </a:r>
          </a:p>
          <a:p>
            <a:r>
              <a:t>[catalog_local_score] Explicit-region local SCORE: [local-source: METHOD_REFERENCE.es.md#local_score]</a:t>
            </a:r>
          </a:p>
          <a:p>
            <a:r>
              <a:t>[catalog_locodosy_auto] Automatic LOCODOSY local inversion: [local-source: METHOD_REFERENCE.es.md#locodosy_auto]</a:t>
            </a:r>
          </a:p>
          <a:p>
            <a:r>
              <a:t>[catalog_espira2] ESPIRA-II AAA-selected Loewner pencil: [local-source: METHOD_REFERENCE.es.md#espira2]</a:t>
            </a:r>
          </a:p>
          <a:p>
            <a:endParaRPr/>
          </a:p>
          <a:p>
            <a:r>
              <a:t>decra — DECRA</a:t>
            </a:r>
          </a:p>
          <a:p>
            <a:r>
              <a:t>Specialized API; not in Prime ILT selector</a:t>
            </a:r>
          </a:p>
          <a:p>
            <a:r>
              <a:t>Algebraic decomposition of exponential components with uniform b.</a:t>
            </a:r>
          </a:p>
          <a:p>
            <a:r>
              <a:t>Original GNAT algebra; uniform b, isotropic noise, full rank; nonphysical eigenvalues fail</a:t>
            </a:r>
          </a:p>
          <a:p>
            <a:r>
              <a:t>`SVD and eigenvalues of shifted equally spaced attenuation blocks`.</a:t>
            </a:r>
          </a:p>
          <a:p>
            <a:r>
              <a:t>[local-source: METHOD_REFERENCE.es.md#decra]</a:t>
            </a:r>
          </a:p>
          <a:p>
            <a:endParaRPr/>
          </a:p>
          <a:p>
            <a:r>
              <a:t>local_score — Explicit-region local SCORE</a:t>
            </a:r>
          </a:p>
          <a:p>
            <a:r>
              <a:t>Specialized API; not in Prime ILT selector</a:t>
            </a:r>
          </a:p>
          <a:p>
            <a:r>
              <a:t>Apply SCORE to explicitly selected ppm regions.</a:t>
            </a:r>
          </a:p>
          <a:p>
            <a:r>
              <a:t>Use disjoint regions for portable use: MATLAB does not check overlap across regions. Explicit local SCORE does not segment automatically.</a:t>
            </a:r>
          </a:p>
          <a:p>
            <a:r>
              <a:t>`SCORE independently on explicit column-index regions`.</a:t>
            </a:r>
          </a:p>
          <a:p>
            <a:r>
              <a:t>[local-source: METHOD_REFERENCE.es.md#local_score]</a:t>
            </a:r>
          </a:p>
          <a:p>
            <a:endParaRPr/>
          </a:p>
          <a:p>
            <a:r>
              <a:t>locodosy_auto — Automatic LOCODOSY local inversion</a:t>
            </a:r>
          </a:p>
          <a:p>
            <a:r>
              <a:t>Specialized API; not in Prime ILT selector</a:t>
            </a:r>
          </a:p>
          <a:p>
            <a:r>
              <a:t>Segment regions, estimate local order and reduce components.</a:t>
            </a:r>
          </a:p>
          <a:p>
            <a:r>
              <a:t>Native automatic inversion; C# legacy error refit (LM), display and fuzzy clustering now separate APIs. Original GUI segmentation adapted; no calibrated confidence intervals.</a:t>
            </a:r>
          </a:p>
          <a:p>
            <a:r>
              <a:t>`Threshold segmentation, SVD order, local SCORE/OUTSCORE/DECRA, component reduction`.</a:t>
            </a:r>
          </a:p>
          <a:p>
            <a:r>
              <a:t>[local-source: METHOD_REFERENCE.es.md#locodosy_auto]</a:t>
            </a:r>
          </a:p>
          <a:p>
            <a:endParaRPr/>
          </a:p>
          <a:p>
            <a:r>
              <a:t>espira2 — ESPIRA-II AAA-selected Loewner pencil</a:t>
            </a:r>
          </a:p>
          <a:p>
            <a:r>
              <a:t>Specialized API; not in Prime ILT selector</a:t>
            </a:r>
          </a:p>
          <a:p>
            <a:r>
              <a:t>Identify exponential sums through poles and a fixed rank.</a:t>
            </a:r>
          </a:p>
          <a:p>
            <a:r>
              <a:t>Uniform sample spacing; fixed rank; complex/nonphysical poles retained; optional uniform-b diffusion validation; no ESPIRA-I or general AAA package</a:t>
            </a:r>
          </a:p>
          <a:p>
            <a:r>
              <a:t>`AAA-selected Loewner pencil + complex exponential amplitude fit`.</a:t>
            </a:r>
          </a:p>
          <a:p>
            <a:r>
              <a:t>[local-source: METHOD_REFERENCE.es.md#espira2]</a:t>
            </a:r>
          </a:p>
          <a:p>
            <a:endParaRPr/>
          </a:p>
          <a:p>
            <a:r>
              <a:t>Sources:</a:t>
            </a:r>
          </a:p>
          <a:p>
            <a:r>
              <a:t>Audited bilingual catalogue of local inversion methods and context families</a:t>
            </a:r>
          </a:p>
          <a:p>
            <a:endParaRPr/>
          </a:p>
          <a:p>
            <a:r>
              <a:t>[local-source: ilt_algorithm_catalog_bilingual.json]</a:t>
            </a:r>
          </a:p>
          <a:p>
            <a:r>
              <a:t>DECRA</a:t>
            </a:r>
          </a:p>
          <a:p>
            <a:endParaRPr/>
          </a:p>
          <a:p>
            <a:r>
              <a:t>[local-source: METHOD_REFERENCE.es.md#decra]</a:t>
            </a:r>
          </a:p>
          <a:p>
            <a:r>
              <a:t>Explicit-region local SCORE</a:t>
            </a:r>
          </a:p>
          <a:p>
            <a:endParaRPr/>
          </a:p>
          <a:p>
            <a:r>
              <a:t>[local-source: METHOD_REFERENCE.es.md#local_score]</a:t>
            </a:r>
          </a:p>
          <a:p>
            <a:r>
              <a:t>Automatic LOCODOSY local inversion</a:t>
            </a:r>
          </a:p>
          <a:p>
            <a:endParaRPr/>
          </a:p>
          <a:p>
            <a:r>
              <a:t>[local-source: METHOD_REFERENCE.es.md#locodosy_auto]</a:t>
            </a:r>
          </a:p>
          <a:p>
            <a:r>
              <a:t>ESPIRA-II AAA-selected Loewner pencil</a:t>
            </a:r>
          </a:p>
          <a:p>
            <a:endParaRPr/>
          </a:p>
          <a:p>
            <a:r>
              <a:t>[local-source: METHOD_REFERENCE.es.md#espira2]</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MCR-ALS [mcr_als]</a:t>
            </a:r>
          </a:p>
          <a:p>
            <a:r>
              <a:t>Use: Multivariate decomposition with constraints and optional exponential profiles.</a:t>
            </a:r>
          </a:p>
          <a:p>
            <a:r>
              <a:t>Limitations: Positivity options and optional exponential decays; no GNAT GUI/rotational guarantee</a:t>
            </a:r>
          </a:p>
          <a:p>
            <a:r>
              <a:t>Availability: Specialized API; not in Prime ILT selector</a:t>
            </a:r>
          </a:p>
          <a:p>
            <a:r>
              <a:t>Objective: `Alternating LS/NNLS of decay and spectral factors`.</a:t>
            </a:r>
          </a:p>
          <a:p>
            <a:r>
              <a:t>Source: [local-source: METHOD_REFERENCE.es.md#mcr_als]</a:t>
            </a:r>
          </a:p>
          <a:p>
            <a:endParaRPr/>
          </a:p>
          <a:p>
            <a:r>
              <a:t>Symmetric FastICA [fastica]</a:t>
            </a:r>
          </a:p>
          <a:p>
            <a:r>
              <a:t>Use: Explore statistically independent factors; fit D afterwards if appropriate.</a:t>
            </a:r>
          </a:p>
          <a:p>
            <a:r>
              <a:t>Limitations: Algebraic factors, no automatic diffusion identification</a:t>
            </a:r>
          </a:p>
          <a:p>
            <a:r>
              <a:t>Availability: Specialized API; not in Prime ILT selector</a:t>
            </a:r>
          </a:p>
          <a:p>
            <a:r>
              <a:t>Objective: `Whitening + symmetric tanh fixed-point iteration`.</a:t>
            </a:r>
          </a:p>
          <a:p>
            <a:r>
              <a:t>Source: [local-source: METHOD_REFERENCE.es.md#fastica]</a:t>
            </a:r>
          </a:p>
          <a:p>
            <a:endParaRPr/>
          </a:p>
          <a:p>
            <a:r>
              <a:t>Three-way CP-ALS [parafac]</a:t>
            </a:r>
          </a:p>
          <a:p>
            <a:r>
              <a:t>Use: Three-dimensional data with factors shared across modes.</a:t>
            </a:r>
          </a:p>
          <a:p>
            <a:r>
              <a:t>Limitations: Three-way API; use parafac_nd for four-way tensors; full N-way constraints/uncertainty not ported</a:t>
            </a:r>
          </a:p>
          <a:p>
            <a:r>
              <a:t>Availability: Specialized API; not in Prime ILT selector</a:t>
            </a:r>
          </a:p>
          <a:p>
            <a:r>
              <a:t>Objective: `Three-way CP least squares by alternating LS/NNLS`.</a:t>
            </a:r>
          </a:p>
          <a:p>
            <a:r>
              <a:t>Source: [local-source: METHOD_REFERENCE.es.md#parafac]</a:t>
            </a:r>
          </a:p>
          <a:p>
            <a:endParaRPr/>
          </a:p>
          <a:p>
            <a:r>
              <a:t>GNAT Fourier RRT [rrt]</a:t>
            </a:r>
          </a:p>
          <a:p>
            <a:r>
              <a:t>Use: Fourier-Laplace reconstruction from complex FID and uniform b.</a:t>
            </a:r>
          </a:p>
          <a:p>
            <a:r>
              <a:t>Limitations: Uniform b and direct-time FID; explicit/overlapping Fourier windows. Complex map, not masses; no GUI/phase/calibration.</a:t>
            </a:r>
          </a:p>
          <a:p>
            <a:r>
              <a:t>Availability: Specialized API; not in Prime ILT selector</a:t>
            </a:r>
          </a:p>
          <a:p>
            <a:r>
              <a:t>Objective: `Regularized resolvent of complex Fourier pencils`.</a:t>
            </a:r>
          </a:p>
          <a:p>
            <a:r>
              <a:t>Source: [local-source: METHOD_REFERENCE.es.md#rrt]</a:t>
            </a:r>
          </a:p>
          <a:p>
            <a:endParaRPr/>
          </a:p>
          <a:p>
            <a:r>
              <a:t>GNAT Fourier FDM [fdm]</a:t>
            </a:r>
          </a:p>
          <a:p>
            <a:r>
              <a:t>Use: Resolve poles/frequencies from FIDs through filter diagonalization.</a:t>
            </a:r>
          </a:p>
          <a:p>
            <a:r>
              <a:t>Limitations: Legacy eigen policy failed cross-language agreement. Portable policy fixes bilinear normalization, eigenvector signs and near-real-pole broadening. Neither is calibrated physical density.</a:t>
            </a:r>
          </a:p>
          <a:p>
            <a:r>
              <a:t>Availability: Specialized API; not in Prime ILT selector</a:t>
            </a:r>
          </a:p>
          <a:p>
            <a:r>
              <a:t>Objective: `Generalized-eigen Fourier filter diagonalization`.</a:t>
            </a:r>
          </a:p>
          <a:p>
            <a:r>
              <a:t>Source: [local-source: METHOD_REFERENCE.es.md#fdm]</a:t>
            </a:r>
          </a:p>
          <a:p>
            <a:endParaRPr/>
          </a:p>
          <a:p>
            <a:r>
              <a:t>Sources: [ilt_catalog] Audited bilingual catalogue of local inversion methods and context families: [local-source: ilt_algorithm_catalog_bilingual.json]</a:t>
            </a:r>
          </a:p>
          <a:p>
            <a:r>
              <a:t>[catalog_mcr_als] MCR-ALS: [local-source: METHOD_REFERENCE.es.md#mcr_als]</a:t>
            </a:r>
          </a:p>
          <a:p>
            <a:r>
              <a:t>[catalog_fastica] Symmetric FastICA: [local-source: METHOD_REFERENCE.es.md#fastica]</a:t>
            </a:r>
          </a:p>
          <a:p>
            <a:r>
              <a:t>[catalog_parafac] Three-way CP-ALS: [local-source: METHOD_REFERENCE.es.md#parafac]</a:t>
            </a:r>
          </a:p>
          <a:p>
            <a:r>
              <a:t>[catalog_rrt] GNAT Fourier RRT: [local-source: METHOD_REFERENCE.es.md#rrt]</a:t>
            </a:r>
          </a:p>
          <a:p>
            <a:r>
              <a:t>[catalog_fdm] GNAT Fourier FDM: [local-source: METHOD_REFERENCE.es.md#fdm]</a:t>
            </a:r>
          </a:p>
          <a:p>
            <a:endParaRPr/>
          </a:p>
          <a:p>
            <a:r>
              <a:t>mcr_als — MCR-ALS</a:t>
            </a:r>
          </a:p>
          <a:p>
            <a:r>
              <a:t>Specialized API; not in Prime ILT selector</a:t>
            </a:r>
          </a:p>
          <a:p>
            <a:r>
              <a:t>Multivariate decomposition with constraints and optional exponential profiles.</a:t>
            </a:r>
          </a:p>
          <a:p>
            <a:r>
              <a:t>Positivity options and optional exponential decays; no GNAT GUI/rotational guarantee</a:t>
            </a:r>
          </a:p>
          <a:p>
            <a:r>
              <a:t>`Alternating LS/NNLS of decay and spectral factors`.</a:t>
            </a:r>
          </a:p>
          <a:p>
            <a:r>
              <a:t>[local-source: METHOD_REFERENCE.es.md#mcr_als]</a:t>
            </a:r>
          </a:p>
          <a:p>
            <a:endParaRPr/>
          </a:p>
          <a:p>
            <a:r>
              <a:t>fastica — Symmetric FastICA</a:t>
            </a:r>
          </a:p>
          <a:p>
            <a:r>
              <a:t>Specialized API; not in Prime ILT selector</a:t>
            </a:r>
          </a:p>
          <a:p>
            <a:r>
              <a:t>Explore statistically independent factors; fit D afterwards if appropriate.</a:t>
            </a:r>
          </a:p>
          <a:p>
            <a:r>
              <a:t>Algebraic factors, no automatic diffusion identification</a:t>
            </a:r>
          </a:p>
          <a:p>
            <a:r>
              <a:t>`Whitening + symmetric tanh fixed-point iteration`.</a:t>
            </a:r>
          </a:p>
          <a:p>
            <a:r>
              <a:t>[local-source: METHOD_REFERENCE.es.md#fastica]</a:t>
            </a:r>
          </a:p>
          <a:p>
            <a:endParaRPr/>
          </a:p>
          <a:p>
            <a:r>
              <a:t>parafac — Three-way CP-ALS</a:t>
            </a:r>
          </a:p>
          <a:p>
            <a:r>
              <a:t>Specialized API; not in Prime ILT selector</a:t>
            </a:r>
          </a:p>
          <a:p>
            <a:r>
              <a:t>Three-dimensional data with factors shared across modes.</a:t>
            </a:r>
          </a:p>
          <a:p>
            <a:r>
              <a:t>Three-way API; use parafac_nd for four-way tensors; full N-way constraints/uncertainty not ported</a:t>
            </a:r>
          </a:p>
          <a:p>
            <a:r>
              <a:t>`Three-way CP least squares by alternating LS/NNLS`.</a:t>
            </a:r>
          </a:p>
          <a:p>
            <a:r>
              <a:t>[local-source: METHOD_REFERENCE.es.md#parafac]</a:t>
            </a:r>
          </a:p>
          <a:p>
            <a:endParaRPr/>
          </a:p>
          <a:p>
            <a:r>
              <a:t>rrt — GNAT Fourier RRT</a:t>
            </a:r>
          </a:p>
          <a:p>
            <a:r>
              <a:t>Specialized API; not in Prime ILT selector</a:t>
            </a:r>
          </a:p>
          <a:p>
            <a:r>
              <a:t>Fourier-Laplace reconstruction from complex FID and uniform b.</a:t>
            </a:r>
          </a:p>
          <a:p>
            <a:r>
              <a:t>Uniform b and direct-time FID; explicit/overlapping Fourier windows. Complex map, not masses; no GUI/phase/calibration.</a:t>
            </a:r>
          </a:p>
          <a:p>
            <a:r>
              <a:t>`Regularized resolvent of complex Fourier pencils`.</a:t>
            </a:r>
          </a:p>
          <a:p>
            <a:r>
              <a:t>[local-source: METHOD_REFERENCE.es.md#rrt]</a:t>
            </a:r>
          </a:p>
          <a:p>
            <a:endParaRPr/>
          </a:p>
          <a:p>
            <a:r>
              <a:t>fdm — GNAT Fourier FDM</a:t>
            </a:r>
          </a:p>
          <a:p>
            <a:r>
              <a:t>Specialized API; not in Prime ILT selector</a:t>
            </a:r>
          </a:p>
          <a:p>
            <a:r>
              <a:t>Resolve poles/frequencies from FIDs through filter diagonalization.</a:t>
            </a:r>
          </a:p>
          <a:p>
            <a:r>
              <a:t>Legacy eigen policy failed cross-language agreement. Portable policy fixes bilinear normalization, eigenvector signs and near-real-pole broadening. Neither is calibrated physical density.</a:t>
            </a:r>
          </a:p>
          <a:p>
            <a:r>
              <a:t>`Generalized-eigen Fourier filter diagonalization`.</a:t>
            </a:r>
          </a:p>
          <a:p>
            <a:r>
              <a:t>[local-source: METHOD_REFERENCE.es.md#fdm]</a:t>
            </a:r>
          </a:p>
          <a:p>
            <a:endParaRPr/>
          </a:p>
          <a:p>
            <a:r>
              <a:t>Sources:</a:t>
            </a:r>
          </a:p>
          <a:p>
            <a:r>
              <a:t>Audited bilingual catalogue of local inversion methods and context families</a:t>
            </a:r>
          </a:p>
          <a:p>
            <a:endParaRPr/>
          </a:p>
          <a:p>
            <a:r>
              <a:t>[local-source: ilt_algorithm_catalog_bilingual.json]</a:t>
            </a:r>
          </a:p>
          <a:p>
            <a:r>
              <a:t>MCR-ALS</a:t>
            </a:r>
          </a:p>
          <a:p>
            <a:endParaRPr/>
          </a:p>
          <a:p>
            <a:r>
              <a:t>[local-source: METHOD_REFERENCE.es.md#mcr_als]</a:t>
            </a:r>
          </a:p>
          <a:p>
            <a:r>
              <a:t>Symmetric FastICA</a:t>
            </a:r>
          </a:p>
          <a:p>
            <a:endParaRPr/>
          </a:p>
          <a:p>
            <a:r>
              <a:t>[local-source: METHOD_REFERENCE.es.md#fastica]</a:t>
            </a:r>
          </a:p>
          <a:p>
            <a:r>
              <a:t>Three-way CP-ALS</a:t>
            </a:r>
          </a:p>
          <a:p>
            <a:endParaRPr/>
          </a:p>
          <a:p>
            <a:r>
              <a:t>[local-source: METHOD_REFERENCE.es.md#parafac]</a:t>
            </a:r>
          </a:p>
          <a:p>
            <a:r>
              <a:t>GNAT Fourier RRT</a:t>
            </a:r>
          </a:p>
          <a:p>
            <a:endParaRPr/>
          </a:p>
          <a:p>
            <a:r>
              <a:t>[local-source: METHOD_REFERENCE.es.md#rrt]</a:t>
            </a:r>
          </a:p>
          <a:p>
            <a:r>
              <a:t>GNAT Fourier FDM</a:t>
            </a:r>
          </a:p>
          <a:p>
            <a:endParaRPr/>
          </a:p>
          <a:p>
            <a:r>
              <a:t>[local-source: METHOD_REFERENCE.es.md#fdm]</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Signed L1 interior point [l1_ls]</a:t>
            </a:r>
          </a:p>
          <a:p>
            <a:r>
              <a:t>Use: Signed sparse linear fits; not automatically a positive distribution.</a:t>
            </a:r>
          </a:p>
          <a:p>
            <a:r>
              <a:t>Limitations: Same signed L1 barrier objective; dense Newton. Negative coefficients are not physical masses.</a:t>
            </a:r>
          </a:p>
          <a:p>
            <a:r>
              <a:t>Availability: Specialized API; not in Prime ILT selector</a:t>
            </a:r>
          </a:p>
          <a:p>
            <a:r>
              <a:t>Objective: `RSS + alpha ‖C‖1, C signed`.</a:t>
            </a:r>
          </a:p>
          <a:p>
            <a:r>
              <a:t>Source: [local-source: METHOD_REFERENCE.es.md#l1_ls]</a:t>
            </a:r>
          </a:p>
          <a:p>
            <a:endParaRPr/>
          </a:p>
          <a:p>
            <a:r>
              <a:t>PLSS residual recursive solver [plss_r]</a:t>
            </a:r>
          </a:p>
          <a:p>
            <a:r>
              <a:t>Use: Consistent linear systems; auxiliary unregularized core.</a:t>
            </a:r>
          </a:p>
          <a:p>
            <a:r>
              <a:t>Limitations: Consistent linear systems; signed, unregularized; breakdown retained. No claims for other PLSS variants.</a:t>
            </a:r>
          </a:p>
          <a:p>
            <a:r>
              <a:t>Availability: Specialized API; not in Prime ILT selector</a:t>
            </a:r>
          </a:p>
          <a:p>
            <a:r>
              <a:t>Objective: `Unregularized recursive residual sketches for A*C=Y`.</a:t>
            </a:r>
          </a:p>
          <a:p>
            <a:r>
              <a:t>Source: [local-source: METHOD_REFERENCE.es.md#plss_r]</a:t>
            </a:r>
          </a:p>
          <a:p>
            <a:endParaRPr/>
          </a:p>
          <a:p>
            <a:r>
              <a:t>Fixed-p smoothed IRLS dictionary adapter [irls]</a:t>
            </a:r>
          </a:p>
          <a:p>
            <a:r>
              <a:t>Use: Explore sparse solutions through reweighted least squares.</a:t>
            </a:r>
          </a:p>
          <a:p>
            <a:r>
              <a:t>Limitations: Signed; explicit epsilon; no original Fourier sampling or automatic epsilon heuristic. Iterate stability not an optimality certificate.</a:t>
            </a:r>
          </a:p>
          <a:p>
            <a:r>
              <a:t>Availability: Specialized API; not in Prime ILT selector</a:t>
            </a:r>
          </a:p>
          <a:p>
            <a:r>
              <a:t>Objective: `Fixed-p smoothed iteratively reweighted least squares`.</a:t>
            </a:r>
          </a:p>
          <a:p>
            <a:r>
              <a:t>Source: [local-source: METHOD_REFERENCE.es.md#irls]</a:t>
            </a:r>
          </a:p>
          <a:p>
            <a:endParaRPr/>
          </a:p>
          <a:p>
            <a:r>
              <a:t>Weighted PLSS recursive core [plss_rw2]</a:t>
            </a:r>
          </a:p>
          <a:p>
            <a:r>
              <a:t>Use: Weighted consistent linear systems; auxiliary core.</a:t>
            </a:r>
          </a:p>
          <a:p>
            <a:r>
              <a:t>Limitations: Exact diagonal-variable implementation of RW2 via guarded residual recurrence; signed, consistent systems; zero/dependent-direction guards differ from upstream failures; no KZ/RW1</a:t>
            </a:r>
          </a:p>
          <a:p>
            <a:r>
              <a:t>Availability: Specialized API; not in Prime ILT selector</a:t>
            </a:r>
          </a:p>
          <a:p>
            <a:r>
              <a:t>Objective: `Diagonal variable transform + guarded residual PLSS recursion`.</a:t>
            </a:r>
          </a:p>
          <a:p>
            <a:r>
              <a:t>Source: [local-source: METHOD_REFERENCE.es.md#plss_rw2]</a:t>
            </a:r>
          </a:p>
          <a:p>
            <a:endParaRPr/>
          </a:p>
          <a:p>
            <a:r>
              <a:t>Three/four-way CP-ALS [parafac_nd]</a:t>
            </a:r>
          </a:p>
          <a:p>
            <a:r>
              <a:t>Use: Factorize three/four-way tensors; multi-experiment studies.</a:t>
            </a:r>
          </a:p>
          <a:p>
            <a:r>
              <a:t>Limitations: Positive/unconstrained factors, deterministic initialization; local solution, objective-stagnation stop, no N-way constraint/uncertainty suite.</a:t>
            </a:r>
          </a:p>
          <a:p>
            <a:r>
              <a:t>Availability: Specialized API; not in Prime ILT selector</a:t>
            </a:r>
          </a:p>
          <a:p>
            <a:r>
              <a:t>Objective: `Three/four-way CP alternating LS/NNLS`.</a:t>
            </a:r>
          </a:p>
          <a:p>
            <a:r>
              <a:t>Source: [local-source: METHOD_REFERENCE.es.md#parafac_nd]</a:t>
            </a:r>
          </a:p>
          <a:p>
            <a:endParaRPr/>
          </a:p>
          <a:p>
            <a:r>
              <a:t>Sources: [ilt_catalog] Audited bilingual catalogue of local inversion methods and context families: [local-source: ilt_algorithm_catalog_bilingual.json]</a:t>
            </a:r>
          </a:p>
          <a:p>
            <a:r>
              <a:t>[catalog_l1_ls] Signed L1 interior point: [local-source: METHOD_REFERENCE.es.md#l1_ls]</a:t>
            </a:r>
          </a:p>
          <a:p>
            <a:r>
              <a:t>[catalog_plss_r] PLSS residual recursive solver: [local-source: METHOD_REFERENCE.es.md#plss_r]</a:t>
            </a:r>
          </a:p>
          <a:p>
            <a:r>
              <a:t>[catalog_irls] Fixed-p smoothed IRLS dictionary adapter: [local-source: METHOD_REFERENCE.es.md#irls]</a:t>
            </a:r>
          </a:p>
          <a:p>
            <a:r>
              <a:t>[catalog_plss_rw2] Weighted PLSS recursive core: [local-source: METHOD_REFERENCE.es.md#plss_rw2]</a:t>
            </a:r>
          </a:p>
          <a:p>
            <a:r>
              <a:t>[catalog_parafac_nd] Three/four-way CP-ALS: [local-source: METHOD_REFERENCE.es.md#parafac_nd]</a:t>
            </a:r>
          </a:p>
          <a:p>
            <a:endParaRPr/>
          </a:p>
          <a:p>
            <a:r>
              <a:t>l1_ls — Signed L1 interior point</a:t>
            </a:r>
          </a:p>
          <a:p>
            <a:r>
              <a:t>Specialized API; not in Prime ILT selector</a:t>
            </a:r>
          </a:p>
          <a:p>
            <a:r>
              <a:t>Signed sparse linear fits; not automatically a positive distribution.</a:t>
            </a:r>
          </a:p>
          <a:p>
            <a:r>
              <a:t>Same signed L1 barrier objective; dense Newton. Negative coefficients are not physical masses.</a:t>
            </a:r>
          </a:p>
          <a:p>
            <a:r>
              <a:t>`RSS + alpha ‖C‖1, C signed`.</a:t>
            </a:r>
          </a:p>
          <a:p>
            <a:r>
              <a:t>[local-source: METHOD_REFERENCE.es.md#l1_ls]</a:t>
            </a:r>
          </a:p>
          <a:p>
            <a:endParaRPr/>
          </a:p>
          <a:p>
            <a:r>
              <a:t>plss_r — PLSS residual recursive solver</a:t>
            </a:r>
          </a:p>
          <a:p>
            <a:r>
              <a:t>Specialized API; not in Prime ILT selector</a:t>
            </a:r>
          </a:p>
          <a:p>
            <a:r>
              <a:t>Consistent linear systems; auxiliary unregularized core.</a:t>
            </a:r>
          </a:p>
          <a:p>
            <a:r>
              <a:t>Consistent linear systems; signed, unregularized; breakdown retained. No claims for other PLSS variants.</a:t>
            </a:r>
          </a:p>
          <a:p>
            <a:r>
              <a:t>`Unregularized recursive residual sketches for A*C=Y`.</a:t>
            </a:r>
          </a:p>
          <a:p>
            <a:r>
              <a:t>[local-source: METHOD_REFERENCE.es.md#plss_r]</a:t>
            </a:r>
          </a:p>
          <a:p>
            <a:endParaRPr/>
          </a:p>
          <a:p>
            <a:r>
              <a:t>irls — Fixed-p smoothed IRLS dictionary adapter</a:t>
            </a:r>
          </a:p>
          <a:p>
            <a:r>
              <a:t>Specialized API; not in Prime ILT selector</a:t>
            </a:r>
          </a:p>
          <a:p>
            <a:r>
              <a:t>Explore sparse solutions through reweighted least squares.</a:t>
            </a:r>
          </a:p>
          <a:p>
            <a:r>
              <a:t>Signed; explicit epsilon; no original Fourier sampling or automatic epsilon heuristic. Iterate stability not an optimality certificate.</a:t>
            </a:r>
          </a:p>
          <a:p>
            <a:r>
              <a:t>`Fixed-p smoothed iteratively reweighted least squares`.</a:t>
            </a:r>
          </a:p>
          <a:p>
            <a:r>
              <a:t>[local-source: METHOD_REFERENCE.es.md#irls]</a:t>
            </a:r>
          </a:p>
          <a:p>
            <a:endParaRPr/>
          </a:p>
          <a:p>
            <a:r>
              <a:t>plss_rw2 — Weighted PLSS recursive core</a:t>
            </a:r>
          </a:p>
          <a:p>
            <a:r>
              <a:t>Specialized API; not in Prime ILT selector</a:t>
            </a:r>
          </a:p>
          <a:p>
            <a:r>
              <a:t>Weighted consistent linear systems; auxiliary core.</a:t>
            </a:r>
          </a:p>
          <a:p>
            <a:r>
              <a:t>Exact diagonal-variable implementation of RW2 via guarded residual recurrence; signed, consistent systems; zero/dependent-direction guards differ from upstream failures; no KZ/RW1</a:t>
            </a:r>
          </a:p>
          <a:p>
            <a:r>
              <a:t>`Diagonal variable transform + guarded residual PLSS recursion`.</a:t>
            </a:r>
          </a:p>
          <a:p>
            <a:r>
              <a:t>[local-source: METHOD_REFERENCE.es.md#plss_rw2]</a:t>
            </a:r>
          </a:p>
          <a:p>
            <a:endParaRPr/>
          </a:p>
          <a:p>
            <a:r>
              <a:t>parafac_nd — Three/four-way CP-ALS</a:t>
            </a:r>
          </a:p>
          <a:p>
            <a:r>
              <a:t>Specialized API; not in Prime ILT selector</a:t>
            </a:r>
          </a:p>
          <a:p>
            <a:r>
              <a:t>Factorize three/four-way tensors; multi-experiment studies.</a:t>
            </a:r>
          </a:p>
          <a:p>
            <a:r>
              <a:t>Positive/unconstrained factors, deterministic initialization; local solution, objective-stagnation stop, no N-way constraint/uncertainty suite.</a:t>
            </a:r>
          </a:p>
          <a:p>
            <a:r>
              <a:t>`Three/four-way CP alternating LS/NNLS`.</a:t>
            </a:r>
          </a:p>
          <a:p>
            <a:r>
              <a:t>[local-source: METHOD_REFERENCE.es.md#parafac_nd]</a:t>
            </a:r>
          </a:p>
          <a:p>
            <a:endParaRPr/>
          </a:p>
          <a:p>
            <a:r>
              <a:t>Sources:</a:t>
            </a:r>
          </a:p>
          <a:p>
            <a:r>
              <a:t>Audited bilingual catalogue of local inversion methods and context families</a:t>
            </a:r>
          </a:p>
          <a:p>
            <a:endParaRPr/>
          </a:p>
          <a:p>
            <a:r>
              <a:t>[local-source: ilt_algorithm_catalog_bilingual.json]</a:t>
            </a:r>
          </a:p>
          <a:p>
            <a:r>
              <a:t>Signed L1 interior point</a:t>
            </a:r>
          </a:p>
          <a:p>
            <a:endParaRPr/>
          </a:p>
          <a:p>
            <a:r>
              <a:t>[local-source: METHOD_REFERENCE.es.md#l1_ls]</a:t>
            </a:r>
          </a:p>
          <a:p>
            <a:r>
              <a:t>PLSS residual recursive solver</a:t>
            </a:r>
          </a:p>
          <a:p>
            <a:endParaRPr/>
          </a:p>
          <a:p>
            <a:r>
              <a:t>[local-source: METHOD_REFERENCE.es.md#plss_r]</a:t>
            </a:r>
          </a:p>
          <a:p>
            <a:r>
              <a:t>Fixed-p smoothed IRLS dictionary adapter</a:t>
            </a:r>
          </a:p>
          <a:p>
            <a:endParaRPr/>
          </a:p>
          <a:p>
            <a:r>
              <a:t>[local-source: METHOD_REFERENCE.es.md#irls]</a:t>
            </a:r>
          </a:p>
          <a:p>
            <a:r>
              <a:t>Weighted PLSS recursive core</a:t>
            </a:r>
          </a:p>
          <a:p>
            <a:endParaRPr/>
          </a:p>
          <a:p>
            <a:r>
              <a:t>[local-source: METHOD_REFERENCE.es.md#plss_rw2]</a:t>
            </a:r>
          </a:p>
          <a:p>
            <a:r>
              <a:t>Three/four-way CP-ALS</a:t>
            </a:r>
          </a:p>
          <a:p>
            <a:endParaRPr/>
          </a:p>
          <a:p>
            <a:r>
              <a:t>[local-source: METHOD_REFERENCE.es.md#parafac_nd]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ADSpLRU archived reweighted ADMM [adsplru]</a:t>
            </a:r>
          </a:p>
          <a:p>
            <a:r>
              <a:t>Use: Joint sparse/low-rank unmixing with reweighted ADMM.</a:t>
            </a:r>
          </a:p>
          <a:p>
            <a:r>
              <a:t>Limitations: RMS scales dictionary and data; adaptive singular and entry thresholds; legacy residual stop is not a fixed convex certificate</a:t>
            </a:r>
          </a:p>
          <a:p>
            <a:r>
              <a:t>Availability: Specialized API; not in Prime ILT selector</a:t>
            </a:r>
          </a:p>
          <a:p>
            <a:r>
              <a:t>Objective: `RMS-scaled ADMM with adaptive singular-value and entry shrinkage`.</a:t>
            </a:r>
          </a:p>
          <a:p>
            <a:r>
              <a:t>Source: [local-source: METHOD_REFERENCE.es.md#adsplru]</a:t>
            </a:r>
          </a:p>
          <a:p>
            <a:endParaRPr/>
          </a:p>
          <a:p>
            <a:r>
              <a:t>IPSpLRU incremental proximal recurrence [ipsplru]</a:t>
            </a:r>
          </a:p>
          <a:p>
            <a:r>
              <a:t>Use: Joint unmixing with an incremental proximal recurrence.</a:t>
            </a:r>
          </a:p>
          <a:p>
            <a:r>
              <a:t>Limitations: 999 default updates; explicit initial matrix; all columns; no fixed-objective convergence certificate</a:t>
            </a:r>
          </a:p>
          <a:p>
            <a:r>
              <a:t>Availability: Specialized API; not in Prime ILT selector</a:t>
            </a:r>
          </a:p>
          <a:p>
            <a:r>
              <a:t>Objective: `Quadratic prox -&gt; reweighted SVT -&gt; reweighted entry shrinkage -&gt; positivity`.</a:t>
            </a:r>
          </a:p>
          <a:p>
            <a:r>
              <a:t>Source: [local-source: METHOD_REFERENCE.es.md#ipsplru]</a:t>
            </a:r>
          </a:p>
          <a:p>
            <a:endParaRPr/>
          </a:p>
          <a:p>
            <a:r>
              <a:t>LRSpILT archived ADMM recurrence [lrspilt]</a:t>
            </a:r>
          </a:p>
          <a:p>
            <a:r>
              <a:t>Use: Joint DOSY reconstruction using low-rank and sparse structure.</a:t>
            </a:r>
          </a:p>
          <a:p>
            <a:r>
              <a:t>Limitations: Adaptive singular thresholds and fixed entry threshold; no original GUI/truth diagnostics; legacy relative stop</a:t>
            </a:r>
          </a:p>
          <a:p>
            <a:r>
              <a:t>Availability: Specialized API; not in Prime ILT selector</a:t>
            </a:r>
          </a:p>
          <a:p>
            <a:r>
              <a:t>Objective: `ADMM with adaptive singular thresholds and fixed L1 threshold`.</a:t>
            </a:r>
          </a:p>
          <a:p>
            <a:r>
              <a:t>Source: [local-source: METHOD_REFERENCE.es.md#lrspilt]</a:t>
            </a:r>
          </a:p>
          <a:p>
            <a:endParaRPr/>
          </a:p>
          <a:p>
            <a:r>
              <a:t>NMRInversions.jl PDHGM2 recurrence [pdhgm2]</a:t>
            </a:r>
          </a:p>
          <a:p>
            <a:r>
              <a:t>Use: Replay the NMRInversions.jl recurrence and check KKT separately.</a:t>
            </a:r>
          </a:p>
          <a:p>
            <a:r>
              <a:t>Limitations: Keeps extrapolated primal and projection after quadratic inverse; reports actual positive-L1 KKT separately; fixed alpha; bounded iterations</a:t>
            </a:r>
          </a:p>
          <a:p>
            <a:r>
              <a:t>Availability: Specialized API; not in Prime ILT selector</a:t>
            </a:r>
          </a:p>
          <a:p>
            <a:r>
              <a:t>Objective: `alpha/2 ‖AC-Y‖F² + sum(C), C&gt;=0 (checked target)`.</a:t>
            </a:r>
          </a:p>
          <a:p>
            <a:r>
              <a:t>Source: [local-source: METHOD_REFERENCE.es.md#pdhgm2]</a:t>
            </a:r>
          </a:p>
          <a:p>
            <a:endParaRPr/>
          </a:p>
          <a:p>
            <a:r>
              <a:t>ILT.jl positive ridge with signed baseline [ilt_julia]</a:t>
            </a:r>
          </a:p>
          <a:p>
            <a:r>
              <a:t>Use: Positive inversion with a signed baseline term.</a:t>
            </a:r>
          </a:p>
          <a:p>
            <a:r>
              <a:t>Limitations: Exact baseline elimination plus NNLS replaces Ipopt; alpha squared also penalizes baseline; caller supplies whitened baseline column; no automatic alpha selection</a:t>
            </a:r>
          </a:p>
          <a:p>
            <a:r>
              <a:t>Availability: Specialized API; not in Prime ILT selector</a:t>
            </a:r>
          </a:p>
          <a:p>
            <a:r>
              <a:t>Objective: `RSS(A C+z beta,Y) + alpha² (‖C‖F²+‖beta‖2²), C&gt;=0, beta signed`.</a:t>
            </a:r>
          </a:p>
          <a:p>
            <a:r>
              <a:t>Source: [local-source: METHOD_REFERENCE.es.md#ilt_julia]</a:t>
            </a:r>
          </a:p>
          <a:p>
            <a:endParaRPr/>
          </a:p>
          <a:p>
            <a:r>
              <a:t>Sources: [ilt_catalog] Audited bilingual catalogue of local inversion methods and context families: [local-source: ilt_algorithm_catalog_bilingual.json]</a:t>
            </a:r>
          </a:p>
          <a:p>
            <a:r>
              <a:t>[catalog_adsplru] ADSpLRU archived reweighted ADMM: [local-source: METHOD_REFERENCE.es.md#adsplru]</a:t>
            </a:r>
          </a:p>
          <a:p>
            <a:r>
              <a:t>[catalog_ipsplru] IPSpLRU incremental proximal recurrence: [local-source: METHOD_REFERENCE.es.md#ipsplru]</a:t>
            </a:r>
          </a:p>
          <a:p>
            <a:r>
              <a:t>[catalog_lrspilt] LRSpILT archived ADMM recurrence: [local-source: METHOD_REFERENCE.es.md#lrspilt]</a:t>
            </a:r>
          </a:p>
          <a:p>
            <a:r>
              <a:t>[catalog_pdhgm2] NMRInversions.jl PDHGM2 recurrence: [local-source: METHOD_REFERENCE.es.md#pdhgm2]</a:t>
            </a:r>
          </a:p>
          <a:p>
            <a:r>
              <a:t>[catalog_ilt_julia] ILT.jl positive ridge with signed baseline: [local-source: METHOD_REFERENCE.es.md#ilt_julia]</a:t>
            </a:r>
          </a:p>
          <a:p>
            <a:endParaRPr/>
          </a:p>
          <a:p>
            <a:r>
              <a:t>adsplru — ADSpLRU archived reweighted ADMM</a:t>
            </a:r>
          </a:p>
          <a:p>
            <a:r>
              <a:t>Specialized API; not in Prime ILT selector</a:t>
            </a:r>
          </a:p>
          <a:p>
            <a:r>
              <a:t>Joint sparse/low-rank unmixing with reweighted ADMM.</a:t>
            </a:r>
          </a:p>
          <a:p>
            <a:r>
              <a:t>RMS scales dictionary and data; adaptive singular and entry thresholds; legacy residual stop is not a fixed convex certificate</a:t>
            </a:r>
          </a:p>
          <a:p>
            <a:r>
              <a:t>`RMS-scaled ADMM with adaptive singular-value and entry shrinkage`.</a:t>
            </a:r>
          </a:p>
          <a:p>
            <a:r>
              <a:t>[local-source: METHOD_REFERENCE.es.md#adsplru]</a:t>
            </a:r>
          </a:p>
          <a:p>
            <a:endParaRPr/>
          </a:p>
          <a:p>
            <a:r>
              <a:t>ipsplru — IPSpLRU incremental proximal recurrence</a:t>
            </a:r>
          </a:p>
          <a:p>
            <a:r>
              <a:t>Specialized API; not in Prime ILT selector</a:t>
            </a:r>
          </a:p>
          <a:p>
            <a:r>
              <a:t>Joint unmixing with an incremental proximal recurrence.</a:t>
            </a:r>
          </a:p>
          <a:p>
            <a:r>
              <a:t>999 default updates; explicit initial matrix; all columns; no fixed-objective convergence certificate</a:t>
            </a:r>
          </a:p>
          <a:p>
            <a:r>
              <a:t>`Quadratic prox -&gt; reweighted SVT -&gt; reweighted entry shrinkage -&gt; positivity`.</a:t>
            </a:r>
          </a:p>
          <a:p>
            <a:r>
              <a:t>[local-source: METHOD_REFERENCE.es.md#ipsplru]</a:t>
            </a:r>
          </a:p>
          <a:p>
            <a:endParaRPr/>
          </a:p>
          <a:p>
            <a:r>
              <a:t>lrspilt — LRSpILT archived ADMM recurrence</a:t>
            </a:r>
          </a:p>
          <a:p>
            <a:r>
              <a:t>Specialized API; not in Prime ILT selector</a:t>
            </a:r>
          </a:p>
          <a:p>
            <a:r>
              <a:t>Joint DOSY reconstruction using low-rank and sparse structure.</a:t>
            </a:r>
          </a:p>
          <a:p>
            <a:r>
              <a:t>Adaptive singular thresholds and fixed entry threshold; no original GUI/truth diagnostics; legacy relative stop</a:t>
            </a:r>
          </a:p>
          <a:p>
            <a:r>
              <a:t>`ADMM with adaptive singular thresholds and fixed L1 threshold`.</a:t>
            </a:r>
          </a:p>
          <a:p>
            <a:r>
              <a:t>[local-source: METHOD_REFERENCE.es.md#lrspilt]</a:t>
            </a:r>
          </a:p>
          <a:p>
            <a:endParaRPr/>
          </a:p>
          <a:p>
            <a:r>
              <a:t>pdhgm2 — NMRInversions.jl PDHGM2 recurrence</a:t>
            </a:r>
          </a:p>
          <a:p>
            <a:r>
              <a:t>Specialized API; not in Prime ILT selector</a:t>
            </a:r>
          </a:p>
          <a:p>
            <a:r>
              <a:t>Replay the NMRInversions.jl recurrence and check KKT separately.</a:t>
            </a:r>
          </a:p>
          <a:p>
            <a:r>
              <a:t>Keeps extrapolated primal and projection after quadratic inverse; reports actual positive-L1 KKT separately; fixed alpha; bounded iterations</a:t>
            </a:r>
          </a:p>
          <a:p>
            <a:r>
              <a:t>`alpha/2 ‖AC-Y‖F² + sum(C), C&gt;=0 (checked target)`.</a:t>
            </a:r>
          </a:p>
          <a:p>
            <a:r>
              <a:t>[local-source: METHOD_REFERENCE.es.md#pdhgm2]</a:t>
            </a:r>
          </a:p>
          <a:p>
            <a:endParaRPr/>
          </a:p>
          <a:p>
            <a:r>
              <a:t>ilt_julia — ILT.jl positive ridge with signed baseline</a:t>
            </a:r>
          </a:p>
          <a:p>
            <a:r>
              <a:t>Specialized API; not in Prime ILT selector</a:t>
            </a:r>
          </a:p>
          <a:p>
            <a:r>
              <a:t>Positive inversion with a signed baseline term.</a:t>
            </a:r>
          </a:p>
          <a:p>
            <a:r>
              <a:t>Exact baseline elimination plus NNLS replaces Ipopt; alpha squared also penalizes baseline; caller supplies whitened baseline column; no automatic alpha selection</a:t>
            </a:r>
          </a:p>
          <a:p>
            <a:r>
              <a:t>`RSS(A C+z beta,Y) + alpha² (‖C‖F²+‖beta‖2²), C&gt;=0, beta signed`.</a:t>
            </a:r>
          </a:p>
          <a:p>
            <a:r>
              <a:t>[local-source: METHOD_REFERENCE.es.md#ilt_julia]</a:t>
            </a:r>
          </a:p>
          <a:p>
            <a:endParaRPr/>
          </a:p>
          <a:p>
            <a:r>
              <a:t>Sources:</a:t>
            </a:r>
          </a:p>
          <a:p>
            <a:r>
              <a:t>Audited bilingual catalogue of local inversion methods and context families</a:t>
            </a:r>
          </a:p>
          <a:p>
            <a:endParaRPr/>
          </a:p>
          <a:p>
            <a:r>
              <a:t>[local-source: ilt_algorithm_catalog_bilingual.json]</a:t>
            </a:r>
          </a:p>
          <a:p>
            <a:r>
              <a:t>ADSpLRU archived reweighted ADMM</a:t>
            </a:r>
          </a:p>
          <a:p>
            <a:endParaRPr/>
          </a:p>
          <a:p>
            <a:r>
              <a:t>[local-source: METHOD_REFERENCE.es.md#adsplru]</a:t>
            </a:r>
          </a:p>
          <a:p>
            <a:r>
              <a:t>IPSpLRU incremental proximal recurrence</a:t>
            </a:r>
          </a:p>
          <a:p>
            <a:endParaRPr/>
          </a:p>
          <a:p>
            <a:r>
              <a:t>[local-source: METHOD_REFERENCE.es.md#ipsplru]</a:t>
            </a:r>
          </a:p>
          <a:p>
            <a:r>
              <a:t>LRSpILT archived ADMM recurrence</a:t>
            </a:r>
          </a:p>
          <a:p>
            <a:endParaRPr/>
          </a:p>
          <a:p>
            <a:r>
              <a:t>[local-source: METHOD_REFERENCE.es.md#lrspilt]</a:t>
            </a:r>
          </a:p>
          <a:p>
            <a:r>
              <a:t>NMRInversions.jl PDHGM2 recurrence</a:t>
            </a:r>
          </a:p>
          <a:p>
            <a:endParaRPr/>
          </a:p>
          <a:p>
            <a:r>
              <a:t>[local-source: METHOD_REFERENCE.es.md#pdhgm2]</a:t>
            </a:r>
          </a:p>
          <a:p>
            <a:r>
              <a:t>ILT.jl positive ridge with signed baseline</a:t>
            </a:r>
          </a:p>
          <a:p>
            <a:endParaRPr/>
          </a:p>
          <a:p>
            <a:r>
              <a:t>[local-source: METHOD_REFERENCE.es.md#ilt_julia]</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TailoredNorm archived p sweep [tailored_norm]</a:t>
            </a:r>
          </a:p>
          <a:p>
            <a:r>
              <a:t>Use: Explore a p-norm sweep; replay the archived numerical policy.</a:t>
            </a:r>
          </a:p>
          <a:p>
            <a:r>
              <a:t>Limitations: Retains machine eps and absolute pinv cutoff 2e8, often annihilating output; no silently repaired result. Explicit cutoff alternatives change numerical policy</a:t>
            </a:r>
          </a:p>
          <a:p>
            <a:r>
              <a:t>Availability: Specialized API; not in Prime ILT selector</a:t>
            </a:r>
          </a:p>
          <a:p>
            <a:r>
              <a:t>Objective: `Archived fixed p=1..2 recurrence and absolute pinv cutoff`.</a:t>
            </a:r>
          </a:p>
          <a:p>
            <a:r>
              <a:t>Source: [local-source: METHOD_REFERENCE.es.md#tailored_norm]</a:t>
            </a:r>
          </a:p>
          <a:p>
            <a:endParaRPr/>
          </a:p>
          <a:p>
            <a:r>
              <a:t>UPEN2D adaptive spatial penalties [upen2d]</a:t>
            </a:r>
          </a:p>
          <a:p>
            <a:r>
              <a:t>Use: 2D distributions with adaptive local smoothing; two physical operators.</a:t>
            </a:r>
          </a:p>
          <a:p>
            <a:r>
              <a:t>Limitations: Native NNLS inner rather than original projected Newton CG; no SVD/B compression. Pure diffusion requires caller diffusion kernel, e.g. Kr=I for window coupling.</a:t>
            </a:r>
          </a:p>
          <a:p>
            <a:r>
              <a:t>Availability: Specialized API; not in Prime ILT selector</a:t>
            </a:r>
          </a:p>
          <a:p>
            <a:r>
              <a:t>Objective: `‖Kc X Kr^T-Y‖F² + spatial quadratic penalties updated from residual/derivatives`.</a:t>
            </a:r>
          </a:p>
          <a:p>
            <a:r>
              <a:t>Source: [local-source: METHOD_REFERENCE.es.md#upen2d]</a:t>
            </a:r>
          </a:p>
          <a:p>
            <a:endParaRPr/>
          </a:p>
          <a:p>
            <a:r>
              <a:t>MUPEN2D spatial multi-penalty FISTA [mupen2d]</a:t>
            </a:r>
          </a:p>
          <a:p>
            <a:r>
              <a:t>Use: 2D inversion with adaptive multiple penalties; signed output.</a:t>
            </a:r>
          </a:p>
          <a:p>
            <a:r>
              <a:t>Limitations: SIGNED coefficients. Explicit legacy AT/monitor or corrected-adjoint policy. No SVD, T1/T2 filter, GUI or forced DOSY border mask. Zero-iterate undefined weight reported</a:t>
            </a:r>
          </a:p>
          <a:p>
            <a:r>
              <a:t>Availability: Specialized API; not in Prime ILT selector</a:t>
            </a:r>
          </a:p>
          <a:p>
            <a:r>
              <a:t>Objective: `Adaptive quadratic spatial penalty + signed L1 FISTA; legacy or adjoint policy`.</a:t>
            </a:r>
          </a:p>
          <a:p>
            <a:r>
              <a:t>Source: [local-source: METHOD_REFERENCE.es.md#mupen2d]</a:t>
            </a:r>
          </a:p>
          <a:p>
            <a:endParaRPr/>
          </a:p>
          <a:p>
            <a:r>
              <a:t>SUnSAL unmixing ADMM [sunsal]</a:t>
            </a:r>
          </a:p>
          <a:p>
            <a:r>
              <a:t>Use: Sparse unmixing with an explicit dictionary and optional constraints.</a:t>
            </a:r>
          </a:p>
          <a:p>
            <a:r>
              <a:t>Limitations: Explicit positivity and sum-one. Dictionary RMS scaling and archived mu policy. Signed rank-deficient equality LS uses nullspace elimination rather than invalid inverse shortcut</a:t>
            </a:r>
          </a:p>
          <a:p>
            <a:r>
              <a:t>Availability: Specialized API; not in Prime ILT selector</a:t>
            </a:r>
          </a:p>
          <a:p>
            <a:r>
              <a:t>Objective: `0.5 RSS + lambda ‖C‖1 with optional positivity/simplex`.</a:t>
            </a:r>
          </a:p>
          <a:p>
            <a:r>
              <a:t>Source: [local-source: METHOD_REFERENCE.es.md#sunsal]</a:t>
            </a:r>
          </a:p>
          <a:p>
            <a:endParaRPr/>
          </a:p>
          <a:p>
            <a:r>
              <a:t>CLSUnSAL collaborative unmixing [clsunsal]</a:t>
            </a:r>
          </a:p>
          <a:p>
            <a:r>
              <a:t>Use: Collaborative unmixing with support shared across columns.</a:t>
            </a:r>
          </a:p>
          <a:p>
            <a:r>
              <a:t>Limitations: Preserves original nonzero scaled-dual initialization and mu update without dual rescaling; legacy stop not optimality certificate; no S2WSU/MUA pipeline</a:t>
            </a:r>
          </a:p>
          <a:p>
            <a:r>
              <a:t>Availability: Specialized API; not in Prime ILT selector</a:t>
            </a:r>
          </a:p>
          <a:p>
            <a:r>
              <a:t>Objective: `Collaborative row-L2 sparsity with archived ADMM policy`.</a:t>
            </a:r>
          </a:p>
          <a:p>
            <a:r>
              <a:t>Source: [local-source: METHOD_REFERENCE.es.md#clsunsal]</a:t>
            </a:r>
          </a:p>
          <a:p>
            <a:endParaRPr/>
          </a:p>
          <a:p>
            <a:r>
              <a:t>Sources: [ilt_catalog] Audited bilingual catalogue of local inversion methods and context families: [local-source: ilt_algorithm_catalog_bilingual.json]</a:t>
            </a:r>
          </a:p>
          <a:p>
            <a:r>
              <a:t>[catalog_tailored_norm] TailoredNorm archived p sweep: [local-source: METHOD_REFERENCE.es.md#tailored_norm]</a:t>
            </a:r>
          </a:p>
          <a:p>
            <a:r>
              <a:t>[catalog_upen2d] UPEN2D adaptive spatial penalties: [local-source: METHOD_REFERENCE.es.md#upen2d]</a:t>
            </a:r>
          </a:p>
          <a:p>
            <a:r>
              <a:t>[catalog_mupen2d] MUPEN2D spatial multi-penalty FISTA: [local-source: METHOD_REFERENCE.es.md#mupen2d]</a:t>
            </a:r>
          </a:p>
          <a:p>
            <a:r>
              <a:t>[catalog_sunsal] SUnSAL unmixing ADMM: [local-source: METHOD_REFERENCE.es.md#sunsal]</a:t>
            </a:r>
          </a:p>
          <a:p>
            <a:r>
              <a:t>[catalog_clsunsal] CLSUnSAL collaborative unmixing: [local-source: METHOD_REFERENCE.es.md#clsunsal]</a:t>
            </a:r>
          </a:p>
          <a:p>
            <a:endParaRPr/>
          </a:p>
          <a:p>
            <a:r>
              <a:t>tailored_norm — TailoredNorm archived p sweep</a:t>
            </a:r>
          </a:p>
          <a:p>
            <a:r>
              <a:t>Specialized API; not in Prime ILT selector</a:t>
            </a:r>
          </a:p>
          <a:p>
            <a:r>
              <a:t>Explore a p-norm sweep; replay the archived numerical policy.</a:t>
            </a:r>
          </a:p>
          <a:p>
            <a:r>
              <a:t>Retains machine eps and absolute pinv cutoff 2e8, often annihilating output; no silently repaired result. Explicit cutoff alternatives change numerical policy</a:t>
            </a:r>
          </a:p>
          <a:p>
            <a:r>
              <a:t>`Archived fixed p=1..2 recurrence and absolute pinv cutoff`.</a:t>
            </a:r>
          </a:p>
          <a:p>
            <a:r>
              <a:t>[local-source: METHOD_REFERENCE.es.md#tailored_norm]</a:t>
            </a:r>
          </a:p>
          <a:p>
            <a:endParaRPr/>
          </a:p>
          <a:p>
            <a:r>
              <a:t>upen2d — UPEN2D adaptive spatial penalties</a:t>
            </a:r>
          </a:p>
          <a:p>
            <a:r>
              <a:t>Specialized API; not in Prime ILT selector</a:t>
            </a:r>
          </a:p>
          <a:p>
            <a:r>
              <a:t>2D distributions with adaptive local smoothing; two physical operators.</a:t>
            </a:r>
          </a:p>
          <a:p>
            <a:r>
              <a:t>Native NNLS inner rather than original projected Newton CG; no SVD/B compression. Pure diffusion requires caller diffusion kernel, e.g. Kr=I for window coupling.</a:t>
            </a:r>
          </a:p>
          <a:p>
            <a:r>
              <a:t>`‖Kc X Kr^T-Y‖F² + spatial quadratic penalties updated from residual/derivatives`.</a:t>
            </a:r>
          </a:p>
          <a:p>
            <a:r>
              <a:t>[local-source: METHOD_REFERENCE.es.md#upen2d]</a:t>
            </a:r>
          </a:p>
          <a:p>
            <a:endParaRPr/>
          </a:p>
          <a:p>
            <a:r>
              <a:t>mupen2d — MUPEN2D spatial multi-penalty FISTA</a:t>
            </a:r>
          </a:p>
          <a:p>
            <a:r>
              <a:t>Specialized API; not in Prime ILT selector</a:t>
            </a:r>
          </a:p>
          <a:p>
            <a:r>
              <a:t>2D inversion with adaptive multiple penalties; signed output.</a:t>
            </a:r>
          </a:p>
          <a:p>
            <a:r>
              <a:t>SIGNED coefficients. Explicit legacy AT/monitor or corrected-adjoint policy. No SVD, T1/T2 filter, GUI or forced DOSY border mask. Zero-iterate undefined weight reported</a:t>
            </a:r>
          </a:p>
          <a:p>
            <a:r>
              <a:t>`Adaptive quadratic spatial penalty + signed L1 FISTA; legacy or adjoint policy`.</a:t>
            </a:r>
          </a:p>
          <a:p>
            <a:r>
              <a:t>[local-source: METHOD_REFERENCE.es.md#mupen2d]</a:t>
            </a:r>
          </a:p>
          <a:p>
            <a:endParaRPr/>
          </a:p>
          <a:p>
            <a:r>
              <a:t>sunsal — SUnSAL unmixing ADMM</a:t>
            </a:r>
          </a:p>
          <a:p>
            <a:r>
              <a:t>Specialized API; not in Prime ILT selector</a:t>
            </a:r>
          </a:p>
          <a:p>
            <a:r>
              <a:t>Sparse unmixing with an explicit dictionary and optional constraints.</a:t>
            </a:r>
          </a:p>
          <a:p>
            <a:r>
              <a:t>Explicit positivity and sum-one. Dictionary RMS scaling and archived mu policy. Signed rank-deficient equality LS uses nullspace elimination rather than invalid inverse shortcut</a:t>
            </a:r>
          </a:p>
          <a:p>
            <a:r>
              <a:t>`0.5 RSS + lambda ‖C‖1 with optional positivity/simplex`.</a:t>
            </a:r>
          </a:p>
          <a:p>
            <a:r>
              <a:t>[local-source: METHOD_REFERENCE.es.md#sunsal]</a:t>
            </a:r>
          </a:p>
          <a:p>
            <a:endParaRPr/>
          </a:p>
          <a:p>
            <a:r>
              <a:t>clsunsal — CLSUnSAL collaborative unmixing</a:t>
            </a:r>
          </a:p>
          <a:p>
            <a:r>
              <a:t>Specialized API; not in Prime ILT selector</a:t>
            </a:r>
          </a:p>
          <a:p>
            <a:r>
              <a:t>Collaborative unmixing with support shared across columns.</a:t>
            </a:r>
          </a:p>
          <a:p>
            <a:r>
              <a:t>Preserves original nonzero scaled-dual initialization and mu update without dual rescaling; legacy stop not optimality certificate; no S2WSU/MUA pipeline</a:t>
            </a:r>
          </a:p>
          <a:p>
            <a:r>
              <a:t>`Collaborative row-L2 sparsity with archived ADMM policy`.</a:t>
            </a:r>
          </a:p>
          <a:p>
            <a:r>
              <a:t>[local-source: METHOD_REFERENCE.es.md#clsunsal]</a:t>
            </a:r>
          </a:p>
          <a:p>
            <a:endParaRPr/>
          </a:p>
          <a:p>
            <a:r>
              <a:t>Sources:</a:t>
            </a:r>
          </a:p>
          <a:p>
            <a:r>
              <a:t>Audited bilingual catalogue of local inversion methods and context families</a:t>
            </a:r>
          </a:p>
          <a:p>
            <a:endParaRPr/>
          </a:p>
          <a:p>
            <a:r>
              <a:t>[local-source: ilt_algorithm_catalog_bilingual.json]</a:t>
            </a:r>
          </a:p>
          <a:p>
            <a:r>
              <a:t>TailoredNorm archived p sweep</a:t>
            </a:r>
          </a:p>
          <a:p>
            <a:endParaRPr/>
          </a:p>
          <a:p>
            <a:r>
              <a:t>[local-source: METHOD_REFERENCE.es.md#tailored_norm]</a:t>
            </a:r>
          </a:p>
          <a:p>
            <a:r>
              <a:t>UPEN2D adaptive spatial penalties</a:t>
            </a:r>
          </a:p>
          <a:p>
            <a:endParaRPr/>
          </a:p>
          <a:p>
            <a:r>
              <a:t>[local-source: METHOD_REFERENCE.es.md#upen2d]</a:t>
            </a:r>
          </a:p>
          <a:p>
            <a:r>
              <a:t>MUPEN2D spatial multi-penalty FISTA</a:t>
            </a:r>
          </a:p>
          <a:p>
            <a:endParaRPr/>
          </a:p>
          <a:p>
            <a:r>
              <a:t>[local-source: METHOD_REFERENCE.es.md#mupen2d]</a:t>
            </a:r>
          </a:p>
          <a:p>
            <a:r>
              <a:t>SUnSAL unmixing ADMM</a:t>
            </a:r>
          </a:p>
          <a:p>
            <a:endParaRPr/>
          </a:p>
          <a:p>
            <a:r>
              <a:t>[local-source: METHOD_REFERENCE.es.md#sunsal]</a:t>
            </a:r>
          </a:p>
          <a:p>
            <a:r>
              <a:t>CLSUnSAL collaborative unmixing</a:t>
            </a:r>
          </a:p>
          <a:p>
            <a:endParaRPr/>
          </a:p>
          <a:p>
            <a:r>
              <a:t>[local-source: METHOD_REFERENCE.es.md#clsunsal]</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Fully constrained least squares [fcls]</a:t>
            </a:r>
          </a:p>
          <a:p>
            <a:r>
              <a:t>Use: Positive sum-to-one unmixing only when normalization justifies it.</a:t>
            </a:r>
          </a:p>
          <a:p>
            <a:r>
              <a:t>Limitations: Same nonnegative simplex quadratic objective; simplex FISTA with KKT replaces cvxopt QP. Sum-one must be physically justified for DOSY</a:t>
            </a:r>
          </a:p>
          <a:p>
            <a:r>
              <a:t>Availability: Specialized API; not in Prime ILT selector</a:t>
            </a:r>
          </a:p>
          <a:p>
            <a:r>
              <a:t>Objective: `0.5 RSS, C&gt;=0, each column sums to 1`.</a:t>
            </a:r>
          </a:p>
          <a:p>
            <a:r>
              <a:t>Source: [local-source: METHOD_REFERENCE.es.md#fcls]</a:t>
            </a:r>
          </a:p>
          <a:p>
            <a:endParaRPr/>
          </a:p>
          <a:p>
            <a:r>
              <a:t>MRI mixture of Wisharts/tensors matrix core [mow]</a:t>
            </a:r>
          </a:p>
          <a:p>
            <a:r>
              <a:t>Use: Directional MRI diffusion using Wishart/tensor mixtures.</a:t>
            </a:r>
          </a:p>
          <a:p>
            <a:r>
              <a:t>Limitations: Requires directional b encoding and unit directions; NNLS or signed damped SVD; optional unnormalized shell profile. No image I/O, baseline estimation, DOT, GUI or spherical basis generation</a:t>
            </a:r>
          </a:p>
          <a:p>
            <a:r>
              <a:t>Availability: Specialized API; not in Prime ILT selector</a:t>
            </a:r>
          </a:p>
          <a:p>
            <a:r>
              <a:t>Objective: `Wishart kernel (1+tr(BD)/shape)^(-shape), or tensor exponential`.</a:t>
            </a:r>
          </a:p>
          <a:p>
            <a:r>
              <a:t>Source: [local-source: METHOD_REFERENCE.es.md#mow]</a:t>
            </a:r>
          </a:p>
          <a:p>
            <a:endParaRPr/>
          </a:p>
          <a:p>
            <a:r>
              <a:t>MRI Q-ball harmonic transform [qbi]</a:t>
            </a:r>
          </a:p>
          <a:p>
            <a:r>
              <a:t>Use: Angular Q-ball MRI reconstruction in a supplied harmonic basis.</a:t>
            </a:r>
          </a:p>
          <a:p>
            <a:r>
              <a:t>Limitations: Caller-supplied real even-harmonic basis; archived P_l(0) convention without 2pi; no scalar ILT claim or normalized probability</a:t>
            </a:r>
          </a:p>
          <a:p>
            <a:r>
              <a:t>Availability: Specialized API; not in Prime ILT selector</a:t>
            </a:r>
          </a:p>
          <a:p>
            <a:r>
              <a:t>Objective: `Least-squares real even-harmonic fit followed by P_l(0) multipliers`.</a:t>
            </a:r>
          </a:p>
          <a:p>
            <a:r>
              <a:t>Source: [local-source: METHOD_REFERENCE.es.md#qbi]</a:t>
            </a:r>
          </a:p>
          <a:p>
            <a:endParaRPr/>
          </a:p>
          <a:p>
            <a:r>
              <a:t>Sources: [ilt_catalog] Audited bilingual catalogue of local inversion methods and context families: [local-source: ilt_algorithm_catalog_bilingual.json]</a:t>
            </a:r>
          </a:p>
          <a:p>
            <a:r>
              <a:t>[catalog_fcls] Fully constrained least squares: [local-source: METHOD_REFERENCE.es.md#fcls]</a:t>
            </a:r>
          </a:p>
          <a:p>
            <a:r>
              <a:t>[catalog_mow] MRI mixture of Wisharts/tensors matrix core: [local-source: METHOD_REFERENCE.es.md#mow]</a:t>
            </a:r>
          </a:p>
          <a:p>
            <a:r>
              <a:t>[catalog_qbi] MRI Q-ball harmonic transform: [local-source: METHOD_REFERENCE.es.md#qbi]</a:t>
            </a:r>
          </a:p>
          <a:p>
            <a:endParaRPr/>
          </a:p>
          <a:p>
            <a:r>
              <a:t>fcls — Fully constrained least squares</a:t>
            </a:r>
          </a:p>
          <a:p>
            <a:r>
              <a:t>Specialized API; not in Prime ILT selector</a:t>
            </a:r>
          </a:p>
          <a:p>
            <a:r>
              <a:t>Positive sum-to-one unmixing only when normalization justifies it.</a:t>
            </a:r>
          </a:p>
          <a:p>
            <a:r>
              <a:t>Same nonnegative simplex quadratic objective; simplex FISTA with KKT replaces cvxopt QP. Sum-one must be physically justified for DOSY</a:t>
            </a:r>
          </a:p>
          <a:p>
            <a:r>
              <a:t>`0.5 RSS, C&gt;=0, each column sums to 1`.</a:t>
            </a:r>
          </a:p>
          <a:p>
            <a:r>
              <a:t>[local-source: METHOD_REFERENCE.es.md#fcls]</a:t>
            </a:r>
          </a:p>
          <a:p>
            <a:endParaRPr/>
          </a:p>
          <a:p>
            <a:r>
              <a:t>mow — MRI mixture of Wisharts/tensors matrix core</a:t>
            </a:r>
          </a:p>
          <a:p>
            <a:r>
              <a:t>Specialized API; not in Prime ILT selector</a:t>
            </a:r>
          </a:p>
          <a:p>
            <a:r>
              <a:t>Directional MRI diffusion using Wishart/tensor mixtures.</a:t>
            </a:r>
          </a:p>
          <a:p>
            <a:r>
              <a:t>Requires directional b encoding and unit directions; NNLS or signed damped SVD; optional unnormalized shell profile. No image I/O, baseline estimation, DOT, GUI or spherical basis generation</a:t>
            </a:r>
          </a:p>
          <a:p>
            <a:r>
              <a:t>`Wishart kernel (1+tr(BD)/shape)^(-shape), or tensor exponential`.</a:t>
            </a:r>
          </a:p>
          <a:p>
            <a:r>
              <a:t>[local-source: METHOD_REFERENCE.es.md#mow]</a:t>
            </a:r>
          </a:p>
          <a:p>
            <a:endParaRPr/>
          </a:p>
          <a:p>
            <a:r>
              <a:t>qbi — MRI Q-ball harmonic transform</a:t>
            </a:r>
          </a:p>
          <a:p>
            <a:r>
              <a:t>Specialized API; not in Prime ILT selector</a:t>
            </a:r>
          </a:p>
          <a:p>
            <a:r>
              <a:t>Angular Q-ball MRI reconstruction in a supplied harmonic basis.</a:t>
            </a:r>
          </a:p>
          <a:p>
            <a:r>
              <a:t>Caller-supplied real even-harmonic basis; archived P_l(0) convention without 2pi; no scalar ILT claim or normalized probability</a:t>
            </a:r>
          </a:p>
          <a:p>
            <a:r>
              <a:t>`Least-squares real even-harmonic fit followed by P_l(0) multipliers`.</a:t>
            </a:r>
          </a:p>
          <a:p>
            <a:r>
              <a:t>[local-source: METHOD_REFERENCE.es.md#qbi]</a:t>
            </a:r>
          </a:p>
          <a:p>
            <a:endParaRPr/>
          </a:p>
          <a:p>
            <a:r>
              <a:t>Sources:</a:t>
            </a:r>
          </a:p>
          <a:p>
            <a:r>
              <a:t>Audited bilingual catalogue of local inversion methods and context families</a:t>
            </a:r>
          </a:p>
          <a:p>
            <a:endParaRPr/>
          </a:p>
          <a:p>
            <a:r>
              <a:t>[local-source: ilt_algorithm_catalog_bilingual.json]</a:t>
            </a:r>
          </a:p>
          <a:p>
            <a:r>
              <a:t>Fully constrained least squares</a:t>
            </a:r>
          </a:p>
          <a:p>
            <a:endParaRPr/>
          </a:p>
          <a:p>
            <a:r>
              <a:t>[local-source: METHOD_REFERENCE.es.md#fcls]</a:t>
            </a:r>
          </a:p>
          <a:p>
            <a:r>
              <a:t>MRI mixture of Wisharts/tensors matrix core</a:t>
            </a:r>
          </a:p>
          <a:p>
            <a:endParaRPr/>
          </a:p>
          <a:p>
            <a:r>
              <a:t>[local-source: METHOD_REFERENCE.es.md#mow]</a:t>
            </a:r>
          </a:p>
          <a:p>
            <a:r>
              <a:t>MRI Q-ball harmonic transform</a:t>
            </a:r>
          </a:p>
          <a:p>
            <a:endParaRPr/>
          </a:p>
          <a:p>
            <a:r>
              <a:t>[local-source: METHOD_REFERENCE.es.md#qbi]</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Mono / multi-exponential fitting [mono_fit]</a:t>
            </a:r>
          </a:p>
          <a:p>
            <a:r>
              <a:t>Use: Few expected components; start with monoexponential fitting on an isolated signal.</a:t>
            </a:r>
          </a:p>
          <a:p>
            <a:r>
              <a:t>Limitations: A k-exponential fit assumes k; nearby D values are hard to resolve.</a:t>
            </a:r>
          </a:p>
          <a:p>
            <a:r>
              <a:t>Availability: Literature context; check implementation</a:t>
            </a:r>
          </a:p>
          <a:p>
            <a:r>
              <a:t>Source: https://nmr.chemistry.manchester.ac.uk/?q=node/430</a:t>
            </a:r>
          </a:p>
          <a:p>
            <a:endParaRPr/>
          </a:p>
          <a:p>
            <a:r>
              <a:t>CONTIN [contin_original]</a:t>
            </a:r>
          </a:p>
          <a:p>
            <a:r>
              <a:t>Use: Positive continuous distribution with regularization and its own parameter selection.</a:t>
            </a:r>
          </a:p>
          <a:p>
            <a:r>
              <a:t>Limitations: Fixed-lambda Tikhonov is not the full CONTIN program.</a:t>
            </a:r>
          </a:p>
          <a:p>
            <a:r>
              <a:t>Availability: Literature context; check implementation</a:t>
            </a:r>
          </a:p>
          <a:p>
            <a:r>
              <a:t>Source: https://doi.org/10.1016/0010-4655(82)90174-6</a:t>
            </a:r>
          </a:p>
          <a:p>
            <a:endParaRPr/>
          </a:p>
          <a:p>
            <a:r>
              <a:t>SVD / TSVD / compression [svd_tsvd]</a:t>
            </a:r>
          </a:p>
          <a:p>
            <a:r>
              <a:t>Use: Diagnose informative rank; compress the problem or truncate weak modes.</a:t>
            </a:r>
          </a:p>
          <a:p>
            <a:r>
              <a:t>Limitations: SVD alone does not guarantee positivity; more bins do not create resolution.</a:t>
            </a:r>
          </a:p>
          <a:p>
            <a:r>
              <a:t>Availability: Literature context; check implementation</a:t>
            </a:r>
          </a:p>
          <a:p>
            <a:r>
              <a:t>Source: https://arxiv.org/abs/1609.00324</a:t>
            </a:r>
          </a:p>
          <a:p>
            <a:endParaRPr/>
          </a:p>
          <a:p>
            <a:r>
              <a:t>FISTA / proximal acceleration [fista_general]</a:t>
            </a:r>
          </a:p>
          <a:p>
            <a:r>
              <a:t>Use: Numerical engine for L1 or L2 objectives with projection/proximal operators.</a:t>
            </a:r>
          </a:p>
          <a:p>
            <a:r>
              <a:t>Limitations: The engine alone defines neither the prior nor the experiment.</a:t>
            </a:r>
          </a:p>
          <a:p>
            <a:r>
              <a:t>Availability: Literature context; check implementation</a:t>
            </a:r>
          </a:p>
          <a:p>
            <a:r>
              <a:t>Source: https://doi.org/10.1137/080716542</a:t>
            </a:r>
          </a:p>
          <a:p>
            <a:endParaRPr/>
          </a:p>
          <a:p>
            <a:r>
              <a:t>UPEN / 2DUPEN / MUPEN2D [upen_family]</a:t>
            </a:r>
          </a:p>
          <a:p>
            <a:r>
              <a:t>Use: Adaptive local smoothing for sharp peaks and broad regions.</a:t>
            </a:r>
          </a:p>
          <a:p>
            <a:r>
              <a:t>Limitations: Specify version, positivity and operators; not generic curvature_reweighted.</a:t>
            </a:r>
          </a:p>
          <a:p>
            <a:r>
              <a:t>Availability: Literature context; check implementation</a:t>
            </a:r>
          </a:p>
          <a:p>
            <a:r>
              <a:t>Source: https://arxiv.org/abs/1609.00324</a:t>
            </a:r>
          </a:p>
          <a:p>
            <a:endParaRPr/>
          </a:p>
          <a:p>
            <a:r>
              <a:t>Sources: [ilt_catalog] Audited bilingual catalogue of local inversion methods and context families: [local-source: ilt_algorithm_catalog_bilingual.json]</a:t>
            </a:r>
          </a:p>
          <a:p>
            <a:r>
              <a:t>[catalog_mono_fit] Mono / multi-exponential fitting: https://nmr.chemistry.manchester.ac.uk/?q=node/430</a:t>
            </a:r>
          </a:p>
          <a:p>
            <a:r>
              <a:t>[catalog_contin_original] CONTIN: https://doi.org/10.1016/0010-4655(82)90174-6</a:t>
            </a:r>
          </a:p>
          <a:p>
            <a:r>
              <a:t>[catalog_svd_tsvd] SVD / TSVD / compression: https://arxiv.org/abs/1609.00324</a:t>
            </a:r>
          </a:p>
          <a:p>
            <a:r>
              <a:t>[catalog_fista_general] FISTA / proximal acceleration: https://doi.org/10.1137/080716542</a:t>
            </a:r>
          </a:p>
          <a:p>
            <a:r>
              <a:t>[catalog_upen_family] UPEN / 2DUPEN / MUPEN2D: https://arxiv.org/abs/1609.00324</a:t>
            </a:r>
          </a:p>
          <a:p>
            <a:endParaRPr/>
          </a:p>
          <a:p>
            <a:r>
              <a:t>mono_fit — Mono / multi-exponential fitting</a:t>
            </a:r>
          </a:p>
          <a:p>
            <a:r>
              <a:t>Literature context; check implementation</a:t>
            </a:r>
          </a:p>
          <a:p>
            <a:r>
              <a:t>Few expected components; start with monoexponential fitting on an isolated signal.</a:t>
            </a:r>
          </a:p>
          <a:p>
            <a:r>
              <a:t>A k-exponential fit assumes k; nearby D values are hard to resolve.</a:t>
            </a:r>
          </a:p>
          <a:p>
            <a:endParaRPr/>
          </a:p>
          <a:p>
            <a:r>
              <a:t>https://nmr.chemistry.manchester.ac.uk/?q=node/430</a:t>
            </a:r>
          </a:p>
          <a:p>
            <a:endParaRPr/>
          </a:p>
          <a:p>
            <a:r>
              <a:t>contin_original — CONTIN</a:t>
            </a:r>
          </a:p>
          <a:p>
            <a:r>
              <a:t>Literature context; check implementation</a:t>
            </a:r>
          </a:p>
          <a:p>
            <a:r>
              <a:t>Positive continuous distribution with regularization and its own parameter selection.</a:t>
            </a:r>
          </a:p>
          <a:p>
            <a:r>
              <a:t>Fixed-lambda Tikhonov is not the full CONTIN program.</a:t>
            </a:r>
          </a:p>
          <a:p>
            <a:endParaRPr/>
          </a:p>
          <a:p>
            <a:r>
              <a:t>https://doi.org/10.1016/0010-4655(82)90174-6</a:t>
            </a:r>
          </a:p>
          <a:p>
            <a:endParaRPr/>
          </a:p>
          <a:p>
            <a:r>
              <a:t>svd_tsvd — SVD / TSVD / compression</a:t>
            </a:r>
          </a:p>
          <a:p>
            <a:r>
              <a:t>Literature context; check implementation</a:t>
            </a:r>
          </a:p>
          <a:p>
            <a:r>
              <a:t>Diagnose informative rank; compress the problem or truncate weak modes.</a:t>
            </a:r>
          </a:p>
          <a:p>
            <a:r>
              <a:t>SVD alone does not guarantee positivity; more bins do not create resolution.</a:t>
            </a:r>
          </a:p>
          <a:p>
            <a:endParaRPr/>
          </a:p>
          <a:p>
            <a:r>
              <a:t>https://arxiv.org/abs/1609.00324</a:t>
            </a:r>
          </a:p>
          <a:p>
            <a:endParaRPr/>
          </a:p>
          <a:p>
            <a:r>
              <a:t>fista_general — FISTA / proximal acceleration</a:t>
            </a:r>
          </a:p>
          <a:p>
            <a:r>
              <a:t>Literature context; check implementation</a:t>
            </a:r>
          </a:p>
          <a:p>
            <a:r>
              <a:t>Numerical engine for L1 or L2 objectives with projection/proximal operators.</a:t>
            </a:r>
          </a:p>
          <a:p>
            <a:r>
              <a:t>The engine alone defines neither the prior nor the experiment.</a:t>
            </a:r>
          </a:p>
          <a:p>
            <a:endParaRPr/>
          </a:p>
          <a:p>
            <a:r>
              <a:t>https://doi.org/10.1137/080716542</a:t>
            </a:r>
          </a:p>
          <a:p>
            <a:endParaRPr/>
          </a:p>
          <a:p>
            <a:r>
              <a:t>upen_family — UPEN / 2DUPEN / MUPEN2D</a:t>
            </a:r>
          </a:p>
          <a:p>
            <a:r>
              <a:t>Literature context; check implementation</a:t>
            </a:r>
          </a:p>
          <a:p>
            <a:r>
              <a:t>Adaptive local smoothing for sharp peaks and broad regions.</a:t>
            </a:r>
          </a:p>
          <a:p>
            <a:r>
              <a:t>Specify version, positivity and operators; not generic curvature_reweighted.</a:t>
            </a:r>
          </a:p>
          <a:p>
            <a:endParaRPr/>
          </a:p>
          <a:p>
            <a:r>
              <a:t>https://arxiv.org/abs/1609.00324</a:t>
            </a:r>
          </a:p>
          <a:p>
            <a:endParaRPr/>
          </a:p>
          <a:p>
            <a:r>
              <a:t>Sources:</a:t>
            </a:r>
          </a:p>
          <a:p>
            <a:r>
              <a:t>Audited bilingual catalogue of local inversion methods and context families</a:t>
            </a:r>
          </a:p>
          <a:p>
            <a:endParaRPr/>
          </a:p>
          <a:p>
            <a:r>
              <a:t>[local-source: ilt_algorithm_catalog_bilingual.json]</a:t>
            </a:r>
          </a:p>
          <a:p>
            <a:r>
              <a:t>Mono / multi-exponential fitting</a:t>
            </a:r>
          </a:p>
          <a:p>
            <a:r>
              <a:t>https://nmr.chemistry.manchester.ac.uk/?q=node/430</a:t>
            </a:r>
          </a:p>
          <a:p>
            <a:endParaRPr/>
          </a:p>
          <a:p>
            <a:r>
              <a:t>CONTIN</a:t>
            </a:r>
          </a:p>
          <a:p>
            <a:r>
              <a:t>https://doi.org/10.1016/0010-4655(82)90174-6</a:t>
            </a:r>
          </a:p>
          <a:p>
            <a:endParaRPr/>
          </a:p>
          <a:p>
            <a:r>
              <a:t>SVD / TSVD / compression</a:t>
            </a:r>
          </a:p>
          <a:p>
            <a:r>
              <a:t>https://arxiv.org/abs/1609.00324</a:t>
            </a:r>
          </a:p>
          <a:p>
            <a:endParaRPr/>
          </a:p>
          <a:p>
            <a:r>
              <a:t>FISTA / proximal acceleration</a:t>
            </a:r>
          </a:p>
          <a:p>
            <a:r>
              <a:t>https://doi.org/10.1137/080716542</a:t>
            </a:r>
          </a:p>
          <a:p>
            <a:endParaRPr/>
          </a:p>
          <a:p>
            <a:r>
              <a:t>UPEN / 2DUPEN / MUPEN2D</a:t>
            </a:r>
          </a:p>
          <a:p>
            <a:r>
              <a:t>https://arxiv.org/abs/1609.00324</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EDMILT [edmilt]</a:t>
            </a:r>
          </a:p>
          <a:p>
            <a:r>
              <a:t>Use: Multidimensional ILT with tailored regularization; D–T2/T1–T2 correlations.</a:t>
            </a:r>
          </a:p>
          <a:p>
            <a:r>
              <a:t>Limitations: Requires multidimensional data/operators; not assumed implemented in Prime selector.</a:t>
            </a:r>
          </a:p>
          <a:p>
            <a:r>
              <a:t>Availability: Literature context; check implementation</a:t>
            </a:r>
          </a:p>
          <a:p>
            <a:r>
              <a:t>Source: https://pmc.ncbi.nlm.nih.gov/articles/PMC8397344/</a:t>
            </a:r>
          </a:p>
          <a:p>
            <a:endParaRPr/>
          </a:p>
          <a:p>
            <a:r>
              <a:t>DRECT [drect]</a:t>
            </a:r>
          </a:p>
          <a:p>
            <a:r>
              <a:t>Use: Learned Laplace-map reconstruction from synthetic training.</a:t>
            </a:r>
          </a:p>
          <a:p>
            <a:r>
              <a:t>Limitations: Check kernel, range, SNR and distribution shift; archived checkpoint is not local validation.</a:t>
            </a:r>
          </a:p>
          <a:p>
            <a:r>
              <a:t>Availability: Literature context; check implementation</a:t>
            </a:r>
          </a:p>
          <a:p>
            <a:r>
              <a:t>Source: https://github.com/WryBin/DRECT</a:t>
            </a:r>
          </a:p>
          <a:p>
            <a:endParaRPr/>
          </a:p>
          <a:p>
            <a:r>
              <a:t>DREAM [dream]</a:t>
            </a:r>
          </a:p>
          <a:p>
            <a:r>
              <a:t>Use: Learned reconstruction with aleatoric uncertainty estimation.</a:t>
            </a:r>
          </a:p>
          <a:p>
            <a:r>
              <a:t>Limitations: Network uncertainty certifies neither identity nor coverage outside training.</a:t>
            </a:r>
          </a:p>
          <a:p>
            <a:r>
              <a:t>Availability: Literature context; check implementation</a:t>
            </a:r>
          </a:p>
          <a:p>
            <a:r>
              <a:t>Source: https://pmc.ncbi.nlm.nih.gov/articles/PMC12383262/</a:t>
            </a:r>
          </a:p>
          <a:p>
            <a:endParaRPr/>
          </a:p>
          <a:p>
            <a:r>
              <a:t>CoMeF / DOSY-Net / DLEMLR / DILT [neural_other]</a:t>
            </a:r>
          </a:p>
          <a:p>
            <a:r>
              <a:t>Use: Other learned architectures for ILT/DOSY/multidimensional data.</a:t>
            </a:r>
          </a:p>
          <a:p>
            <a:r>
              <a:t>Limitations: Heterogeneous family: inspect each paper, weights and domain. Archived code ≠ available in Prime.</a:t>
            </a:r>
          </a:p>
          <a:p>
            <a:r>
              <a:t>Availability: Literature context; check implementation</a:t>
            </a:r>
          </a:p>
          <a:p>
            <a:r>
              <a:t>Source: https://github.com/chenbo-cyber/DLEMLR</a:t>
            </a:r>
          </a:p>
          <a:p>
            <a:endParaRPr/>
          </a:p>
          <a:p>
            <a:r>
              <a:t>Sources: [ilt_catalog] Audited bilingual catalogue of local inversion methods and context families: [local-source: ilt_algorithm_catalog_bilingual.json]</a:t>
            </a:r>
          </a:p>
          <a:p>
            <a:r>
              <a:t>[catalog_edmilt] EDMILT: https://pmc.ncbi.nlm.nih.gov/articles/PMC8397344/</a:t>
            </a:r>
          </a:p>
          <a:p>
            <a:r>
              <a:t>[catalog_drect] DRECT: https://github.com/WryBin/DRECT</a:t>
            </a:r>
          </a:p>
          <a:p>
            <a:r>
              <a:t>[catalog_dream] DREAM: https://pmc.ncbi.nlm.nih.gov/articles/PMC12383262/</a:t>
            </a:r>
          </a:p>
          <a:p>
            <a:r>
              <a:t>[catalog_neural_other] CoMeF / DOSY-Net / DLEMLR / DILT: https://github.com/chenbo-cyber/DLEMLR</a:t>
            </a:r>
          </a:p>
          <a:p>
            <a:endParaRPr/>
          </a:p>
          <a:p>
            <a:r>
              <a:t>edmilt — EDMILT</a:t>
            </a:r>
          </a:p>
          <a:p>
            <a:r>
              <a:t>Literature context; check implementation</a:t>
            </a:r>
          </a:p>
          <a:p>
            <a:r>
              <a:t>Multidimensional ILT with tailored regularization; D–T2/T1–T2 correlations.</a:t>
            </a:r>
          </a:p>
          <a:p>
            <a:r>
              <a:t>Requires multidimensional data/operators; not assumed implemented in Prime selector.</a:t>
            </a:r>
          </a:p>
          <a:p>
            <a:endParaRPr/>
          </a:p>
          <a:p>
            <a:r>
              <a:t>https://pmc.ncbi.nlm.nih.gov/articles/PMC8397344/</a:t>
            </a:r>
          </a:p>
          <a:p>
            <a:endParaRPr/>
          </a:p>
          <a:p>
            <a:r>
              <a:t>drect — DRECT</a:t>
            </a:r>
          </a:p>
          <a:p>
            <a:r>
              <a:t>Literature context; check implementation</a:t>
            </a:r>
          </a:p>
          <a:p>
            <a:r>
              <a:t>Learned Laplace-map reconstruction from synthetic training.</a:t>
            </a:r>
          </a:p>
          <a:p>
            <a:r>
              <a:t>Check kernel, range, SNR and distribution shift; archived checkpoint is not local validation.</a:t>
            </a:r>
          </a:p>
          <a:p>
            <a:endParaRPr/>
          </a:p>
          <a:p>
            <a:r>
              <a:t>https://github.com/WryBin/DRECT</a:t>
            </a:r>
          </a:p>
          <a:p>
            <a:endParaRPr/>
          </a:p>
          <a:p>
            <a:r>
              <a:t>dream — DREAM</a:t>
            </a:r>
          </a:p>
          <a:p>
            <a:r>
              <a:t>Literature context; check implementation</a:t>
            </a:r>
          </a:p>
          <a:p>
            <a:r>
              <a:t>Learned reconstruction with aleatoric uncertainty estimation.</a:t>
            </a:r>
          </a:p>
          <a:p>
            <a:r>
              <a:t>Network uncertainty certifies neither identity nor coverage outside training.</a:t>
            </a:r>
          </a:p>
          <a:p>
            <a:endParaRPr/>
          </a:p>
          <a:p>
            <a:r>
              <a:t>https://pmc.ncbi.nlm.nih.gov/articles/PMC12383262/</a:t>
            </a:r>
          </a:p>
          <a:p>
            <a:endParaRPr/>
          </a:p>
          <a:p>
            <a:r>
              <a:t>neural_other — CoMeF / DOSY-Net / DLEMLR / DILT</a:t>
            </a:r>
          </a:p>
          <a:p>
            <a:r>
              <a:t>Literature context; check implementation</a:t>
            </a:r>
          </a:p>
          <a:p>
            <a:r>
              <a:t>Other learned architectures for ILT/DOSY/multidimensional data.</a:t>
            </a:r>
          </a:p>
          <a:p>
            <a:r>
              <a:t>Heterogeneous family: inspect each paper, weights and domain. Archived code ≠ available in Prime.</a:t>
            </a:r>
          </a:p>
          <a:p>
            <a:endParaRPr/>
          </a:p>
          <a:p>
            <a:r>
              <a:t>https://github.com/chenbo-cyber/DLEMLR</a:t>
            </a:r>
          </a:p>
          <a:p>
            <a:endParaRPr/>
          </a:p>
          <a:p>
            <a:r>
              <a:t>Sources:</a:t>
            </a:r>
          </a:p>
          <a:p>
            <a:r>
              <a:t>Audited bilingual catalogue of local inversion methods and context families</a:t>
            </a:r>
          </a:p>
          <a:p>
            <a:endParaRPr/>
          </a:p>
          <a:p>
            <a:r>
              <a:t>[local-source: ilt_algorithm_catalog_bilingual.json]</a:t>
            </a:r>
          </a:p>
          <a:p>
            <a:r>
              <a:t>EDMILT</a:t>
            </a:r>
          </a:p>
          <a:p>
            <a:r>
              <a:t>https://pmc.ncbi.nlm.nih.gov/articles/PMC8397344/</a:t>
            </a:r>
          </a:p>
          <a:p>
            <a:endParaRPr/>
          </a:p>
          <a:p>
            <a:r>
              <a:t>DRECT</a:t>
            </a:r>
          </a:p>
          <a:p>
            <a:r>
              <a:t>https://github.com/WryBin/DRECT</a:t>
            </a:r>
          </a:p>
          <a:p>
            <a:endParaRPr/>
          </a:p>
          <a:p>
            <a:r>
              <a:t>DREAM</a:t>
            </a:r>
          </a:p>
          <a:p>
            <a:r>
              <a:t>https://pmc.ncbi.nlm.nih.gov/articles/PMC12383262/</a:t>
            </a:r>
          </a:p>
          <a:p>
            <a:endParaRPr/>
          </a:p>
          <a:p>
            <a:r>
              <a:t>CoMeF / DOSY-Net / DLEMLR / DILT</a:t>
            </a:r>
          </a:p>
          <a:p>
            <a:r>
              <a:t>https://github.com/chenbo-cyber/DLEMLR</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DISCRETE / SPLMOD / Prony / matrix pencil [discrete_original]</a:t>
            </a:r>
          </a:p>
          <a:p>
            <a:r>
              <a:t>Use: Finite exponential sums; poles and amplitudes.</a:t>
            </a:r>
          </a:p>
          <a:p>
            <a:r>
              <a:t>Limitations: Discrete assumption, order and sampling matter; not a continuous distribution.</a:t>
            </a:r>
          </a:p>
          <a:p>
            <a:r>
              <a:t>Availability: Literature context; check implementation</a:t>
            </a:r>
          </a:p>
          <a:p>
            <a:r>
              <a:t>Source: https://nmr.chemistry.manchester.ac.uk/?q=node/430</a:t>
            </a:r>
          </a:p>
          <a:p>
            <a:endParaRPr/>
          </a:p>
          <a:p>
            <a:r>
              <a:t>Landweber / CG / LSQR / early stopping [iterative_general]</a:t>
            </a:r>
          </a:p>
          <a:p>
            <a:r>
              <a:t>Use: Iterative engines; early stopping as regularization.</a:t>
            </a:r>
          </a:p>
          <a:p>
            <a:r>
              <a:t>Limitations: Residual convergence does not prove component resolution.</a:t>
            </a:r>
          </a:p>
          <a:p>
            <a:r>
              <a:t>Availability: Literature context; check implementation</a:t>
            </a:r>
          </a:p>
          <a:p>
            <a:r>
              <a:t>Source: https://web.stanford.edu/group/SOL/software/lsqr/</a:t>
            </a:r>
          </a:p>
          <a:p>
            <a:endParaRPr/>
          </a:p>
          <a:p>
            <a:r>
              <a:t>Discrepancy / L-curve / GCV / held-out / bootstrap [parameter_selection]</a:t>
            </a:r>
          </a:p>
          <a:p>
            <a:r>
              <a:t>Use: Choose regularization or rank and study stability/uncertainty.</a:t>
            </a:r>
          </a:p>
          <a:p>
            <a:r>
              <a:t>Limitations: Selection/diagnostic strategies; not new solvers or experimental truth.</a:t>
            </a:r>
          </a:p>
          <a:p>
            <a:r>
              <a:t>Availability: Literature context; check implementation</a:t>
            </a:r>
          </a:p>
          <a:p>
            <a:r>
              <a:t>Source: https://nmr.chemistry.manchester.ac.uk/?q=node/430</a:t>
            </a:r>
          </a:p>
          <a:p>
            <a:endParaRPr/>
          </a:p>
          <a:p>
            <a:r>
              <a:t>Sources: [ilt_catalog] Audited bilingual catalogue of local inversion methods and context families: [local-source: ilt_algorithm_catalog_bilingual.json]</a:t>
            </a:r>
          </a:p>
          <a:p>
            <a:r>
              <a:t>[catalog_discrete_original] DISCRETE / SPLMOD / Prony / matrix pencil: https://nmr.chemistry.manchester.ac.uk/?q=node/430</a:t>
            </a:r>
          </a:p>
          <a:p>
            <a:r>
              <a:t>[catalog_iterative_general] Landweber / CG / LSQR / early stopping: https://web.stanford.edu/group/SOL/software/lsqr/</a:t>
            </a:r>
          </a:p>
          <a:p>
            <a:r>
              <a:t>[catalog_parameter_selection] Discrepancy / L-curve / GCV / held-out / bootstrap: https://nmr.chemistry.manchester.ac.uk/?q=node/430</a:t>
            </a:r>
          </a:p>
          <a:p>
            <a:endParaRPr/>
          </a:p>
          <a:p>
            <a:r>
              <a:t>discrete_original — DISCRETE / SPLMOD / Prony / matrix pencil</a:t>
            </a:r>
          </a:p>
          <a:p>
            <a:r>
              <a:t>Literature context; check implementation</a:t>
            </a:r>
          </a:p>
          <a:p>
            <a:r>
              <a:t>Finite exponential sums; poles and amplitudes.</a:t>
            </a:r>
          </a:p>
          <a:p>
            <a:r>
              <a:t>Discrete assumption, order and sampling matter; not a continuous distribution.</a:t>
            </a:r>
          </a:p>
          <a:p>
            <a:endParaRPr/>
          </a:p>
          <a:p>
            <a:r>
              <a:t>https://nmr.chemistry.manchester.ac.uk/?q=node/430</a:t>
            </a:r>
          </a:p>
          <a:p>
            <a:endParaRPr/>
          </a:p>
          <a:p>
            <a:r>
              <a:t>iterative_general — Landweber / CG / LSQR / early stopping</a:t>
            </a:r>
          </a:p>
          <a:p>
            <a:r>
              <a:t>Literature context; check implementation</a:t>
            </a:r>
          </a:p>
          <a:p>
            <a:r>
              <a:t>Iterative engines; early stopping as regularization.</a:t>
            </a:r>
          </a:p>
          <a:p>
            <a:r>
              <a:t>Residual convergence does not prove component resolution.</a:t>
            </a:r>
          </a:p>
          <a:p>
            <a:endParaRPr/>
          </a:p>
          <a:p>
            <a:r>
              <a:t>https://web.stanford.edu/group/SOL/software/lsqr/</a:t>
            </a:r>
          </a:p>
          <a:p>
            <a:endParaRPr/>
          </a:p>
          <a:p>
            <a:r>
              <a:t>parameter_selection — Discrepancy / L-curve / GCV / held-out / bootstrap</a:t>
            </a:r>
          </a:p>
          <a:p>
            <a:r>
              <a:t>Literature context; check implementation</a:t>
            </a:r>
          </a:p>
          <a:p>
            <a:r>
              <a:t>Choose regularization or rank and study stability/uncertainty.</a:t>
            </a:r>
          </a:p>
          <a:p>
            <a:r>
              <a:t>Selection/diagnostic strategies; not new solvers or experimental truth.</a:t>
            </a:r>
          </a:p>
          <a:p>
            <a:endParaRPr/>
          </a:p>
          <a:p>
            <a:r>
              <a:t>https://nmr.chemistry.manchester.ac.uk/?q=node/430</a:t>
            </a:r>
          </a:p>
          <a:p>
            <a:endParaRPr/>
          </a:p>
          <a:p>
            <a:r>
              <a:t>Sources:</a:t>
            </a:r>
          </a:p>
          <a:p>
            <a:r>
              <a:t>Audited bilingual catalogue of local inversion methods and context families</a:t>
            </a:r>
          </a:p>
          <a:p>
            <a:endParaRPr/>
          </a:p>
          <a:p>
            <a:r>
              <a:t>[local-source: ilt_algorithm_catalog_bilingual.json]</a:t>
            </a:r>
          </a:p>
          <a:p>
            <a:r>
              <a:t>DISCRETE / SPLMOD / Prony / matrix pencil</a:t>
            </a:r>
          </a:p>
          <a:p>
            <a:r>
              <a:t>https://nmr.chemistry.manchester.ac.uk/?q=node/430</a:t>
            </a:r>
          </a:p>
          <a:p>
            <a:endParaRPr/>
          </a:p>
          <a:p>
            <a:r>
              <a:t>Landweber / CG / LSQR / early stopping</a:t>
            </a:r>
          </a:p>
          <a:p>
            <a:r>
              <a:t>https://web.stanford.edu/group/SOL/software/lsqr/</a:t>
            </a:r>
          </a:p>
          <a:p>
            <a:endParaRPr/>
          </a:p>
          <a:p>
            <a:r>
              <a:t>Discrepancy / L-curve / GCV / held-out / bootstrap</a:t>
            </a:r>
          </a:p>
          <a:p>
            <a:r>
              <a:t>https://nmr.chemistry.manchester.ac.uk/?q=node/430</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I/I0=exp(-bD) describes free Gaussian diffusion, but b depends on the sequence. This table uses rectangular gradient pulses only, adapting Sinnaeve Table 2, page 58. Monopolar PGSE or PGSTE gives F=Delta-delta/3. A balanced bipolar pair subtracts the internal-interval correction tau/2. A double bipolar experiment, with two equal Delta/2 blocks, has two duration corrections and intervals tau1 and tau2. Bipolar delta is the sum of the two lobe durations, each delta/2, excluding the gap between them. For the double experiment, Delta is the total time as defined in the table. Do not substitute Bruker parameter names without inspecting the timing diagram. Sine, sine-squared and smoothed rectangular shapes change both the area factor and the timing correction. One-shot sequences also require imbalance parameters and cannot use the balanced bipolar column unchanged. Additional gradients, cross-terms and restricted diffusion are not automatically covered. In practice, inspect the acquired pulseprogram and GPNAM6 shape, identify the family and use the matching b definition. Bipolar does not mean convection compensated. The workshop does not require deriving the table.</a:t>
            </a:r>
          </a:p>
          <a:p>
            <a:endParaRPr/>
          </a:p>
          <a:p>
            <a:r>
              <a:t>Sources: [sinnaeve_2012] D. Sinnaeve (2012), The Stejskal–Tanner Equation Generalized for Any Gradient Shape. Table 2, p.58; definitions pp.50–51: https://doi.org/10.1002/cmr.a.21223</a:t>
            </a:r>
          </a:p>
          <a:p>
            <a:r>
              <a:t>[calibration] Calibración DOSY según la sonda, secuencia, gradiente, temperatura y referencia interna: [local-source: CALIBRACION_SONDA_SECUENCIA_GRADIENTE.md]</a:t>
            </a:r>
          </a:p>
          <a:p>
            <a:r>
              <a:t>[parameters_audit] Read-only audit of pulse calibration and sequence-dependent timing parameters: [local-source: parameters_pulse_evidence.json]</a:t>
            </a:r>
          </a:p>
          <a:p>
            <a:endParaRPr/>
          </a:p>
          <a:p>
            <a:endParaRPr/>
          </a:p>
          <a:p>
            <a:endParaRPr/>
          </a:p>
          <a:p>
            <a:r>
              <a:t>Sources:</a:t>
            </a:r>
          </a:p>
          <a:p>
            <a:r>
              <a:t>D. Sinnaeve (2012), The Stejskal–Tanner Equation Generalized for Any Gradient Shape. Table 2, p.58; definitions pp.50–51</a:t>
            </a:r>
          </a:p>
          <a:p>
            <a:r>
              <a:t>https://doi.org/10.1002/cmr.a.21223</a:t>
            </a:r>
          </a:p>
          <a:p>
            <a:r>
              <a:t>[local-source: Mendeley] Reference Manager\userfiles\35ec08f9-3640-0c4b-0bcc-fe3f454aba96.pdf</a:t>
            </a:r>
          </a:p>
          <a:p>
            <a:r>
              <a:t>Calibración DOSY según la sonda, secuencia, gradiente, temperatura y referencia interna</a:t>
            </a:r>
          </a:p>
          <a:p>
            <a:endParaRPr/>
          </a:p>
          <a:p>
            <a:r>
              <a:t>[local-source: CALIBRACION_SONDA_SECUENCIA_GRADIENTE.md]</a:t>
            </a:r>
          </a:p>
          <a:p>
            <a:r>
              <a:t>Read-only audit of pulse calibration and sequence-dependent timing parameters</a:t>
            </a:r>
          </a:p>
          <a:p>
            <a:endParaRPr/>
          </a:p>
          <a:p>
            <a:r>
              <a:t>[local-source: parameters_pulse_evidence.json]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This is the shared TBO profile model for stebpgp1s1d with SMSQ10.100. The 0.81 factor is 0.90 squared: 0.90 is this shape's area factor, not a universal probe property. The theoretical smoothed-rectangle bipolar timing coefficient is (6344*pi^2-207)/(19440*pi^2), approximately 0.3252585656; the profile retains 0.32525. P30=600 microseconds per lobe gives delta=1.20 milliseconds. P1 is an RF pulse duration and does not replace P30. In this experiment's timing diagram, tau includes d16 and p2, while the profile approximates tau by D16. The stored D16=1 ms and P2=31.6 microseconds give a full interval of 1.0316 ms. State the approximation and preserve the experimental calibration. Use seconds, tesla per metre and gamma in radians per second per tesla to obtain b in s/m². GPZ6/100 is a fraction of the calibrated maximum gradient. Check the acquired sequence and shape file, not just the probe name. When Delta, delta or shape changes, recalculate b with the appropriate model and check the standard; empirical b100 applies to its original acquisition conditions.</a:t>
            </a:r>
          </a:p>
          <a:p>
            <a:endParaRPr/>
          </a:p>
          <a:p>
            <a:r>
              <a:t>Sources: [sinnaeve_2012] D. Sinnaeve (2012), The Stejskal–Tanner Equation Generalized for Any Gradient Shape. Table 2, p.58; definitions pp.50–51: https://doi.org/10.1002/cmr.a.21223</a:t>
            </a:r>
          </a:p>
          <a:p>
            <a:r>
              <a:t>[calibration] Calibración DOSY según la sonda, secuencia, gradiente, temperatura y referencia interna: [local-source: CALIBRACION_SONDA_SECUENCIA_GRADIENTE.md]</a:t>
            </a:r>
          </a:p>
          <a:p>
            <a:r>
              <a:t>[equation_audit] Read-only comparison of the TBO software profile and acquired pulse program: [local-source: local_equation_audit.json]</a:t>
            </a:r>
          </a:p>
          <a:p>
            <a:r>
              <a:t>[tbo] TBO HDO experimental calibration, 4 September 2026: [local-source: TBO_HDO_20260904.json]</a:t>
            </a:r>
          </a:p>
          <a:p>
            <a:r>
              <a:t>[parameters_audit] Read-only audit of pulse calibration and sequence-dependent timing parameters: [local-source: parameters_pulse_evidence.json]</a:t>
            </a:r>
          </a:p>
          <a:p>
            <a:endParaRPr/>
          </a:p>
          <a:p>
            <a:endParaRPr/>
          </a:p>
          <a:p>
            <a:endParaRPr/>
          </a:p>
          <a:p>
            <a:r>
              <a:t>Sources:</a:t>
            </a:r>
          </a:p>
          <a:p>
            <a:r>
              <a:t>D. Sinnaeve (2012), The Stejskal–Tanner Equation Generalized for Any Gradient Shape. Table 2, p.58; definitions pp.50–51</a:t>
            </a:r>
          </a:p>
          <a:p>
            <a:r>
              <a:t>https://doi.org/10.1002/cmr.a.21223</a:t>
            </a:r>
          </a:p>
          <a:p>
            <a:r>
              <a:t>[local-source: Mendeley] Reference Manager\userfiles\35ec08f9-3640-0c4b-0bcc-fe3f454aba96.pdf</a:t>
            </a:r>
          </a:p>
          <a:p>
            <a:r>
              <a:t>Calibración DOSY según la sonda, secuencia, gradiente, temperatura y referencia interna</a:t>
            </a:r>
          </a:p>
          <a:p>
            <a:endParaRPr/>
          </a:p>
          <a:p>
            <a:r>
              <a:t>[local-source: CALIBRACION_SONDA_SECUENCIA_GRADIENTE.md]</a:t>
            </a:r>
          </a:p>
          <a:p>
            <a:r>
              <a:t>Read-only comparison of the TBO software profile and acquired pulse program</a:t>
            </a:r>
          </a:p>
          <a:p>
            <a:endParaRPr/>
          </a:p>
          <a:p>
            <a:r>
              <a:t>[local-source: local_equation_audit.json]</a:t>
            </a:r>
          </a:p>
          <a:p>
            <a:r>
              <a:t>TBO HDO experimental calibration, 4 September 2026</a:t>
            </a:r>
          </a:p>
          <a:p>
            <a:endParaRPr/>
          </a:p>
          <a:p>
            <a:r>
              <a:t>[local-source: TBO_HDO_20260904.json]</a:t>
            </a:r>
          </a:p>
          <a:p>
            <a:r>
              <a:t>Read-only audit of pulse calibration and sequence-dependent timing parameters</a:t>
            </a:r>
          </a:p>
          <a:p>
            <a:endParaRPr/>
          </a:p>
          <a:p>
            <a:r>
              <a:t>[local-source: parameters_pulse_evidence.json]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The minimum explanation of ill-conditioning is this exponential kernel with very similar columns. Some combinations of weights barely affect the signal; inversion amplifies noise in those directions. The example has 25 measurements and 110 weights, but the problem is not merely counting unknowns: singular values decay rapidly. A denser grid adds no measured information. Regularisation introduces a preference among compatible solutions; next we examine its cost.</a:t>
            </a:r>
          </a:p>
          <a:p>
            <a:endParaRPr/>
          </a:p>
          <a:p>
            <a:endParaRPr/>
          </a:p>
          <a:p>
            <a:endParaRPr/>
          </a:p>
          <a:p>
            <a:r>
              <a:t>Sources:</a:t>
            </a:r>
          </a:p>
          <a:p>
            <a:r>
              <a:t>Reproducible v5 ILT ambiguity and regularization simulations</a:t>
            </a:r>
          </a:p>
          <a:p>
            <a:endParaRPr/>
          </a:p>
          <a:p>
            <a:r>
              <a:t>[local-source: ilt_simulations.json]</a:t>
            </a:r>
          </a:p>
          <a:p>
            <a:r>
              <a:t>ILT method-choice and appendix guidance</a:t>
            </a:r>
          </a:p>
          <a:p>
            <a:endParaRPr/>
          </a:p>
          <a:p>
            <a:r>
              <a:t>[local-source: ilt_teaching_guidance.json]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Do not select by the most fashionable name. For one expected diffusion in an isolated signal, start with a monoexponential model. For a continuous distribution, smoothing, entropy or combinations such as PALMA impose different preferences. A few discrete species call for sparse or discrete fitting with justified order and separation. Use joint routes for relationships across frequencies. FISTA, ADMM and SVD are numerical tools: they do not replace the physical model on their own. The full appendix explains each use and limitation. Its records include overlapping methods, routes and components rather than unique algorithm counts or experimental certification.</a:t>
            </a:r>
          </a:p>
          <a:p>
            <a:endParaRPr/>
          </a:p>
          <a:p>
            <a:endParaRPr/>
          </a:p>
          <a:p>
            <a:endParaRPr/>
          </a:p>
          <a:p>
            <a:r>
              <a:t>Sources:</a:t>
            </a:r>
          </a:p>
          <a:p>
            <a:r>
              <a:t>Audited bilingual catalogue of local inversion methods and context families</a:t>
            </a:r>
          </a:p>
          <a:p>
            <a:endParaRPr/>
          </a:p>
          <a:p>
            <a:r>
              <a:t>[local-source: ilt_algorithm_catalog_bilingual.json]</a:t>
            </a:r>
          </a:p>
          <a:p>
            <a:r>
              <a:t>ILT method-choice and appendix guidance</a:t>
            </a:r>
          </a:p>
          <a:p>
            <a:endParaRPr/>
          </a:p>
          <a:p>
            <a:r>
              <a:t>[local-source: ilt_teaching_guidance.json]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6916D99-FC75-4874-A46D-B5F0BACA392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78BD9EDC-9980-4FF0-BA4C-F8307041D53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69DF1FB-1B73-4251-BC5E-91306E4D4663}"/>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80583A8-2169-4E7A-BBB4-57ACEABD7BF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F84346B8-70E3-470F-829E-45BCAAFAFA0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03B8002-68D0-4437-B7A8-96812E591C1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892759F3-AE3D-4724-A8E0-9A56766BEAF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60136A5C-F5F5-4DE6-9F9E-8615FCEDEE6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FE7FBF7-5E5E-40AF-81A9-13F16CF1B2A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DBE90861-E7F1-4411-978A-F2DE0DF574F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7.mp4"/><Relationship Id="rId1" Type="http://schemas.microsoft.com/office/2007/relationships/media" Target="../media/media7.mp4"/><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6" name="cover_title">
            <a:extLst>
              <a:ext uri="{FF2B5EF4-FFF2-40B4-BE49-F238E27FC236}">
                <a16:creationId xmlns:a16="http://schemas.microsoft.com/office/drawing/2014/main" id="{BC4F640D-770B-4B96-98D4-8325988CC0C7}"/>
              </a:ext>
            </a:extLst>
          </p:cNvPr>
          <p:cNvSpPr>
            <a:spLocks noGrp="1"/>
          </p:cNvSpPr>
          <p:nvPr/>
        </p:nvSpPr>
        <p:spPr>
          <a:xfrm>
            <a:off x="561975" y="581025"/>
            <a:ext cx="11001375" cy="1438275"/>
          </a:xfrm>
          <a:prstGeom prst="rect">
            <a:avLst/>
          </a:prstGeom>
          <a:noFill/>
          <a:ln w="0">
            <a:noFill/>
          </a:ln>
        </p:spPr>
        <p:txBody>
          <a:bodyPr lIns="0" tIns="0" rIns="0" bIns="0">
            <a:noAutofit/>
          </a:bodyPr>
          <a:lstStyle>
            <a:defPPr>
              <a:defRPr sz="9300" b="1">
                <a:solidFill>
                  <a:srgbClr val="123447"/>
                </a:solidFill>
                <a:latin typeface="Segoe UI"/>
                <a:ea typeface="Segoe UI"/>
                <a:cs typeface="Segoe UI"/>
              </a:defRPr>
            </a:defPPr>
          </a:lstStyle>
          <a:p>
            <a:pPr>
              <a:defRPr sz="9300" b="1">
                <a:solidFill>
                  <a:srgbClr val="123447"/>
                </a:solidFill>
                <a:latin typeface="Segoe UI"/>
                <a:ea typeface="Segoe UI"/>
                <a:cs typeface="Segoe UI"/>
              </a:defRPr>
            </a:pPr>
            <a:r>
              <a:rPr sz="9300" b="1">
                <a:solidFill>
                  <a:srgbClr val="123447"/>
                </a:solidFill>
                <a:latin typeface="Segoe UI"/>
                <a:ea typeface="Segoe UI"/>
                <a:cs typeface="Segoe UI"/>
              </a:rPr>
              <a:t>DOSY</a:t>
            </a:r>
          </a:p>
        </p:txBody>
      </p:sp>
      <p:sp>
        <p:nvSpPr>
          <p:cNvPr id="2" name="cover_subtitle">
            <a:extLst>
              <a:ext uri="{FF2B5EF4-FFF2-40B4-BE49-F238E27FC236}">
                <a16:creationId xmlns:a16="http://schemas.microsoft.com/office/drawing/2014/main" id="{E256BA9C-9D9A-47EC-BFC2-7B729CC09A55}"/>
              </a:ext>
            </a:extLst>
          </p:cNvPr>
          <p:cNvSpPr>
            <a:spLocks noGrp="1"/>
          </p:cNvSpPr>
          <p:nvPr/>
        </p:nvSpPr>
        <p:spPr>
          <a:xfrm>
            <a:off x="619125" y="2352675"/>
            <a:ext cx="10991850" cy="2057400"/>
          </a:xfrm>
          <a:prstGeom prst="rect">
            <a:avLst/>
          </a:prstGeom>
          <a:noFill/>
          <a:ln w="0">
            <a:noFill/>
          </a:ln>
        </p:spPr>
        <p:txBody>
          <a:bodyPr lIns="0" tIns="0" rIns="0" bIns="0">
            <a:noAutofit/>
          </a:bodyPr>
          <a:lstStyle>
            <a:defPPr>
              <a:defRPr sz="5250" b="1">
                <a:solidFill>
                  <a:srgbClr val="BE4038"/>
                </a:solidFill>
                <a:latin typeface="Segoe UI"/>
                <a:ea typeface="Segoe UI"/>
                <a:cs typeface="Segoe UI"/>
              </a:defRPr>
            </a:defPPr>
          </a:lstStyle>
          <a:p>
            <a:pPr>
              <a:defRPr sz="5250" b="1">
                <a:solidFill>
                  <a:srgbClr val="BE4038"/>
                </a:solidFill>
                <a:latin typeface="Segoe UI"/>
                <a:ea typeface="Segoe UI"/>
                <a:cs typeface="Segoe UI"/>
              </a:defRPr>
            </a:pPr>
            <a:r>
              <a:rPr sz="5250" b="1">
                <a:solidFill>
                  <a:srgbClr val="BE4038"/>
                </a:solidFill>
                <a:latin typeface="Segoe UI"/>
                <a:ea typeface="Segoe UI"/>
                <a:cs typeface="Segoe UI"/>
              </a:rPr>
              <a:t>How to address</a:t>
            </a:r>
          </a:p>
          <a:p>
            <a:pPr>
              <a:defRPr sz="5250" b="1">
                <a:solidFill>
                  <a:srgbClr val="BE4038"/>
                </a:solidFill>
                <a:latin typeface="Segoe UI"/>
                <a:ea typeface="Segoe UI"/>
                <a:cs typeface="Segoe UI"/>
              </a:defRPr>
            </a:pPr>
            <a:r>
              <a:rPr sz="5250" b="1">
                <a:solidFill>
                  <a:srgbClr val="BE4038"/>
                </a:solidFill>
                <a:latin typeface="Segoe UI"/>
                <a:ea typeface="Segoe UI"/>
                <a:cs typeface="Segoe UI"/>
              </a:rPr>
              <a:t>its difficulties</a:t>
            </a:r>
          </a:p>
        </p:txBody>
      </p:sp>
      <p:sp>
        <p:nvSpPr>
          <p:cNvPr id="3" name="text_119">
            <a:extLst>
              <a:ext uri="{FF2B5EF4-FFF2-40B4-BE49-F238E27FC236}">
                <a16:creationId xmlns:a16="http://schemas.microsoft.com/office/drawing/2014/main" id="{B7B72908-4992-4524-8832-0206A61E91AD}"/>
              </a:ext>
            </a:extLst>
          </p:cNvPr>
          <p:cNvSpPr>
            <a:spLocks noGrp="1"/>
          </p:cNvSpPr>
          <p:nvPr/>
        </p:nvSpPr>
        <p:spPr>
          <a:xfrm>
            <a:off x="647700" y="4552950"/>
            <a:ext cx="10820400" cy="466725"/>
          </a:xfrm>
          <a:prstGeom prst="rect">
            <a:avLst/>
          </a:prstGeom>
          <a:noFill/>
          <a:ln w="0">
            <a:noFill/>
          </a:ln>
        </p:spPr>
        <p:txBody>
          <a:bodyPr lIns="0" tIns="0" rIns="0" bIns="0">
            <a:noAutofit/>
          </a:bodyPr>
          <a:lstStyle>
            <a:defPPr>
              <a:defRPr sz="2250" b="0">
                <a:solidFill>
                  <a:srgbClr val="617580"/>
                </a:solidFill>
                <a:latin typeface="Segoe UI"/>
                <a:ea typeface="Segoe UI"/>
                <a:cs typeface="Segoe UI"/>
              </a:defRPr>
            </a:defPPr>
          </a:lstStyle>
          <a:p>
            <a:pPr>
              <a:defRPr sz="2250" b="0">
                <a:solidFill>
                  <a:srgbClr val="617580"/>
                </a:solidFill>
                <a:latin typeface="Segoe UI"/>
                <a:ea typeface="Segoe UI"/>
                <a:cs typeface="Segoe UI"/>
              </a:defRPr>
            </a:pPr>
            <a:r>
              <a:rPr sz="2250" b="0">
                <a:solidFill>
                  <a:srgbClr val="617580"/>
                </a:solidFill>
                <a:latin typeface="Segoe UI"/>
                <a:ea typeface="Segoe UI"/>
                <a:cs typeface="Segoe UI"/>
              </a:rPr>
              <a:t>A practical walkthrough · 20 minutes</a:t>
            </a:r>
          </a:p>
        </p:txBody>
      </p:sp>
      <p:sp>
        <p:nvSpPr>
          <p:cNvPr id="4" name="text_120">
            <a:extLst>
              <a:ext uri="{FF2B5EF4-FFF2-40B4-BE49-F238E27FC236}">
                <a16:creationId xmlns:a16="http://schemas.microsoft.com/office/drawing/2014/main" id="{42C86DB6-A2FC-457D-A240-1F937D915292}"/>
              </a:ext>
            </a:extLst>
          </p:cNvPr>
          <p:cNvSpPr>
            <a:spLocks noGrp="1"/>
          </p:cNvSpPr>
          <p:nvPr/>
        </p:nvSpPr>
        <p:spPr>
          <a:xfrm>
            <a:off x="647700" y="5353050"/>
            <a:ext cx="10001250" cy="752475"/>
          </a:xfrm>
          <a:prstGeom prst="rect">
            <a:avLst/>
          </a:prstGeom>
          <a:noFill/>
          <a:ln w="0">
            <a:noFill/>
          </a:ln>
        </p:spPr>
        <p:txBody>
          <a:bodyPr lIns="0" tIns="0" rIns="0" bIns="0">
            <a:noAutofit/>
          </a:bodyPr>
          <a:lstStyle>
            <a:defPPr>
              <a:defRPr sz="2100" b="0">
                <a:solidFill>
                  <a:srgbClr val="123447"/>
                </a:solidFill>
                <a:latin typeface="Segoe UI"/>
                <a:ea typeface="Segoe UI"/>
                <a:cs typeface="Segoe UI"/>
              </a:defRPr>
            </a:defPPr>
          </a:lstStyle>
          <a:p>
            <a:pPr>
              <a:defRPr sz="2100" b="0">
                <a:solidFill>
                  <a:srgbClr val="123447"/>
                </a:solidFill>
                <a:latin typeface="Segoe UI"/>
                <a:ea typeface="Segoe UI"/>
                <a:cs typeface="Segoe UI"/>
              </a:defRPr>
            </a:pPr>
            <a:r>
              <a:rPr sz="2100" b="0">
                <a:solidFill>
                  <a:srgbClr val="123447"/>
                </a:solidFill>
                <a:latin typeface="Segoe UI"/>
                <a:ea typeface="Segoe UI"/>
                <a:cs typeface="Segoe UI"/>
              </a:rPr>
              <a:t>Ignacio Fernández</a:t>
            </a:r>
          </a:p>
          <a:p>
            <a:pPr>
              <a:defRPr sz="2100" b="0">
                <a:solidFill>
                  <a:srgbClr val="123447"/>
                </a:solidFill>
                <a:latin typeface="Segoe UI"/>
                <a:ea typeface="Segoe UI"/>
                <a:cs typeface="Segoe UI"/>
              </a:defRPr>
            </a:pPr>
            <a:r>
              <a:rPr sz="2100" b="0">
                <a:solidFill>
                  <a:srgbClr val="123447"/>
                </a:solidFill>
                <a:latin typeface="Segoe UI"/>
                <a:ea typeface="Segoe UI"/>
                <a:cs typeface="Segoe UI"/>
              </a:rPr>
              <a:t>Francisco Manuel Arrabal-Campos</a:t>
            </a:r>
          </a:p>
        </p:txBody>
      </p:sp>
      <p:sp>
        <p:nvSpPr>
          <p:cNvPr id="5" name="text_121">
            <a:extLst>
              <a:ext uri="{FF2B5EF4-FFF2-40B4-BE49-F238E27FC236}">
                <a16:creationId xmlns:a16="http://schemas.microsoft.com/office/drawing/2014/main" id="{53136612-6D66-44B9-ADF1-AF8C69D30216}"/>
              </a:ext>
            </a:extLst>
          </p:cNvPr>
          <p:cNvSpPr>
            <a:spLocks noGrp="1"/>
          </p:cNvSpPr>
          <p:nvPr/>
        </p:nvSpPr>
        <p:spPr>
          <a:xfrm>
            <a:off x="647700" y="6324600"/>
            <a:ext cx="10477500" cy="304800"/>
          </a:xfrm>
          <a:prstGeom prst="rect">
            <a:avLst/>
          </a:prstGeom>
          <a:noFill/>
          <a:ln w="0">
            <a:noFill/>
          </a:ln>
        </p:spPr>
        <p:txBody>
          <a:bodyPr lIns="0" tIns="0" rIns="0" bIns="0">
            <a:noAutofit/>
          </a:bodyPr>
          <a:lstStyle>
            <a:defPPr>
              <a:defRPr sz="1650" b="0">
                <a:solidFill>
                  <a:srgbClr val="617580"/>
                </a:solidFill>
                <a:latin typeface="Segoe UI"/>
                <a:ea typeface="Segoe UI"/>
                <a:cs typeface="Segoe UI"/>
              </a:defRPr>
            </a:defPPr>
          </a:lstStyle>
          <a:p>
            <a:pPr>
              <a:defRPr sz="1650" b="0">
                <a:solidFill>
                  <a:srgbClr val="617580"/>
                </a:solidFill>
                <a:latin typeface="Segoe UI"/>
                <a:ea typeface="Segoe UI"/>
                <a:cs typeface="Segoe UI"/>
              </a:defRPr>
            </a:pPr>
            <a:r>
              <a:rPr sz="1650" b="0">
                <a:solidFill>
                  <a:srgbClr val="617580"/>
                </a:solidFill>
                <a:latin typeface="Segoe UI"/>
                <a:ea typeface="Segoe UI"/>
                <a:cs typeface="Segoe UI"/>
              </a:rPr>
              <a:t>University of Almería · CIAIMBITAL / CIMEDES</a:t>
            </a:r>
          </a:p>
        </p:txBody>
      </p:sp>
    </p:spTree>
    <p:extLst>
      <p:ext uri="{BB962C8B-B14F-4D97-AF65-F5344CB8AC3E}">
        <p14:creationId xmlns:p14="http://schemas.microsoft.com/office/powerpoint/2010/main" val="72465127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15" name="slide_number">
            <a:extLst>
              <a:ext uri="{FF2B5EF4-FFF2-40B4-BE49-F238E27FC236}">
                <a16:creationId xmlns:a16="http://schemas.microsoft.com/office/drawing/2014/main" id="{0E8A1478-15C7-484F-B96B-F39ACF184477}"/>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02</a:t>
            </a:r>
          </a:p>
        </p:txBody>
      </p:sp>
      <p:sp>
        <p:nvSpPr>
          <p:cNvPr id="2" name="slide_title">
            <a:extLst>
              <a:ext uri="{FF2B5EF4-FFF2-40B4-BE49-F238E27FC236}">
                <a16:creationId xmlns:a16="http://schemas.microsoft.com/office/drawing/2014/main" id="{5B536798-EC9E-4643-94E8-C3F7AFFD7C09}"/>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675" b="1">
                <a:solidFill>
                  <a:srgbClr val="EAF3F4"/>
                </a:solidFill>
                <a:latin typeface="Segoe UI"/>
                <a:ea typeface="Segoe UI"/>
                <a:cs typeface="Segoe UI"/>
              </a:defRPr>
            </a:defPPr>
          </a:lstStyle>
          <a:p>
            <a:pPr>
              <a:defRPr sz="3675" b="1">
                <a:solidFill>
                  <a:srgbClr val="EAF3F4"/>
                </a:solidFill>
                <a:latin typeface="Segoe UI"/>
                <a:ea typeface="Segoe UI"/>
                <a:cs typeface="Segoe UI"/>
              </a:defRPr>
            </a:pPr>
            <a:r>
              <a:rPr sz="3675" b="1">
                <a:solidFill>
                  <a:srgbClr val="EAF3F4"/>
                </a:solidFill>
                <a:latin typeface="Segoe UI"/>
                <a:ea typeface="Segoe UI"/>
                <a:cs typeface="Segoe UI"/>
              </a:rPr>
              <a:t>Measuring, processing and checking DOSY</a:t>
            </a:r>
          </a:p>
        </p:txBody>
      </p:sp>
      <p:sp>
        <p:nvSpPr>
          <p:cNvPr id="3" name="text_122">
            <a:extLst>
              <a:ext uri="{FF2B5EF4-FFF2-40B4-BE49-F238E27FC236}">
                <a16:creationId xmlns:a16="http://schemas.microsoft.com/office/drawing/2014/main" id="{580E5F1A-3F71-4A19-A627-F882D5D339AA}"/>
              </a:ext>
            </a:extLst>
          </p:cNvPr>
          <p:cNvSpPr>
            <a:spLocks noGrp="1"/>
          </p:cNvSpPr>
          <p:nvPr/>
        </p:nvSpPr>
        <p:spPr>
          <a:xfrm>
            <a:off x="581025" y="1866900"/>
            <a:ext cx="809625" cy="523875"/>
          </a:xfrm>
          <a:prstGeom prst="rect">
            <a:avLst/>
          </a:prstGeom>
          <a:noFill/>
          <a:ln w="0">
            <a:noFill/>
          </a:ln>
        </p:spPr>
        <p:txBody>
          <a:bodyPr lIns="0" tIns="0" rIns="0" bIns="0">
            <a:noAutofit/>
          </a:bodyPr>
          <a:lstStyle>
            <a:defPPr>
              <a:defRPr sz="3000" b="1">
                <a:solidFill>
                  <a:srgbClr val="FF817B"/>
                </a:solidFill>
                <a:latin typeface="Segoe UI"/>
                <a:ea typeface="Segoe UI"/>
                <a:cs typeface="Segoe UI"/>
              </a:defRPr>
            </a:defPPr>
          </a:lstStyle>
          <a:p>
            <a:pPr>
              <a:defRPr sz="3000" b="1">
                <a:solidFill>
                  <a:srgbClr val="FF817B"/>
                </a:solidFill>
                <a:latin typeface="Segoe UI"/>
                <a:ea typeface="Segoe UI"/>
                <a:cs typeface="Segoe UI"/>
              </a:defRPr>
            </a:pPr>
            <a:r>
              <a:rPr sz="3000" b="1">
                <a:solidFill>
                  <a:srgbClr val="FF817B"/>
                </a:solidFill>
                <a:latin typeface="Segoe UI"/>
                <a:ea typeface="Segoe UI"/>
                <a:cs typeface="Segoe UI"/>
              </a:rPr>
              <a:t>01</a:t>
            </a:r>
          </a:p>
        </p:txBody>
      </p:sp>
      <p:sp>
        <p:nvSpPr>
          <p:cNvPr id="4" name="text_123">
            <a:extLst>
              <a:ext uri="{FF2B5EF4-FFF2-40B4-BE49-F238E27FC236}">
                <a16:creationId xmlns:a16="http://schemas.microsoft.com/office/drawing/2014/main" id="{7E9AB1C6-CBF4-460E-A25B-21DA20369EF4}"/>
              </a:ext>
            </a:extLst>
          </p:cNvPr>
          <p:cNvSpPr>
            <a:spLocks noGrp="1"/>
          </p:cNvSpPr>
          <p:nvPr/>
        </p:nvSpPr>
        <p:spPr>
          <a:xfrm>
            <a:off x="1571625" y="1914525"/>
            <a:ext cx="3438525" cy="609600"/>
          </a:xfrm>
          <a:prstGeom prst="rect">
            <a:avLst/>
          </a:prstGeom>
          <a:noFill/>
          <a:ln w="0">
            <a:noFill/>
          </a:ln>
        </p:spPr>
        <p:txBody>
          <a:bodyPr lIns="0" tIns="0" rIns="0" bIns="0">
            <a:noAutofit/>
          </a:bodyPr>
          <a:lstStyle>
            <a:defPPr>
              <a:defRPr sz="1950" b="1">
                <a:solidFill>
                  <a:srgbClr val="EAF3F4"/>
                </a:solidFill>
                <a:latin typeface="Segoe UI"/>
                <a:ea typeface="Segoe UI"/>
                <a:cs typeface="Segoe UI"/>
              </a:defRPr>
            </a:defPPr>
          </a:lstStyle>
          <a:p>
            <a:pPr>
              <a:defRPr sz="1950" b="1">
                <a:solidFill>
                  <a:srgbClr val="EAF3F4"/>
                </a:solidFill>
                <a:latin typeface="Segoe UI"/>
                <a:ea typeface="Segoe UI"/>
                <a:cs typeface="Segoe UI"/>
              </a:defRPr>
            </a:pPr>
            <a:r>
              <a:rPr sz="1950" b="1">
                <a:solidFill>
                  <a:srgbClr val="EAF3F4"/>
                </a:solidFill>
                <a:latin typeface="Segoe UI"/>
                <a:ea typeface="Segoe UI"/>
                <a:cs typeface="Segoe UI"/>
              </a:rPr>
              <a:t>PREPARE THE MEASUREMENT</a:t>
            </a:r>
          </a:p>
        </p:txBody>
      </p:sp>
      <p:sp>
        <p:nvSpPr>
          <p:cNvPr id="5" name="text_124">
            <a:extLst>
              <a:ext uri="{FF2B5EF4-FFF2-40B4-BE49-F238E27FC236}">
                <a16:creationId xmlns:a16="http://schemas.microsoft.com/office/drawing/2014/main" id="{669E8677-6C61-4761-A453-75CAD250B016}"/>
              </a:ext>
            </a:extLst>
          </p:cNvPr>
          <p:cNvSpPr>
            <a:spLocks noGrp="1"/>
          </p:cNvSpPr>
          <p:nvPr/>
        </p:nvSpPr>
        <p:spPr>
          <a:xfrm>
            <a:off x="5219700" y="1905000"/>
            <a:ext cx="6410325" cy="800100"/>
          </a:xfrm>
          <a:prstGeom prst="rect">
            <a:avLst/>
          </a:prstGeom>
          <a:noFill/>
          <a:ln w="0">
            <a:noFill/>
          </a:ln>
        </p:spPr>
        <p:txBody>
          <a:bodyPr lIns="0" tIns="0" rIns="0" bIns="0">
            <a:noAutofit/>
          </a:bodyPr>
          <a:lstStyle>
            <a:defPPr>
              <a:defRPr sz="2175" b="0">
                <a:solidFill>
                  <a:srgbClr val="A9C0CC"/>
                </a:solidFill>
                <a:latin typeface="Segoe UI"/>
                <a:ea typeface="Segoe UI"/>
                <a:cs typeface="Segoe UI"/>
              </a:defRPr>
            </a:defPPr>
          </a:lstStyle>
          <a:p>
            <a:pPr>
              <a:defRPr sz="2175" b="0">
                <a:solidFill>
                  <a:srgbClr val="A9C0CC"/>
                </a:solidFill>
                <a:latin typeface="Segoe UI"/>
                <a:ea typeface="Segoe UI"/>
                <a:cs typeface="Segoe UI"/>
              </a:defRPr>
            </a:pPr>
            <a:r>
              <a:rPr sz="2175" b="0">
                <a:solidFill>
                  <a:srgbClr val="A9C0CC"/>
                </a:solidFill>
                <a:latin typeface="Segoe UI"/>
                <a:ea typeface="Segoe UI"/>
                <a:cs typeface="Segoe UI"/>
              </a:rPr>
              <a:t>Calibration and parameter selection</a:t>
            </a:r>
          </a:p>
        </p:txBody>
      </p:sp>
      <p:sp>
        <p:nvSpPr>
          <p:cNvPr id="6" name="text_125">
            <a:extLst>
              <a:ext uri="{FF2B5EF4-FFF2-40B4-BE49-F238E27FC236}">
                <a16:creationId xmlns:a16="http://schemas.microsoft.com/office/drawing/2014/main" id="{15267E56-0AFA-409D-9EE1-26BF2C4FB9EC}"/>
              </a:ext>
            </a:extLst>
          </p:cNvPr>
          <p:cNvSpPr>
            <a:spLocks noGrp="1"/>
          </p:cNvSpPr>
          <p:nvPr/>
        </p:nvSpPr>
        <p:spPr>
          <a:xfrm>
            <a:off x="581025" y="2886075"/>
            <a:ext cx="809625" cy="523875"/>
          </a:xfrm>
          <a:prstGeom prst="rect">
            <a:avLst/>
          </a:prstGeom>
          <a:noFill/>
          <a:ln w="0">
            <a:noFill/>
          </a:ln>
        </p:spPr>
        <p:txBody>
          <a:bodyPr lIns="0" tIns="0" rIns="0" bIns="0">
            <a:noAutofit/>
          </a:bodyPr>
          <a:lstStyle>
            <a:defPPr>
              <a:defRPr sz="3000" b="1">
                <a:solidFill>
                  <a:srgbClr val="FF817B"/>
                </a:solidFill>
                <a:latin typeface="Segoe UI"/>
                <a:ea typeface="Segoe UI"/>
                <a:cs typeface="Segoe UI"/>
              </a:defRPr>
            </a:defPPr>
          </a:lstStyle>
          <a:p>
            <a:pPr>
              <a:defRPr sz="3000" b="1">
                <a:solidFill>
                  <a:srgbClr val="FF817B"/>
                </a:solidFill>
                <a:latin typeface="Segoe UI"/>
                <a:ea typeface="Segoe UI"/>
                <a:cs typeface="Segoe UI"/>
              </a:defRPr>
            </a:pPr>
            <a:r>
              <a:rPr sz="3000" b="1">
                <a:solidFill>
                  <a:srgbClr val="FF817B"/>
                </a:solidFill>
                <a:latin typeface="Segoe UI"/>
                <a:ea typeface="Segoe UI"/>
                <a:cs typeface="Segoe UI"/>
              </a:rPr>
              <a:t>02</a:t>
            </a:r>
          </a:p>
        </p:txBody>
      </p:sp>
      <p:sp>
        <p:nvSpPr>
          <p:cNvPr id="7" name="text_126">
            <a:extLst>
              <a:ext uri="{FF2B5EF4-FFF2-40B4-BE49-F238E27FC236}">
                <a16:creationId xmlns:a16="http://schemas.microsoft.com/office/drawing/2014/main" id="{46C7C5E9-1734-44B7-9DF0-49038A1984A1}"/>
              </a:ext>
            </a:extLst>
          </p:cNvPr>
          <p:cNvSpPr>
            <a:spLocks noGrp="1"/>
          </p:cNvSpPr>
          <p:nvPr/>
        </p:nvSpPr>
        <p:spPr>
          <a:xfrm>
            <a:off x="1571625" y="2933700"/>
            <a:ext cx="3438525" cy="609600"/>
          </a:xfrm>
          <a:prstGeom prst="rect">
            <a:avLst/>
          </a:prstGeom>
          <a:noFill/>
          <a:ln w="0">
            <a:noFill/>
          </a:ln>
        </p:spPr>
        <p:txBody>
          <a:bodyPr lIns="0" tIns="0" rIns="0" bIns="0">
            <a:noAutofit/>
          </a:bodyPr>
          <a:lstStyle>
            <a:defPPr>
              <a:defRPr sz="1950" b="1">
                <a:solidFill>
                  <a:srgbClr val="EAF3F4"/>
                </a:solidFill>
                <a:latin typeface="Segoe UI"/>
                <a:ea typeface="Segoe UI"/>
                <a:cs typeface="Segoe UI"/>
              </a:defRPr>
            </a:defPPr>
          </a:lstStyle>
          <a:p>
            <a:pPr>
              <a:defRPr sz="1950" b="1">
                <a:solidFill>
                  <a:srgbClr val="EAF3F4"/>
                </a:solidFill>
                <a:latin typeface="Segoe UI"/>
                <a:ea typeface="Segoe UI"/>
                <a:cs typeface="Segoe UI"/>
              </a:defRPr>
            </a:pPr>
            <a:r>
              <a:rPr sz="1950" b="1">
                <a:solidFill>
                  <a:srgbClr val="EAF3F4"/>
                </a:solidFill>
                <a:latin typeface="Segoe UI"/>
                <a:ea typeface="Segoe UI"/>
                <a:cs typeface="Segoe UI"/>
              </a:rPr>
              <a:t>UNDERSTAND THE DATA</a:t>
            </a:r>
          </a:p>
        </p:txBody>
      </p:sp>
      <p:sp>
        <p:nvSpPr>
          <p:cNvPr id="8" name="text_127">
            <a:extLst>
              <a:ext uri="{FF2B5EF4-FFF2-40B4-BE49-F238E27FC236}">
                <a16:creationId xmlns:a16="http://schemas.microsoft.com/office/drawing/2014/main" id="{AD2382EE-C638-4F07-9876-D0E56D5A1919}"/>
              </a:ext>
            </a:extLst>
          </p:cNvPr>
          <p:cNvSpPr>
            <a:spLocks noGrp="1"/>
          </p:cNvSpPr>
          <p:nvPr/>
        </p:nvSpPr>
        <p:spPr>
          <a:xfrm>
            <a:off x="5219700" y="2924175"/>
            <a:ext cx="6410325" cy="800100"/>
          </a:xfrm>
          <a:prstGeom prst="rect">
            <a:avLst/>
          </a:prstGeom>
          <a:noFill/>
          <a:ln w="0">
            <a:noFill/>
          </a:ln>
        </p:spPr>
        <p:txBody>
          <a:bodyPr lIns="0" tIns="0" rIns="0" bIns="0">
            <a:noAutofit/>
          </a:bodyPr>
          <a:lstStyle>
            <a:defPPr>
              <a:defRPr sz="2175" b="0">
                <a:solidFill>
                  <a:srgbClr val="A9C0CC"/>
                </a:solidFill>
                <a:latin typeface="Segoe UI"/>
                <a:ea typeface="Segoe UI"/>
                <a:cs typeface="Segoe UI"/>
              </a:defRPr>
            </a:defPPr>
          </a:lstStyle>
          <a:p>
            <a:pPr>
              <a:defRPr sz="2175" b="0">
                <a:solidFill>
                  <a:srgbClr val="A9C0CC"/>
                </a:solidFill>
                <a:latin typeface="Segoe UI"/>
                <a:ea typeface="Segoe UI"/>
                <a:cs typeface="Segoe UI"/>
              </a:defRPr>
            </a:pPr>
            <a:r>
              <a:rPr sz="2175" b="0">
                <a:solidFill>
                  <a:srgbClr val="A9C0CC"/>
                </a:solidFill>
                <a:latin typeface="Segoe UI"/>
                <a:ea typeface="Segoe UI"/>
                <a:cs typeface="Segoe UI"/>
              </a:rPr>
              <a:t>Processing and inversion can be misleading</a:t>
            </a:r>
          </a:p>
        </p:txBody>
      </p:sp>
      <p:sp>
        <p:nvSpPr>
          <p:cNvPr id="9" name="text_128">
            <a:extLst>
              <a:ext uri="{FF2B5EF4-FFF2-40B4-BE49-F238E27FC236}">
                <a16:creationId xmlns:a16="http://schemas.microsoft.com/office/drawing/2014/main" id="{7A4BD7B6-C658-4B90-B62D-CD63A020ACDF}"/>
              </a:ext>
            </a:extLst>
          </p:cNvPr>
          <p:cNvSpPr>
            <a:spLocks noGrp="1"/>
          </p:cNvSpPr>
          <p:nvPr/>
        </p:nvSpPr>
        <p:spPr>
          <a:xfrm>
            <a:off x="581025" y="3905250"/>
            <a:ext cx="809625" cy="523875"/>
          </a:xfrm>
          <a:prstGeom prst="rect">
            <a:avLst/>
          </a:prstGeom>
          <a:noFill/>
          <a:ln w="0">
            <a:noFill/>
          </a:ln>
        </p:spPr>
        <p:txBody>
          <a:bodyPr lIns="0" tIns="0" rIns="0" bIns="0">
            <a:noAutofit/>
          </a:bodyPr>
          <a:lstStyle>
            <a:defPPr>
              <a:defRPr sz="3000" b="1">
                <a:solidFill>
                  <a:srgbClr val="FF817B"/>
                </a:solidFill>
                <a:latin typeface="Segoe UI"/>
                <a:ea typeface="Segoe UI"/>
                <a:cs typeface="Segoe UI"/>
              </a:defRPr>
            </a:defPPr>
          </a:lstStyle>
          <a:p>
            <a:pPr>
              <a:defRPr sz="3000" b="1">
                <a:solidFill>
                  <a:srgbClr val="FF817B"/>
                </a:solidFill>
                <a:latin typeface="Segoe UI"/>
                <a:ea typeface="Segoe UI"/>
                <a:cs typeface="Segoe UI"/>
              </a:defRPr>
            </a:pPr>
            <a:r>
              <a:rPr sz="3000" b="1">
                <a:solidFill>
                  <a:srgbClr val="FF817B"/>
                </a:solidFill>
                <a:latin typeface="Segoe UI"/>
                <a:ea typeface="Segoe UI"/>
                <a:cs typeface="Segoe UI"/>
              </a:rPr>
              <a:t>03</a:t>
            </a:r>
          </a:p>
        </p:txBody>
      </p:sp>
      <p:sp>
        <p:nvSpPr>
          <p:cNvPr id="10" name="text_129">
            <a:extLst>
              <a:ext uri="{FF2B5EF4-FFF2-40B4-BE49-F238E27FC236}">
                <a16:creationId xmlns:a16="http://schemas.microsoft.com/office/drawing/2014/main" id="{847064E6-C25D-4833-B014-0EF30D0D24AD}"/>
              </a:ext>
            </a:extLst>
          </p:cNvPr>
          <p:cNvSpPr>
            <a:spLocks noGrp="1"/>
          </p:cNvSpPr>
          <p:nvPr/>
        </p:nvSpPr>
        <p:spPr>
          <a:xfrm>
            <a:off x="1571625" y="3952875"/>
            <a:ext cx="3438525" cy="609600"/>
          </a:xfrm>
          <a:prstGeom prst="rect">
            <a:avLst/>
          </a:prstGeom>
          <a:noFill/>
          <a:ln w="0">
            <a:noFill/>
          </a:ln>
        </p:spPr>
        <p:txBody>
          <a:bodyPr lIns="0" tIns="0" rIns="0" bIns="0">
            <a:noAutofit/>
          </a:bodyPr>
          <a:lstStyle>
            <a:defPPr>
              <a:defRPr sz="1950" b="1">
                <a:solidFill>
                  <a:srgbClr val="EAF3F4"/>
                </a:solidFill>
                <a:latin typeface="Segoe UI"/>
                <a:ea typeface="Segoe UI"/>
                <a:cs typeface="Segoe UI"/>
              </a:defRPr>
            </a:defPPr>
          </a:lstStyle>
          <a:p>
            <a:pPr>
              <a:defRPr sz="1950" b="1">
                <a:solidFill>
                  <a:srgbClr val="EAF3F4"/>
                </a:solidFill>
                <a:latin typeface="Segoe UI"/>
                <a:ea typeface="Segoe UI"/>
                <a:cs typeface="Segoe UI"/>
              </a:defRPr>
            </a:pPr>
            <a:r>
              <a:rPr sz="1950" b="1">
                <a:solidFill>
                  <a:srgbClr val="EAF3F4"/>
                </a:solidFill>
                <a:latin typeface="Segoe UI"/>
                <a:ea typeface="Segoe UI"/>
                <a:cs typeface="Segoe UI"/>
              </a:rPr>
              <a:t>USE THE TOOLS</a:t>
            </a:r>
          </a:p>
        </p:txBody>
      </p:sp>
      <p:sp>
        <p:nvSpPr>
          <p:cNvPr id="11" name="text_130">
            <a:extLst>
              <a:ext uri="{FF2B5EF4-FFF2-40B4-BE49-F238E27FC236}">
                <a16:creationId xmlns:a16="http://schemas.microsoft.com/office/drawing/2014/main" id="{7A8729F8-1574-4D65-8472-998A7A4A3A5D}"/>
              </a:ext>
            </a:extLst>
          </p:cNvPr>
          <p:cNvSpPr>
            <a:spLocks noGrp="1"/>
          </p:cNvSpPr>
          <p:nvPr/>
        </p:nvSpPr>
        <p:spPr>
          <a:xfrm>
            <a:off x="5219700" y="3943350"/>
            <a:ext cx="6410325" cy="800100"/>
          </a:xfrm>
          <a:prstGeom prst="rect">
            <a:avLst/>
          </a:prstGeom>
          <a:noFill/>
          <a:ln w="0">
            <a:noFill/>
          </a:ln>
        </p:spPr>
        <p:txBody>
          <a:bodyPr lIns="0" tIns="0" rIns="0" bIns="0">
            <a:noAutofit/>
          </a:bodyPr>
          <a:lstStyle>
            <a:defPPr>
              <a:defRPr sz="2175" b="0">
                <a:solidFill>
                  <a:srgbClr val="A9C0CC"/>
                </a:solidFill>
                <a:latin typeface="Segoe UI"/>
                <a:ea typeface="Segoe UI"/>
                <a:cs typeface="Segoe UI"/>
              </a:defRPr>
            </a:defPPr>
          </a:lstStyle>
          <a:p>
            <a:pPr>
              <a:defRPr sz="2175" b="0">
                <a:solidFill>
                  <a:srgbClr val="A9C0CC"/>
                </a:solidFill>
                <a:latin typeface="Segoe UI"/>
                <a:ea typeface="Segoe UI"/>
                <a:cs typeface="Segoe UI"/>
              </a:defRPr>
            </a:pPr>
            <a:r>
              <a:rPr sz="2175" b="0">
                <a:solidFill>
                  <a:srgbClr val="A9C0CC"/>
                </a:solidFill>
                <a:latin typeface="Segoe UI"/>
                <a:ea typeface="Segoe UI"/>
                <a:cs typeface="Segoe UI"/>
              </a:rPr>
              <a:t>Our software and practical cases</a:t>
            </a:r>
          </a:p>
        </p:txBody>
      </p:sp>
      <p:sp>
        <p:nvSpPr>
          <p:cNvPr id="12" name="text_131">
            <a:extLst>
              <a:ext uri="{FF2B5EF4-FFF2-40B4-BE49-F238E27FC236}">
                <a16:creationId xmlns:a16="http://schemas.microsoft.com/office/drawing/2014/main" id="{74940556-CF85-4629-9BCB-524A00404CAF}"/>
              </a:ext>
            </a:extLst>
          </p:cNvPr>
          <p:cNvSpPr>
            <a:spLocks noGrp="1"/>
          </p:cNvSpPr>
          <p:nvPr/>
        </p:nvSpPr>
        <p:spPr>
          <a:xfrm>
            <a:off x="581025" y="4924425"/>
            <a:ext cx="809625" cy="523875"/>
          </a:xfrm>
          <a:prstGeom prst="rect">
            <a:avLst/>
          </a:prstGeom>
          <a:noFill/>
          <a:ln w="0">
            <a:noFill/>
          </a:ln>
        </p:spPr>
        <p:txBody>
          <a:bodyPr lIns="0" tIns="0" rIns="0" bIns="0">
            <a:noAutofit/>
          </a:bodyPr>
          <a:lstStyle>
            <a:defPPr>
              <a:defRPr sz="3000" b="1">
                <a:solidFill>
                  <a:srgbClr val="FF817B"/>
                </a:solidFill>
                <a:latin typeface="Segoe UI"/>
                <a:ea typeface="Segoe UI"/>
                <a:cs typeface="Segoe UI"/>
              </a:defRPr>
            </a:defPPr>
          </a:lstStyle>
          <a:p>
            <a:pPr>
              <a:defRPr sz="3000" b="1">
                <a:solidFill>
                  <a:srgbClr val="FF817B"/>
                </a:solidFill>
                <a:latin typeface="Segoe UI"/>
                <a:ea typeface="Segoe UI"/>
                <a:cs typeface="Segoe UI"/>
              </a:defRPr>
            </a:pPr>
            <a:r>
              <a:rPr sz="3000" b="1">
                <a:solidFill>
                  <a:srgbClr val="FF817B"/>
                </a:solidFill>
                <a:latin typeface="Segoe UI"/>
                <a:ea typeface="Segoe UI"/>
                <a:cs typeface="Segoe UI"/>
              </a:rPr>
              <a:t>04</a:t>
            </a:r>
          </a:p>
        </p:txBody>
      </p:sp>
      <p:sp>
        <p:nvSpPr>
          <p:cNvPr id="13" name="text_132">
            <a:extLst>
              <a:ext uri="{FF2B5EF4-FFF2-40B4-BE49-F238E27FC236}">
                <a16:creationId xmlns:a16="http://schemas.microsoft.com/office/drawing/2014/main" id="{1BC70AB4-AD54-4B8A-BB9F-FA3916F218B8}"/>
              </a:ext>
            </a:extLst>
          </p:cNvPr>
          <p:cNvSpPr>
            <a:spLocks noGrp="1"/>
          </p:cNvSpPr>
          <p:nvPr/>
        </p:nvSpPr>
        <p:spPr>
          <a:xfrm>
            <a:off x="1571625" y="4972050"/>
            <a:ext cx="3438525" cy="609600"/>
          </a:xfrm>
          <a:prstGeom prst="rect">
            <a:avLst/>
          </a:prstGeom>
          <a:noFill/>
          <a:ln w="0">
            <a:noFill/>
          </a:ln>
        </p:spPr>
        <p:txBody>
          <a:bodyPr lIns="0" tIns="0" rIns="0" bIns="0">
            <a:noAutofit/>
          </a:bodyPr>
          <a:lstStyle>
            <a:defPPr>
              <a:defRPr sz="1950" b="1">
                <a:solidFill>
                  <a:srgbClr val="EAF3F4"/>
                </a:solidFill>
                <a:latin typeface="Segoe UI"/>
                <a:ea typeface="Segoe UI"/>
                <a:cs typeface="Segoe UI"/>
              </a:defRPr>
            </a:defPPr>
          </a:lstStyle>
          <a:p>
            <a:pPr>
              <a:defRPr sz="1950" b="1">
                <a:solidFill>
                  <a:srgbClr val="EAF3F4"/>
                </a:solidFill>
                <a:latin typeface="Segoe UI"/>
                <a:ea typeface="Segoe UI"/>
                <a:cs typeface="Segoe UI"/>
              </a:defRPr>
            </a:pPr>
            <a:r>
              <a:rPr sz="1950" b="1">
                <a:solidFill>
                  <a:srgbClr val="EAF3F4"/>
                </a:solidFill>
                <a:latin typeface="Segoe UI"/>
                <a:ea typeface="Segoe UI"/>
                <a:cs typeface="Segoe UI"/>
              </a:rPr>
              <a:t>CHECK THE RESULT</a:t>
            </a:r>
          </a:p>
        </p:txBody>
      </p:sp>
      <p:sp>
        <p:nvSpPr>
          <p:cNvPr id="14" name="text_133">
            <a:extLst>
              <a:ext uri="{FF2B5EF4-FFF2-40B4-BE49-F238E27FC236}">
                <a16:creationId xmlns:a16="http://schemas.microsoft.com/office/drawing/2014/main" id="{A247051C-9DF6-4DAF-90E9-AF18E839DBD2}"/>
              </a:ext>
            </a:extLst>
          </p:cNvPr>
          <p:cNvSpPr>
            <a:spLocks noGrp="1"/>
          </p:cNvSpPr>
          <p:nvPr/>
        </p:nvSpPr>
        <p:spPr>
          <a:xfrm>
            <a:off x="5219700" y="4962525"/>
            <a:ext cx="6410325" cy="800100"/>
          </a:xfrm>
          <a:prstGeom prst="rect">
            <a:avLst/>
          </a:prstGeom>
          <a:noFill/>
          <a:ln w="0">
            <a:noFill/>
          </a:ln>
        </p:spPr>
        <p:txBody>
          <a:bodyPr lIns="0" tIns="0" rIns="0" bIns="0">
            <a:noAutofit/>
          </a:bodyPr>
          <a:lstStyle>
            <a:defPPr>
              <a:defRPr sz="2175" b="0">
                <a:solidFill>
                  <a:srgbClr val="A9C0CC"/>
                </a:solidFill>
                <a:latin typeface="Segoe UI"/>
                <a:ea typeface="Segoe UI"/>
                <a:cs typeface="Segoe UI"/>
              </a:defRPr>
            </a:defPPr>
          </a:lstStyle>
          <a:p>
            <a:pPr>
              <a:defRPr sz="2175" b="0">
                <a:solidFill>
                  <a:srgbClr val="A9C0CC"/>
                </a:solidFill>
                <a:latin typeface="Segoe UI"/>
                <a:ea typeface="Segoe UI"/>
                <a:cs typeface="Segoe UI"/>
              </a:defRPr>
            </a:pPr>
            <a:r>
              <a:rPr sz="2175" b="0">
                <a:solidFill>
                  <a:srgbClr val="A9C0CC"/>
                </a:solidFill>
                <a:latin typeface="Segoe UI"/>
                <a:ea typeface="Segoe UI"/>
                <a:cs typeface="Segoe UI"/>
              </a:rPr>
              <a:t>Documented successes and the next ultrafast step</a:t>
            </a:r>
          </a:p>
        </p:txBody>
      </p:sp>
    </p:spTree>
    <p:extLst>
      <p:ext uri="{BB962C8B-B14F-4D97-AF65-F5344CB8AC3E}">
        <p14:creationId xmlns:p14="http://schemas.microsoft.com/office/powerpoint/2010/main" val="30684763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8" name="slide_number">
            <a:extLst>
              <a:ext uri="{FF2B5EF4-FFF2-40B4-BE49-F238E27FC236}">
                <a16:creationId xmlns:a16="http://schemas.microsoft.com/office/drawing/2014/main" id="{E6245275-AA47-425F-B7F8-14EF4A1ABE23}"/>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03</a:t>
            </a:r>
          </a:p>
        </p:txBody>
      </p:sp>
      <p:sp>
        <p:nvSpPr>
          <p:cNvPr id="2" name="slide_title">
            <a:extLst>
              <a:ext uri="{FF2B5EF4-FFF2-40B4-BE49-F238E27FC236}">
                <a16:creationId xmlns:a16="http://schemas.microsoft.com/office/drawing/2014/main" id="{D0DD7AA7-0FE3-4001-9164-6290B595E128}"/>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525" b="1">
                <a:solidFill>
                  <a:srgbClr val="123447"/>
                </a:solidFill>
                <a:latin typeface="Segoe UI"/>
                <a:ea typeface="Segoe UI"/>
                <a:cs typeface="Segoe UI"/>
              </a:defRPr>
            </a:defPPr>
          </a:lstStyle>
          <a:p>
            <a:pPr>
              <a:defRPr sz="3525" b="1">
                <a:solidFill>
                  <a:srgbClr val="123447"/>
                </a:solidFill>
                <a:latin typeface="Segoe UI"/>
                <a:ea typeface="Segoe UI"/>
                <a:cs typeface="Segoe UI"/>
              </a:defRPr>
            </a:pPr>
            <a:r>
              <a:rPr sz="3525" b="1">
                <a:solidFill>
                  <a:srgbClr val="123447"/>
                </a:solidFill>
                <a:latin typeface="Segoe UI"/>
                <a:ea typeface="Segoe UI"/>
                <a:cs typeface="Segoe UI"/>
              </a:rPr>
              <a:t>First difficulty: is this really a 90° pulse?</a:t>
            </a:r>
          </a:p>
        </p:txBody>
      </p:sp>
      <p:graphicFrame>
        <p:nvGraphicFramePr>
          <p:cNvPr id="3" name="Chart">
            <a:extLst>
              <a:ext uri="{FF2B5EF4-FFF2-40B4-BE49-F238E27FC236}">
                <a16:creationId xmlns:a16="http://schemas.microsoft.com/office/drawing/2014/main" id="{2F236731-5532-449B-8404-56B41800CD59}"/>
              </a:ext>
            </a:extLst>
          </p:cNvPr>
          <p:cNvGraphicFramePr/>
          <p:nvPr/>
        </p:nvGraphicFramePr>
        <p:xfrm>
          <a:off x="257175" y="1714500"/>
          <a:ext cx="6200775" cy="3524250"/>
        </p:xfrm>
        <a:graphic>
          <a:graphicData uri="http://schemas.openxmlformats.org/drawingml/2006/chart">
            <c:chart xmlns:c="http://schemas.openxmlformats.org/drawingml/2006/chart" xmlns:r="http://schemas.openxmlformats.org/officeDocument/2006/relationships" r:id="rId3"/>
          </a:graphicData>
        </a:graphic>
      </p:graphicFrame>
      <p:pic>
        <p:nvPicPr>
          <p:cNvPr id="4" name="Imagen 3">
            <a:extLst>
              <a:ext uri="{FF2B5EF4-FFF2-40B4-BE49-F238E27FC236}">
                <a16:creationId xmlns:a16="http://schemas.microsoft.com/office/drawing/2014/main" id="{BA9FC002-1F37-4AD5-AEC4-DA590804BBF1}"/>
              </a:ext>
            </a:extLst>
          </p:cNvPr>
          <p:cNvPicPr>
            <a:picLocks noChangeAspect="1"/>
          </p:cNvPicPr>
          <p:nvPr/>
        </p:nvPicPr>
        <p:blipFill>
          <a:blip r:embed="rId4"/>
          <a:stretch/>
        </p:blipFill>
        <p:spPr>
          <a:xfrm>
            <a:off x="6833953" y="2076450"/>
            <a:ext cx="4896319" cy="2524125"/>
          </a:xfrm>
          <a:prstGeom prst="rect">
            <a:avLst/>
          </a:prstGeom>
        </p:spPr>
      </p:pic>
      <p:sp>
        <p:nvSpPr>
          <p:cNvPr id="5" name="text_134">
            <a:extLst>
              <a:ext uri="{FF2B5EF4-FFF2-40B4-BE49-F238E27FC236}">
                <a16:creationId xmlns:a16="http://schemas.microsoft.com/office/drawing/2014/main" id="{F84DCB95-72EA-4B0B-91F7-71C498EECDFA}"/>
              </a:ext>
            </a:extLst>
          </p:cNvPr>
          <p:cNvSpPr>
            <a:spLocks noGrp="1"/>
          </p:cNvSpPr>
          <p:nvPr/>
        </p:nvSpPr>
        <p:spPr>
          <a:xfrm>
            <a:off x="6838950" y="4895850"/>
            <a:ext cx="4772025" cy="485775"/>
          </a:xfrm>
          <a:prstGeom prst="rect">
            <a:avLst/>
          </a:prstGeom>
          <a:noFill/>
          <a:ln w="0">
            <a:noFill/>
          </a:ln>
        </p:spPr>
        <p:txBody>
          <a:bodyPr lIns="0" tIns="0" rIns="0" bIns="0">
            <a:noAutofit/>
          </a:bodyPr>
          <a:lstStyle>
            <a:defPPr>
              <a:defRPr sz="2100" b="1">
                <a:solidFill>
                  <a:srgbClr val="123447"/>
                </a:solidFill>
                <a:latin typeface="Segoe UI"/>
                <a:ea typeface="Segoe UI"/>
                <a:cs typeface="Segoe UI"/>
              </a:defRPr>
            </a:defPPr>
          </a:lstStyle>
          <a:p>
            <a:pPr>
              <a:defRPr sz="2100" b="1">
                <a:solidFill>
                  <a:srgbClr val="123447"/>
                </a:solidFill>
                <a:latin typeface="Segoe UI"/>
                <a:ea typeface="Segoe UI"/>
                <a:cs typeface="Segoe UI"/>
              </a:defRPr>
            </a:pPr>
            <a:r>
              <a:rPr sz="2100" b="1">
                <a:solidFill>
                  <a:srgbClr val="123447"/>
                </a:solidFill>
                <a:latin typeface="Segoe UI"/>
                <a:ea typeface="Segoe UI"/>
                <a:cs typeface="Segoe UI"/>
              </a:rPr>
              <a:t>Fixed phase and power</a:t>
            </a:r>
          </a:p>
        </p:txBody>
      </p:sp>
      <p:sp>
        <p:nvSpPr>
          <p:cNvPr id="6" name="reveal_135">
            <a:extLst>
              <a:ext uri="{FF2B5EF4-FFF2-40B4-BE49-F238E27FC236}">
                <a16:creationId xmlns:a16="http://schemas.microsoft.com/office/drawing/2014/main" id="{C0D7EF1D-B886-4A69-9332-F968200D9AC8}"/>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087E98"/>
                </a:solidFill>
                <a:latin typeface="Segoe UI"/>
                <a:ea typeface="Segoe UI"/>
                <a:cs typeface="Segoe UI"/>
              </a:defRPr>
            </a:defPPr>
          </a:lstStyle>
          <a:p>
            <a:pPr>
              <a:defRPr sz="2100" b="1">
                <a:solidFill>
                  <a:srgbClr val="087E98"/>
                </a:solidFill>
                <a:latin typeface="Segoe UI"/>
                <a:ea typeface="Segoe UI"/>
                <a:cs typeface="Segoe UI"/>
              </a:defRPr>
            </a:pPr>
            <a:r>
              <a:rPr sz="2100" b="1">
                <a:solidFill>
                  <a:srgbClr val="087E98"/>
                </a:solidFill>
                <a:latin typeface="Segoe UI"/>
                <a:ea typeface="Segoe UI"/>
                <a:cs typeface="Segoe UI"/>
              </a:rPr>
              <a:t>p1 → zg → efp · fixed phase · first null → P1 / 2 → verify</a:t>
            </a:r>
          </a:p>
        </p:txBody>
      </p:sp>
      <p:sp>
        <p:nvSpPr>
          <p:cNvPr id="7" name="text_136">
            <a:extLst>
              <a:ext uri="{FF2B5EF4-FFF2-40B4-BE49-F238E27FC236}">
                <a16:creationId xmlns:a16="http://schemas.microsoft.com/office/drawing/2014/main" id="{CB927066-5953-4103-97E9-B794203F7761}"/>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617580"/>
                </a:solidFill>
                <a:latin typeface="Segoe UI"/>
                <a:ea typeface="Segoe UI"/>
                <a:cs typeface="Segoe UI"/>
              </a:defRPr>
            </a:defPPr>
          </a:lstStyle>
          <a:p>
            <a:pPr>
              <a:defRPr sz="1725" b="0">
                <a:solidFill>
                  <a:srgbClr val="617580"/>
                </a:solidFill>
                <a:latin typeface="Segoe UI"/>
                <a:ea typeface="Segoe UI"/>
                <a:cs typeface="Segoe UI"/>
              </a:defRPr>
            </a:pPr>
            <a:r>
              <a:rPr sz="1725" b="0">
                <a:solidFill>
                  <a:srgbClr val="617580"/>
                </a:solidFill>
                <a:latin typeface="Segoe UI"/>
                <a:ea typeface="Segoe UI"/>
                <a:cs typeface="Segoe UI"/>
              </a:rPr>
              <a:t>Confusing 180° with 360° changes P90. Use sufficient D1 and fixed RG; inspect artefacts and coherences.</a:t>
            </a:r>
          </a:p>
        </p:txBody>
      </p:sp>
    </p:spTree>
    <p:extLst>
      <p:ext uri="{BB962C8B-B14F-4D97-AF65-F5344CB8AC3E}">
        <p14:creationId xmlns:p14="http://schemas.microsoft.com/office/powerpoint/2010/main" val="47876282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9" name="slide_number">
            <a:extLst>
              <a:ext uri="{FF2B5EF4-FFF2-40B4-BE49-F238E27FC236}">
                <a16:creationId xmlns:a16="http://schemas.microsoft.com/office/drawing/2014/main" id="{1383BF18-290A-4D61-8807-B377F3789A7D}"/>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04</a:t>
            </a:r>
          </a:p>
        </p:txBody>
      </p:sp>
      <p:sp>
        <p:nvSpPr>
          <p:cNvPr id="2" name="slide_title">
            <a:extLst>
              <a:ext uri="{FF2B5EF4-FFF2-40B4-BE49-F238E27FC236}">
                <a16:creationId xmlns:a16="http://schemas.microsoft.com/office/drawing/2014/main" id="{4435D855-02E5-4475-8B83-C72747EB372A}"/>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525" b="1">
                <a:solidFill>
                  <a:srgbClr val="123447"/>
                </a:solidFill>
                <a:latin typeface="Segoe UI"/>
                <a:ea typeface="Segoe UI"/>
                <a:cs typeface="Segoe UI"/>
              </a:defRPr>
            </a:defPPr>
          </a:lstStyle>
          <a:p>
            <a:pPr>
              <a:defRPr sz="3525" b="1">
                <a:solidFill>
                  <a:srgbClr val="123447"/>
                </a:solidFill>
                <a:latin typeface="Segoe UI"/>
                <a:ea typeface="Segoe UI"/>
                <a:cs typeface="Segoe UI"/>
              </a:defRPr>
            </a:pPr>
            <a:r>
              <a:rPr sz="3525" b="1">
                <a:solidFill>
                  <a:srgbClr val="123447"/>
                </a:solidFill>
                <a:latin typeface="Segoe UI"/>
                <a:ea typeface="Segoe UI"/>
                <a:cs typeface="Segoe UI"/>
              </a:rPr>
              <a:t>Case 1 · from 22 µs to P90 = 11 µs</a:t>
            </a:r>
          </a:p>
        </p:txBody>
      </p:sp>
      <p:pic>
        <p:nvPicPr>
          <p:cNvPr id="3" name="Imagen 2">
            <a:extLst>
              <a:ext uri="{FF2B5EF4-FFF2-40B4-BE49-F238E27FC236}">
                <a16:creationId xmlns:a16="http://schemas.microsoft.com/office/drawing/2014/main" id="{71588048-EE39-4FF0-B269-27BB2BC491E2}"/>
              </a:ext>
            </a:extLst>
          </p:cNvPr>
          <p:cNvPicPr>
            <a:picLocks noChangeAspect="1"/>
          </p:cNvPicPr>
          <p:nvPr/>
        </p:nvPicPr>
        <p:blipFill>
          <a:blip r:embed="rId3"/>
          <a:stretch/>
        </p:blipFill>
        <p:spPr>
          <a:xfrm>
            <a:off x="409575" y="1728653"/>
            <a:ext cx="8286750" cy="4248418"/>
          </a:xfrm>
          <a:prstGeom prst="rect">
            <a:avLst/>
          </a:prstGeom>
        </p:spPr>
      </p:pic>
      <p:sp>
        <p:nvSpPr>
          <p:cNvPr id="4" name="text_137">
            <a:extLst>
              <a:ext uri="{FF2B5EF4-FFF2-40B4-BE49-F238E27FC236}">
                <a16:creationId xmlns:a16="http://schemas.microsoft.com/office/drawing/2014/main" id="{BA7D4B61-3EE2-49F5-BBDE-5100F59ABBE9}"/>
              </a:ext>
            </a:extLst>
          </p:cNvPr>
          <p:cNvSpPr>
            <a:spLocks noGrp="1"/>
          </p:cNvSpPr>
          <p:nvPr/>
        </p:nvSpPr>
        <p:spPr>
          <a:xfrm>
            <a:off x="8924925" y="1743075"/>
            <a:ext cx="2809875" cy="609600"/>
          </a:xfrm>
          <a:prstGeom prst="rect">
            <a:avLst/>
          </a:prstGeom>
          <a:noFill/>
          <a:ln w="0">
            <a:noFill/>
          </a:ln>
        </p:spPr>
        <p:txBody>
          <a:bodyPr lIns="0" tIns="0" rIns="0" bIns="0">
            <a:noAutofit/>
          </a:bodyPr>
          <a:lstStyle>
            <a:defPPr>
              <a:defRPr sz="1950" b="1">
                <a:solidFill>
                  <a:srgbClr val="BE4038"/>
                </a:solidFill>
                <a:latin typeface="Segoe UI"/>
                <a:ea typeface="Segoe UI"/>
                <a:cs typeface="Segoe UI"/>
              </a:defRPr>
            </a:defPPr>
          </a:lstStyle>
          <a:p>
            <a:pPr>
              <a:defRPr sz="1950" b="1">
                <a:solidFill>
                  <a:srgbClr val="BE4038"/>
                </a:solidFill>
                <a:latin typeface="Segoe UI"/>
                <a:ea typeface="Segoe UI"/>
                <a:cs typeface="Segoe UI"/>
              </a:defRPr>
            </a:pPr>
            <a:r>
              <a:rPr sz="1950" b="1">
                <a:solidFill>
                  <a:srgbClr val="BE4038"/>
                </a:solidFill>
                <a:latin typeface="Segoe UI"/>
                <a:ea typeface="Segoe UI"/>
                <a:cs typeface="Segoe UI"/>
              </a:rPr>
              <a:t>EXPNO 1000 · zg</a:t>
            </a:r>
          </a:p>
        </p:txBody>
      </p:sp>
      <p:sp>
        <p:nvSpPr>
          <p:cNvPr id="5" name="text_138">
            <a:extLst>
              <a:ext uri="{FF2B5EF4-FFF2-40B4-BE49-F238E27FC236}">
                <a16:creationId xmlns:a16="http://schemas.microsoft.com/office/drawing/2014/main" id="{C3976302-CAE5-4FBA-ADE8-03B3D24A9208}"/>
              </a:ext>
            </a:extLst>
          </p:cNvPr>
          <p:cNvSpPr>
            <a:spLocks noGrp="1"/>
          </p:cNvSpPr>
          <p:nvPr/>
        </p:nvSpPr>
        <p:spPr>
          <a:xfrm>
            <a:off x="8934450" y="2495550"/>
            <a:ext cx="2828925" cy="809625"/>
          </a:xfrm>
          <a:prstGeom prst="rect">
            <a:avLst/>
          </a:prstGeom>
          <a:noFill/>
          <a:ln w="0">
            <a:noFill/>
          </a:ln>
        </p:spPr>
        <p:txBody>
          <a:bodyPr lIns="0" tIns="0" rIns="0" bIns="0">
            <a:noAutofit/>
          </a:bodyPr>
          <a:lstStyle>
            <a:defPPr>
              <a:defRPr sz="4425" b="1">
                <a:solidFill>
                  <a:srgbClr val="123447"/>
                </a:solidFill>
                <a:latin typeface="Segoe UI"/>
                <a:ea typeface="Segoe UI"/>
                <a:cs typeface="Segoe UI"/>
              </a:defRPr>
            </a:defPPr>
          </a:lstStyle>
          <a:p>
            <a:pPr>
              <a:defRPr sz="4425" b="1">
                <a:solidFill>
                  <a:srgbClr val="123447"/>
                </a:solidFill>
                <a:latin typeface="Segoe UI"/>
                <a:ea typeface="Segoe UI"/>
                <a:cs typeface="Segoe UI"/>
              </a:defRPr>
            </a:pPr>
            <a:r>
              <a:rPr sz="4425" b="1">
                <a:solidFill>
                  <a:srgbClr val="123447"/>
                </a:solidFill>
                <a:latin typeface="Segoe UI"/>
                <a:ea typeface="Segoe UI"/>
                <a:cs typeface="Segoe UI"/>
              </a:rPr>
              <a:t>22 µs</a:t>
            </a:r>
          </a:p>
        </p:txBody>
      </p:sp>
      <p:sp>
        <p:nvSpPr>
          <p:cNvPr id="6" name="text_139">
            <a:extLst>
              <a:ext uri="{FF2B5EF4-FFF2-40B4-BE49-F238E27FC236}">
                <a16:creationId xmlns:a16="http://schemas.microsoft.com/office/drawing/2014/main" id="{0DE0555C-9152-44F8-A92D-84F099FEFA9B}"/>
              </a:ext>
            </a:extLst>
          </p:cNvPr>
          <p:cNvSpPr>
            <a:spLocks noGrp="1"/>
          </p:cNvSpPr>
          <p:nvPr/>
        </p:nvSpPr>
        <p:spPr>
          <a:xfrm>
            <a:off x="8982075" y="3543300"/>
            <a:ext cx="2695575" cy="600075"/>
          </a:xfrm>
          <a:prstGeom prst="rect">
            <a:avLst/>
          </a:prstGeom>
          <a:noFill/>
          <a:ln w="0">
            <a:noFill/>
          </a:ln>
        </p:spPr>
        <p:txBody>
          <a:bodyPr lIns="0" tIns="0" rIns="0" bIns="0">
            <a:noAutofit/>
          </a:bodyPr>
          <a:lstStyle>
            <a:defPPr>
              <a:defRPr sz="3375" b="0">
                <a:solidFill>
                  <a:srgbClr val="617580"/>
                </a:solidFill>
                <a:latin typeface="Segoe UI"/>
                <a:ea typeface="Segoe UI"/>
                <a:cs typeface="Segoe UI"/>
              </a:defRPr>
            </a:defPPr>
          </a:lstStyle>
          <a:p>
            <a:pPr>
              <a:defRPr sz="3375" b="0">
                <a:solidFill>
                  <a:srgbClr val="617580"/>
                </a:solidFill>
                <a:latin typeface="Segoe UI"/>
                <a:ea typeface="Segoe UI"/>
                <a:cs typeface="Segoe UI"/>
              </a:defRPr>
            </a:pPr>
            <a:r>
              <a:rPr sz="3375" b="0">
                <a:solidFill>
                  <a:srgbClr val="617580"/>
                </a:solidFill>
                <a:latin typeface="Segoe UI"/>
                <a:ea typeface="Segoe UI"/>
                <a:cs typeface="Segoe UI"/>
              </a:rPr>
              <a:t>÷ 2</a:t>
            </a:r>
          </a:p>
        </p:txBody>
      </p:sp>
      <p:sp>
        <p:nvSpPr>
          <p:cNvPr id="7" name="reveal_140">
            <a:extLst>
              <a:ext uri="{FF2B5EF4-FFF2-40B4-BE49-F238E27FC236}">
                <a16:creationId xmlns:a16="http://schemas.microsoft.com/office/drawing/2014/main" id="{B5085E70-760A-4666-832D-9269B8860E3D}"/>
              </a:ext>
            </a:extLst>
          </p:cNvPr>
          <p:cNvSpPr>
            <a:spLocks noGrp="1"/>
          </p:cNvSpPr>
          <p:nvPr/>
        </p:nvSpPr>
        <p:spPr>
          <a:xfrm>
            <a:off x="8858250" y="4591050"/>
            <a:ext cx="2914650" cy="733425"/>
          </a:xfrm>
          <a:prstGeom prst="rect">
            <a:avLst/>
          </a:prstGeom>
          <a:noFill/>
          <a:ln w="0">
            <a:noFill/>
          </a:ln>
        </p:spPr>
        <p:txBody>
          <a:bodyPr lIns="0" tIns="0" rIns="0" bIns="0">
            <a:noAutofit/>
          </a:bodyPr>
          <a:lstStyle>
            <a:defPPr>
              <a:defRPr sz="3000" b="1">
                <a:solidFill>
                  <a:srgbClr val="087E98"/>
                </a:solidFill>
                <a:latin typeface="Segoe UI"/>
                <a:ea typeface="Segoe UI"/>
                <a:cs typeface="Segoe UI"/>
              </a:defRPr>
            </a:defPPr>
          </a:lstStyle>
          <a:p>
            <a:pPr>
              <a:defRPr sz="3000" b="1">
                <a:solidFill>
                  <a:srgbClr val="087E98"/>
                </a:solidFill>
                <a:latin typeface="Segoe UI"/>
                <a:ea typeface="Segoe UI"/>
                <a:cs typeface="Segoe UI"/>
              </a:defRPr>
            </a:pPr>
            <a:r>
              <a:rPr sz="3000" b="1">
                <a:solidFill>
                  <a:srgbClr val="087E98"/>
                </a:solidFill>
                <a:latin typeface="Segoe UI"/>
                <a:ea typeface="Segoe UI"/>
                <a:cs typeface="Segoe UI"/>
              </a:rPr>
              <a:t>P90 = 11 µs</a:t>
            </a:r>
          </a:p>
        </p:txBody>
      </p:sp>
      <p:sp>
        <p:nvSpPr>
          <p:cNvPr id="8" name="text_141">
            <a:extLst>
              <a:ext uri="{FF2B5EF4-FFF2-40B4-BE49-F238E27FC236}">
                <a16:creationId xmlns:a16="http://schemas.microsoft.com/office/drawing/2014/main" id="{F8C13E7D-1029-462A-9DF3-87220340C055}"/>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650" b="0">
                <a:solidFill>
                  <a:srgbClr val="617580"/>
                </a:solidFill>
                <a:latin typeface="Segoe UI"/>
                <a:ea typeface="Segoe UI"/>
                <a:cs typeface="Segoe UI"/>
              </a:defRPr>
            </a:defPPr>
          </a:lstStyle>
          <a:p>
            <a:pPr>
              <a:defRPr sz="1650" b="0">
                <a:solidFill>
                  <a:srgbClr val="617580"/>
                </a:solidFill>
                <a:latin typeface="Segoe UI"/>
                <a:ea typeface="Segoe UI"/>
                <a:cs typeface="Segoe UI"/>
              </a:defRPr>
            </a:pPr>
            <a:r>
              <a:rPr sz="1650" b="0">
                <a:solidFill>
                  <a:srgbClr val="617580"/>
                </a:solidFill>
                <a:latin typeface="Segoe UI"/>
                <a:ea typeface="Segoe UI"/>
                <a:cs typeface="Segoe UI"/>
              </a:rPr>
              <a:t>User-identified 180° null. Blue: 90°. Different RG/NS in the screenshots: qualitative comparison.</a:t>
            </a:r>
          </a:p>
        </p:txBody>
      </p:sp>
    </p:spTree>
    <p:extLst>
      <p:ext uri="{BB962C8B-B14F-4D97-AF65-F5344CB8AC3E}">
        <p14:creationId xmlns:p14="http://schemas.microsoft.com/office/powerpoint/2010/main" val="210854986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10" name="slide_number">
            <a:extLst>
              <a:ext uri="{FF2B5EF4-FFF2-40B4-BE49-F238E27FC236}">
                <a16:creationId xmlns:a16="http://schemas.microsoft.com/office/drawing/2014/main" id="{08863759-D1C1-4E52-816A-D69575C00001}"/>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05</a:t>
            </a:r>
          </a:p>
        </p:txBody>
      </p:sp>
      <p:sp>
        <p:nvSpPr>
          <p:cNvPr id="2" name="slide_title">
            <a:extLst>
              <a:ext uri="{FF2B5EF4-FFF2-40B4-BE49-F238E27FC236}">
                <a16:creationId xmlns:a16="http://schemas.microsoft.com/office/drawing/2014/main" id="{ED72FF2E-2BB6-45E4-9F23-8663EAB9624C}"/>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525" b="1">
                <a:solidFill>
                  <a:srgbClr val="123447"/>
                </a:solidFill>
                <a:latin typeface="Segoe UI"/>
                <a:ea typeface="Segoe UI"/>
                <a:cs typeface="Segoe UI"/>
              </a:defRPr>
            </a:defPPr>
          </a:lstStyle>
          <a:p>
            <a:pPr>
              <a:defRPr sz="3525" b="1">
                <a:solidFill>
                  <a:srgbClr val="123447"/>
                </a:solidFill>
                <a:latin typeface="Segoe UI"/>
                <a:ea typeface="Segoe UI"/>
                <a:cs typeface="Segoe UI"/>
              </a:defRPr>
            </a:pPr>
            <a:r>
              <a:rPr sz="3525" b="1">
                <a:solidFill>
                  <a:srgbClr val="123447"/>
                </a:solidFill>
                <a:latin typeface="Segoe UI"/>
                <a:ea typeface="Segoe UI"/>
                <a:cs typeface="Segoe UI"/>
              </a:rPr>
              <a:t>Gradients: calibrate a scale that enters quadratically</a:t>
            </a:r>
          </a:p>
        </p:txBody>
      </p:sp>
      <p:graphicFrame>
        <p:nvGraphicFramePr>
          <p:cNvPr id="3" name="Chart">
            <a:extLst>
              <a:ext uri="{FF2B5EF4-FFF2-40B4-BE49-F238E27FC236}">
                <a16:creationId xmlns:a16="http://schemas.microsoft.com/office/drawing/2014/main" id="{ABD21E1B-198C-4A40-B73E-EE45460E4B4B}"/>
              </a:ext>
            </a:extLst>
          </p:cNvPr>
          <p:cNvGraphicFramePr/>
          <p:nvPr/>
        </p:nvGraphicFramePr>
        <p:xfrm>
          <a:off x="238125" y="1809750"/>
          <a:ext cx="7286625" cy="340995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_142">
            <a:extLst>
              <a:ext uri="{FF2B5EF4-FFF2-40B4-BE49-F238E27FC236}">
                <a16:creationId xmlns:a16="http://schemas.microsoft.com/office/drawing/2014/main" id="{4F0CCAE8-9AC9-4133-BC14-6B3872188465}"/>
              </a:ext>
            </a:extLst>
          </p:cNvPr>
          <p:cNvSpPr>
            <a:spLocks noGrp="1"/>
          </p:cNvSpPr>
          <p:nvPr/>
        </p:nvSpPr>
        <p:spPr>
          <a:xfrm>
            <a:off x="7924800" y="1733550"/>
            <a:ext cx="3771900" cy="523875"/>
          </a:xfrm>
          <a:prstGeom prst="rect">
            <a:avLst/>
          </a:prstGeom>
          <a:noFill/>
          <a:ln w="0">
            <a:noFill/>
          </a:ln>
        </p:spPr>
        <p:txBody>
          <a:bodyPr lIns="0" tIns="0" rIns="0" bIns="0">
            <a:noAutofit/>
          </a:bodyPr>
          <a:lstStyle>
            <a:defPPr>
              <a:defRPr sz="1500" b="1">
                <a:solidFill>
                  <a:srgbClr val="617580"/>
                </a:solidFill>
                <a:latin typeface="Segoe UI"/>
                <a:ea typeface="Segoe UI"/>
                <a:cs typeface="Segoe UI"/>
              </a:defRPr>
            </a:defPPr>
          </a:lstStyle>
          <a:p>
            <a:pPr>
              <a:defRPr sz="1500" b="1">
                <a:solidFill>
                  <a:srgbClr val="617580"/>
                </a:solidFill>
                <a:latin typeface="Segoe UI"/>
                <a:ea typeface="Segoe UI"/>
                <a:cs typeface="Segoe UI"/>
              </a:defRPr>
            </a:pPr>
            <a:r>
              <a:rPr sz="1500" b="1">
                <a:solidFill>
                  <a:srgbClr val="617580"/>
                </a:solidFill>
                <a:latin typeface="Segoe UI"/>
                <a:ea typeface="Segoe UI"/>
                <a:cs typeface="Segoe UI"/>
              </a:rPr>
              <a:t>HYPOTHETICAL ERROR EXAMPLE</a:t>
            </a:r>
          </a:p>
        </p:txBody>
      </p:sp>
      <p:sp>
        <p:nvSpPr>
          <p:cNvPr id="5" name="text_143">
            <a:extLst>
              <a:ext uri="{FF2B5EF4-FFF2-40B4-BE49-F238E27FC236}">
                <a16:creationId xmlns:a16="http://schemas.microsoft.com/office/drawing/2014/main" id="{0B8B1D41-EA98-4A68-825C-08BF0198307E}"/>
              </a:ext>
            </a:extLst>
          </p:cNvPr>
          <p:cNvSpPr>
            <a:spLocks noGrp="1"/>
          </p:cNvSpPr>
          <p:nvPr/>
        </p:nvSpPr>
        <p:spPr>
          <a:xfrm>
            <a:off x="7924800" y="2352675"/>
            <a:ext cx="3771900" cy="676275"/>
          </a:xfrm>
          <a:prstGeom prst="rect">
            <a:avLst/>
          </a:prstGeom>
          <a:noFill/>
          <a:ln w="0">
            <a:noFill/>
          </a:ln>
        </p:spPr>
        <p:txBody>
          <a:bodyPr lIns="0" tIns="0" rIns="0" bIns="0">
            <a:noAutofit/>
          </a:bodyPr>
          <a:lstStyle>
            <a:defPPr>
              <a:defRPr sz="2175" b="1">
                <a:solidFill>
                  <a:srgbClr val="BE4038"/>
                </a:solidFill>
                <a:latin typeface="Segoe UI"/>
                <a:ea typeface="Segoe UI"/>
                <a:cs typeface="Segoe UI"/>
              </a:defRPr>
            </a:defPPr>
          </a:lstStyle>
          <a:p>
            <a:pPr>
              <a:defRPr sz="2175" b="1">
                <a:solidFill>
                  <a:srgbClr val="BE4038"/>
                </a:solidFill>
                <a:latin typeface="Segoe UI"/>
                <a:ea typeface="Segoe UI"/>
                <a:cs typeface="Segoe UI"/>
              </a:defRPr>
            </a:pPr>
            <a:r>
              <a:rPr sz="2175" b="1">
                <a:solidFill>
                  <a:srgbClr val="BE4038"/>
                </a:solidFill>
                <a:latin typeface="Segoe UI"/>
                <a:ea typeface="Segoe UI"/>
                <a:cs typeface="Segoe UI"/>
              </a:rPr>
              <a:t>G actual = 1.10 G used</a:t>
            </a:r>
          </a:p>
        </p:txBody>
      </p:sp>
      <p:sp>
        <p:nvSpPr>
          <p:cNvPr id="6" name="reveal_144">
            <a:extLst>
              <a:ext uri="{FF2B5EF4-FFF2-40B4-BE49-F238E27FC236}">
                <a16:creationId xmlns:a16="http://schemas.microsoft.com/office/drawing/2014/main" id="{63BDADBA-FE67-4E87-81AC-0C8389C4A405}"/>
              </a:ext>
            </a:extLst>
          </p:cNvPr>
          <p:cNvSpPr>
            <a:spLocks noGrp="1"/>
          </p:cNvSpPr>
          <p:nvPr/>
        </p:nvSpPr>
        <p:spPr>
          <a:xfrm>
            <a:off x="7924800" y="3162300"/>
            <a:ext cx="3752850" cy="771525"/>
          </a:xfrm>
          <a:prstGeom prst="rect">
            <a:avLst/>
          </a:prstGeom>
          <a:noFill/>
          <a:ln w="0">
            <a:noFill/>
          </a:ln>
        </p:spPr>
        <p:txBody>
          <a:bodyPr lIns="0" tIns="0" rIns="0" bIns="0">
            <a:noAutofit/>
          </a:bodyPr>
          <a:lstStyle>
            <a:defPPr>
              <a:defRPr sz="2625" b="1">
                <a:solidFill>
                  <a:srgbClr val="BE4038"/>
                </a:solidFill>
                <a:latin typeface="Segoe UI"/>
                <a:ea typeface="Segoe UI"/>
                <a:cs typeface="Segoe UI"/>
              </a:defRPr>
            </a:defPPr>
          </a:lstStyle>
          <a:p>
            <a:pPr>
              <a:defRPr sz="2625" b="1">
                <a:solidFill>
                  <a:srgbClr val="BE4038"/>
                </a:solidFill>
                <a:latin typeface="Segoe UI"/>
                <a:ea typeface="Segoe UI"/>
                <a:cs typeface="Segoe UI"/>
              </a:defRPr>
            </a:pPr>
            <a:r>
              <a:rPr sz="2625" b="1">
                <a:solidFill>
                  <a:srgbClr val="BE4038"/>
                </a:solidFill>
                <a:latin typeface="Segoe UI"/>
                <a:ea typeface="Segoe UI"/>
                <a:cs typeface="Segoe UI"/>
              </a:rPr>
              <a:t>Apparent D = 1.21 D</a:t>
            </a:r>
          </a:p>
        </p:txBody>
      </p:sp>
      <p:sp>
        <p:nvSpPr>
          <p:cNvPr id="7" name="text_145">
            <a:extLst>
              <a:ext uri="{FF2B5EF4-FFF2-40B4-BE49-F238E27FC236}">
                <a16:creationId xmlns:a16="http://schemas.microsoft.com/office/drawing/2014/main" id="{D093270C-CF80-4D38-9D0B-01ACBD403806}"/>
              </a:ext>
            </a:extLst>
          </p:cNvPr>
          <p:cNvSpPr>
            <a:spLocks noGrp="1"/>
          </p:cNvSpPr>
          <p:nvPr/>
        </p:nvSpPr>
        <p:spPr>
          <a:xfrm>
            <a:off x="7943850" y="4314825"/>
            <a:ext cx="3743325" cy="819150"/>
          </a:xfrm>
          <a:prstGeom prst="rect">
            <a:avLst/>
          </a:prstGeom>
          <a:noFill/>
          <a:ln w="0">
            <a:noFill/>
          </a:ln>
        </p:spPr>
        <p:txBody>
          <a:bodyPr lIns="0" tIns="0" rIns="0" bIns="0">
            <a:noAutofit/>
          </a:bodyPr>
          <a:lstStyle>
            <a:defPPr>
              <a:defRPr sz="1950" b="0">
                <a:solidFill>
                  <a:srgbClr val="123447"/>
                </a:solidFill>
                <a:latin typeface="Segoe UI"/>
                <a:ea typeface="Segoe UI"/>
                <a:cs typeface="Segoe UI"/>
              </a:defRPr>
            </a:defPPr>
          </a:lstStyle>
          <a:p>
            <a:pPr>
              <a:defRPr sz="1950" b="0">
                <a:solidFill>
                  <a:srgbClr val="123447"/>
                </a:solidFill>
                <a:latin typeface="Segoe UI"/>
                <a:ea typeface="Segoe UI"/>
                <a:cs typeface="Segoe UI"/>
              </a:defRPr>
            </a:pPr>
            <a:r>
              <a:rPr sz="1950" b="0">
                <a:solidFill>
                  <a:srgbClr val="123447"/>
                </a:solidFill>
                <a:latin typeface="Segoe UI"/>
                <a:ea typeface="Segoe UI"/>
                <a:cs typeface="Segoe UI"/>
              </a:rPr>
              <a:t>HDO / TBO</a:t>
            </a:r>
          </a:p>
          <a:p>
            <a:pPr>
              <a:defRPr sz="1950" b="0">
                <a:solidFill>
                  <a:srgbClr val="123447"/>
                </a:solidFill>
                <a:latin typeface="Segoe UI"/>
                <a:ea typeface="Segoe UI"/>
                <a:cs typeface="Segoe UI"/>
              </a:defRPr>
            </a:pPr>
            <a:r>
              <a:rPr sz="1950" b="0">
                <a:solidFill>
                  <a:srgbClr val="123447"/>
                </a:solidFill>
                <a:latin typeface="Segoe UI"/>
                <a:ea typeface="Segoe UI"/>
                <a:cs typeface="Segoe UI"/>
              </a:rPr>
              <a:t>|slope| = 1.58627</a:t>
            </a:r>
          </a:p>
        </p:txBody>
      </p:sp>
      <p:sp>
        <p:nvSpPr>
          <p:cNvPr id="8" name="reveal_146">
            <a:extLst>
              <a:ext uri="{FF2B5EF4-FFF2-40B4-BE49-F238E27FC236}">
                <a16:creationId xmlns:a16="http://schemas.microsoft.com/office/drawing/2014/main" id="{6DF9F4EA-E200-436A-B967-AF3C04D8A6B2}"/>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087E98"/>
                </a:solidFill>
                <a:latin typeface="Segoe UI"/>
                <a:ea typeface="Segoe UI"/>
                <a:cs typeface="Segoe UI"/>
              </a:defRPr>
            </a:defPPr>
          </a:lstStyle>
          <a:p>
            <a:pPr>
              <a:defRPr sz="2100" b="1">
                <a:solidFill>
                  <a:srgbClr val="087E98"/>
                </a:solidFill>
                <a:latin typeface="Segoe UI"/>
                <a:ea typeface="Segoe UI"/>
                <a:cs typeface="Segoe UI"/>
              </a:defRPr>
            </a:pPr>
            <a:r>
              <a:rPr sz="2100" b="1">
                <a:solidFill>
                  <a:srgbClr val="087E98"/>
                </a:solidFill>
                <a:latin typeface="Segoe UI"/>
                <a:ea typeface="Segoe UI"/>
                <a:cs typeface="Segoe UI"/>
              </a:rPr>
              <a:t>Standard at actual T · fixed region · residuals · check a second ramp</a:t>
            </a:r>
          </a:p>
        </p:txBody>
      </p:sp>
      <p:sp>
        <p:nvSpPr>
          <p:cNvPr id="9" name="text_147">
            <a:extLst>
              <a:ext uri="{FF2B5EF4-FFF2-40B4-BE49-F238E27FC236}">
                <a16:creationId xmlns:a16="http://schemas.microsoft.com/office/drawing/2014/main" id="{D576C195-2FA8-4AED-B51D-83E54C443E88}"/>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650" b="0">
                <a:solidFill>
                  <a:srgbClr val="617580"/>
                </a:solidFill>
                <a:latin typeface="Segoe UI"/>
                <a:ea typeface="Segoe UI"/>
                <a:cs typeface="Segoe UI"/>
              </a:defRPr>
            </a:defPPr>
          </a:lstStyle>
          <a:p>
            <a:pPr>
              <a:defRPr sz="1650" b="0">
                <a:solidFill>
                  <a:srgbClr val="617580"/>
                </a:solidFill>
                <a:latin typeface="Segoe UI"/>
                <a:ea typeface="Segoe UI"/>
                <a:cs typeface="Segoe UI"/>
              </a:defRPr>
            </a:pPr>
            <a:r>
              <a:rPr sz="1650" b="0">
                <a:solidFill>
                  <a:srgbClr val="617580"/>
                </a:solidFill>
                <a:latin typeface="Segoe UI"/>
                <a:ea typeface="Segoe UI"/>
                <a:cs typeface="Segoe UI"/>
              </a:rPr>
              <a:t>G new = G previous √(D measured / Dref). TBO profile: Δ = 50 ms, δ = 1.20 ms, SMSQ10.100.</a:t>
            </a:r>
          </a:p>
        </p:txBody>
      </p:sp>
    </p:spTree>
    <p:extLst>
      <p:ext uri="{BB962C8B-B14F-4D97-AF65-F5344CB8AC3E}">
        <p14:creationId xmlns:p14="http://schemas.microsoft.com/office/powerpoint/2010/main" val="116354362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500"/>
                            </p:stCondLst>
                            <p:childTnLst>
                              <p:par>
                                <p:cTn id="9" presetID="10" presetClass="entr" presetSubtype="0" fill="hold" grpId="0" nodeType="after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10" name="slide_number">
            <a:extLst>
              <a:ext uri="{FF2B5EF4-FFF2-40B4-BE49-F238E27FC236}">
                <a16:creationId xmlns:a16="http://schemas.microsoft.com/office/drawing/2014/main" id="{68F419AE-3745-4BED-A26B-1446A0DB0BE5}"/>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06</a:t>
            </a:r>
          </a:p>
        </p:txBody>
      </p:sp>
      <p:sp>
        <p:nvSpPr>
          <p:cNvPr id="2" name="slide_title">
            <a:extLst>
              <a:ext uri="{FF2B5EF4-FFF2-40B4-BE49-F238E27FC236}">
                <a16:creationId xmlns:a16="http://schemas.microsoft.com/office/drawing/2014/main" id="{F963647D-7339-4EB2-A4D3-C3C785129D27}"/>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75" b="1">
                <a:solidFill>
                  <a:srgbClr val="123447"/>
                </a:solidFill>
                <a:latin typeface="Segoe UI"/>
                <a:ea typeface="Segoe UI"/>
                <a:cs typeface="Segoe UI"/>
              </a:defRPr>
            </a:defPPr>
          </a:lstStyle>
          <a:p>
            <a:pPr>
              <a:defRPr sz="3375" b="1">
                <a:solidFill>
                  <a:srgbClr val="123447"/>
                </a:solidFill>
                <a:latin typeface="Segoe UI"/>
                <a:ea typeface="Segoe UI"/>
                <a:cs typeface="Segoe UI"/>
              </a:defRPr>
            </a:pPr>
            <a:r>
              <a:rPr sz="3375" b="1">
                <a:solidFill>
                  <a:srgbClr val="123447"/>
                </a:solidFill>
                <a:latin typeface="Segoe UI"/>
                <a:ea typeface="Segoe UI"/>
                <a:cs typeface="Segoe UI"/>
              </a:rPr>
              <a:t>The sequence determines what b means</a:t>
            </a:r>
          </a:p>
        </p:txBody>
      </p:sp>
      <p:graphicFrame>
        <p:nvGraphicFramePr>
          <p:cNvPr id="3" name="Chart">
            <a:extLst>
              <a:ext uri="{FF2B5EF4-FFF2-40B4-BE49-F238E27FC236}">
                <a16:creationId xmlns:a16="http://schemas.microsoft.com/office/drawing/2014/main" id="{7DCAD6D4-BB84-4200-8270-B1B0E19A4710}"/>
              </a:ext>
            </a:extLst>
          </p:cNvPr>
          <p:cNvGraphicFramePr/>
          <p:nvPr/>
        </p:nvGraphicFramePr>
        <p:xfrm>
          <a:off x="238125" y="1695450"/>
          <a:ext cx="7296150" cy="3400425"/>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_148">
            <a:extLst>
              <a:ext uri="{FF2B5EF4-FFF2-40B4-BE49-F238E27FC236}">
                <a16:creationId xmlns:a16="http://schemas.microsoft.com/office/drawing/2014/main" id="{467918E4-F1F1-468A-97E1-67B8F0819F84}"/>
              </a:ext>
            </a:extLst>
          </p:cNvPr>
          <p:cNvSpPr>
            <a:spLocks noGrp="1"/>
          </p:cNvSpPr>
          <p:nvPr/>
        </p:nvSpPr>
        <p:spPr>
          <a:xfrm>
            <a:off x="8096250" y="1704975"/>
            <a:ext cx="3476625" cy="666750"/>
          </a:xfrm>
          <a:prstGeom prst="rect">
            <a:avLst/>
          </a:prstGeom>
          <a:noFill/>
          <a:ln w="0">
            <a:noFill/>
          </a:ln>
        </p:spPr>
        <p:txBody>
          <a:bodyPr lIns="0" tIns="0" rIns="0" bIns="0">
            <a:noAutofit/>
          </a:bodyPr>
          <a:lstStyle>
            <a:defPPr>
              <a:defRPr sz="3225" b="1">
                <a:solidFill>
                  <a:srgbClr val="617580"/>
                </a:solidFill>
                <a:latin typeface="Segoe UI"/>
                <a:ea typeface="Segoe UI"/>
                <a:cs typeface="Segoe UI"/>
              </a:defRPr>
            </a:defPPr>
          </a:lstStyle>
          <a:p>
            <a:pPr>
              <a:defRPr sz="3225" b="1">
                <a:solidFill>
                  <a:srgbClr val="617580"/>
                </a:solidFill>
                <a:latin typeface="Segoe UI"/>
                <a:ea typeface="Segoe UI"/>
                <a:cs typeface="Segoe UI"/>
              </a:defRPr>
            </a:pPr>
            <a:r>
              <a:rPr sz="3225" b="1">
                <a:solidFill>
                  <a:srgbClr val="617580"/>
                </a:solidFill>
                <a:latin typeface="Segoe UI"/>
                <a:ea typeface="Segoe UI"/>
                <a:cs typeface="Segoe UI"/>
              </a:rPr>
              <a:t>R² = 1</a:t>
            </a:r>
          </a:p>
        </p:txBody>
      </p:sp>
      <p:sp>
        <p:nvSpPr>
          <p:cNvPr id="5" name="text_149">
            <a:extLst>
              <a:ext uri="{FF2B5EF4-FFF2-40B4-BE49-F238E27FC236}">
                <a16:creationId xmlns:a16="http://schemas.microsoft.com/office/drawing/2014/main" id="{55244006-AB24-47BD-B0CB-61264050C4C5}"/>
              </a:ext>
            </a:extLst>
          </p:cNvPr>
          <p:cNvSpPr>
            <a:spLocks noGrp="1"/>
          </p:cNvSpPr>
          <p:nvPr/>
        </p:nvSpPr>
        <p:spPr>
          <a:xfrm>
            <a:off x="8115300" y="2562225"/>
            <a:ext cx="3486150" cy="476250"/>
          </a:xfrm>
          <a:prstGeom prst="rect">
            <a:avLst/>
          </a:prstGeom>
          <a:noFill/>
          <a:ln w="0">
            <a:noFill/>
          </a:ln>
        </p:spPr>
        <p:txBody>
          <a:bodyPr lIns="0" tIns="0" rIns="0" bIns="0">
            <a:noAutofit/>
          </a:bodyPr>
          <a:lstStyle>
            <a:defPPr>
              <a:defRPr sz="1950" b="0">
                <a:solidFill>
                  <a:srgbClr val="617580"/>
                </a:solidFill>
                <a:latin typeface="Segoe UI"/>
                <a:ea typeface="Segoe UI"/>
                <a:cs typeface="Segoe UI"/>
              </a:defRPr>
            </a:defPPr>
          </a:lstStyle>
          <a:p>
            <a:pPr>
              <a:defRPr sz="1950" b="0">
                <a:solidFill>
                  <a:srgbClr val="617580"/>
                </a:solidFill>
                <a:latin typeface="Segoe UI"/>
                <a:ea typeface="Segoe UI"/>
                <a:cs typeface="Segoe UI"/>
              </a:defRPr>
            </a:pPr>
            <a:r>
              <a:rPr sz="1950" b="0">
                <a:solidFill>
                  <a:srgbClr val="617580"/>
                </a:solidFill>
                <a:latin typeface="Segoe UI"/>
                <a:ea typeface="Segoe UI"/>
                <a:cs typeface="Segoe UI"/>
              </a:rPr>
              <a:t>D / 10⁻⁹ m² s⁻¹</a:t>
            </a:r>
          </a:p>
        </p:txBody>
      </p:sp>
      <p:sp>
        <p:nvSpPr>
          <p:cNvPr id="6" name="text_150">
            <a:extLst>
              <a:ext uri="{FF2B5EF4-FFF2-40B4-BE49-F238E27FC236}">
                <a16:creationId xmlns:a16="http://schemas.microsoft.com/office/drawing/2014/main" id="{AB75599A-474D-4EC4-A4C3-CF30DAD5B723}"/>
              </a:ext>
            </a:extLst>
          </p:cNvPr>
          <p:cNvSpPr>
            <a:spLocks noGrp="1"/>
          </p:cNvSpPr>
          <p:nvPr/>
        </p:nvSpPr>
        <p:spPr>
          <a:xfrm>
            <a:off x="7820025" y="3257550"/>
            <a:ext cx="3876675" cy="561975"/>
          </a:xfrm>
          <a:prstGeom prst="rect">
            <a:avLst/>
          </a:prstGeom>
          <a:noFill/>
          <a:ln w="0">
            <a:noFill/>
          </a:ln>
        </p:spPr>
        <p:txBody>
          <a:bodyPr lIns="0" tIns="0" rIns="0" bIns="0">
            <a:noAutofit/>
          </a:bodyPr>
          <a:lstStyle>
            <a:defPPr>
              <a:defRPr sz="2325" b="1">
                <a:solidFill>
                  <a:srgbClr val="087E98"/>
                </a:solidFill>
                <a:latin typeface="Segoe UI"/>
                <a:ea typeface="Segoe UI"/>
                <a:cs typeface="Segoe UI"/>
              </a:defRPr>
            </a:defPPr>
          </a:lstStyle>
          <a:p>
            <a:pPr>
              <a:defRPr sz="2325" b="1">
                <a:solidFill>
                  <a:srgbClr val="087E98"/>
                </a:solidFill>
                <a:latin typeface="Segoe UI"/>
                <a:ea typeface="Segoe UI"/>
                <a:cs typeface="Segoe UI"/>
              </a:defRPr>
            </a:pPr>
            <a:r>
              <a:rPr sz="2325" b="1">
                <a:solidFill>
                  <a:srgbClr val="087E98"/>
                </a:solidFill>
                <a:latin typeface="Segoe UI"/>
                <a:ea typeface="Segoe UI"/>
                <a:cs typeface="Segoe UI"/>
              </a:rPr>
              <a:t>SMSQ / bipolar: 1.000</a:t>
            </a:r>
          </a:p>
        </p:txBody>
      </p:sp>
      <p:sp>
        <p:nvSpPr>
          <p:cNvPr id="7" name="reveal_151">
            <a:extLst>
              <a:ext uri="{FF2B5EF4-FFF2-40B4-BE49-F238E27FC236}">
                <a16:creationId xmlns:a16="http://schemas.microsoft.com/office/drawing/2014/main" id="{7A47A695-177E-4C03-AA93-06247259FE21}"/>
              </a:ext>
            </a:extLst>
          </p:cNvPr>
          <p:cNvSpPr>
            <a:spLocks noGrp="1"/>
          </p:cNvSpPr>
          <p:nvPr/>
        </p:nvSpPr>
        <p:spPr>
          <a:xfrm>
            <a:off x="7820025" y="4048125"/>
            <a:ext cx="3876675" cy="600075"/>
          </a:xfrm>
          <a:prstGeom prst="rect">
            <a:avLst/>
          </a:prstGeom>
          <a:noFill/>
          <a:ln w="0">
            <a:noFill/>
          </a:ln>
        </p:spPr>
        <p:txBody>
          <a:bodyPr lIns="0" tIns="0" rIns="0" bIns="0">
            <a:noAutofit/>
          </a:bodyPr>
          <a:lstStyle>
            <a:defPPr>
              <a:defRPr sz="3000" b="1">
                <a:solidFill>
                  <a:srgbClr val="BE4038"/>
                </a:solidFill>
                <a:latin typeface="Segoe UI"/>
                <a:ea typeface="Segoe UI"/>
                <a:cs typeface="Segoe UI"/>
              </a:defRPr>
            </a:defPPr>
          </a:lstStyle>
          <a:p>
            <a:pPr>
              <a:defRPr sz="3000" b="1">
                <a:solidFill>
                  <a:srgbClr val="BE4038"/>
                </a:solidFill>
                <a:latin typeface="Segoe UI"/>
                <a:ea typeface="Segoe UI"/>
                <a:cs typeface="Segoe UI"/>
              </a:defRPr>
            </a:pPr>
            <a:r>
              <a:rPr sz="3000" b="1">
                <a:solidFill>
                  <a:srgbClr val="BE4038"/>
                </a:solidFill>
                <a:latin typeface="Segoe UI"/>
                <a:ea typeface="Segoe UI"/>
                <a:cs typeface="Segoe UI"/>
              </a:rPr>
              <a:t>PGSE: 0.802</a:t>
            </a:r>
          </a:p>
        </p:txBody>
      </p:sp>
      <p:sp>
        <p:nvSpPr>
          <p:cNvPr id="8" name="reveal_152">
            <a:extLst>
              <a:ext uri="{FF2B5EF4-FFF2-40B4-BE49-F238E27FC236}">
                <a16:creationId xmlns:a16="http://schemas.microsoft.com/office/drawing/2014/main" id="{5B60F183-71CA-4DA1-802B-AC6B42DE4AFF}"/>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087E98"/>
                </a:solidFill>
                <a:latin typeface="Segoe UI"/>
                <a:ea typeface="Segoe UI"/>
                <a:cs typeface="Segoe UI"/>
              </a:defRPr>
            </a:defPPr>
          </a:lstStyle>
          <a:p>
            <a:pPr>
              <a:defRPr sz="2100" b="1">
                <a:solidFill>
                  <a:srgbClr val="087E98"/>
                </a:solidFill>
                <a:latin typeface="Segoe UI"/>
                <a:ea typeface="Segoe UI"/>
                <a:cs typeface="Segoe UI"/>
              </a:defRPr>
            </a:pPr>
            <a:r>
              <a:rPr sz="2100" b="1">
                <a:solidFill>
                  <a:srgbClr val="087E98"/>
                </a:solidFill>
                <a:latin typeface="Segoe UI"/>
                <a:ea typeface="Segoe UI"/>
                <a:cs typeface="Segoe UI"/>
              </a:rPr>
              <a:t>Inspect sequence + shape + δ + RF gaps before fitting D</a:t>
            </a:r>
          </a:p>
        </p:txBody>
      </p:sp>
      <p:sp>
        <p:nvSpPr>
          <p:cNvPr id="9" name="text_153">
            <a:extLst>
              <a:ext uri="{FF2B5EF4-FFF2-40B4-BE49-F238E27FC236}">
                <a16:creationId xmlns:a16="http://schemas.microsoft.com/office/drawing/2014/main" id="{A7A236A1-5982-4157-9280-447B6EC04164}"/>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617580"/>
                </a:solidFill>
                <a:latin typeface="Segoe UI"/>
                <a:ea typeface="Segoe UI"/>
                <a:cs typeface="Segoe UI"/>
              </a:defRPr>
            </a:defPPr>
          </a:lstStyle>
          <a:p>
            <a:pPr>
              <a:defRPr sz="1725" b="0">
                <a:solidFill>
                  <a:srgbClr val="617580"/>
                </a:solidFill>
                <a:latin typeface="Segoe UI"/>
                <a:ea typeface="Segoe UI"/>
                <a:cs typeface="Segoe UI"/>
              </a:defRPr>
            </a:pPr>
            <a:r>
              <a:rPr sz="1725" b="0">
                <a:solidFill>
                  <a:srgbClr val="617580"/>
                </a:solidFill>
                <a:latin typeface="Segoe UI"/>
                <a:ea typeface="Segoe UI"/>
                <a:cs typeface="Segoe UI"/>
              </a:rPr>
              <a:t>NOISELESS SIMULATION, fixed physical G and no recalibration. The fit checks the decay, not the b scale.</a:t>
            </a:r>
          </a:p>
        </p:txBody>
      </p:sp>
    </p:spTree>
    <p:extLst>
      <p:ext uri="{BB962C8B-B14F-4D97-AF65-F5344CB8AC3E}">
        <p14:creationId xmlns:p14="http://schemas.microsoft.com/office/powerpoint/2010/main" val="50046753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500"/>
                            </p:stCondLst>
                            <p:childTnLst>
                              <p:par>
                                <p:cTn id="9" presetID="10" presetClass="entr" presetSubtype="0" fill="hold" grpId="0" nodeType="after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CCE529C-047A-4531-89FC-9D174FFBB22A}"/>
              </a:ext>
            </a:extLst>
          </p:cNvPr>
          <p:cNvPicPr>
            <a:picLocks noChangeAspect="1"/>
          </p:cNvPicPr>
          <p:nvPr/>
        </p:nvPicPr>
        <p:blipFill>
          <a:blip r:embed="rId5"/>
          <a:stretch/>
        </p:blipFill>
        <p:spPr>
          <a:xfrm>
            <a:off x="0" y="0"/>
            <a:ext cx="12192000" cy="6858000"/>
          </a:xfrm>
          <a:prstGeom prst="rect">
            <a:avLst/>
          </a:prstGeom>
        </p:spPr>
      </p:pic>
      <p:pic>
        <p:nvPicPr>
          <p:cNvPr id="3" name="DOSY_VIDEO_7" descr="Scientific teaching simulation / Simulación didáctica">
            <a:hlinkClick action="ppaction://media"/>
            <a:extLst>
              <a:ext uri="{FF2B5EF4-FFF2-40B4-BE49-F238E27FC236}">
                <a16:creationId xmlns:a16="http://schemas.microsoft.com/office/drawing/2014/main" id="{99148B63-DFA3-01B4-10F1-947C802AE6B5}"/>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69371184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0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A28769B-F5A1-4C1C-A472-44B6E3D1F1EA}"/>
              </a:ext>
            </a:extLst>
          </p:cNvPr>
          <p:cNvPicPr>
            <a:picLocks noChangeAspect="1"/>
          </p:cNvPicPr>
          <p:nvPr/>
        </p:nvPicPr>
        <p:blipFill>
          <a:blip r:embed="rId5"/>
          <a:stretch/>
        </p:blipFill>
        <p:spPr>
          <a:xfrm>
            <a:off x="0" y="0"/>
            <a:ext cx="12192000" cy="6858000"/>
          </a:xfrm>
          <a:prstGeom prst="rect">
            <a:avLst/>
          </a:prstGeom>
        </p:spPr>
      </p:pic>
      <p:pic>
        <p:nvPicPr>
          <p:cNvPr id="3" name="DOSY_VIDEO_8" descr="Scientific teaching simulation / Simulación didáctica">
            <a:hlinkClick action="ppaction://media"/>
            <a:extLst>
              <a:ext uri="{FF2B5EF4-FFF2-40B4-BE49-F238E27FC236}">
                <a16:creationId xmlns:a16="http://schemas.microsoft.com/office/drawing/2014/main" id="{68FCFA60-4FB8-73F9-8EF1-6B63EF7D3BEA}"/>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112207281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0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7" name="slide_number">
            <a:extLst>
              <a:ext uri="{FF2B5EF4-FFF2-40B4-BE49-F238E27FC236}">
                <a16:creationId xmlns:a16="http://schemas.microsoft.com/office/drawing/2014/main" id="{595D11F9-8A8E-4550-B880-F5AC6AFE440B}"/>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09</a:t>
            </a:r>
          </a:p>
        </p:txBody>
      </p:sp>
      <p:sp>
        <p:nvSpPr>
          <p:cNvPr id="2" name="slide_title">
            <a:extLst>
              <a:ext uri="{FF2B5EF4-FFF2-40B4-BE49-F238E27FC236}">
                <a16:creationId xmlns:a16="http://schemas.microsoft.com/office/drawing/2014/main" id="{EF8BD4E5-A248-4CCC-B655-22D1D35373DF}"/>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225" b="1">
                <a:solidFill>
                  <a:srgbClr val="EAF3F4"/>
                </a:solidFill>
                <a:latin typeface="Segoe UI"/>
                <a:ea typeface="Segoe UI"/>
                <a:cs typeface="Segoe UI"/>
              </a:defRPr>
            </a:defPPr>
          </a:lstStyle>
          <a:p>
            <a:pPr>
              <a:defRPr sz="3225" b="1">
                <a:solidFill>
                  <a:srgbClr val="EAF3F4"/>
                </a:solidFill>
                <a:latin typeface="Segoe UI"/>
                <a:ea typeface="Segoe UI"/>
                <a:cs typeface="Segoe UI"/>
              </a:defRPr>
            </a:pPr>
            <a:r>
              <a:rPr sz="3225" b="1">
                <a:solidFill>
                  <a:srgbClr val="EAF3F4"/>
                </a:solidFill>
                <a:latin typeface="Segoe UI"/>
                <a:ea typeface="Segoe UI"/>
                <a:cs typeface="Segoe UI"/>
              </a:rPr>
              <a:t>LED and double STE: recover signal without copying delays</a:t>
            </a:r>
          </a:p>
        </p:txBody>
      </p:sp>
      <p:graphicFrame>
        <p:nvGraphicFramePr>
          <p:cNvPr id="3" name="Tabla 2">
            <a:extLst>
              <a:ext uri="{FF2B5EF4-FFF2-40B4-BE49-F238E27FC236}">
                <a16:creationId xmlns:a16="http://schemas.microsoft.com/office/drawing/2014/main" id="{C0F4F176-EA03-458A-8890-3FF3A6E09228}"/>
              </a:ext>
            </a:extLst>
          </p:cNvPr>
          <p:cNvGraphicFramePr/>
          <p:nvPr/>
        </p:nvGraphicFramePr>
        <p:xfrm>
          <a:off x="523875" y="1847850"/>
          <a:ext cx="11163300" cy="2676525"/>
        </p:xfrm>
        <a:graphic>
          <a:graphicData uri="http://schemas.openxmlformats.org/drawingml/2006/table">
            <a:tbl>
              <a:tblPr/>
              <a:tblGrid>
                <a:gridCol w="3476625">
                  <a:extLst>
                    <a:ext uri="{9D8B030D-6E8A-4147-A177-3AD203B41FA5}">
                      <a16:colId xmlns:a16="http://schemas.microsoft.com/office/drawing/2014/main" val="20000"/>
                    </a:ext>
                  </a:extLst>
                </a:gridCol>
                <a:gridCol w="3219450">
                  <a:extLst>
                    <a:ext uri="{9D8B030D-6E8A-4147-A177-3AD203B41FA5}">
                      <a16:colId xmlns:a16="http://schemas.microsoft.com/office/drawing/2014/main" val="20001"/>
                    </a:ext>
                  </a:extLst>
                </a:gridCol>
                <a:gridCol w="4467225">
                  <a:extLst>
                    <a:ext uri="{9D8B030D-6E8A-4147-A177-3AD203B41FA5}">
                      <a16:colId xmlns:a16="http://schemas.microsoft.com/office/drawing/2014/main" val="20002"/>
                    </a:ext>
                  </a:extLst>
                </a:gridCol>
              </a:tblGrid>
              <a:tr h="669131">
                <a:tc>
                  <a:txBody>
                    <a:bodyPr/>
                    <a:lstStyle/>
                    <a:p>
                      <a:r>
                        <a:rPr sz="1875" b="1">
                          <a:solidFill>
                            <a:srgbClr val="EAF3F4"/>
                          </a:solidFill>
                          <a:latin typeface="Segoe UI"/>
                          <a:ea typeface="Segoe UI"/>
                          <a:cs typeface="Segoe UI"/>
                        </a:rPr>
                        <a:t>Sequence</a:t>
                      </a:r>
                    </a:p>
                  </a:txBody>
                  <a:tcPr>
                    <a:solidFill>
                      <a:srgbClr val="1D3E50"/>
                    </a:solidFill>
                  </a:tcPr>
                </a:tc>
                <a:tc>
                  <a:txBody>
                    <a:bodyPr/>
                    <a:lstStyle/>
                    <a:p>
                      <a:r>
                        <a:rPr sz="1875" b="1">
                          <a:solidFill>
                            <a:srgbClr val="EAF3F4"/>
                          </a:solidFill>
                          <a:latin typeface="Segoe UI"/>
                          <a:ea typeface="Segoe UI"/>
                          <a:cs typeface="Segoe UI"/>
                        </a:rPr>
                        <a:t>Relevant delay</a:t>
                      </a:r>
                    </a:p>
                  </a:txBody>
                  <a:tcPr>
                    <a:solidFill>
                      <a:srgbClr val="1D3E50"/>
                    </a:solidFill>
                  </a:tcPr>
                </a:tc>
                <a:tc>
                  <a:txBody>
                    <a:bodyPr/>
                    <a:lstStyle/>
                    <a:p>
                      <a:r>
                        <a:rPr sz="1875" b="1">
                          <a:solidFill>
                            <a:srgbClr val="EAF3F4"/>
                          </a:solidFill>
                          <a:latin typeface="Segoe UI"/>
                          <a:ea typeface="Segoe UI"/>
                          <a:cs typeface="Segoe UI"/>
                        </a:rPr>
                        <a:t>Problem to control</a:t>
                      </a:r>
                    </a:p>
                  </a:txBody>
                  <a:tcPr>
                    <a:solidFill>
                      <a:srgbClr val="1D3E50"/>
                    </a:solidFill>
                  </a:tcPr>
                </a:tc>
                <a:extLst>
                  <a:ext uri="{0D108BD9-81ED-4DB2-BD59-A6C34878D82A}">
                    <a16:rowId xmlns:a16="http://schemas.microsoft.com/office/drawing/2014/main" val="10000"/>
                  </a:ext>
                </a:extLst>
              </a:tr>
              <a:tr h="669131">
                <a:tc>
                  <a:txBody>
                    <a:bodyPr/>
                    <a:lstStyle/>
                    <a:p>
                      <a:r>
                        <a:rPr sz="1875" b="0">
                          <a:solidFill>
                            <a:srgbClr val="EAF3F4"/>
                          </a:solidFill>
                          <a:latin typeface="Segoe UI"/>
                          <a:ea typeface="Segoe UI"/>
                          <a:cs typeface="Segoe UI"/>
                        </a:rPr>
                        <a:t>ledbpgp2s / 1d</a:t>
                      </a:r>
                    </a:p>
                  </a:txBody>
                  <a:tcPr>
                    <a:solidFill>
                      <a:srgbClr val="081522"/>
                    </a:solidFill>
                  </a:tcPr>
                </a:tc>
                <a:tc>
                  <a:txBody>
                    <a:bodyPr/>
                    <a:lstStyle/>
                    <a:p>
                      <a:r>
                        <a:rPr sz="1875" b="0">
                          <a:solidFill>
                            <a:srgbClr val="EAF3F4"/>
                          </a:solidFill>
                          <a:latin typeface="Segoe UI"/>
                          <a:ea typeface="Segoe UI"/>
                          <a:cs typeface="Segoe UI"/>
                        </a:rPr>
                        <a:t>LED = D21</a:t>
                      </a:r>
                    </a:p>
                  </a:txBody>
                  <a:tcPr>
                    <a:solidFill>
                      <a:srgbClr val="081522"/>
                    </a:solidFill>
                  </a:tcPr>
                </a:tc>
                <a:tc>
                  <a:txBody>
                    <a:bodyPr/>
                    <a:lstStyle/>
                    <a:p>
                      <a:r>
                        <a:rPr sz="1875" b="0">
                          <a:solidFill>
                            <a:srgbClr val="EAF3F4"/>
                          </a:solidFill>
                          <a:latin typeface="Segoe UI"/>
                          <a:ea typeface="Segoe UI"/>
                          <a:cs typeface="Segoe UI"/>
                        </a:rPr>
                        <a:t>Eddy-current recovery</a:t>
                      </a:r>
                    </a:p>
                  </a:txBody>
                  <a:tcPr>
                    <a:solidFill>
                      <a:srgbClr val="081522"/>
                    </a:solidFill>
                  </a:tcPr>
                </a:tc>
                <a:extLst>
                  <a:ext uri="{0D108BD9-81ED-4DB2-BD59-A6C34878D82A}">
                    <a16:rowId xmlns:a16="http://schemas.microsoft.com/office/drawing/2014/main" val="10001"/>
                  </a:ext>
                </a:extLst>
              </a:tr>
              <a:tr h="669131">
                <a:tc>
                  <a:txBody>
                    <a:bodyPr/>
                    <a:lstStyle/>
                    <a:p>
                      <a:r>
                        <a:rPr sz="1875" b="0">
                          <a:solidFill>
                            <a:srgbClr val="EAF3F4"/>
                          </a:solidFill>
                          <a:latin typeface="Segoe UI"/>
                          <a:ea typeface="Segoe UI"/>
                          <a:cs typeface="Segoe UI"/>
                        </a:rPr>
                        <a:t>dstebpgp3s / 1d</a:t>
                      </a:r>
                    </a:p>
                  </a:txBody>
                  <a:tcPr>
                    <a:solidFill>
                      <a:srgbClr val="081522"/>
                    </a:solidFill>
                  </a:tcPr>
                </a:tc>
                <a:tc>
                  <a:txBody>
                    <a:bodyPr/>
                    <a:lstStyle/>
                    <a:p>
                      <a:r>
                        <a:rPr sz="1875" b="0">
                          <a:solidFill>
                            <a:srgbClr val="EAF3F4"/>
                          </a:solidFill>
                          <a:latin typeface="Segoe UI"/>
                          <a:ea typeface="Segoe UI"/>
                          <a:cs typeface="Segoe UI"/>
                        </a:rPr>
                        <a:t>D20 total · D21 LED</a:t>
                      </a:r>
                    </a:p>
                  </a:txBody>
                  <a:tcPr>
                    <a:solidFill>
                      <a:srgbClr val="081522"/>
                    </a:solidFill>
                  </a:tcPr>
                </a:tc>
                <a:tc>
                  <a:txBody>
                    <a:bodyPr/>
                    <a:lstStyle/>
                    <a:p>
                      <a:r>
                        <a:rPr sz="1875" b="0">
                          <a:solidFill>
                            <a:srgbClr val="EAF3F4"/>
                          </a:solidFill>
                          <a:latin typeface="Segoe UI"/>
                          <a:ea typeface="Segoe UI"/>
                          <a:cs typeface="Segoe UI"/>
                        </a:rPr>
                        <a:t>Convection / more RF / sensitivity loss</a:t>
                      </a:r>
                    </a:p>
                  </a:txBody>
                  <a:tcPr>
                    <a:solidFill>
                      <a:srgbClr val="081522"/>
                    </a:solidFill>
                  </a:tcPr>
                </a:tc>
                <a:extLst>
                  <a:ext uri="{0D108BD9-81ED-4DB2-BD59-A6C34878D82A}">
                    <a16:rowId xmlns:a16="http://schemas.microsoft.com/office/drawing/2014/main" val="10002"/>
                  </a:ext>
                </a:extLst>
              </a:tr>
              <a:tr h="669131">
                <a:tc>
                  <a:txBody>
                    <a:bodyPr/>
                    <a:lstStyle/>
                    <a:p>
                      <a:r>
                        <a:rPr sz="1875" b="0">
                          <a:solidFill>
                            <a:srgbClr val="EAF3F4"/>
                          </a:solidFill>
                          <a:latin typeface="Segoe UI"/>
                          <a:ea typeface="Segoe UI"/>
                          <a:cs typeface="Segoe UI"/>
                        </a:rPr>
                        <a:t>diffSteLED</a:t>
                      </a:r>
                    </a:p>
                  </a:txBody>
                  <a:tcPr>
                    <a:solidFill>
                      <a:srgbClr val="081522"/>
                    </a:solidFill>
                  </a:tcPr>
                </a:tc>
                <a:tc>
                  <a:txBody>
                    <a:bodyPr/>
                    <a:lstStyle/>
                    <a:p>
                      <a:r>
                        <a:rPr sz="1875" b="0">
                          <a:solidFill>
                            <a:srgbClr val="EAF3F4"/>
                          </a:solidFill>
                          <a:latin typeface="Segoe UI"/>
                          <a:ea typeface="Segoe UI"/>
                          <a:cs typeface="Segoe UI"/>
                        </a:rPr>
                        <a:t>D5 ≠ LED · LED = D19</a:t>
                      </a:r>
                    </a:p>
                  </a:txBody>
                  <a:tcPr>
                    <a:solidFill>
                      <a:srgbClr val="081522"/>
                    </a:solidFill>
                  </a:tcPr>
                </a:tc>
                <a:tc>
                  <a:txBody>
                    <a:bodyPr/>
                    <a:lstStyle/>
                    <a:p>
                      <a:r>
                        <a:rPr sz="1875" b="0">
                          <a:solidFill>
                            <a:srgbClr val="EAF3F4"/>
                          </a:solidFill>
                          <a:latin typeface="Segoe UI"/>
                          <a:ea typeface="Segoe UI"/>
                          <a:cs typeface="Segoe UI"/>
                        </a:rPr>
                        <a:t>D5: remaining diffusion interval</a:t>
                      </a:r>
                    </a:p>
                  </a:txBody>
                  <a:tcPr>
                    <a:solidFill>
                      <a:srgbClr val="081522"/>
                    </a:solidFill>
                  </a:tcPr>
                </a:tc>
                <a:extLst>
                  <a:ext uri="{0D108BD9-81ED-4DB2-BD59-A6C34878D82A}">
                    <a16:rowId xmlns:a16="http://schemas.microsoft.com/office/drawing/2014/main" val="10003"/>
                  </a:ext>
                </a:extLst>
              </a:tr>
            </a:tbl>
          </a:graphicData>
        </a:graphic>
      </p:graphicFrame>
      <p:sp>
        <p:nvSpPr>
          <p:cNvPr id="4" name="text_154">
            <a:extLst>
              <a:ext uri="{FF2B5EF4-FFF2-40B4-BE49-F238E27FC236}">
                <a16:creationId xmlns:a16="http://schemas.microsoft.com/office/drawing/2014/main" id="{CBDEDAE1-2F09-45AE-91A1-27F7FD4C6048}"/>
              </a:ext>
            </a:extLst>
          </p:cNvPr>
          <p:cNvSpPr>
            <a:spLocks noGrp="1"/>
          </p:cNvSpPr>
          <p:nvPr/>
        </p:nvSpPr>
        <p:spPr>
          <a:xfrm>
            <a:off x="561975" y="4886325"/>
            <a:ext cx="11049000" cy="523875"/>
          </a:xfrm>
          <a:prstGeom prst="rect">
            <a:avLst/>
          </a:prstGeom>
          <a:noFill/>
          <a:ln w="0">
            <a:noFill/>
          </a:ln>
        </p:spPr>
        <p:txBody>
          <a:bodyPr lIns="0" tIns="0" rIns="0" bIns="0">
            <a:noAutofit/>
          </a:bodyPr>
          <a:lstStyle>
            <a:defPPr>
              <a:defRPr sz="2325" b="1">
                <a:solidFill>
                  <a:srgbClr val="EAF3F4"/>
                </a:solidFill>
                <a:latin typeface="Segoe UI"/>
                <a:ea typeface="Segoe UI"/>
                <a:cs typeface="Segoe UI"/>
              </a:defRPr>
            </a:defPPr>
          </a:lstStyle>
          <a:p>
            <a:pPr>
              <a:defRPr sz="2325" b="1">
                <a:solidFill>
                  <a:srgbClr val="EAF3F4"/>
                </a:solidFill>
                <a:latin typeface="Segoe UI"/>
                <a:ea typeface="Segoe UI"/>
                <a:cs typeface="Segoe UI"/>
              </a:defRPr>
            </a:pPr>
            <a:r>
              <a:rPr sz="2325" b="1">
                <a:solidFill>
                  <a:srgbClr val="EAF3F4"/>
                </a:solidFill>
                <a:latin typeface="Segoe UI"/>
                <a:ea typeface="Segoe UI"/>
                <a:cs typeface="Segoe UI"/>
              </a:rPr>
              <a:t>Double STE: δ = 2P30 · 8 lobes · NS = 16×n</a:t>
            </a:r>
          </a:p>
        </p:txBody>
      </p:sp>
      <p:sp>
        <p:nvSpPr>
          <p:cNvPr id="5" name="reveal_155">
            <a:extLst>
              <a:ext uri="{FF2B5EF4-FFF2-40B4-BE49-F238E27FC236}">
                <a16:creationId xmlns:a16="http://schemas.microsoft.com/office/drawing/2014/main" id="{8D7ABBB7-6086-42CB-8D20-FDF26709298C}"/>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55DDE0"/>
                </a:solidFill>
                <a:latin typeface="Segoe UI"/>
                <a:ea typeface="Segoe UI"/>
                <a:cs typeface="Segoe UI"/>
              </a:defRPr>
            </a:defPPr>
          </a:lstStyle>
          <a:p>
            <a:pPr>
              <a:defRPr sz="2100" b="1">
                <a:solidFill>
                  <a:srgbClr val="55DDE0"/>
                </a:solidFill>
                <a:latin typeface="Segoe UI"/>
                <a:ea typeface="Segoe UI"/>
                <a:cs typeface="Segoe UI"/>
              </a:defRPr>
            </a:pPr>
            <a:r>
              <a:rPr sz="2100" b="1">
                <a:solidFill>
                  <a:srgbClr val="55DDE0"/>
                </a:solidFill>
                <a:latin typeface="Segoe UI"/>
                <a:ea typeface="Segoe UI"/>
                <a:cs typeface="Segoe UI"/>
              </a:rPr>
              <a:t>Read the acquired pulseprogram and its constraints before copying parameters</a:t>
            </a:r>
          </a:p>
        </p:txBody>
      </p:sp>
      <p:sp>
        <p:nvSpPr>
          <p:cNvPr id="6" name="text_156">
            <a:extLst>
              <a:ext uri="{FF2B5EF4-FFF2-40B4-BE49-F238E27FC236}">
                <a16:creationId xmlns:a16="http://schemas.microsoft.com/office/drawing/2014/main" id="{455F984E-50E8-4360-AF6D-B2707DB6C8B3}"/>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Inspect D1, D16, P19 and DELTA1. Convection compensation has limits and a signal cost.</a:t>
            </a:r>
          </a:p>
        </p:txBody>
      </p:sp>
    </p:spTree>
    <p:extLst>
      <p:ext uri="{BB962C8B-B14F-4D97-AF65-F5344CB8AC3E}">
        <p14:creationId xmlns:p14="http://schemas.microsoft.com/office/powerpoint/2010/main" val="78826177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8" name="slide_number">
            <a:extLst>
              <a:ext uri="{FF2B5EF4-FFF2-40B4-BE49-F238E27FC236}">
                <a16:creationId xmlns:a16="http://schemas.microsoft.com/office/drawing/2014/main" id="{DE2C5154-D8CF-4C6F-A1B0-898936536E23}"/>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10</a:t>
            </a:r>
          </a:p>
        </p:txBody>
      </p:sp>
      <p:sp>
        <p:nvSpPr>
          <p:cNvPr id="2" name="slide_title">
            <a:extLst>
              <a:ext uri="{FF2B5EF4-FFF2-40B4-BE49-F238E27FC236}">
                <a16:creationId xmlns:a16="http://schemas.microsoft.com/office/drawing/2014/main" id="{1C278DAE-A29B-486B-95F8-168AD69C85E9}"/>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123447"/>
                </a:solidFill>
                <a:latin typeface="Segoe UI"/>
                <a:ea typeface="Segoe UI"/>
                <a:cs typeface="Segoe UI"/>
              </a:defRPr>
            </a:defPPr>
          </a:lstStyle>
          <a:p>
            <a:pPr>
              <a:defRPr sz="3300" b="1">
                <a:solidFill>
                  <a:srgbClr val="123447"/>
                </a:solidFill>
                <a:latin typeface="Segoe UI"/>
                <a:ea typeface="Segoe UI"/>
                <a:cs typeface="Segoe UI"/>
              </a:defRPr>
            </a:pPr>
            <a:r>
              <a:rPr sz="3300" b="1">
                <a:solidFill>
                  <a:srgbClr val="123447"/>
                </a:solidFill>
                <a:latin typeface="Segoe UI"/>
                <a:ea typeface="Segoe UI"/>
                <a:cs typeface="Segoe UI"/>
              </a:rPr>
              <a:t>Changing Δ helps reveal that diffusion is not the only process</a:t>
            </a:r>
          </a:p>
        </p:txBody>
      </p:sp>
      <p:graphicFrame>
        <p:nvGraphicFramePr>
          <p:cNvPr id="3" name="Chart">
            <a:extLst>
              <a:ext uri="{FF2B5EF4-FFF2-40B4-BE49-F238E27FC236}">
                <a16:creationId xmlns:a16="http://schemas.microsoft.com/office/drawing/2014/main" id="{2BBA831A-F3B6-4932-9A69-C6C1A41190D3}"/>
              </a:ext>
            </a:extLst>
          </p:cNvPr>
          <p:cNvGraphicFramePr/>
          <p:nvPr/>
        </p:nvGraphicFramePr>
        <p:xfrm>
          <a:off x="276225" y="1847850"/>
          <a:ext cx="7277100" cy="337185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_157">
            <a:extLst>
              <a:ext uri="{FF2B5EF4-FFF2-40B4-BE49-F238E27FC236}">
                <a16:creationId xmlns:a16="http://schemas.microsoft.com/office/drawing/2014/main" id="{D0CC76F7-D7E0-4620-9330-A0FEB1E23A69}"/>
              </a:ext>
            </a:extLst>
          </p:cNvPr>
          <p:cNvSpPr>
            <a:spLocks noGrp="1"/>
          </p:cNvSpPr>
          <p:nvPr/>
        </p:nvSpPr>
        <p:spPr>
          <a:xfrm>
            <a:off x="8077200" y="2000250"/>
            <a:ext cx="3524250" cy="1438275"/>
          </a:xfrm>
          <a:prstGeom prst="rect">
            <a:avLst/>
          </a:prstGeom>
          <a:noFill/>
          <a:ln w="0">
            <a:noFill/>
          </a:ln>
        </p:spPr>
        <p:txBody>
          <a:bodyPr lIns="0" tIns="0" rIns="0" bIns="0">
            <a:noAutofit/>
          </a:bodyPr>
          <a:lstStyle>
            <a:defPPr>
              <a:defRPr sz="3225" b="1">
                <a:solidFill>
                  <a:srgbClr val="BE4038"/>
                </a:solidFill>
                <a:latin typeface="Segoe UI"/>
                <a:ea typeface="Segoe UI"/>
                <a:cs typeface="Segoe UI"/>
              </a:defRPr>
            </a:defPPr>
          </a:lstStyle>
          <a:p>
            <a:pPr>
              <a:defRPr sz="3225" b="1">
                <a:solidFill>
                  <a:srgbClr val="BE4038"/>
                </a:solidFill>
                <a:latin typeface="Segoe UI"/>
                <a:ea typeface="Segoe UI"/>
                <a:cs typeface="Segoe UI"/>
              </a:defRPr>
            </a:pPr>
            <a:r>
              <a:rPr sz="3225" b="1">
                <a:solidFill>
                  <a:srgbClr val="BE4038"/>
                </a:solidFill>
                <a:latin typeface="Segoe UI"/>
                <a:ea typeface="Segoe UI"/>
                <a:cs typeface="Segoe UI"/>
              </a:rPr>
              <a:t>Δ ↑</a:t>
            </a:r>
          </a:p>
          <a:p>
            <a:pPr>
              <a:defRPr sz="3225" b="1">
                <a:solidFill>
                  <a:srgbClr val="BE4038"/>
                </a:solidFill>
                <a:latin typeface="Segoe UI"/>
                <a:ea typeface="Segoe UI"/>
                <a:cs typeface="Segoe UI"/>
              </a:defRPr>
            </a:pPr>
            <a:r>
              <a:rPr sz="3225" b="1">
                <a:solidFill>
                  <a:srgbClr val="BE4038"/>
                </a:solidFill>
                <a:latin typeface="Segoe UI"/>
                <a:ea typeface="Segoe UI"/>
                <a:cs typeface="Segoe UI"/>
              </a:rPr>
              <a:t>Apparent D ↑</a:t>
            </a:r>
          </a:p>
        </p:txBody>
      </p:sp>
      <p:sp>
        <p:nvSpPr>
          <p:cNvPr id="5" name="text_158">
            <a:extLst>
              <a:ext uri="{FF2B5EF4-FFF2-40B4-BE49-F238E27FC236}">
                <a16:creationId xmlns:a16="http://schemas.microsoft.com/office/drawing/2014/main" id="{E6D5723F-07CA-4666-96AF-41CA853B6AAC}"/>
              </a:ext>
            </a:extLst>
          </p:cNvPr>
          <p:cNvSpPr>
            <a:spLocks noGrp="1"/>
          </p:cNvSpPr>
          <p:nvPr/>
        </p:nvSpPr>
        <p:spPr>
          <a:xfrm>
            <a:off x="8086725" y="3876675"/>
            <a:ext cx="3514725" cy="1200150"/>
          </a:xfrm>
          <a:prstGeom prst="rect">
            <a:avLst/>
          </a:prstGeom>
          <a:noFill/>
          <a:ln w="0">
            <a:noFill/>
          </a:ln>
        </p:spPr>
        <p:txBody>
          <a:bodyPr lIns="0" tIns="0" rIns="0" bIns="0">
            <a:noAutofit/>
          </a:bodyPr>
          <a:lstStyle>
            <a:defPPr>
              <a:defRPr sz="2100" b="0">
                <a:solidFill>
                  <a:srgbClr val="123447"/>
                </a:solidFill>
                <a:latin typeface="Segoe UI"/>
                <a:ea typeface="Segoe UI"/>
                <a:cs typeface="Segoe UI"/>
              </a:defRPr>
            </a:defPPr>
          </a:lstStyle>
          <a:p>
            <a:pPr>
              <a:defRPr sz="2100" b="0">
                <a:solidFill>
                  <a:srgbClr val="123447"/>
                </a:solidFill>
                <a:latin typeface="Segoe UI"/>
                <a:ea typeface="Segoe UI"/>
                <a:cs typeface="Segoe UI"/>
              </a:defRPr>
            </a:pPr>
            <a:r>
              <a:rPr sz="2100" b="0">
                <a:solidFill>
                  <a:srgbClr val="123447"/>
                </a:solidFill>
                <a:latin typeface="Segoe UI"/>
                <a:ea typeface="Segoe UI"/>
                <a:cs typeface="Segoe UI"/>
              </a:rPr>
              <a:t>Convection</a:t>
            </a:r>
          </a:p>
          <a:p>
            <a:pPr>
              <a:defRPr sz="2100" b="0">
                <a:solidFill>
                  <a:srgbClr val="123447"/>
                </a:solidFill>
                <a:latin typeface="Segoe UI"/>
                <a:ea typeface="Segoe UI"/>
                <a:cs typeface="Segoe UI"/>
              </a:defRPr>
            </a:pPr>
            <a:r>
              <a:rPr sz="2100" b="0">
                <a:solidFill>
                  <a:srgbClr val="123447"/>
                </a:solidFill>
                <a:latin typeface="Segoe UI"/>
                <a:ea typeface="Segoe UI"/>
                <a:cs typeface="Segoe UI"/>
              </a:rPr>
              <a:t>Exchange</a:t>
            </a:r>
          </a:p>
          <a:p>
            <a:pPr>
              <a:defRPr sz="2100" b="0">
                <a:solidFill>
                  <a:srgbClr val="123447"/>
                </a:solidFill>
                <a:latin typeface="Segoe UI"/>
                <a:ea typeface="Segoe UI"/>
                <a:cs typeface="Segoe UI"/>
              </a:defRPr>
            </a:pPr>
            <a:r>
              <a:rPr sz="2100" b="0">
                <a:solidFill>
                  <a:srgbClr val="123447"/>
                </a:solidFill>
                <a:latin typeface="Segoe UI"/>
                <a:ea typeface="Segoe UI"/>
                <a:cs typeface="Segoe UI"/>
              </a:rPr>
              <a:t>Restricted diffusion</a:t>
            </a:r>
          </a:p>
        </p:txBody>
      </p:sp>
      <p:sp>
        <p:nvSpPr>
          <p:cNvPr id="6" name="reveal_159">
            <a:extLst>
              <a:ext uri="{FF2B5EF4-FFF2-40B4-BE49-F238E27FC236}">
                <a16:creationId xmlns:a16="http://schemas.microsoft.com/office/drawing/2014/main" id="{ED5A09DF-6566-4562-AA93-D5B5FC925F6A}"/>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087E98"/>
                </a:solidFill>
                <a:latin typeface="Segoe UI"/>
                <a:ea typeface="Segoe UI"/>
                <a:cs typeface="Segoe UI"/>
              </a:defRPr>
            </a:defPPr>
          </a:lstStyle>
          <a:p>
            <a:pPr>
              <a:defRPr sz="2100" b="1">
                <a:solidFill>
                  <a:srgbClr val="087E98"/>
                </a:solidFill>
                <a:latin typeface="Segoe UI"/>
                <a:ea typeface="Segoe UI"/>
                <a:cs typeface="Segoe UI"/>
              </a:defRPr>
            </a:pPr>
            <a:r>
              <a:rPr sz="2100" b="1">
                <a:solidFill>
                  <a:srgbClr val="087E98"/>
                </a:solidFill>
                <a:latin typeface="Segoe UI"/>
                <a:ea typeface="Segoe UI"/>
                <a:cs typeface="Segoe UI"/>
              </a:rPr>
              <a:t>Compare three Δ values, T and ramp-specific amplitudes; check the standard</a:t>
            </a:r>
          </a:p>
        </p:txBody>
      </p:sp>
      <p:sp>
        <p:nvSpPr>
          <p:cNvPr id="7" name="text_160">
            <a:extLst>
              <a:ext uri="{FF2B5EF4-FFF2-40B4-BE49-F238E27FC236}">
                <a16:creationId xmlns:a16="http://schemas.microsoft.com/office/drawing/2014/main" id="{5303CE6D-8688-4466-AEC8-09B05C179F52}"/>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650" b="0">
                <a:solidFill>
                  <a:srgbClr val="617580"/>
                </a:solidFill>
                <a:latin typeface="Segoe UI"/>
                <a:ea typeface="Segoe UI"/>
                <a:cs typeface="Segoe UI"/>
              </a:defRPr>
            </a:defPPr>
          </a:lstStyle>
          <a:p>
            <a:pPr>
              <a:defRPr sz="1650" b="0">
                <a:solidFill>
                  <a:srgbClr val="617580"/>
                </a:solidFill>
                <a:latin typeface="Segoe UI"/>
                <a:ea typeface="Segoe UI"/>
                <a:cs typeface="Segoe UI"/>
              </a:defRPr>
            </a:pPr>
            <a:r>
              <a:rPr sz="1650" b="0">
                <a:solidFill>
                  <a:srgbClr val="617580"/>
                </a:solidFill>
                <a:latin typeface="Segoe UI"/>
                <a:ea typeface="Segoe UI"/>
                <a:cs typeface="Segoe UI"/>
              </a:rPr>
              <a:t>SIMULATION: Gaussian velocities, σv = 100 µm/s, narrow pulses. The cause needs additional evidence.</a:t>
            </a:r>
          </a:p>
        </p:txBody>
      </p:sp>
    </p:spTree>
    <p:extLst>
      <p:ext uri="{BB962C8B-B14F-4D97-AF65-F5344CB8AC3E}">
        <p14:creationId xmlns:p14="http://schemas.microsoft.com/office/powerpoint/2010/main" val="138946239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47FA7F0-88EC-4C9C-B9AA-A8A9A794DF0D}"/>
              </a:ext>
            </a:extLst>
          </p:cNvPr>
          <p:cNvPicPr>
            <a:picLocks noChangeAspect="1"/>
          </p:cNvPicPr>
          <p:nvPr/>
        </p:nvPicPr>
        <p:blipFill>
          <a:blip r:embed="rId5"/>
          <a:stretch/>
        </p:blipFill>
        <p:spPr>
          <a:xfrm>
            <a:off x="0" y="0"/>
            <a:ext cx="12192000" cy="6858000"/>
          </a:xfrm>
          <a:prstGeom prst="rect">
            <a:avLst/>
          </a:prstGeom>
        </p:spPr>
      </p:pic>
      <p:pic>
        <p:nvPicPr>
          <p:cNvPr id="3" name="DOSY_VIDEO_11" descr="Scientific teaching simulation / Simulación didáctica">
            <a:hlinkClick action="ppaction://media"/>
            <a:extLst>
              <a:ext uri="{FF2B5EF4-FFF2-40B4-BE49-F238E27FC236}">
                <a16:creationId xmlns:a16="http://schemas.microsoft.com/office/drawing/2014/main" id="{B5FFBBF3-722E-06FE-0F0A-6A5986493602}"/>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126372465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0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C1B46F98-B01E-436C-983B-2143267F9916}"/>
              </a:ext>
            </a:extLst>
          </p:cNvPr>
          <p:cNvPicPr>
            <a:picLocks noChangeAspect="1"/>
          </p:cNvPicPr>
          <p:nvPr/>
        </p:nvPicPr>
        <p:blipFill>
          <a:blip r:embed="rId5"/>
          <a:stretch/>
        </p:blipFill>
        <p:spPr>
          <a:xfrm>
            <a:off x="0" y="0"/>
            <a:ext cx="12192000" cy="6858000"/>
          </a:xfrm>
          <a:prstGeom prst="rect">
            <a:avLst/>
          </a:prstGeom>
        </p:spPr>
      </p:pic>
      <p:pic>
        <p:nvPicPr>
          <p:cNvPr id="3" name="DOSY_VIDEO_12" descr="Scientific teaching simulation / Simulación didáctica">
            <a:hlinkClick action="ppaction://media"/>
            <a:extLst>
              <a:ext uri="{FF2B5EF4-FFF2-40B4-BE49-F238E27FC236}">
                <a16:creationId xmlns:a16="http://schemas.microsoft.com/office/drawing/2014/main" id="{CC2DCA42-88AF-497F-15E0-055E70B2723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103684154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00"/>
                                  </p:stCondLst>
                                  <p:childTnLst>
                                    <p:cmd type="call" cmd="playFrom(0.0)">
                                      <p:cBhvr>
                                        <p:cTn id="6" dur="16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83D9642-4493-491D-99C9-48C7D68D3F44}"/>
              </a:ext>
            </a:extLst>
          </p:cNvPr>
          <p:cNvPicPr>
            <a:picLocks noChangeAspect="1"/>
          </p:cNvPicPr>
          <p:nvPr/>
        </p:nvPicPr>
        <p:blipFill>
          <a:blip r:embed="rId5"/>
          <a:stretch/>
        </p:blipFill>
        <p:spPr>
          <a:xfrm>
            <a:off x="0" y="0"/>
            <a:ext cx="12192000" cy="6858000"/>
          </a:xfrm>
          <a:prstGeom prst="rect">
            <a:avLst/>
          </a:prstGeom>
        </p:spPr>
      </p:pic>
      <p:pic>
        <p:nvPicPr>
          <p:cNvPr id="3" name="DOSY_VIDEO_13" descr="Scientific teaching simulation / Simulación didáctica">
            <a:hlinkClick action="ppaction://media"/>
            <a:extLst>
              <a:ext uri="{FF2B5EF4-FFF2-40B4-BE49-F238E27FC236}">
                <a16:creationId xmlns:a16="http://schemas.microsoft.com/office/drawing/2014/main" id="{012D63AA-9FED-ED0E-67C1-4A1EF39BB0B3}"/>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68538719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00"/>
                                  </p:stCondLst>
                                  <p:childTnLst>
                                    <p:cmd type="call" cmd="playFrom(0.0)">
                                      <p:cBhvr>
                                        <p:cTn id="6" dur="16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452E0AFC-CE5B-40E9-91D8-B0C5B32DD64B}"/>
              </a:ext>
            </a:extLst>
          </p:cNvPr>
          <p:cNvPicPr>
            <a:picLocks noChangeAspect="1"/>
          </p:cNvPicPr>
          <p:nvPr/>
        </p:nvPicPr>
        <p:blipFill>
          <a:blip r:embed="rId5"/>
          <a:stretch/>
        </p:blipFill>
        <p:spPr>
          <a:xfrm>
            <a:off x="0" y="0"/>
            <a:ext cx="12192000" cy="6858000"/>
          </a:xfrm>
          <a:prstGeom prst="rect">
            <a:avLst/>
          </a:prstGeom>
        </p:spPr>
      </p:pic>
      <p:pic>
        <p:nvPicPr>
          <p:cNvPr id="3" name="DOSY_VIDEO_14" descr="Scientific teaching simulation / Simulación didáctica">
            <a:hlinkClick action="ppaction://media"/>
            <a:extLst>
              <a:ext uri="{FF2B5EF4-FFF2-40B4-BE49-F238E27FC236}">
                <a16:creationId xmlns:a16="http://schemas.microsoft.com/office/drawing/2014/main" id="{DAFEA8DA-D24B-4ABD-B6E9-59CB8E6F5FE3}"/>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194766150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00"/>
                                  </p:stCondLst>
                                  <p:childTnLst>
                                    <p:cmd type="call" cmd="playFrom(0.0)">
                                      <p:cBhvr>
                                        <p:cTn id="6" dur="14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8" name="slide_number">
            <a:extLst>
              <a:ext uri="{FF2B5EF4-FFF2-40B4-BE49-F238E27FC236}">
                <a16:creationId xmlns:a16="http://schemas.microsoft.com/office/drawing/2014/main" id="{8C8CCA9C-3EB1-45BF-910A-0CE2ED6593EB}"/>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15</a:t>
            </a:r>
          </a:p>
        </p:txBody>
      </p:sp>
      <p:sp>
        <p:nvSpPr>
          <p:cNvPr id="2" name="slide_title">
            <a:extLst>
              <a:ext uri="{FF2B5EF4-FFF2-40B4-BE49-F238E27FC236}">
                <a16:creationId xmlns:a16="http://schemas.microsoft.com/office/drawing/2014/main" id="{5E5608F0-3FC3-48AC-B0AD-14BD2D34E7EE}"/>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450" b="1">
                <a:solidFill>
                  <a:srgbClr val="EAF3F4"/>
                </a:solidFill>
                <a:latin typeface="Segoe UI"/>
                <a:ea typeface="Segoe UI"/>
                <a:cs typeface="Segoe UI"/>
              </a:defRPr>
            </a:defPPr>
          </a:lstStyle>
          <a:p>
            <a:pPr>
              <a:defRPr sz="3450" b="1">
                <a:solidFill>
                  <a:srgbClr val="EAF3F4"/>
                </a:solidFill>
                <a:latin typeface="Segoe UI"/>
                <a:ea typeface="Segoe UI"/>
                <a:cs typeface="Segoe UI"/>
              </a:defRPr>
            </a:pPr>
            <a:r>
              <a:rPr sz="3450" b="1">
                <a:solidFill>
                  <a:srgbClr val="EAF3F4"/>
                </a:solidFill>
                <a:latin typeface="Segoe UI"/>
                <a:ea typeface="Segoe UI"/>
                <a:cs typeface="Segoe UI"/>
              </a:rPr>
              <a:t>The work our programs help us handle</a:t>
            </a:r>
          </a:p>
        </p:txBody>
      </p:sp>
      <p:sp>
        <p:nvSpPr>
          <p:cNvPr id="3" name="text_161">
            <a:extLst>
              <a:ext uri="{FF2B5EF4-FFF2-40B4-BE49-F238E27FC236}">
                <a16:creationId xmlns:a16="http://schemas.microsoft.com/office/drawing/2014/main" id="{ABEF2599-CC39-472A-A64A-0747E8F409F6}"/>
              </a:ext>
            </a:extLst>
          </p:cNvPr>
          <p:cNvSpPr>
            <a:spLocks noGrp="1"/>
          </p:cNvSpPr>
          <p:nvPr/>
        </p:nvSpPr>
        <p:spPr>
          <a:xfrm>
            <a:off x="590550" y="1781175"/>
            <a:ext cx="11001375" cy="1771650"/>
          </a:xfrm>
          <a:prstGeom prst="rect">
            <a:avLst/>
          </a:prstGeom>
          <a:noFill/>
          <a:ln w="0">
            <a:noFill/>
          </a:ln>
        </p:spPr>
        <p:txBody>
          <a:bodyPr lIns="0" tIns="0" rIns="0" bIns="0">
            <a:noAutofit/>
          </a:bodyPr>
          <a:lstStyle>
            <a:defPPr>
              <a:defRPr sz="3150" b="1">
                <a:solidFill>
                  <a:srgbClr val="EAF3F4"/>
                </a:solidFill>
                <a:latin typeface="Segoe UI"/>
                <a:ea typeface="Segoe UI"/>
                <a:cs typeface="Segoe UI"/>
              </a:defRPr>
            </a:defPPr>
          </a:lstStyle>
          <a:p>
            <a:pPr>
              <a:defRPr sz="3150" b="1">
                <a:solidFill>
                  <a:srgbClr val="EAF3F4"/>
                </a:solidFill>
                <a:latin typeface="Segoe UI"/>
                <a:ea typeface="Segoe UI"/>
                <a:cs typeface="Segoe UI"/>
              </a:defRPr>
            </a:pPr>
            <a:r>
              <a:rPr sz="3150" b="1">
                <a:solidFill>
                  <a:srgbClr val="EAF3F4"/>
                </a:solidFill>
                <a:latin typeface="Segoe UI"/>
                <a:ea typeface="Segoe UI"/>
                <a:cs typeface="Segoe UI"/>
              </a:rPr>
              <a:t>We know what needs to be checked.</a:t>
            </a:r>
          </a:p>
          <a:p>
            <a:pPr>
              <a:defRPr sz="3150" b="1">
                <a:solidFill>
                  <a:srgbClr val="EAF3F4"/>
                </a:solidFill>
                <a:latin typeface="Segoe UI"/>
                <a:ea typeface="Segoe UI"/>
                <a:cs typeface="Segoe UI"/>
              </a:defRPr>
            </a:pPr>
            <a:r>
              <a:rPr sz="3150" b="1">
                <a:solidFill>
                  <a:srgbClr val="EAF3F4"/>
                </a:solidFill>
                <a:latin typeface="Segoe UI"/>
                <a:ea typeface="Segoe UI"/>
                <a:cs typeface="Segoe UI"/>
              </a:rPr>
              <a:t>Now we put it into practice with our tools:</a:t>
            </a:r>
          </a:p>
          <a:p>
            <a:pPr>
              <a:defRPr sz="3150" b="1">
                <a:solidFill>
                  <a:srgbClr val="EAF3F4"/>
                </a:solidFill>
                <a:latin typeface="Segoe UI"/>
                <a:ea typeface="Segoe UI"/>
                <a:cs typeface="Segoe UI"/>
              </a:defRPr>
            </a:pPr>
            <a:r>
              <a:rPr sz="3150" b="1">
                <a:solidFill>
                  <a:srgbClr val="EAF3F4"/>
                </a:solidFill>
                <a:latin typeface="Segoe UI"/>
                <a:ea typeface="Segoe UI"/>
                <a:cs typeface="Segoe UI"/>
              </a:rPr>
              <a:t>prepare, analyse and preserve the result.</a:t>
            </a:r>
          </a:p>
        </p:txBody>
      </p:sp>
      <p:sp>
        <p:nvSpPr>
          <p:cNvPr id="4" name="text_162">
            <a:extLst>
              <a:ext uri="{FF2B5EF4-FFF2-40B4-BE49-F238E27FC236}">
                <a16:creationId xmlns:a16="http://schemas.microsoft.com/office/drawing/2014/main" id="{D888D28B-8980-445C-B2B5-EFEA12AC4772}"/>
              </a:ext>
            </a:extLst>
          </p:cNvPr>
          <p:cNvSpPr>
            <a:spLocks noGrp="1"/>
          </p:cNvSpPr>
          <p:nvPr/>
        </p:nvSpPr>
        <p:spPr>
          <a:xfrm>
            <a:off x="619125" y="4114800"/>
            <a:ext cx="10401300" cy="438150"/>
          </a:xfrm>
          <a:prstGeom prst="rect">
            <a:avLst/>
          </a:prstGeom>
          <a:noFill/>
          <a:ln w="0">
            <a:noFill/>
          </a:ln>
        </p:spPr>
        <p:txBody>
          <a:bodyPr lIns="0" tIns="0" rIns="0" bIns="0">
            <a:noAutofit/>
          </a:bodyPr>
          <a:lstStyle>
            <a:defPPr>
              <a:defRPr sz="2325" b="0">
                <a:solidFill>
                  <a:srgbClr val="FF817B"/>
                </a:solidFill>
                <a:latin typeface="Segoe UI"/>
                <a:ea typeface="Segoe UI"/>
                <a:cs typeface="Segoe UI"/>
              </a:defRPr>
            </a:defPPr>
          </a:lstStyle>
          <a:p>
            <a:pPr>
              <a:defRPr sz="2325" b="0">
                <a:solidFill>
                  <a:srgbClr val="FF817B"/>
                </a:solidFill>
                <a:latin typeface="Segoe UI"/>
                <a:ea typeface="Segoe UI"/>
                <a:cs typeface="Segoe UI"/>
              </a:defRPr>
            </a:pPr>
            <a:r>
              <a:rPr sz="2325" b="0">
                <a:solidFill>
                  <a:srgbClr val="FF817B"/>
                </a:solidFill>
                <a:latin typeface="Segoe UI"/>
                <a:ea typeface="Segoe UI"/>
                <a:cs typeface="Segoe UI"/>
              </a:rPr>
              <a:t>Ramp and calibration</a:t>
            </a:r>
          </a:p>
        </p:txBody>
      </p:sp>
      <p:sp>
        <p:nvSpPr>
          <p:cNvPr id="5" name="text_163">
            <a:extLst>
              <a:ext uri="{FF2B5EF4-FFF2-40B4-BE49-F238E27FC236}">
                <a16:creationId xmlns:a16="http://schemas.microsoft.com/office/drawing/2014/main" id="{E099F103-ADFC-4F57-B82B-048BC0E465DF}"/>
              </a:ext>
            </a:extLst>
          </p:cNvPr>
          <p:cNvSpPr>
            <a:spLocks noGrp="1"/>
          </p:cNvSpPr>
          <p:nvPr/>
        </p:nvSpPr>
        <p:spPr>
          <a:xfrm>
            <a:off x="619125" y="4657725"/>
            <a:ext cx="10401300" cy="438150"/>
          </a:xfrm>
          <a:prstGeom prst="rect">
            <a:avLst/>
          </a:prstGeom>
          <a:noFill/>
          <a:ln w="0">
            <a:noFill/>
          </a:ln>
        </p:spPr>
        <p:txBody>
          <a:bodyPr lIns="0" tIns="0" rIns="0" bIns="0">
            <a:noAutofit/>
          </a:bodyPr>
          <a:lstStyle>
            <a:defPPr>
              <a:defRPr sz="2325" b="0">
                <a:solidFill>
                  <a:srgbClr val="EAF3F4"/>
                </a:solidFill>
                <a:latin typeface="Segoe UI"/>
                <a:ea typeface="Segoe UI"/>
                <a:cs typeface="Segoe UI"/>
              </a:defRPr>
            </a:defPPr>
          </a:lstStyle>
          <a:p>
            <a:pPr>
              <a:defRPr sz="2325" b="0">
                <a:solidFill>
                  <a:srgbClr val="EAF3F4"/>
                </a:solidFill>
                <a:latin typeface="Segoe UI"/>
                <a:ea typeface="Segoe UI"/>
                <a:cs typeface="Segoe UI"/>
              </a:defRPr>
            </a:pPr>
            <a:r>
              <a:rPr sz="2325" b="0">
                <a:solidFill>
                  <a:srgbClr val="EAF3F4"/>
                </a:solidFill>
                <a:latin typeface="Segoe UI"/>
                <a:ea typeface="Segoe UI"/>
                <a:cs typeface="Segoe UI"/>
              </a:rPr>
              <a:t>One signal and the whole spectrum</a:t>
            </a:r>
          </a:p>
        </p:txBody>
      </p:sp>
      <p:sp>
        <p:nvSpPr>
          <p:cNvPr id="6" name="text_164">
            <a:extLst>
              <a:ext uri="{FF2B5EF4-FFF2-40B4-BE49-F238E27FC236}">
                <a16:creationId xmlns:a16="http://schemas.microsoft.com/office/drawing/2014/main" id="{F9465C48-1DB0-43AE-8AF6-F29523C2EFB0}"/>
              </a:ext>
            </a:extLst>
          </p:cNvPr>
          <p:cNvSpPr>
            <a:spLocks noGrp="1"/>
          </p:cNvSpPr>
          <p:nvPr/>
        </p:nvSpPr>
        <p:spPr>
          <a:xfrm>
            <a:off x="619125" y="5200650"/>
            <a:ext cx="10401300" cy="438150"/>
          </a:xfrm>
          <a:prstGeom prst="rect">
            <a:avLst/>
          </a:prstGeom>
          <a:noFill/>
          <a:ln w="0">
            <a:noFill/>
          </a:ln>
        </p:spPr>
        <p:txBody>
          <a:bodyPr lIns="0" tIns="0" rIns="0" bIns="0">
            <a:noAutofit/>
          </a:bodyPr>
          <a:lstStyle>
            <a:defPPr>
              <a:defRPr sz="2325" b="0">
                <a:solidFill>
                  <a:srgbClr val="55DDE0"/>
                </a:solidFill>
                <a:latin typeface="Segoe UI"/>
                <a:ea typeface="Segoe UI"/>
                <a:cs typeface="Segoe UI"/>
              </a:defRPr>
            </a:defPPr>
          </a:lstStyle>
          <a:p>
            <a:pPr>
              <a:defRPr sz="2325" b="0">
                <a:solidFill>
                  <a:srgbClr val="55DDE0"/>
                </a:solidFill>
                <a:latin typeface="Segoe UI"/>
                <a:ea typeface="Segoe UI"/>
                <a:cs typeface="Segoe UI"/>
              </a:defRPr>
            </a:pPr>
            <a:r>
              <a:rPr sz="2325" b="0">
                <a:solidFill>
                  <a:srgbClr val="55DDE0"/>
                </a:solidFill>
                <a:latin typeface="Segoe UI"/>
                <a:ea typeface="Segoe UI"/>
                <a:cs typeface="Segoe UI"/>
              </a:rPr>
              <a:t>Sample series and controls</a:t>
            </a:r>
          </a:p>
        </p:txBody>
      </p:sp>
      <p:sp>
        <p:nvSpPr>
          <p:cNvPr id="7" name="text_165">
            <a:extLst>
              <a:ext uri="{FF2B5EF4-FFF2-40B4-BE49-F238E27FC236}">
                <a16:creationId xmlns:a16="http://schemas.microsoft.com/office/drawing/2014/main" id="{0C222EEF-E719-4128-B03F-1A4A05CAB6D1}"/>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800" b="0">
                <a:solidFill>
                  <a:srgbClr val="A9C0CC"/>
                </a:solidFill>
                <a:latin typeface="Segoe UI"/>
                <a:ea typeface="Segoe UI"/>
                <a:cs typeface="Segoe UI"/>
              </a:defRPr>
            </a:defPPr>
          </a:lstStyle>
          <a:p>
            <a:pPr>
              <a:defRPr sz="1800" b="0">
                <a:solidFill>
                  <a:srgbClr val="A9C0CC"/>
                </a:solidFill>
                <a:latin typeface="Segoe UI"/>
                <a:ea typeface="Segoe UI"/>
                <a:cs typeface="Segoe UI"/>
              </a:defRPr>
            </a:pPr>
            <a:r>
              <a:rPr sz="1800" b="0">
                <a:solidFill>
                  <a:srgbClr val="A9C0CC"/>
                </a:solidFill>
                <a:latin typeface="Segoe UI"/>
                <a:ea typeface="Segoe UI"/>
                <a:cs typeface="Segoe UI"/>
              </a:rPr>
              <a:t>These are the problems we developed our tools to address.</a:t>
            </a:r>
          </a:p>
        </p:txBody>
      </p:sp>
    </p:spTree>
    <p:extLst>
      <p:ext uri="{BB962C8B-B14F-4D97-AF65-F5344CB8AC3E}">
        <p14:creationId xmlns:p14="http://schemas.microsoft.com/office/powerpoint/2010/main" val="44014938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0342A00F-EA11-4D41-9AE8-CEDA65E5F5E1}"/>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16</a:t>
            </a:r>
          </a:p>
        </p:txBody>
      </p:sp>
      <p:sp>
        <p:nvSpPr>
          <p:cNvPr id="2" name="slide_title">
            <a:extLst>
              <a:ext uri="{FF2B5EF4-FFF2-40B4-BE49-F238E27FC236}">
                <a16:creationId xmlns:a16="http://schemas.microsoft.com/office/drawing/2014/main" id="{106FC1B7-EFB2-49F6-A096-936F0E66D2FD}"/>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450" b="1">
                <a:solidFill>
                  <a:srgbClr val="EAF3F4"/>
                </a:solidFill>
                <a:latin typeface="Segoe UI"/>
                <a:ea typeface="Segoe UI"/>
                <a:cs typeface="Segoe UI"/>
              </a:defRPr>
            </a:defPPr>
          </a:lstStyle>
          <a:p>
            <a:pPr>
              <a:defRPr sz="3450" b="1">
                <a:solidFill>
                  <a:srgbClr val="EAF3F4"/>
                </a:solidFill>
                <a:latin typeface="Segoe UI"/>
                <a:ea typeface="Segoe UI"/>
                <a:cs typeface="Segoe UI"/>
              </a:defRPr>
            </a:pPr>
            <a:r>
              <a:rPr sz="3450" b="1">
                <a:solidFill>
                  <a:srgbClr val="EAF3F4"/>
                </a:solidFill>
                <a:latin typeface="Segoe UI"/>
                <a:ea typeface="Segoe UI"/>
                <a:cs typeface="Segoe UI"/>
              </a:rPr>
              <a:t>Our programs and their functions</a:t>
            </a:r>
          </a:p>
        </p:txBody>
      </p:sp>
      <p:graphicFrame>
        <p:nvGraphicFramePr>
          <p:cNvPr id="3" name="Tabla 2">
            <a:extLst>
              <a:ext uri="{FF2B5EF4-FFF2-40B4-BE49-F238E27FC236}">
                <a16:creationId xmlns:a16="http://schemas.microsoft.com/office/drawing/2014/main" id="{DB0D8B32-A832-4303-A068-2704A61F2FCA}"/>
              </a:ext>
            </a:extLst>
          </p:cNvPr>
          <p:cNvGraphicFramePr/>
          <p:nvPr/>
        </p:nvGraphicFramePr>
        <p:xfrm>
          <a:off x="523875" y="1752600"/>
          <a:ext cx="11144250" cy="3657600"/>
        </p:xfrm>
        <a:graphic>
          <a:graphicData uri="http://schemas.openxmlformats.org/drawingml/2006/table">
            <a:tbl>
              <a:tblPr/>
              <a:tblGrid>
                <a:gridCol w="3286125">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4429125">
                  <a:extLst>
                    <a:ext uri="{9D8B030D-6E8A-4147-A177-3AD203B41FA5}">
                      <a16:colId xmlns:a16="http://schemas.microsoft.com/office/drawing/2014/main" val="20002"/>
                    </a:ext>
                  </a:extLst>
                </a:gridCol>
              </a:tblGrid>
              <a:tr h="731520">
                <a:tc>
                  <a:txBody>
                    <a:bodyPr/>
                    <a:lstStyle/>
                    <a:p>
                      <a:r>
                        <a:rPr sz="1875" b="1">
                          <a:solidFill>
                            <a:srgbClr val="EAF3F4"/>
                          </a:solidFill>
                          <a:latin typeface="Segoe UI"/>
                          <a:ea typeface="Segoe UI"/>
                          <a:cs typeface="Segoe UI"/>
                        </a:rPr>
                        <a:t>Tool</a:t>
                      </a:r>
                    </a:p>
                  </a:txBody>
                  <a:tcPr>
                    <a:solidFill>
                      <a:srgbClr val="1D3E50"/>
                    </a:solidFill>
                  </a:tcPr>
                </a:tc>
                <a:tc>
                  <a:txBody>
                    <a:bodyPr/>
                    <a:lstStyle/>
                    <a:p>
                      <a:r>
                        <a:rPr sz="1875" b="1">
                          <a:solidFill>
                            <a:srgbClr val="EAF3F4"/>
                          </a:solidFill>
                          <a:latin typeface="Segoe UI"/>
                          <a:ea typeface="Segoe UI"/>
                          <a:cs typeface="Segoe UI"/>
                        </a:rPr>
                        <a:t>Input</a:t>
                      </a:r>
                    </a:p>
                  </a:txBody>
                  <a:tcPr>
                    <a:solidFill>
                      <a:srgbClr val="1D3E50"/>
                    </a:solidFill>
                  </a:tcPr>
                </a:tc>
                <a:tc>
                  <a:txBody>
                    <a:bodyPr/>
                    <a:lstStyle/>
                    <a:p>
                      <a:r>
                        <a:rPr sz="1875" b="1">
                          <a:solidFill>
                            <a:srgbClr val="EAF3F4"/>
                          </a:solidFill>
                          <a:latin typeface="Segoe UI"/>
                          <a:ea typeface="Segoe UI"/>
                          <a:cs typeface="Segoe UI"/>
                        </a:rPr>
                        <a:t>What it provides</a:t>
                      </a:r>
                    </a:p>
                  </a:txBody>
                  <a:tcPr>
                    <a:solidFill>
                      <a:srgbClr val="1D3E50"/>
                    </a:solidFill>
                  </a:tcPr>
                </a:tc>
                <a:extLst>
                  <a:ext uri="{0D108BD9-81ED-4DB2-BD59-A6C34878D82A}">
                    <a16:rowId xmlns:a16="http://schemas.microsoft.com/office/drawing/2014/main" val="10000"/>
                  </a:ext>
                </a:extLst>
              </a:tr>
              <a:tr h="731520">
                <a:tc>
                  <a:txBody>
                    <a:bodyPr/>
                    <a:lstStyle/>
                    <a:p>
                      <a:r>
                        <a:rPr sz="1875" b="0">
                          <a:solidFill>
                            <a:srgbClr val="EAF3F4"/>
                          </a:solidFill>
                          <a:latin typeface="Segoe UI"/>
                          <a:ea typeface="Segoe UI"/>
                          <a:cs typeface="Segoe UI"/>
                        </a:rPr>
                        <a:t>TopSpin · xpy</a:t>
                      </a:r>
                    </a:p>
                  </a:txBody>
                  <a:tcPr>
                    <a:solidFill>
                      <a:srgbClr val="081522"/>
                    </a:solidFill>
                  </a:tcPr>
                </a:tc>
                <a:tc>
                  <a:txBody>
                    <a:bodyPr/>
                    <a:lstStyle/>
                    <a:p>
                      <a:r>
                        <a:rPr sz="1875" b="0">
                          <a:solidFill>
                            <a:srgbClr val="EAF3F4"/>
                          </a:solidFill>
                          <a:latin typeface="Segoe UI"/>
                          <a:ea typeface="Segoe UI"/>
                          <a:cs typeface="Segoe UI"/>
                        </a:rPr>
                        <a:t>Template and 1D series</a:t>
                      </a:r>
                    </a:p>
                  </a:txBody>
                  <a:tcPr>
                    <a:solidFill>
                      <a:srgbClr val="081522"/>
                    </a:solidFill>
                  </a:tcPr>
                </a:tc>
                <a:tc>
                  <a:txBody>
                    <a:bodyPr/>
                    <a:lstStyle/>
                    <a:p>
                      <a:r>
                        <a:rPr sz="1875" b="0">
                          <a:solidFill>
                            <a:srgbClr val="EAF3F4"/>
                          </a:solidFill>
                          <a:latin typeface="Segoe UI"/>
                          <a:ea typeface="Segoe UI"/>
                          <a:cs typeface="Segoe UI"/>
                        </a:rPr>
                        <a:t>Prepare ramps and integrate the standard</a:t>
                      </a:r>
                    </a:p>
                  </a:txBody>
                  <a:tcPr>
                    <a:solidFill>
                      <a:srgbClr val="081522"/>
                    </a:solidFill>
                  </a:tcPr>
                </a:tc>
                <a:extLst>
                  <a:ext uri="{0D108BD9-81ED-4DB2-BD59-A6C34878D82A}">
                    <a16:rowId xmlns:a16="http://schemas.microsoft.com/office/drawing/2014/main" val="10001"/>
                  </a:ext>
                </a:extLst>
              </a:tr>
              <a:tr h="731520">
                <a:tc>
                  <a:txBody>
                    <a:bodyPr/>
                    <a:lstStyle/>
                    <a:p>
                      <a:r>
                        <a:rPr sz="1875" b="0">
                          <a:solidFill>
                            <a:srgbClr val="EAF3F4"/>
                          </a:solidFill>
                          <a:latin typeface="Segoe UI"/>
                          <a:ea typeface="Segoe UI"/>
                          <a:cs typeface="Segoe UI"/>
                        </a:rPr>
                        <a:t>DiffAtOnce Prime</a:t>
                      </a:r>
                    </a:p>
                  </a:txBody>
                  <a:tcPr>
                    <a:solidFill>
                      <a:srgbClr val="081522"/>
                    </a:solidFill>
                  </a:tcPr>
                </a:tc>
                <a:tc>
                  <a:txBody>
                    <a:bodyPr/>
                    <a:lstStyle/>
                    <a:p>
                      <a:r>
                        <a:rPr sz="1875" b="0">
                          <a:solidFill>
                            <a:srgbClr val="EAF3F4"/>
                          </a:solidFill>
                          <a:latin typeface="Segoe UI"/>
                          <a:ea typeface="Segoe UI"/>
                          <a:cs typeface="Segoe UI"/>
                        </a:rPr>
                        <a:t>Processed Bruker series</a:t>
                      </a:r>
                    </a:p>
                  </a:txBody>
                  <a:tcPr>
                    <a:solidFill>
                      <a:srgbClr val="081522"/>
                    </a:solidFill>
                  </a:tcPr>
                </a:tc>
                <a:tc>
                  <a:txBody>
                    <a:bodyPr/>
                    <a:lstStyle/>
                    <a:p>
                      <a:r>
                        <a:rPr sz="1875" b="0">
                          <a:solidFill>
                            <a:srgbClr val="EAF3F4"/>
                          </a:solidFill>
                          <a:latin typeface="Segoe UI"/>
                          <a:ea typeface="Segoe UI"/>
                          <a:cs typeface="Segoe UI"/>
                        </a:rPr>
                        <a:t>Local decay, map and diagnostics</a:t>
                      </a:r>
                    </a:p>
                  </a:txBody>
                  <a:tcPr>
                    <a:solidFill>
                      <a:srgbClr val="081522"/>
                    </a:solidFill>
                  </a:tcPr>
                </a:tc>
                <a:extLst>
                  <a:ext uri="{0D108BD9-81ED-4DB2-BD59-A6C34878D82A}">
                    <a16:rowId xmlns:a16="http://schemas.microsoft.com/office/drawing/2014/main" val="10002"/>
                  </a:ext>
                </a:extLst>
              </a:tr>
              <a:tr h="731520">
                <a:tc>
                  <a:txBody>
                    <a:bodyPr/>
                    <a:lstStyle/>
                    <a:p>
                      <a:r>
                        <a:rPr sz="1875" b="0">
                          <a:solidFill>
                            <a:srgbClr val="EAF3F4"/>
                          </a:solidFill>
                          <a:latin typeface="Segoe UI"/>
                          <a:ea typeface="Segoe UI"/>
                          <a:cs typeface="Segoe UI"/>
                        </a:rPr>
                        <a:t>ResinAtOnce</a:t>
                      </a:r>
                    </a:p>
                  </a:txBody>
                  <a:tcPr>
                    <a:solidFill>
                      <a:srgbClr val="081522"/>
                    </a:solidFill>
                  </a:tcPr>
                </a:tc>
                <a:tc>
                  <a:txBody>
                    <a:bodyPr/>
                    <a:lstStyle/>
                    <a:p>
                      <a:r>
                        <a:rPr sz="1875" b="0">
                          <a:solidFill>
                            <a:srgbClr val="EAF3F4"/>
                          </a:solidFill>
                          <a:latin typeface="Segoe UI"/>
                          <a:ea typeface="Segoe UI"/>
                          <a:cs typeface="Segoe UI"/>
                        </a:rPr>
                        <a:t>Resin / polymer series</a:t>
                      </a:r>
                    </a:p>
                  </a:txBody>
                  <a:tcPr>
                    <a:solidFill>
                      <a:srgbClr val="081522"/>
                    </a:solidFill>
                  </a:tcPr>
                </a:tc>
                <a:tc>
                  <a:txBody>
                    <a:bodyPr/>
                    <a:lstStyle/>
                    <a:p>
                      <a:r>
                        <a:rPr sz="1875" b="0">
                          <a:solidFill>
                            <a:srgbClr val="EAF3F4"/>
                          </a:solidFill>
                          <a:latin typeface="Segoe UI"/>
                          <a:ea typeface="Segoe UI"/>
                          <a:cs typeface="Segoe UI"/>
                        </a:rPr>
                        <a:t>Guided workflow, references and export</a:t>
                      </a:r>
                    </a:p>
                  </a:txBody>
                  <a:tcPr>
                    <a:solidFill>
                      <a:srgbClr val="081522"/>
                    </a:solidFill>
                  </a:tcPr>
                </a:tc>
                <a:extLst>
                  <a:ext uri="{0D108BD9-81ED-4DB2-BD59-A6C34878D82A}">
                    <a16:rowId xmlns:a16="http://schemas.microsoft.com/office/drawing/2014/main" val="10003"/>
                  </a:ext>
                </a:extLst>
              </a:tr>
              <a:tr h="731520">
                <a:tc>
                  <a:txBody>
                    <a:bodyPr/>
                    <a:lstStyle/>
                    <a:p>
                      <a:r>
                        <a:rPr sz="1875" b="0">
                          <a:solidFill>
                            <a:srgbClr val="EAF3F4"/>
                          </a:solidFill>
                          <a:latin typeface="Segoe UI"/>
                          <a:ea typeface="Segoe UI"/>
                          <a:cs typeface="Segoe UI"/>
                        </a:rPr>
                        <a:t>DALTAIL · MATLAB</a:t>
                      </a:r>
                    </a:p>
                  </a:txBody>
                  <a:tcPr>
                    <a:solidFill>
                      <a:srgbClr val="081522"/>
                    </a:solidFill>
                  </a:tcPr>
                </a:tc>
                <a:tc>
                  <a:txBody>
                    <a:bodyPr/>
                    <a:lstStyle/>
                    <a:p>
                      <a:r>
                        <a:rPr sz="1875" b="0">
                          <a:solidFill>
                            <a:srgbClr val="EAF3F4"/>
                          </a:solidFill>
                          <a:latin typeface="Segoe UI"/>
                          <a:ea typeface="Segoe UI"/>
                          <a:cs typeface="Segoe UI"/>
                        </a:rPr>
                        <a:t>Data and saved configuration</a:t>
                      </a:r>
                    </a:p>
                  </a:txBody>
                  <a:tcPr>
                    <a:solidFill>
                      <a:srgbClr val="081522"/>
                    </a:solidFill>
                  </a:tcPr>
                </a:tc>
                <a:tc>
                  <a:txBody>
                    <a:bodyPr/>
                    <a:lstStyle/>
                    <a:p>
                      <a:r>
                        <a:rPr sz="1875" b="0">
                          <a:solidFill>
                            <a:srgbClr val="EAF3F4"/>
                          </a:solidFill>
                          <a:latin typeface="Segoe UI"/>
                          <a:ea typeface="Segoe UI"/>
                          <a:cs typeface="Segoe UI"/>
                        </a:rPr>
                        <a:t>Process batches and reproduce tables</a:t>
                      </a:r>
                    </a:p>
                  </a:txBody>
                  <a:tcPr>
                    <a:solidFill>
                      <a:srgbClr val="081522"/>
                    </a:solidFill>
                  </a:tcPr>
                </a:tc>
                <a:extLst>
                  <a:ext uri="{0D108BD9-81ED-4DB2-BD59-A6C34878D82A}">
                    <a16:rowId xmlns:a16="http://schemas.microsoft.com/office/drawing/2014/main" val="10004"/>
                  </a:ext>
                </a:extLst>
              </a:tr>
            </a:tbl>
          </a:graphicData>
        </a:graphic>
      </p:graphicFrame>
      <p:sp>
        <p:nvSpPr>
          <p:cNvPr id="4" name="text_166">
            <a:extLst>
              <a:ext uri="{FF2B5EF4-FFF2-40B4-BE49-F238E27FC236}">
                <a16:creationId xmlns:a16="http://schemas.microsoft.com/office/drawing/2014/main" id="{2CDEBD6D-8EFE-45E3-8D29-0EF302A686CB}"/>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875" b="0">
                <a:solidFill>
                  <a:srgbClr val="A9C0CC"/>
                </a:solidFill>
                <a:latin typeface="Segoe UI"/>
                <a:ea typeface="Segoe UI"/>
                <a:cs typeface="Segoe UI"/>
              </a:defRPr>
            </a:defPPr>
          </a:lstStyle>
          <a:p>
            <a:pPr>
              <a:defRPr sz="1875" b="0">
                <a:solidFill>
                  <a:srgbClr val="A9C0CC"/>
                </a:solidFill>
                <a:latin typeface="Segoe UI"/>
                <a:ea typeface="Segoe UI"/>
                <a:cs typeface="Segoe UI"/>
              </a:defRPr>
            </a:pPr>
            <a:r>
              <a:rPr sz="1875" b="0">
                <a:solidFill>
                  <a:srgbClr val="A9C0CC"/>
                </a:solidFill>
                <a:latin typeface="Segoe UI"/>
                <a:ea typeface="Segoe UI"/>
                <a:cs typeface="Segoe UI"/>
              </a:rPr>
              <a:t>The next cases show the input, the operations and the result.</a:t>
            </a:r>
          </a:p>
        </p:txBody>
      </p:sp>
    </p:spTree>
    <p:extLst>
      <p:ext uri="{BB962C8B-B14F-4D97-AF65-F5344CB8AC3E}">
        <p14:creationId xmlns:p14="http://schemas.microsoft.com/office/powerpoint/2010/main" val="8260168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11" name="slide_number">
            <a:extLst>
              <a:ext uri="{FF2B5EF4-FFF2-40B4-BE49-F238E27FC236}">
                <a16:creationId xmlns:a16="http://schemas.microsoft.com/office/drawing/2014/main" id="{AC282948-0844-4377-A7A6-FE3F029D4A56}"/>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17</a:t>
            </a:r>
          </a:p>
        </p:txBody>
      </p:sp>
      <p:sp>
        <p:nvSpPr>
          <p:cNvPr id="2" name="slide_title">
            <a:extLst>
              <a:ext uri="{FF2B5EF4-FFF2-40B4-BE49-F238E27FC236}">
                <a16:creationId xmlns:a16="http://schemas.microsoft.com/office/drawing/2014/main" id="{861794D3-5F34-4DBB-BE9D-F03CEB5292F9}"/>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450" b="1">
                <a:solidFill>
                  <a:srgbClr val="123447"/>
                </a:solidFill>
                <a:latin typeface="Segoe UI"/>
                <a:ea typeface="Segoe UI"/>
                <a:cs typeface="Segoe UI"/>
              </a:defRPr>
            </a:defPPr>
          </a:lstStyle>
          <a:p>
            <a:pPr>
              <a:defRPr sz="3450" b="1">
                <a:solidFill>
                  <a:srgbClr val="123447"/>
                </a:solidFill>
                <a:latin typeface="Segoe UI"/>
                <a:ea typeface="Segoe UI"/>
                <a:cs typeface="Segoe UI"/>
              </a:defRPr>
            </a:pPr>
            <a:r>
              <a:rPr sz="3450" b="1">
                <a:solidFill>
                  <a:srgbClr val="123447"/>
                </a:solidFill>
                <a:latin typeface="Segoe UI"/>
                <a:ea typeface="Segoe UI"/>
                <a:cs typeface="Segoe UI"/>
              </a:rPr>
              <a:t>TopSpin: an HDO calibration report</a:t>
            </a:r>
          </a:p>
        </p:txBody>
      </p:sp>
      <p:sp>
        <p:nvSpPr>
          <p:cNvPr id="3" name="native_command">
            <a:extLst>
              <a:ext uri="{FF2B5EF4-FFF2-40B4-BE49-F238E27FC236}">
                <a16:creationId xmlns:a16="http://schemas.microsoft.com/office/drawing/2014/main" id="{46A73F3F-3E6C-4572-9E7E-2CF62D18069C}"/>
              </a:ext>
            </a:extLst>
          </p:cNvPr>
          <p:cNvSpPr>
            <a:spLocks noGrp="1"/>
          </p:cNvSpPr>
          <p:nvPr/>
        </p:nvSpPr>
        <p:spPr>
          <a:xfrm>
            <a:off x="571500" y="1752600"/>
            <a:ext cx="11001375" cy="628650"/>
          </a:xfrm>
          <a:prstGeom prst="rect">
            <a:avLst/>
          </a:prstGeom>
          <a:noFill/>
          <a:ln w="0">
            <a:noFill/>
          </a:ln>
        </p:spPr>
        <p:txBody>
          <a:bodyPr lIns="0" tIns="0" rIns="0" bIns="0">
            <a:noAutofit/>
          </a:bodyPr>
          <a:lstStyle>
            <a:defPPr>
              <a:defRPr sz="3225" b="1">
                <a:solidFill>
                  <a:srgbClr val="087E98"/>
                </a:solidFill>
                <a:latin typeface="Consolas"/>
                <a:ea typeface="Consolas"/>
                <a:cs typeface="Consolas"/>
              </a:defRPr>
            </a:defPPr>
          </a:lstStyle>
          <a:p>
            <a:pPr>
              <a:defRPr sz="3225" b="1">
                <a:solidFill>
                  <a:srgbClr val="087E98"/>
                </a:solidFill>
                <a:latin typeface="Consolas"/>
                <a:ea typeface="Consolas"/>
                <a:cs typeface="Consolas"/>
              </a:defRPr>
            </a:pPr>
            <a:r>
              <a:rPr sz="3225" b="1">
                <a:solidFill>
                  <a:srgbClr val="087E98"/>
                </a:solidFill>
                <a:latin typeface="Consolas"/>
                <a:ea typeface="Consolas"/>
                <a:cs typeface="Consolas"/>
              </a:rPr>
              <a:t>xpy dosy_workshop.py</a:t>
            </a:r>
          </a:p>
        </p:txBody>
      </p:sp>
      <p:sp>
        <p:nvSpPr>
          <p:cNvPr id="4" name="text_167">
            <a:extLst>
              <a:ext uri="{FF2B5EF4-FFF2-40B4-BE49-F238E27FC236}">
                <a16:creationId xmlns:a16="http://schemas.microsoft.com/office/drawing/2014/main" id="{07AF4192-4E01-4C62-B94C-6DD48BD15E28}"/>
              </a:ext>
            </a:extLst>
          </p:cNvPr>
          <p:cNvSpPr>
            <a:spLocks noGrp="1"/>
          </p:cNvSpPr>
          <p:nvPr/>
        </p:nvSpPr>
        <p:spPr>
          <a:xfrm>
            <a:off x="581025" y="2809875"/>
            <a:ext cx="6905625" cy="2238375"/>
          </a:xfrm>
          <a:prstGeom prst="rect">
            <a:avLst/>
          </a:prstGeom>
          <a:noFill/>
          <a:ln w="0">
            <a:noFill/>
          </a:ln>
        </p:spPr>
        <p:txBody>
          <a:bodyPr lIns="0" tIns="0" rIns="0" bIns="0">
            <a:noAutofit/>
          </a:bodyPr>
          <a:lstStyle>
            <a:defPPr>
              <a:defRPr sz="2325" b="0">
                <a:solidFill>
                  <a:srgbClr val="123447"/>
                </a:solidFill>
                <a:latin typeface="Segoe UI"/>
                <a:ea typeface="Segoe UI"/>
                <a:cs typeface="Segoe UI"/>
              </a:defRPr>
            </a:defPPr>
          </a:lstStyle>
          <a:p>
            <a:pPr>
              <a:defRPr sz="2325" b="0">
                <a:solidFill>
                  <a:srgbClr val="123447"/>
                </a:solidFill>
                <a:latin typeface="Segoe UI"/>
                <a:ea typeface="Segoe UI"/>
                <a:cs typeface="Segoe UI"/>
              </a:defRPr>
            </a:pPr>
            <a:r>
              <a:rPr sz="2325" b="0">
                <a:solidFill>
                  <a:srgbClr val="123447"/>
                </a:solidFill>
                <a:latin typeface="Segoe UI"/>
                <a:ea typeface="Segoe UI"/>
                <a:cs typeface="Segoe UI"/>
              </a:rPr>
              <a:t>1  Select the series and a fixed region</a:t>
            </a:r>
          </a:p>
          <a:p>
            <a:pPr>
              <a:defRPr sz="2325" b="0">
                <a:solidFill>
                  <a:srgbClr val="123447"/>
                </a:solidFill>
                <a:latin typeface="Segoe UI"/>
                <a:ea typeface="Segoe UI"/>
                <a:cs typeface="Segoe UI"/>
              </a:defRPr>
            </a:pPr>
            <a:r>
              <a:rPr sz="2325" b="0">
                <a:solidFill>
                  <a:srgbClr val="123447"/>
                </a:solidFill>
                <a:latin typeface="Segoe UI"/>
                <a:ea typeface="Segoe UI"/>
                <a:cs typeface="Segoe UI"/>
              </a:rPr>
              <a:t>2  Integrate and provide Dref(T)</a:t>
            </a:r>
          </a:p>
          <a:p>
            <a:pPr>
              <a:defRPr sz="2325" b="0">
                <a:solidFill>
                  <a:srgbClr val="123447"/>
                </a:solidFill>
                <a:latin typeface="Segoe UI"/>
                <a:ea typeface="Segoe UI"/>
                <a:cs typeface="Segoe UI"/>
              </a:defRPr>
            </a:pPr>
            <a:r>
              <a:rPr sz="2325" b="0">
                <a:solidFill>
                  <a:srgbClr val="123447"/>
                </a:solidFill>
                <a:latin typeface="Segoe UI"/>
                <a:ea typeface="Segoe UI"/>
                <a:cs typeface="Segoe UI"/>
              </a:rPr>
              <a:t>3  Review the fit and save the proposal</a:t>
            </a:r>
          </a:p>
        </p:txBody>
      </p:sp>
      <p:sp>
        <p:nvSpPr>
          <p:cNvPr id="5" name="text_168">
            <a:extLst>
              <a:ext uri="{FF2B5EF4-FFF2-40B4-BE49-F238E27FC236}">
                <a16:creationId xmlns:a16="http://schemas.microsoft.com/office/drawing/2014/main" id="{84376395-21C4-437D-A044-2D8DE40C2F99}"/>
              </a:ext>
            </a:extLst>
          </p:cNvPr>
          <p:cNvSpPr>
            <a:spLocks noGrp="1"/>
          </p:cNvSpPr>
          <p:nvPr/>
        </p:nvSpPr>
        <p:spPr>
          <a:xfrm>
            <a:off x="8020050" y="2667000"/>
            <a:ext cx="3648075" cy="466725"/>
          </a:xfrm>
          <a:prstGeom prst="rect">
            <a:avLst/>
          </a:prstGeom>
          <a:noFill/>
          <a:ln w="0">
            <a:noFill/>
          </a:ln>
        </p:spPr>
        <p:txBody>
          <a:bodyPr lIns="0" tIns="0" rIns="0" bIns="0">
            <a:noAutofit/>
          </a:bodyPr>
          <a:lstStyle>
            <a:defPPr>
              <a:defRPr sz="1650" b="1">
                <a:solidFill>
                  <a:srgbClr val="617580"/>
                </a:solidFill>
                <a:latin typeface="Segoe UI"/>
                <a:ea typeface="Segoe UI"/>
                <a:cs typeface="Segoe UI"/>
              </a:defRPr>
            </a:defPPr>
          </a:lstStyle>
          <a:p>
            <a:pPr>
              <a:defRPr sz="1650" b="1">
                <a:solidFill>
                  <a:srgbClr val="617580"/>
                </a:solidFill>
                <a:latin typeface="Segoe UI"/>
                <a:ea typeface="Segoe UI"/>
                <a:cs typeface="Segoe UI"/>
              </a:defRPr>
            </a:pPr>
            <a:r>
              <a:rPr sz="1650" b="1">
                <a:solidFill>
                  <a:srgbClr val="617580"/>
                </a:solidFill>
                <a:latin typeface="Segoe UI"/>
                <a:ea typeface="Segoe UI"/>
                <a:cs typeface="Segoe UI"/>
              </a:rPr>
              <a:t>REAL HDO · OFFLINE REPLAY</a:t>
            </a:r>
          </a:p>
        </p:txBody>
      </p:sp>
      <p:sp>
        <p:nvSpPr>
          <p:cNvPr id="6" name="text_169">
            <a:extLst>
              <a:ext uri="{FF2B5EF4-FFF2-40B4-BE49-F238E27FC236}">
                <a16:creationId xmlns:a16="http://schemas.microsoft.com/office/drawing/2014/main" id="{B36978B5-D2F4-40C2-AD46-F73905D2FCB0}"/>
              </a:ext>
            </a:extLst>
          </p:cNvPr>
          <p:cNvSpPr>
            <a:spLocks noGrp="1"/>
          </p:cNvSpPr>
          <p:nvPr/>
        </p:nvSpPr>
        <p:spPr>
          <a:xfrm>
            <a:off x="8020050" y="3324225"/>
            <a:ext cx="3648075" cy="590550"/>
          </a:xfrm>
          <a:prstGeom prst="rect">
            <a:avLst/>
          </a:prstGeom>
          <a:noFill/>
          <a:ln w="0">
            <a:noFill/>
          </a:ln>
        </p:spPr>
        <p:txBody>
          <a:bodyPr lIns="0" tIns="0" rIns="0" bIns="0">
            <a:noAutofit/>
          </a:bodyPr>
          <a:lstStyle>
            <a:defPPr>
              <a:defRPr sz="2625" b="1">
                <a:solidFill>
                  <a:srgbClr val="123447"/>
                </a:solidFill>
                <a:latin typeface="Segoe UI"/>
                <a:ea typeface="Segoe UI"/>
                <a:cs typeface="Segoe UI"/>
              </a:defRPr>
            </a:defPPr>
          </a:lstStyle>
          <a:p>
            <a:pPr>
              <a:defRPr sz="2625" b="1">
                <a:solidFill>
                  <a:srgbClr val="123447"/>
                </a:solidFill>
                <a:latin typeface="Segoe UI"/>
                <a:ea typeface="Segoe UI"/>
                <a:cs typeface="Segoe UI"/>
              </a:defRPr>
            </a:pPr>
            <a:r>
              <a:rPr sz="2625" b="1">
                <a:solidFill>
                  <a:srgbClr val="123447"/>
                </a:solidFill>
                <a:latin typeface="Segoe UI"/>
                <a:ea typeface="Segoe UI"/>
                <a:cs typeface="Segoe UI"/>
              </a:rPr>
              <a:t>R² = 0.999775</a:t>
            </a:r>
          </a:p>
        </p:txBody>
      </p:sp>
      <p:sp>
        <p:nvSpPr>
          <p:cNvPr id="7" name="text_170">
            <a:extLst>
              <a:ext uri="{FF2B5EF4-FFF2-40B4-BE49-F238E27FC236}">
                <a16:creationId xmlns:a16="http://schemas.microsoft.com/office/drawing/2014/main" id="{491898C9-10C5-49D8-8A52-A15236B02C4E}"/>
              </a:ext>
            </a:extLst>
          </p:cNvPr>
          <p:cNvSpPr>
            <a:spLocks noGrp="1"/>
          </p:cNvSpPr>
          <p:nvPr/>
        </p:nvSpPr>
        <p:spPr>
          <a:xfrm>
            <a:off x="8020050" y="4057650"/>
            <a:ext cx="3648075" cy="590550"/>
          </a:xfrm>
          <a:prstGeom prst="rect">
            <a:avLst/>
          </a:prstGeom>
          <a:noFill/>
          <a:ln w="0">
            <a:noFill/>
          </a:ln>
        </p:spPr>
        <p:txBody>
          <a:bodyPr lIns="0" tIns="0" rIns="0" bIns="0">
            <a:noAutofit/>
          </a:bodyPr>
          <a:lstStyle>
            <a:defPPr>
              <a:defRPr sz="2700" b="1">
                <a:solidFill>
                  <a:srgbClr val="BE4038"/>
                </a:solidFill>
                <a:latin typeface="Segoe UI"/>
                <a:ea typeface="Segoe UI"/>
                <a:cs typeface="Segoe UI"/>
              </a:defRPr>
            </a:defPPr>
          </a:lstStyle>
          <a:p>
            <a:pPr>
              <a:defRPr sz="2700" b="1">
                <a:solidFill>
                  <a:srgbClr val="BE4038"/>
                </a:solidFill>
                <a:latin typeface="Segoe UI"/>
                <a:ea typeface="Segoe UI"/>
                <a:cs typeface="Segoe UI"/>
              </a:defRPr>
            </a:pPr>
            <a:r>
              <a:rPr sz="2700" b="1">
                <a:solidFill>
                  <a:srgbClr val="BE4038"/>
                </a:solidFill>
                <a:latin typeface="Segoe UI"/>
                <a:ea typeface="Segoe UI"/>
                <a:cs typeface="Segoe UI"/>
              </a:rPr>
              <a:t>ΔTE = 0.77 K</a:t>
            </a:r>
          </a:p>
        </p:txBody>
      </p:sp>
      <p:sp>
        <p:nvSpPr>
          <p:cNvPr id="8" name="text_171">
            <a:extLst>
              <a:ext uri="{FF2B5EF4-FFF2-40B4-BE49-F238E27FC236}">
                <a16:creationId xmlns:a16="http://schemas.microsoft.com/office/drawing/2014/main" id="{B8BCA854-E648-4D2E-96D9-37772B051521}"/>
              </a:ext>
            </a:extLst>
          </p:cNvPr>
          <p:cNvSpPr>
            <a:spLocks noGrp="1"/>
          </p:cNvSpPr>
          <p:nvPr/>
        </p:nvSpPr>
        <p:spPr>
          <a:xfrm>
            <a:off x="8020050" y="4876800"/>
            <a:ext cx="3648075" cy="447675"/>
          </a:xfrm>
          <a:prstGeom prst="rect">
            <a:avLst/>
          </a:prstGeom>
          <a:noFill/>
          <a:ln w="0">
            <a:noFill/>
          </a:ln>
        </p:spPr>
        <p:txBody>
          <a:bodyPr lIns="0" tIns="0" rIns="0" bIns="0">
            <a:noAutofit/>
          </a:bodyPr>
          <a:lstStyle>
            <a:defPPr>
              <a:defRPr sz="1725" b="0">
                <a:solidFill>
                  <a:srgbClr val="BE4038"/>
                </a:solidFill>
                <a:latin typeface="Segoe UI"/>
                <a:ea typeface="Segoe UI"/>
                <a:cs typeface="Segoe UI"/>
              </a:defRPr>
            </a:defPPr>
          </a:lstStyle>
          <a:p>
            <a:pPr>
              <a:defRPr sz="1725" b="0">
                <a:solidFill>
                  <a:srgbClr val="BE4038"/>
                </a:solidFill>
                <a:latin typeface="Segoe UI"/>
                <a:ea typeface="Segoe UI"/>
                <a:cs typeface="Segoe UI"/>
              </a:defRPr>
            </a:pPr>
            <a:r>
              <a:rPr sz="1725" b="0">
                <a:solidFill>
                  <a:srgbClr val="BE4038"/>
                </a:solidFill>
                <a:latin typeface="Segoe UI"/>
                <a:ea typeface="Segoe UI"/>
                <a:cs typeface="Segoe UI"/>
              </a:rPr>
              <a:t>Configured limit: 0.50 K</a:t>
            </a:r>
          </a:p>
        </p:txBody>
      </p:sp>
      <p:sp>
        <p:nvSpPr>
          <p:cNvPr id="9" name="reveal_172">
            <a:extLst>
              <a:ext uri="{FF2B5EF4-FFF2-40B4-BE49-F238E27FC236}">
                <a16:creationId xmlns:a16="http://schemas.microsoft.com/office/drawing/2014/main" id="{1EA05FCA-7BA5-42C5-B8F4-3845FE61DC81}"/>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087E98"/>
                </a:solidFill>
                <a:latin typeface="Segoe UI"/>
                <a:ea typeface="Segoe UI"/>
                <a:cs typeface="Segoe UI"/>
              </a:defRPr>
            </a:defPPr>
          </a:lstStyle>
          <a:p>
            <a:pPr>
              <a:defRPr sz="2100" b="1">
                <a:solidFill>
                  <a:srgbClr val="087E98"/>
                </a:solidFill>
                <a:latin typeface="Segoe UI"/>
                <a:ea typeface="Segoe UI"/>
                <a:cs typeface="Segoe UI"/>
              </a:defRPr>
            </a:pPr>
            <a:r>
              <a:rPr sz="2100" b="1">
                <a:solidFill>
                  <a:srgbClr val="087E98"/>
                </a:solidFill>
                <a:latin typeface="Segoe UI"/>
                <a:ea typeface="Segoe UI"/>
                <a:cs typeface="Segoe UI"/>
              </a:rPr>
              <a:t>The program detects drift: stabilize and repeat before calibrating</a:t>
            </a:r>
          </a:p>
        </p:txBody>
      </p:sp>
      <p:sp>
        <p:nvSpPr>
          <p:cNvPr id="10" name="text_173">
            <a:extLst>
              <a:ext uri="{FF2B5EF4-FFF2-40B4-BE49-F238E27FC236}">
                <a16:creationId xmlns:a16="http://schemas.microsoft.com/office/drawing/2014/main" id="{EF9F8B75-CFA8-43E0-A7FD-DA484A3880E2}"/>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650" b="0">
                <a:solidFill>
                  <a:srgbClr val="617580"/>
                </a:solidFill>
                <a:latin typeface="Segoe UI"/>
                <a:ea typeface="Segoe UI"/>
                <a:cs typeface="Segoe UI"/>
              </a:defRPr>
            </a:defPPr>
          </a:lstStyle>
          <a:p>
            <a:pPr>
              <a:defRPr sz="1650" b="0">
                <a:solidFill>
                  <a:srgbClr val="617580"/>
                </a:solidFill>
                <a:latin typeface="Segoe UI"/>
                <a:ea typeface="Segoe UI"/>
                <a:cs typeface="Segoe UI"/>
              </a:defRPr>
            </a:pPr>
            <a:r>
              <a:rPr sz="1650" b="0">
                <a:solidFill>
                  <a:srgbClr val="617580"/>
                </a:solidFill>
                <a:latin typeface="Segoe UI"/>
                <a:ea typeface="Segoe UI"/>
                <a:cs typeface="Segoe UI"/>
              </a:rPr>
              <a:t>Offline replay. Illustrative candidate at 0.80 K; the usual 0.50 K limit rejects the series.</a:t>
            </a:r>
          </a:p>
        </p:txBody>
      </p:sp>
    </p:spTree>
    <p:extLst>
      <p:ext uri="{BB962C8B-B14F-4D97-AF65-F5344CB8AC3E}">
        <p14:creationId xmlns:p14="http://schemas.microsoft.com/office/powerpoint/2010/main" val="117070200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7" name="slide_number">
            <a:extLst>
              <a:ext uri="{FF2B5EF4-FFF2-40B4-BE49-F238E27FC236}">
                <a16:creationId xmlns:a16="http://schemas.microsoft.com/office/drawing/2014/main" id="{C447CAE2-7883-44BE-AF3B-BEABA9FC7C45}"/>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18</a:t>
            </a:r>
          </a:p>
        </p:txBody>
      </p:sp>
      <p:sp>
        <p:nvSpPr>
          <p:cNvPr id="2" name="slide_title">
            <a:extLst>
              <a:ext uri="{FF2B5EF4-FFF2-40B4-BE49-F238E27FC236}">
                <a16:creationId xmlns:a16="http://schemas.microsoft.com/office/drawing/2014/main" id="{722D63DB-D2FA-4E70-9C22-541CDF311B3F}"/>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75" b="1">
                <a:solidFill>
                  <a:srgbClr val="EAF3F4"/>
                </a:solidFill>
                <a:latin typeface="Segoe UI"/>
                <a:ea typeface="Segoe UI"/>
                <a:cs typeface="Segoe UI"/>
              </a:defRPr>
            </a:defPPr>
          </a:lstStyle>
          <a:p>
            <a:pPr>
              <a:defRPr sz="3375" b="1">
                <a:solidFill>
                  <a:srgbClr val="EAF3F4"/>
                </a:solidFill>
                <a:latin typeface="Segoe UI"/>
                <a:ea typeface="Segoe UI"/>
                <a:cs typeface="Segoe UI"/>
              </a:defRPr>
            </a:pPr>
            <a:r>
              <a:rPr sz="3375" b="1">
                <a:solidFill>
                  <a:srgbClr val="EAF3F4"/>
                </a:solidFill>
                <a:latin typeface="Segoe UI"/>
                <a:ea typeface="Segoe UI"/>
                <a:cs typeface="Segoe UI"/>
              </a:rPr>
              <a:t>TopSpin: three ramps with configurable Δ</a:t>
            </a:r>
          </a:p>
        </p:txBody>
      </p:sp>
      <p:sp>
        <p:nvSpPr>
          <p:cNvPr id="3" name="console_command">
            <a:extLst>
              <a:ext uri="{FF2B5EF4-FFF2-40B4-BE49-F238E27FC236}">
                <a16:creationId xmlns:a16="http://schemas.microsoft.com/office/drawing/2014/main" id="{8D1D11FF-48B8-428F-B16C-F267487282E5}"/>
              </a:ext>
            </a:extLst>
          </p:cNvPr>
          <p:cNvSpPr>
            <a:spLocks noGrp="1"/>
          </p:cNvSpPr>
          <p:nvPr/>
        </p:nvSpPr>
        <p:spPr>
          <a:xfrm>
            <a:off x="581025" y="1752600"/>
            <a:ext cx="10991850" cy="752475"/>
          </a:xfrm>
          <a:prstGeom prst="rect">
            <a:avLst/>
          </a:prstGeom>
          <a:noFill/>
          <a:ln w="0">
            <a:noFill/>
          </a:ln>
        </p:spPr>
        <p:txBody>
          <a:bodyPr lIns="0" tIns="0" rIns="0" bIns="0">
            <a:noAutofit/>
          </a:bodyPr>
          <a:lstStyle>
            <a:defPPr>
              <a:defRPr sz="3750" b="1">
                <a:solidFill>
                  <a:srgbClr val="55DDE0"/>
                </a:solidFill>
                <a:latin typeface="Consolas"/>
                <a:ea typeface="Consolas"/>
                <a:cs typeface="Consolas"/>
              </a:defRPr>
            </a:defPPr>
          </a:lstStyle>
          <a:p>
            <a:pPr>
              <a:defRPr sz="3750" b="1">
                <a:solidFill>
                  <a:srgbClr val="55DDE0"/>
                </a:solidFill>
                <a:latin typeface="Consolas"/>
                <a:ea typeface="Consolas"/>
                <a:cs typeface="Consolas"/>
              </a:defRPr>
            </a:pPr>
            <a:r>
              <a:rPr sz="3750" b="1">
                <a:solidFill>
                  <a:srgbClr val="55DDE0"/>
                </a:solidFill>
                <a:latin typeface="Consolas"/>
                <a:ea typeface="Consolas"/>
                <a:cs typeface="Consolas"/>
              </a:rPr>
              <a:t>xpy dosy_workshop.py</a:t>
            </a:r>
          </a:p>
        </p:txBody>
      </p:sp>
      <p:graphicFrame>
        <p:nvGraphicFramePr>
          <p:cNvPr id="4" name="Tabla 3">
            <a:extLst>
              <a:ext uri="{FF2B5EF4-FFF2-40B4-BE49-F238E27FC236}">
                <a16:creationId xmlns:a16="http://schemas.microsoft.com/office/drawing/2014/main" id="{9E57029D-9D39-4E3B-9EC7-C6614F125AF3}"/>
              </a:ext>
            </a:extLst>
          </p:cNvPr>
          <p:cNvGraphicFramePr/>
          <p:nvPr/>
        </p:nvGraphicFramePr>
        <p:xfrm>
          <a:off x="571500" y="2857500"/>
          <a:ext cx="11068050" cy="2381250"/>
        </p:xfrm>
        <a:graphic>
          <a:graphicData uri="http://schemas.openxmlformats.org/drawingml/2006/table">
            <a:tbl>
              <a:tblPr/>
              <a:tblGrid>
                <a:gridCol w="4705350">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95313">
                <a:tc>
                  <a:txBody>
                    <a:bodyPr/>
                    <a:lstStyle/>
                    <a:p>
                      <a:r>
                        <a:rPr sz="2175" b="1">
                          <a:solidFill>
                            <a:srgbClr val="EAF3F4"/>
                          </a:solidFill>
                          <a:latin typeface="Segoe UI"/>
                          <a:ea typeface="Segoe UI"/>
                          <a:cs typeface="Segoe UI"/>
                        </a:rPr>
                        <a:t>Configurable example</a:t>
                      </a:r>
                    </a:p>
                  </a:txBody>
                  <a:tcPr>
                    <a:solidFill>
                      <a:srgbClr val="1D3E50"/>
                    </a:solidFill>
                  </a:tcPr>
                </a:tc>
                <a:tc>
                  <a:txBody>
                    <a:bodyPr/>
                    <a:lstStyle/>
                    <a:p>
                      <a:r>
                        <a:rPr sz="2175" b="1">
                          <a:solidFill>
                            <a:srgbClr val="EAF3F4"/>
                          </a:solidFill>
                          <a:latin typeface="Segoe UI"/>
                          <a:ea typeface="Segoe UI"/>
                          <a:cs typeface="Segoe UI"/>
                        </a:rPr>
                        <a:t>D20 / s</a:t>
                      </a:r>
                    </a:p>
                  </a:txBody>
                  <a:tcPr>
                    <a:solidFill>
                      <a:srgbClr val="1D3E50"/>
                    </a:solidFill>
                  </a:tcPr>
                </a:tc>
                <a:tc>
                  <a:txBody>
                    <a:bodyPr/>
                    <a:lstStyle/>
                    <a:p>
                      <a:r>
                        <a:rPr sz="2175" b="1">
                          <a:solidFill>
                            <a:srgbClr val="EAF3F4"/>
                          </a:solidFill>
                          <a:latin typeface="Segoe UI"/>
                          <a:ea typeface="Segoe UI"/>
                          <a:cs typeface="Segoe UI"/>
                        </a:rPr>
                        <a:t>EXPNO</a:t>
                      </a:r>
                    </a:p>
                  </a:txBody>
                  <a:tcPr>
                    <a:solidFill>
                      <a:srgbClr val="1D3E50"/>
                    </a:solidFill>
                  </a:tcPr>
                </a:tc>
                <a:extLst>
                  <a:ext uri="{0D108BD9-81ED-4DB2-BD59-A6C34878D82A}">
                    <a16:rowId xmlns:a16="http://schemas.microsoft.com/office/drawing/2014/main" val="10000"/>
                  </a:ext>
                </a:extLst>
              </a:tr>
              <a:tr h="595313">
                <a:tc>
                  <a:txBody>
                    <a:bodyPr/>
                    <a:lstStyle/>
                    <a:p>
                      <a:r>
                        <a:rPr sz="2175" b="0">
                          <a:solidFill>
                            <a:srgbClr val="EAF3F4"/>
                          </a:solidFill>
                          <a:latin typeface="Segoe UI"/>
                          <a:ea typeface="Segoe UI"/>
                          <a:cs typeface="Segoe UI"/>
                        </a:rPr>
                        <a:t>Δ 50 ms</a:t>
                      </a:r>
                    </a:p>
                  </a:txBody>
                  <a:tcPr>
                    <a:solidFill>
                      <a:srgbClr val="081522"/>
                    </a:solidFill>
                  </a:tcPr>
                </a:tc>
                <a:tc>
                  <a:txBody>
                    <a:bodyPr/>
                    <a:lstStyle/>
                    <a:p>
                      <a:r>
                        <a:rPr sz="2175" b="0">
                          <a:solidFill>
                            <a:srgbClr val="EAF3F4"/>
                          </a:solidFill>
                          <a:latin typeface="Segoe UI"/>
                          <a:ea typeface="Segoe UI"/>
                          <a:cs typeface="Segoe UI"/>
                        </a:rPr>
                        <a:t>0.050</a:t>
                      </a:r>
                    </a:p>
                  </a:txBody>
                  <a:tcPr>
                    <a:solidFill>
                      <a:srgbClr val="081522"/>
                    </a:solidFill>
                  </a:tcPr>
                </a:tc>
                <a:tc>
                  <a:txBody>
                    <a:bodyPr/>
                    <a:lstStyle/>
                    <a:p>
                      <a:r>
                        <a:rPr sz="2175" b="0">
                          <a:solidFill>
                            <a:srgbClr val="EAF3F4"/>
                          </a:solidFill>
                          <a:latin typeface="Segoe UI"/>
                          <a:ea typeface="Segoe UI"/>
                          <a:cs typeface="Segoe UI"/>
                        </a:rPr>
                        <a:t>100–122</a:t>
                      </a:r>
                    </a:p>
                  </a:txBody>
                  <a:tcPr>
                    <a:solidFill>
                      <a:srgbClr val="081522"/>
                    </a:solidFill>
                  </a:tcPr>
                </a:tc>
                <a:extLst>
                  <a:ext uri="{0D108BD9-81ED-4DB2-BD59-A6C34878D82A}">
                    <a16:rowId xmlns:a16="http://schemas.microsoft.com/office/drawing/2014/main" val="10001"/>
                  </a:ext>
                </a:extLst>
              </a:tr>
              <a:tr h="595313">
                <a:tc>
                  <a:txBody>
                    <a:bodyPr/>
                    <a:lstStyle/>
                    <a:p>
                      <a:r>
                        <a:rPr sz="2175" b="0">
                          <a:solidFill>
                            <a:srgbClr val="EAF3F4"/>
                          </a:solidFill>
                          <a:latin typeface="Segoe UI"/>
                          <a:ea typeface="Segoe UI"/>
                          <a:cs typeface="Segoe UI"/>
                        </a:rPr>
                        <a:t>Δ 100 ms</a:t>
                      </a:r>
                    </a:p>
                  </a:txBody>
                  <a:tcPr>
                    <a:solidFill>
                      <a:srgbClr val="081522"/>
                    </a:solidFill>
                  </a:tcPr>
                </a:tc>
                <a:tc>
                  <a:txBody>
                    <a:bodyPr/>
                    <a:lstStyle/>
                    <a:p>
                      <a:r>
                        <a:rPr sz="2175" b="0">
                          <a:solidFill>
                            <a:srgbClr val="EAF3F4"/>
                          </a:solidFill>
                          <a:latin typeface="Segoe UI"/>
                          <a:ea typeface="Segoe UI"/>
                          <a:cs typeface="Segoe UI"/>
                        </a:rPr>
                        <a:t>0.100</a:t>
                      </a:r>
                    </a:p>
                  </a:txBody>
                  <a:tcPr>
                    <a:solidFill>
                      <a:srgbClr val="081522"/>
                    </a:solidFill>
                  </a:tcPr>
                </a:tc>
                <a:tc>
                  <a:txBody>
                    <a:bodyPr/>
                    <a:lstStyle/>
                    <a:p>
                      <a:r>
                        <a:rPr sz="2175" b="0">
                          <a:solidFill>
                            <a:srgbClr val="EAF3F4"/>
                          </a:solidFill>
                          <a:latin typeface="Segoe UI"/>
                          <a:ea typeface="Segoe UI"/>
                          <a:cs typeface="Segoe UI"/>
                        </a:rPr>
                        <a:t>200–222</a:t>
                      </a:r>
                    </a:p>
                  </a:txBody>
                  <a:tcPr>
                    <a:solidFill>
                      <a:srgbClr val="081522"/>
                    </a:solidFill>
                  </a:tcPr>
                </a:tc>
                <a:extLst>
                  <a:ext uri="{0D108BD9-81ED-4DB2-BD59-A6C34878D82A}">
                    <a16:rowId xmlns:a16="http://schemas.microsoft.com/office/drawing/2014/main" val="10002"/>
                  </a:ext>
                </a:extLst>
              </a:tr>
              <a:tr h="595313">
                <a:tc>
                  <a:txBody>
                    <a:bodyPr/>
                    <a:lstStyle/>
                    <a:p>
                      <a:r>
                        <a:rPr sz="2175" b="0">
                          <a:solidFill>
                            <a:srgbClr val="EAF3F4"/>
                          </a:solidFill>
                          <a:latin typeface="Segoe UI"/>
                          <a:ea typeface="Segoe UI"/>
                          <a:cs typeface="Segoe UI"/>
                        </a:rPr>
                        <a:t>Δ 150 ms</a:t>
                      </a:r>
                    </a:p>
                  </a:txBody>
                  <a:tcPr>
                    <a:solidFill>
                      <a:srgbClr val="081522"/>
                    </a:solidFill>
                  </a:tcPr>
                </a:tc>
                <a:tc>
                  <a:txBody>
                    <a:bodyPr/>
                    <a:lstStyle/>
                    <a:p>
                      <a:r>
                        <a:rPr sz="2175" b="0">
                          <a:solidFill>
                            <a:srgbClr val="EAF3F4"/>
                          </a:solidFill>
                          <a:latin typeface="Segoe UI"/>
                          <a:ea typeface="Segoe UI"/>
                          <a:cs typeface="Segoe UI"/>
                        </a:rPr>
                        <a:t>0.150</a:t>
                      </a:r>
                    </a:p>
                  </a:txBody>
                  <a:tcPr>
                    <a:solidFill>
                      <a:srgbClr val="081522"/>
                    </a:solidFill>
                  </a:tcPr>
                </a:tc>
                <a:tc>
                  <a:txBody>
                    <a:bodyPr/>
                    <a:lstStyle/>
                    <a:p>
                      <a:r>
                        <a:rPr sz="2175" b="0">
                          <a:solidFill>
                            <a:srgbClr val="EAF3F4"/>
                          </a:solidFill>
                          <a:latin typeface="Segoe UI"/>
                          <a:ea typeface="Segoe UI"/>
                          <a:cs typeface="Segoe UI"/>
                        </a:rPr>
                        <a:t>300–322</a:t>
                      </a:r>
                    </a:p>
                  </a:txBody>
                  <a:tcPr>
                    <a:solidFill>
                      <a:srgbClr val="081522"/>
                    </a:solidFill>
                  </a:tcPr>
                </a:tc>
                <a:extLst>
                  <a:ext uri="{0D108BD9-81ED-4DB2-BD59-A6C34878D82A}">
                    <a16:rowId xmlns:a16="http://schemas.microsoft.com/office/drawing/2014/main" val="10003"/>
                  </a:ext>
                </a:extLst>
              </a:tr>
            </a:tbl>
          </a:graphicData>
        </a:graphic>
      </p:graphicFrame>
      <p:sp>
        <p:nvSpPr>
          <p:cNvPr id="5" name="reveal_174">
            <a:extLst>
              <a:ext uri="{FF2B5EF4-FFF2-40B4-BE49-F238E27FC236}">
                <a16:creationId xmlns:a16="http://schemas.microsoft.com/office/drawing/2014/main" id="{19D28790-911B-4B79-A48B-FBD84670FA00}"/>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55DDE0"/>
                </a:solidFill>
                <a:latin typeface="Segoe UI"/>
                <a:ea typeface="Segoe UI"/>
                <a:cs typeface="Segoe UI"/>
              </a:defRPr>
            </a:defPPr>
          </a:lstStyle>
          <a:p>
            <a:pPr>
              <a:defRPr sz="2100" b="1">
                <a:solidFill>
                  <a:srgbClr val="55DDE0"/>
                </a:solidFill>
                <a:latin typeface="Segoe UI"/>
                <a:ea typeface="Segoe UI"/>
                <a:cs typeface="Segoe UI"/>
              </a:defRPr>
            </a:pPr>
            <a:r>
              <a:rPr sz="2100" b="1">
                <a:solidFill>
                  <a:srgbClr val="55DDE0"/>
                </a:solidFill>
                <a:latin typeface="Segoe UI"/>
                <a:ea typeface="Segoe UI"/>
                <a:cs typeface="Segoe UI"/>
              </a:rPr>
              <a:t>Same template · fixed P30 · complete gradient list · integrate the standard</a:t>
            </a:r>
          </a:p>
        </p:txBody>
      </p:sp>
      <p:sp>
        <p:nvSpPr>
          <p:cNvPr id="6" name="text_175">
            <a:extLst>
              <a:ext uri="{FF2B5EF4-FFF2-40B4-BE49-F238E27FC236}">
                <a16:creationId xmlns:a16="http://schemas.microsoft.com/office/drawing/2014/main" id="{F3111D45-E7AB-49F4-B44B-5EDE7D5B1146}"/>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The assistant prepares parameters and calibrates from the 1D series. Check destinations, units and limits before acquisition.</a:t>
            </a:r>
          </a:p>
        </p:txBody>
      </p:sp>
    </p:spTree>
    <p:extLst>
      <p:ext uri="{BB962C8B-B14F-4D97-AF65-F5344CB8AC3E}">
        <p14:creationId xmlns:p14="http://schemas.microsoft.com/office/powerpoint/2010/main" val="92800535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8" name="slide_number">
            <a:extLst>
              <a:ext uri="{FF2B5EF4-FFF2-40B4-BE49-F238E27FC236}">
                <a16:creationId xmlns:a16="http://schemas.microsoft.com/office/drawing/2014/main" id="{3AA5ADB5-9716-4434-9629-D49FE95E933B}"/>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19</a:t>
            </a:r>
          </a:p>
        </p:txBody>
      </p:sp>
      <p:sp>
        <p:nvSpPr>
          <p:cNvPr id="2" name="slide_title">
            <a:extLst>
              <a:ext uri="{FF2B5EF4-FFF2-40B4-BE49-F238E27FC236}">
                <a16:creationId xmlns:a16="http://schemas.microsoft.com/office/drawing/2014/main" id="{23A0EA5C-65FC-44C7-93C7-57A3D877A303}"/>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450" b="1">
                <a:solidFill>
                  <a:srgbClr val="EAF3F4"/>
                </a:solidFill>
                <a:latin typeface="Segoe UI"/>
                <a:ea typeface="Segoe UI"/>
                <a:cs typeface="Segoe UI"/>
              </a:defRPr>
            </a:defPPr>
          </a:lstStyle>
          <a:p>
            <a:pPr>
              <a:defRPr sz="3450" b="1">
                <a:solidFill>
                  <a:srgbClr val="EAF3F4"/>
                </a:solidFill>
                <a:latin typeface="Segoe UI"/>
                <a:ea typeface="Segoe UI"/>
                <a:cs typeface="Segoe UI"/>
              </a:defRPr>
            </a:pPr>
            <a:r>
              <a:rPr sz="3450" b="1">
                <a:solidFill>
                  <a:srgbClr val="EAF3F4"/>
                </a:solidFill>
                <a:latin typeface="Segoe UI"/>
                <a:ea typeface="Segoe UI"/>
                <a:cs typeface="Segoe UI"/>
              </a:rPr>
              <a:t>Prime: fit a real signal before the map</a:t>
            </a:r>
          </a:p>
        </p:txBody>
      </p:sp>
      <p:pic>
        <p:nvPicPr>
          <p:cNvPr id="3" name="Imagen 2">
            <a:extLst>
              <a:ext uri="{FF2B5EF4-FFF2-40B4-BE49-F238E27FC236}">
                <a16:creationId xmlns:a16="http://schemas.microsoft.com/office/drawing/2014/main" id="{A120365A-E39D-41F8-9B92-F4273EFD563B}"/>
              </a:ext>
            </a:extLst>
          </p:cNvPr>
          <p:cNvPicPr>
            <a:picLocks noChangeAspect="1"/>
          </p:cNvPicPr>
          <p:nvPr/>
        </p:nvPicPr>
        <p:blipFill>
          <a:blip r:embed="rId3"/>
          <a:srcRect l="25700" t="25000" r="3000" b="15000"/>
          <a:stretch/>
        </p:blipFill>
        <p:spPr>
          <a:xfrm>
            <a:off x="1473529" y="1666875"/>
            <a:ext cx="6301718" cy="3800475"/>
          </a:xfrm>
          <a:prstGeom prst="rect">
            <a:avLst/>
          </a:prstGeom>
        </p:spPr>
      </p:pic>
      <p:sp>
        <p:nvSpPr>
          <p:cNvPr id="4" name="text_176">
            <a:extLst>
              <a:ext uri="{FF2B5EF4-FFF2-40B4-BE49-F238E27FC236}">
                <a16:creationId xmlns:a16="http://schemas.microsoft.com/office/drawing/2014/main" id="{A264BB73-6D5C-4F27-ABE3-A9D7712E552B}"/>
              </a:ext>
            </a:extLst>
          </p:cNvPr>
          <p:cNvSpPr>
            <a:spLocks noGrp="1"/>
          </p:cNvSpPr>
          <p:nvPr/>
        </p:nvSpPr>
        <p:spPr>
          <a:xfrm>
            <a:off x="9067800" y="1990725"/>
            <a:ext cx="2676525" cy="2990850"/>
          </a:xfrm>
          <a:prstGeom prst="rect">
            <a:avLst/>
          </a:prstGeom>
          <a:noFill/>
          <a:ln w="0">
            <a:noFill/>
          </a:ln>
        </p:spPr>
        <p:txBody>
          <a:bodyPr lIns="0" tIns="0" rIns="0" bIns="0">
            <a:noAutofit/>
          </a:bodyPr>
          <a:lstStyle>
            <a:defPPr>
              <a:defRPr sz="2025" b="1">
                <a:solidFill>
                  <a:srgbClr val="55DDE0"/>
                </a:solidFill>
                <a:latin typeface="Segoe UI"/>
                <a:ea typeface="Segoe UI"/>
                <a:cs typeface="Segoe UI"/>
              </a:defRPr>
            </a:defPPr>
          </a:lstStyle>
          <a:p>
            <a:pPr>
              <a:defRPr sz="2025" b="1">
                <a:solidFill>
                  <a:srgbClr val="55DDE0"/>
                </a:solidFill>
                <a:latin typeface="Segoe UI"/>
                <a:ea typeface="Segoe UI"/>
                <a:cs typeface="Segoe UI"/>
              </a:defRPr>
            </a:pPr>
            <a:r>
              <a:rPr sz="2025" b="1">
                <a:solidFill>
                  <a:srgbClr val="55DDE0"/>
                </a:solidFill>
                <a:latin typeface="Segoe UI"/>
                <a:ea typeface="Segoe UI"/>
                <a:cs typeface="Segoe UI"/>
              </a:rPr>
              <a:t>1  Open the series</a:t>
            </a:r>
          </a:p>
          <a:p>
            <a:endParaRPr sz="2025" b="1">
              <a:solidFill>
                <a:srgbClr val="55DDE0"/>
              </a:solidFill>
              <a:latin typeface="Segoe UI"/>
              <a:ea typeface="Segoe UI"/>
              <a:cs typeface="Segoe UI"/>
            </a:endParaRPr>
          </a:p>
          <a:p>
            <a:pPr>
              <a:defRPr sz="2025" b="1">
                <a:solidFill>
                  <a:srgbClr val="55DDE0"/>
                </a:solidFill>
                <a:latin typeface="Segoe UI"/>
                <a:ea typeface="Segoe UI"/>
                <a:cs typeface="Segoe UI"/>
              </a:defRPr>
            </a:pPr>
            <a:r>
              <a:rPr sz="2025" b="1">
                <a:solidFill>
                  <a:srgbClr val="55DDE0"/>
                </a:solidFill>
                <a:latin typeface="Segoe UI"/>
                <a:ea typeface="Segoe UI"/>
                <a:cs typeface="Segoe UI"/>
              </a:rPr>
              <a:t>2  Fix the region</a:t>
            </a:r>
          </a:p>
          <a:p>
            <a:endParaRPr sz="2025" b="1">
              <a:solidFill>
                <a:srgbClr val="55DDE0"/>
              </a:solidFill>
              <a:latin typeface="Segoe UI"/>
              <a:ea typeface="Segoe UI"/>
              <a:cs typeface="Segoe UI"/>
            </a:endParaRPr>
          </a:p>
          <a:p>
            <a:pPr>
              <a:defRPr sz="2025" b="1">
                <a:solidFill>
                  <a:srgbClr val="55DDE0"/>
                </a:solidFill>
                <a:latin typeface="Segoe UI"/>
                <a:ea typeface="Segoe UI"/>
                <a:cs typeface="Segoe UI"/>
              </a:defRPr>
            </a:pPr>
            <a:r>
              <a:rPr sz="2025" b="1">
                <a:solidFill>
                  <a:srgbClr val="55DDE0"/>
                </a:solidFill>
                <a:latin typeface="Segoe UI"/>
                <a:ea typeface="Segoe UI"/>
                <a:cs typeface="Segoe UI"/>
              </a:rPr>
              <a:t>3  Fit and review</a:t>
            </a:r>
          </a:p>
        </p:txBody>
      </p:sp>
      <p:sp>
        <p:nvSpPr>
          <p:cNvPr id="5" name="text_177">
            <a:extLst>
              <a:ext uri="{FF2B5EF4-FFF2-40B4-BE49-F238E27FC236}">
                <a16:creationId xmlns:a16="http://schemas.microsoft.com/office/drawing/2014/main" id="{6AC70FFA-F421-4502-8846-2E6134C021F6}"/>
              </a:ext>
            </a:extLst>
          </p:cNvPr>
          <p:cNvSpPr>
            <a:spLocks noGrp="1"/>
          </p:cNvSpPr>
          <p:nvPr/>
        </p:nvSpPr>
        <p:spPr>
          <a:xfrm>
            <a:off x="9067800" y="5153025"/>
            <a:ext cx="2676525" cy="352425"/>
          </a:xfrm>
          <a:prstGeom prst="rect">
            <a:avLst/>
          </a:prstGeom>
          <a:noFill/>
          <a:ln w="0">
            <a:noFill/>
          </a:ln>
        </p:spPr>
        <p:txBody>
          <a:bodyPr lIns="0" tIns="0" rIns="0" bIns="0">
            <a:noAutofit/>
          </a:bodyPr>
          <a:lstStyle>
            <a:defPPr>
              <a:defRPr sz="1875" b="1">
                <a:solidFill>
                  <a:srgbClr val="EAF3F4"/>
                </a:solidFill>
                <a:latin typeface="Segoe UI"/>
                <a:ea typeface="Segoe UI"/>
                <a:cs typeface="Segoe UI"/>
              </a:defRPr>
            </a:defPPr>
          </a:lstStyle>
          <a:p>
            <a:pPr>
              <a:defRPr sz="1875" b="1">
                <a:solidFill>
                  <a:srgbClr val="EAF3F4"/>
                </a:solidFill>
                <a:latin typeface="Segoe UI"/>
                <a:ea typeface="Segoe UI"/>
                <a:cs typeface="Segoe UI"/>
              </a:defRPr>
            </a:pPr>
            <a:r>
              <a:rPr sz="1875" b="1">
                <a:solidFill>
                  <a:srgbClr val="EAF3F4"/>
                </a:solidFill>
                <a:latin typeface="Segoe UI"/>
                <a:ea typeface="Segoe UI"/>
                <a:cs typeface="Segoe UI"/>
              </a:rPr>
              <a:t>D final = 0.3267</a:t>
            </a:r>
          </a:p>
        </p:txBody>
      </p:sp>
      <p:sp>
        <p:nvSpPr>
          <p:cNvPr id="6" name="reveal_178">
            <a:extLst>
              <a:ext uri="{FF2B5EF4-FFF2-40B4-BE49-F238E27FC236}">
                <a16:creationId xmlns:a16="http://schemas.microsoft.com/office/drawing/2014/main" id="{34BEF1A6-A201-49AE-8727-F65BE8B3D096}"/>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55DDE0"/>
                </a:solidFill>
                <a:latin typeface="Segoe UI"/>
                <a:ea typeface="Segoe UI"/>
                <a:cs typeface="Segoe UI"/>
              </a:defRPr>
            </a:defPPr>
          </a:lstStyle>
          <a:p>
            <a:pPr>
              <a:defRPr sz="2100" b="1">
                <a:solidFill>
                  <a:srgbClr val="55DDE0"/>
                </a:solidFill>
                <a:latin typeface="Segoe UI"/>
                <a:ea typeface="Segoe UI"/>
                <a:cs typeface="Segoe UI"/>
              </a:defRPr>
            </a:pPr>
            <a:r>
              <a:rPr sz="2100" b="1">
                <a:solidFill>
                  <a:srgbClr val="55DDE0"/>
                </a:solidFill>
                <a:latin typeface="Segoe UI"/>
                <a:ea typeface="Segoe UI"/>
                <a:cs typeface="Segoe UI"/>
              </a:rPr>
              <a:t>Result saved with its points, calibration and corrections</a:t>
            </a:r>
          </a:p>
        </p:txBody>
      </p:sp>
      <p:sp>
        <p:nvSpPr>
          <p:cNvPr id="7" name="text_179">
            <a:extLst>
              <a:ext uri="{FF2B5EF4-FFF2-40B4-BE49-F238E27FC236}">
                <a16:creationId xmlns:a16="http://schemas.microsoft.com/office/drawing/2014/main" id="{5CF07702-699B-41B8-932E-20F6AE36F2A6}"/>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650" b="0">
                <a:solidFill>
                  <a:srgbClr val="A9C0CC"/>
                </a:solidFill>
                <a:latin typeface="Segoe UI"/>
                <a:ea typeface="Segoe UI"/>
                <a:cs typeface="Segoe UI"/>
              </a:defRPr>
            </a:defPPr>
          </a:lstStyle>
          <a:p>
            <a:pPr>
              <a:defRPr sz="1650" b="0">
                <a:solidFill>
                  <a:srgbClr val="A9C0CC"/>
                </a:solidFill>
                <a:latin typeface="Segoe UI"/>
                <a:ea typeface="Segoe UI"/>
                <a:cs typeface="Segoe UI"/>
              </a:defRPr>
            </a:pPr>
            <a:r>
              <a:rPr sz="1650" b="0">
                <a:solidFill>
                  <a:srgbClr val="A9C0CC"/>
                </a:solidFill>
                <a:latin typeface="Segoe UI"/>
                <a:ea typeface="Segoe UI"/>
                <a:cs typeface="Segoe UI"/>
              </a:rPr>
              <a:t>TP194 · 4.4182 ± 0.04 ppm · 23 points, 0 excluded · D / 10⁻⁹ m² s⁻¹, conditional on calibration and model.</a:t>
            </a:r>
          </a:p>
        </p:txBody>
      </p:sp>
    </p:spTree>
    <p:extLst>
      <p:ext uri="{BB962C8B-B14F-4D97-AF65-F5344CB8AC3E}">
        <p14:creationId xmlns:p14="http://schemas.microsoft.com/office/powerpoint/2010/main" val="164933968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8" name="slide_number">
            <a:extLst>
              <a:ext uri="{FF2B5EF4-FFF2-40B4-BE49-F238E27FC236}">
                <a16:creationId xmlns:a16="http://schemas.microsoft.com/office/drawing/2014/main" id="{478EA289-0D13-4560-BF05-2D25A499FA51}"/>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20</a:t>
            </a:r>
          </a:p>
        </p:txBody>
      </p:sp>
      <p:sp>
        <p:nvSpPr>
          <p:cNvPr id="2" name="slide_title">
            <a:extLst>
              <a:ext uri="{FF2B5EF4-FFF2-40B4-BE49-F238E27FC236}">
                <a16:creationId xmlns:a16="http://schemas.microsoft.com/office/drawing/2014/main" id="{D82D1240-C415-4125-90A3-6B526C4E0A4F}"/>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Prime and ResinAtOnce: consistency between signal and map</a:t>
            </a:r>
          </a:p>
        </p:txBody>
      </p:sp>
      <p:graphicFrame>
        <p:nvGraphicFramePr>
          <p:cNvPr id="3" name="Tabla 2">
            <a:extLst>
              <a:ext uri="{FF2B5EF4-FFF2-40B4-BE49-F238E27FC236}">
                <a16:creationId xmlns:a16="http://schemas.microsoft.com/office/drawing/2014/main" id="{FC178968-D1BA-44D0-8E02-AD4558843DE7}"/>
              </a:ext>
            </a:extLst>
          </p:cNvPr>
          <p:cNvGraphicFramePr/>
          <p:nvPr/>
        </p:nvGraphicFramePr>
        <p:xfrm>
          <a:off x="514350" y="1952625"/>
          <a:ext cx="11144250" cy="2657475"/>
        </p:xfrm>
        <a:graphic>
          <a:graphicData uri="http://schemas.openxmlformats.org/drawingml/2006/table">
            <a:tbl>
              <a:tblPr/>
              <a:tblGrid>
                <a:gridCol w="28194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3295650">
                  <a:extLst>
                    <a:ext uri="{9D8B030D-6E8A-4147-A177-3AD203B41FA5}">
                      <a16:colId xmlns:a16="http://schemas.microsoft.com/office/drawing/2014/main" val="20003"/>
                    </a:ext>
                  </a:extLst>
                </a:gridCol>
              </a:tblGrid>
              <a:tr h="664369">
                <a:tc>
                  <a:txBody>
                    <a:bodyPr/>
                    <a:lstStyle/>
                    <a:p>
                      <a:r>
                        <a:rPr sz="2175" b="1">
                          <a:solidFill>
                            <a:srgbClr val="EAF3F4"/>
                          </a:solidFill>
                          <a:latin typeface="Segoe UI"/>
                          <a:ea typeface="Segoe UI"/>
                          <a:cs typeface="Segoe UI"/>
                        </a:rPr>
                        <a:t>Ramp / EXPNO</a:t>
                      </a:r>
                    </a:p>
                  </a:txBody>
                  <a:tcPr>
                    <a:solidFill>
                      <a:srgbClr val="1D3E50"/>
                    </a:solidFill>
                  </a:tcPr>
                </a:tc>
                <a:tc>
                  <a:txBody>
                    <a:bodyPr/>
                    <a:lstStyle/>
                    <a:p>
                      <a:r>
                        <a:rPr sz="2175" b="1">
                          <a:solidFill>
                            <a:srgbClr val="EAF3F4"/>
                          </a:solidFill>
                          <a:latin typeface="Segoe UI"/>
                          <a:ea typeface="Segoe UI"/>
                          <a:cs typeface="Segoe UI"/>
                        </a:rPr>
                        <a:t>Local peak D</a:t>
                      </a:r>
                    </a:p>
                  </a:txBody>
                  <a:tcPr>
                    <a:solidFill>
                      <a:srgbClr val="1D3E50"/>
                    </a:solidFill>
                  </a:tcPr>
                </a:tc>
                <a:tc>
                  <a:txBody>
                    <a:bodyPr/>
                    <a:lstStyle/>
                    <a:p>
                      <a:r>
                        <a:rPr sz="2175" b="1">
                          <a:solidFill>
                            <a:srgbClr val="EAF3F4"/>
                          </a:solidFill>
                          <a:latin typeface="Segoe UI"/>
                          <a:ea typeface="Segoe UI"/>
                          <a:cs typeface="Segoe UI"/>
                        </a:rPr>
                        <a:t>Map peak D</a:t>
                      </a:r>
                    </a:p>
                  </a:txBody>
                  <a:tcPr>
                    <a:solidFill>
                      <a:srgbClr val="1D3E50"/>
                    </a:solidFill>
                  </a:tcPr>
                </a:tc>
                <a:tc>
                  <a:txBody>
                    <a:bodyPr/>
                    <a:lstStyle/>
                    <a:p>
                      <a:r>
                        <a:rPr sz="2175" b="1">
                          <a:solidFill>
                            <a:srgbClr val="EAF3F4"/>
                          </a:solidFill>
                          <a:latin typeface="Segoe UI"/>
                          <a:ea typeface="Segoe UI"/>
                          <a:cs typeface="Segoe UI"/>
                        </a:rPr>
                        <a:t>Shape difference</a:t>
                      </a:r>
                    </a:p>
                  </a:txBody>
                  <a:tcPr>
                    <a:solidFill>
                      <a:srgbClr val="1D3E50"/>
                    </a:solidFill>
                  </a:tcPr>
                </a:tc>
                <a:extLst>
                  <a:ext uri="{0D108BD9-81ED-4DB2-BD59-A6C34878D82A}">
                    <a16:rowId xmlns:a16="http://schemas.microsoft.com/office/drawing/2014/main" val="10000"/>
                  </a:ext>
                </a:extLst>
              </a:tr>
              <a:tr h="664369">
                <a:tc>
                  <a:txBody>
                    <a:bodyPr/>
                    <a:lstStyle/>
                    <a:p>
                      <a:r>
                        <a:rPr sz="2175" b="0">
                          <a:solidFill>
                            <a:srgbClr val="EAF3F4"/>
                          </a:solidFill>
                          <a:latin typeface="Segoe UI"/>
                          <a:ea typeface="Segoe UI"/>
                          <a:cs typeface="Segoe UI"/>
                        </a:rPr>
                        <a:t>10:32</a:t>
                      </a:r>
                    </a:p>
                  </a:txBody>
                  <a:tcPr>
                    <a:solidFill>
                      <a:srgbClr val="081522"/>
                    </a:solidFill>
                  </a:tcPr>
                </a:tc>
                <a:tc>
                  <a:txBody>
                    <a:bodyPr/>
                    <a:lstStyle/>
                    <a:p>
                      <a:r>
                        <a:rPr sz="2175" b="0">
                          <a:solidFill>
                            <a:srgbClr val="EAF3F4"/>
                          </a:solidFill>
                          <a:latin typeface="Segoe UI"/>
                          <a:ea typeface="Segoe UI"/>
                          <a:cs typeface="Segoe UI"/>
                        </a:rPr>
                        <a:t>0.3270</a:t>
                      </a:r>
                    </a:p>
                  </a:txBody>
                  <a:tcPr>
                    <a:solidFill>
                      <a:srgbClr val="081522"/>
                    </a:solidFill>
                  </a:tcPr>
                </a:tc>
                <a:tc>
                  <a:txBody>
                    <a:bodyPr/>
                    <a:lstStyle/>
                    <a:p>
                      <a:r>
                        <a:rPr sz="2175" b="0">
                          <a:solidFill>
                            <a:srgbClr val="EAF3F4"/>
                          </a:solidFill>
                          <a:latin typeface="Segoe UI"/>
                          <a:ea typeface="Segoe UI"/>
                          <a:cs typeface="Segoe UI"/>
                        </a:rPr>
                        <a:t>0.3270</a:t>
                      </a:r>
                    </a:p>
                  </a:txBody>
                  <a:tcPr>
                    <a:solidFill>
                      <a:srgbClr val="081522"/>
                    </a:solidFill>
                  </a:tcPr>
                </a:tc>
                <a:tc>
                  <a:txBody>
                    <a:bodyPr/>
                    <a:lstStyle/>
                    <a:p>
                      <a:r>
                        <a:rPr sz="2175" b="0">
                          <a:solidFill>
                            <a:srgbClr val="EAF3F4"/>
                          </a:solidFill>
                          <a:latin typeface="Segoe UI"/>
                          <a:ea typeface="Segoe UI"/>
                          <a:cs typeface="Segoe UI"/>
                        </a:rPr>
                        <a:t>0.0 %</a:t>
                      </a:r>
                    </a:p>
                  </a:txBody>
                  <a:tcPr>
                    <a:solidFill>
                      <a:srgbClr val="081522"/>
                    </a:solidFill>
                  </a:tcPr>
                </a:tc>
                <a:extLst>
                  <a:ext uri="{0D108BD9-81ED-4DB2-BD59-A6C34878D82A}">
                    <a16:rowId xmlns:a16="http://schemas.microsoft.com/office/drawing/2014/main" val="10001"/>
                  </a:ext>
                </a:extLst>
              </a:tr>
              <a:tr h="664369">
                <a:tc>
                  <a:txBody>
                    <a:bodyPr/>
                    <a:lstStyle/>
                    <a:p>
                      <a:r>
                        <a:rPr sz="2175" b="0">
                          <a:solidFill>
                            <a:srgbClr val="EAF3F4"/>
                          </a:solidFill>
                          <a:latin typeface="Segoe UI"/>
                          <a:ea typeface="Segoe UI"/>
                          <a:cs typeface="Segoe UI"/>
                        </a:rPr>
                        <a:t>33:55</a:t>
                      </a:r>
                    </a:p>
                  </a:txBody>
                  <a:tcPr>
                    <a:solidFill>
                      <a:srgbClr val="081522"/>
                    </a:solidFill>
                  </a:tcPr>
                </a:tc>
                <a:tc>
                  <a:txBody>
                    <a:bodyPr/>
                    <a:lstStyle/>
                    <a:p>
                      <a:r>
                        <a:rPr sz="2175" b="0">
                          <a:solidFill>
                            <a:srgbClr val="EAF3F4"/>
                          </a:solidFill>
                          <a:latin typeface="Segoe UI"/>
                          <a:ea typeface="Segoe UI"/>
                          <a:cs typeface="Segoe UI"/>
                        </a:rPr>
                        <a:t>0.3426</a:t>
                      </a:r>
                    </a:p>
                  </a:txBody>
                  <a:tcPr>
                    <a:solidFill>
                      <a:srgbClr val="081522"/>
                    </a:solidFill>
                  </a:tcPr>
                </a:tc>
                <a:tc>
                  <a:txBody>
                    <a:bodyPr/>
                    <a:lstStyle/>
                    <a:p>
                      <a:r>
                        <a:rPr sz="2175" b="0">
                          <a:solidFill>
                            <a:srgbClr val="EAF3F4"/>
                          </a:solidFill>
                          <a:latin typeface="Segoe UI"/>
                          <a:ea typeface="Segoe UI"/>
                          <a:cs typeface="Segoe UI"/>
                        </a:rPr>
                        <a:t>0.3426</a:t>
                      </a:r>
                    </a:p>
                  </a:txBody>
                  <a:tcPr>
                    <a:solidFill>
                      <a:srgbClr val="081522"/>
                    </a:solidFill>
                  </a:tcPr>
                </a:tc>
                <a:tc>
                  <a:txBody>
                    <a:bodyPr/>
                    <a:lstStyle/>
                    <a:p>
                      <a:r>
                        <a:rPr sz="2175" b="0">
                          <a:solidFill>
                            <a:srgbClr val="EAF3F4"/>
                          </a:solidFill>
                          <a:latin typeface="Segoe UI"/>
                          <a:ea typeface="Segoe UI"/>
                          <a:cs typeface="Segoe UI"/>
                        </a:rPr>
                        <a:t>0.0 %</a:t>
                      </a:r>
                    </a:p>
                  </a:txBody>
                  <a:tcPr>
                    <a:solidFill>
                      <a:srgbClr val="081522"/>
                    </a:solidFill>
                  </a:tcPr>
                </a:tc>
                <a:extLst>
                  <a:ext uri="{0D108BD9-81ED-4DB2-BD59-A6C34878D82A}">
                    <a16:rowId xmlns:a16="http://schemas.microsoft.com/office/drawing/2014/main" val="10002"/>
                  </a:ext>
                </a:extLst>
              </a:tr>
              <a:tr h="664369">
                <a:tc>
                  <a:txBody>
                    <a:bodyPr/>
                    <a:lstStyle/>
                    <a:p>
                      <a:r>
                        <a:rPr sz="2175" b="0">
                          <a:solidFill>
                            <a:srgbClr val="EAF3F4"/>
                          </a:solidFill>
                          <a:latin typeface="Segoe UI"/>
                          <a:ea typeface="Segoe UI"/>
                          <a:cs typeface="Segoe UI"/>
                        </a:rPr>
                        <a:t>56:78</a:t>
                      </a:r>
                    </a:p>
                  </a:txBody>
                  <a:tcPr>
                    <a:solidFill>
                      <a:srgbClr val="081522"/>
                    </a:solidFill>
                  </a:tcPr>
                </a:tc>
                <a:tc>
                  <a:txBody>
                    <a:bodyPr/>
                    <a:lstStyle/>
                    <a:p>
                      <a:r>
                        <a:rPr sz="2175" b="0">
                          <a:solidFill>
                            <a:srgbClr val="EAF3F4"/>
                          </a:solidFill>
                          <a:latin typeface="Segoe UI"/>
                          <a:ea typeface="Segoe UI"/>
                          <a:cs typeface="Segoe UI"/>
                        </a:rPr>
                        <a:t>0.3806</a:t>
                      </a:r>
                    </a:p>
                  </a:txBody>
                  <a:tcPr>
                    <a:solidFill>
                      <a:srgbClr val="081522"/>
                    </a:solidFill>
                  </a:tcPr>
                </a:tc>
                <a:tc>
                  <a:txBody>
                    <a:bodyPr/>
                    <a:lstStyle/>
                    <a:p>
                      <a:r>
                        <a:rPr sz="2175" b="0">
                          <a:solidFill>
                            <a:srgbClr val="EAF3F4"/>
                          </a:solidFill>
                          <a:latin typeface="Segoe UI"/>
                          <a:ea typeface="Segoe UI"/>
                          <a:cs typeface="Segoe UI"/>
                        </a:rPr>
                        <a:t>0.3806</a:t>
                      </a:r>
                    </a:p>
                  </a:txBody>
                  <a:tcPr>
                    <a:solidFill>
                      <a:srgbClr val="081522"/>
                    </a:solidFill>
                  </a:tcPr>
                </a:tc>
                <a:tc>
                  <a:txBody>
                    <a:bodyPr/>
                    <a:lstStyle/>
                    <a:p>
                      <a:r>
                        <a:rPr sz="2175" b="0">
                          <a:solidFill>
                            <a:srgbClr val="EAF3F4"/>
                          </a:solidFill>
                          <a:latin typeface="Segoe UI"/>
                          <a:ea typeface="Segoe UI"/>
                          <a:cs typeface="Segoe UI"/>
                        </a:rPr>
                        <a:t>0.0 %</a:t>
                      </a:r>
                    </a:p>
                  </a:txBody>
                  <a:tcPr>
                    <a:solidFill>
                      <a:srgbClr val="081522"/>
                    </a:solidFill>
                  </a:tcPr>
                </a:tc>
                <a:extLst>
                  <a:ext uri="{0D108BD9-81ED-4DB2-BD59-A6C34878D82A}">
                    <a16:rowId xmlns:a16="http://schemas.microsoft.com/office/drawing/2014/main" val="10003"/>
                  </a:ext>
                </a:extLst>
              </a:tr>
            </a:tbl>
          </a:graphicData>
        </a:graphic>
      </p:graphicFrame>
      <p:sp>
        <p:nvSpPr>
          <p:cNvPr id="4" name="text_180">
            <a:extLst>
              <a:ext uri="{FF2B5EF4-FFF2-40B4-BE49-F238E27FC236}">
                <a16:creationId xmlns:a16="http://schemas.microsoft.com/office/drawing/2014/main" id="{8C8702EC-4CC7-46EF-93E5-38F16768BD2A}"/>
              </a:ext>
            </a:extLst>
          </p:cNvPr>
          <p:cNvSpPr>
            <a:spLocks noGrp="1"/>
          </p:cNvSpPr>
          <p:nvPr/>
        </p:nvSpPr>
        <p:spPr>
          <a:xfrm>
            <a:off x="581025" y="4800600"/>
            <a:ext cx="10953750" cy="381000"/>
          </a:xfrm>
          <a:prstGeom prst="rect">
            <a:avLst/>
          </a:prstGeom>
          <a:noFill/>
          <a:ln w="0">
            <a:noFill/>
          </a:ln>
        </p:spPr>
        <p:txBody>
          <a:bodyPr lIns="0" tIns="0" rIns="0" bIns="0">
            <a:noAutofit/>
          </a:bodyPr>
          <a:lstStyle>
            <a:defPPr>
              <a:defRPr sz="2175" b="0">
                <a:solidFill>
                  <a:srgbClr val="EAF3F4"/>
                </a:solidFill>
                <a:latin typeface="Segoe UI"/>
                <a:ea typeface="Segoe UI"/>
                <a:cs typeface="Segoe UI"/>
              </a:defRPr>
            </a:defPPr>
          </a:lstStyle>
          <a:p>
            <a:pPr>
              <a:defRPr sz="2175" b="0">
                <a:solidFill>
                  <a:srgbClr val="EAF3F4"/>
                </a:solidFill>
                <a:latin typeface="Segoe UI"/>
                <a:ea typeface="Segoe UI"/>
                <a:cs typeface="Segoe UI"/>
              </a:defRPr>
            </a:pPr>
            <a:r>
              <a:rPr sz="2175" b="0">
                <a:solidFill>
                  <a:srgbClr val="EAF3F4"/>
                </a:solidFill>
                <a:latin typeface="Segoe UI"/>
                <a:ea typeface="Segoe UI"/>
                <a:cs typeface="Segoe UI"/>
              </a:rPr>
              <a:t>TP194 · ≈7.736 ppm · 2048-point D grid</a:t>
            </a:r>
          </a:p>
        </p:txBody>
      </p:sp>
      <p:sp>
        <p:nvSpPr>
          <p:cNvPr id="5" name="text_181">
            <a:extLst>
              <a:ext uri="{FF2B5EF4-FFF2-40B4-BE49-F238E27FC236}">
                <a16:creationId xmlns:a16="http://schemas.microsoft.com/office/drawing/2014/main" id="{B36ACAFB-4D1E-496A-85BE-1773378111D4}"/>
              </a:ext>
            </a:extLst>
          </p:cNvPr>
          <p:cNvSpPr>
            <a:spLocks noGrp="1"/>
          </p:cNvSpPr>
          <p:nvPr/>
        </p:nvSpPr>
        <p:spPr>
          <a:xfrm>
            <a:off x="581025" y="5267325"/>
            <a:ext cx="10953750" cy="333375"/>
          </a:xfrm>
          <a:prstGeom prst="rect">
            <a:avLst/>
          </a:prstGeom>
          <a:noFill/>
          <a:ln w="0">
            <a:noFill/>
          </a:ln>
        </p:spPr>
        <p:txBody>
          <a:bodyPr lIns="0" tIns="0" rIns="0" bIns="0">
            <a:noAutofit/>
          </a:bodyPr>
          <a:lstStyle>
            <a:defPPr>
              <a:defRPr sz="1650" b="0">
                <a:solidFill>
                  <a:srgbClr val="FF817B"/>
                </a:solidFill>
                <a:latin typeface="Segoe UI"/>
                <a:ea typeface="Segoe UI"/>
                <a:cs typeface="Segoe UI"/>
              </a:defRPr>
            </a:defPPr>
          </a:lstStyle>
          <a:p>
            <a:pPr>
              <a:defRPr sz="1650" b="0">
                <a:solidFill>
                  <a:srgbClr val="FF817B"/>
                </a:solidFill>
                <a:latin typeface="Segoe UI"/>
                <a:ea typeface="Segoe UI"/>
                <a:cs typeface="Segoe UI"/>
              </a:defRPr>
            </a:pPr>
            <a:r>
              <a:rPr sz="1650" b="0">
                <a:solidFill>
                  <a:srgbClr val="FF817B"/>
                </a:solidFill>
                <a:latin typeface="Segoe UI"/>
                <a:ea typeface="Segoe UI"/>
                <a:cs typeface="Segoe UI"/>
              </a:rPr>
              <a:t>Before: 84.87% shape difference between the local TRAIn signal and the MF map</a:t>
            </a:r>
          </a:p>
        </p:txBody>
      </p:sp>
      <p:sp>
        <p:nvSpPr>
          <p:cNvPr id="6" name="reveal_182">
            <a:extLst>
              <a:ext uri="{FF2B5EF4-FFF2-40B4-BE49-F238E27FC236}">
                <a16:creationId xmlns:a16="http://schemas.microsoft.com/office/drawing/2014/main" id="{4234C08B-E58E-4B85-B824-1621D97557E0}"/>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55DDE0"/>
                </a:solidFill>
                <a:latin typeface="Segoe UI"/>
                <a:ea typeface="Segoe UI"/>
                <a:cs typeface="Segoe UI"/>
              </a:defRPr>
            </a:defPPr>
          </a:lstStyle>
          <a:p>
            <a:pPr>
              <a:defRPr sz="2100" b="1">
                <a:solidFill>
                  <a:srgbClr val="55DDE0"/>
                </a:solidFill>
                <a:latin typeface="Segoe UI"/>
                <a:ea typeface="Segoe UI"/>
                <a:cs typeface="Segoe UI"/>
              </a:defRPr>
            </a:pPr>
            <a:r>
              <a:rPr sz="2100" b="1">
                <a:solidFill>
                  <a:srgbClr val="55DDE0"/>
                </a:solidFill>
                <a:latin typeface="Segoe UI"/>
                <a:ea typeface="Segoe UI"/>
                <a:cs typeface="Segoe UI"/>
              </a:rPr>
              <a:t>The same extraction, grid, algorithm and calibration in both paths</a:t>
            </a:r>
          </a:p>
        </p:txBody>
      </p:sp>
      <p:sp>
        <p:nvSpPr>
          <p:cNvPr id="7" name="text_183">
            <a:extLst>
              <a:ext uri="{FF2B5EF4-FFF2-40B4-BE49-F238E27FC236}">
                <a16:creationId xmlns:a16="http://schemas.microsoft.com/office/drawing/2014/main" id="{4E6E824B-05D9-4332-B1DB-E697044C9403}"/>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D / 10⁻⁹ m² s⁻¹ · internal check on real data. Agreement does not establish species identity.</a:t>
            </a:r>
          </a:p>
        </p:txBody>
      </p:sp>
    </p:spTree>
    <p:extLst>
      <p:ext uri="{BB962C8B-B14F-4D97-AF65-F5344CB8AC3E}">
        <p14:creationId xmlns:p14="http://schemas.microsoft.com/office/powerpoint/2010/main" val="168473456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9" name="slide_number">
            <a:extLst>
              <a:ext uri="{FF2B5EF4-FFF2-40B4-BE49-F238E27FC236}">
                <a16:creationId xmlns:a16="http://schemas.microsoft.com/office/drawing/2014/main" id="{B4DECD86-70B6-4584-BC43-2F67B3A864BE}"/>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21</a:t>
            </a:r>
          </a:p>
        </p:txBody>
      </p:sp>
      <p:sp>
        <p:nvSpPr>
          <p:cNvPr id="2" name="slide_title">
            <a:extLst>
              <a:ext uri="{FF2B5EF4-FFF2-40B4-BE49-F238E27FC236}">
                <a16:creationId xmlns:a16="http://schemas.microsoft.com/office/drawing/2014/main" id="{15DC3208-BCF6-456B-94AE-1A274D87C81C}"/>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123447"/>
                </a:solidFill>
                <a:latin typeface="Segoe UI"/>
                <a:ea typeface="Segoe UI"/>
                <a:cs typeface="Segoe UI"/>
              </a:defRPr>
            </a:defPPr>
          </a:lstStyle>
          <a:p>
            <a:pPr>
              <a:defRPr sz="3300" b="1">
                <a:solidFill>
                  <a:srgbClr val="123447"/>
                </a:solidFill>
                <a:latin typeface="Segoe UI"/>
                <a:ea typeface="Segoe UI"/>
                <a:cs typeface="Segoe UI"/>
              </a:defRPr>
            </a:pPr>
            <a:r>
              <a:rPr sz="3300" b="1">
                <a:solidFill>
                  <a:srgbClr val="123447"/>
                </a:solidFill>
                <a:latin typeface="Segoe UI"/>
                <a:ea typeface="Segoe UI"/>
                <a:cs typeface="Segoe UI"/>
              </a:rPr>
              <a:t>DALTAIL: a reproducible KK2 batch</a:t>
            </a:r>
          </a:p>
        </p:txBody>
      </p:sp>
      <p:graphicFrame>
        <p:nvGraphicFramePr>
          <p:cNvPr id="3" name="Chart">
            <a:extLst>
              <a:ext uri="{FF2B5EF4-FFF2-40B4-BE49-F238E27FC236}">
                <a16:creationId xmlns:a16="http://schemas.microsoft.com/office/drawing/2014/main" id="{2A152B87-8FC2-41CC-8870-E1731BF33393}"/>
              </a:ext>
            </a:extLst>
          </p:cNvPr>
          <p:cNvGraphicFramePr/>
          <p:nvPr/>
        </p:nvGraphicFramePr>
        <p:xfrm>
          <a:off x="228600" y="1781175"/>
          <a:ext cx="7486650" cy="3419475"/>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_184">
            <a:extLst>
              <a:ext uri="{FF2B5EF4-FFF2-40B4-BE49-F238E27FC236}">
                <a16:creationId xmlns:a16="http://schemas.microsoft.com/office/drawing/2014/main" id="{B1B3A300-32F7-4806-8F27-DF8914ADE547}"/>
              </a:ext>
            </a:extLst>
          </p:cNvPr>
          <p:cNvSpPr>
            <a:spLocks noGrp="1"/>
          </p:cNvSpPr>
          <p:nvPr/>
        </p:nvSpPr>
        <p:spPr>
          <a:xfrm>
            <a:off x="8029575" y="2028825"/>
            <a:ext cx="3695700" cy="2533650"/>
          </a:xfrm>
          <a:prstGeom prst="rect">
            <a:avLst/>
          </a:prstGeom>
          <a:noFill/>
          <a:ln w="0">
            <a:noFill/>
          </a:ln>
        </p:spPr>
        <p:txBody>
          <a:bodyPr lIns="0" tIns="0" rIns="0" bIns="0">
            <a:noAutofit/>
          </a:bodyPr>
          <a:lstStyle>
            <a:defPPr>
              <a:defRPr sz="2100" b="0">
                <a:solidFill>
                  <a:srgbClr val="123447"/>
                </a:solidFill>
                <a:latin typeface="Segoe UI"/>
                <a:ea typeface="Segoe UI"/>
                <a:cs typeface="Segoe UI"/>
              </a:defRPr>
            </a:defPPr>
          </a:lstStyle>
          <a:p>
            <a:pPr>
              <a:defRPr sz="2100" b="0">
                <a:solidFill>
                  <a:srgbClr val="123447"/>
                </a:solidFill>
                <a:latin typeface="Segoe UI"/>
                <a:ea typeface="Segoe UI"/>
                <a:cs typeface="Segoe UI"/>
              </a:defRPr>
            </a:pPr>
            <a:r>
              <a:rPr sz="2100" b="0">
                <a:solidFill>
                  <a:srgbClr val="123447"/>
                </a:solidFill>
                <a:latin typeface="Segoe UI"/>
                <a:ea typeface="Segoe UI"/>
                <a:cs typeface="Segoe UI"/>
              </a:rPr>
              <a:t>1  Read FIDs and parameters</a:t>
            </a:r>
          </a:p>
          <a:p>
            <a:pPr>
              <a:defRPr sz="2100" b="0">
                <a:solidFill>
                  <a:srgbClr val="123447"/>
                </a:solidFill>
                <a:latin typeface="Segoe UI"/>
                <a:ea typeface="Segoe UI"/>
                <a:cs typeface="Segoe UI"/>
              </a:defRPr>
            </a:pPr>
            <a:r>
              <a:rPr sz="2100" b="0">
                <a:solidFill>
                  <a:srgbClr val="123447"/>
                </a:solidFill>
                <a:latin typeface="Segoe UI"/>
                <a:ea typeface="Segoe UI"/>
                <a:cs typeface="Segoe UI"/>
              </a:rPr>
              <a:t>2  Process each block consistently</a:t>
            </a:r>
          </a:p>
          <a:p>
            <a:pPr>
              <a:defRPr sz="2100" b="0">
                <a:solidFill>
                  <a:srgbClr val="123447"/>
                </a:solidFill>
                <a:latin typeface="Segoe UI"/>
                <a:ea typeface="Segoe UI"/>
                <a:cs typeface="Segoe UI"/>
              </a:defRPr>
            </a:pPr>
            <a:r>
              <a:rPr sz="2100" b="0">
                <a:solidFill>
                  <a:srgbClr val="123447"/>
                </a:solidFill>
                <a:latin typeface="Segoe UI"/>
                <a:ea typeface="Segoe UI"/>
                <a:cs typeface="Segoe UI"/>
              </a:rPr>
              <a:t>3  Extract and export decays</a:t>
            </a:r>
          </a:p>
        </p:txBody>
      </p:sp>
      <p:sp>
        <p:nvSpPr>
          <p:cNvPr id="5" name="text_185">
            <a:extLst>
              <a:ext uri="{FF2B5EF4-FFF2-40B4-BE49-F238E27FC236}">
                <a16:creationId xmlns:a16="http://schemas.microsoft.com/office/drawing/2014/main" id="{228A0AC6-32F1-47F4-9DE4-ECE6ED7AA96A}"/>
              </a:ext>
            </a:extLst>
          </p:cNvPr>
          <p:cNvSpPr>
            <a:spLocks noGrp="1"/>
          </p:cNvSpPr>
          <p:nvPr/>
        </p:nvSpPr>
        <p:spPr>
          <a:xfrm>
            <a:off x="8058150" y="4419600"/>
            <a:ext cx="3571875" cy="762000"/>
          </a:xfrm>
          <a:prstGeom prst="rect">
            <a:avLst/>
          </a:prstGeom>
          <a:noFill/>
          <a:ln w="0">
            <a:noFill/>
          </a:ln>
        </p:spPr>
        <p:txBody>
          <a:bodyPr lIns="0" tIns="0" rIns="0" bIns="0">
            <a:noAutofit/>
          </a:bodyPr>
          <a:lstStyle>
            <a:defPPr>
              <a:defRPr sz="2025" b="1">
                <a:solidFill>
                  <a:srgbClr val="087E98"/>
                </a:solidFill>
                <a:latin typeface="Segoe UI"/>
                <a:ea typeface="Segoe UI"/>
                <a:cs typeface="Segoe UI"/>
              </a:defRPr>
            </a:defPPr>
          </a:lstStyle>
          <a:p>
            <a:pPr>
              <a:defRPr sz="2025" b="1">
                <a:solidFill>
                  <a:srgbClr val="087E98"/>
                </a:solidFill>
                <a:latin typeface="Segoe UI"/>
                <a:ea typeface="Segoe UI"/>
                <a:cs typeface="Segoe UI"/>
              </a:defRPr>
            </a:pPr>
            <a:r>
              <a:rPr sz="2025" b="1">
                <a:solidFill>
                  <a:srgbClr val="087E98"/>
                </a:solidFill>
                <a:latin typeface="Segoe UI"/>
                <a:ea typeface="Segoe UI"/>
                <a:cs typeface="Segoe UI"/>
              </a:rPr>
              <a:t>KK2-50 · OCH₃</a:t>
            </a:r>
          </a:p>
          <a:p>
            <a:pPr>
              <a:defRPr sz="2025" b="1">
                <a:solidFill>
                  <a:srgbClr val="087E98"/>
                </a:solidFill>
                <a:latin typeface="Segoe UI"/>
                <a:ea typeface="Segoe UI"/>
                <a:cs typeface="Segoe UI"/>
              </a:defRPr>
            </a:pPr>
            <a:r>
              <a:rPr sz="2025" b="1">
                <a:solidFill>
                  <a:srgbClr val="087E98"/>
                </a:solidFill>
                <a:latin typeface="Segoe UI"/>
                <a:ea typeface="Segoe UI"/>
                <a:cs typeface="Segoe UI"/>
              </a:rPr>
              <a:t>3.45–3.70 ppm</a:t>
            </a:r>
          </a:p>
        </p:txBody>
      </p:sp>
      <p:sp>
        <p:nvSpPr>
          <p:cNvPr id="6" name="text_186">
            <a:extLst>
              <a:ext uri="{FF2B5EF4-FFF2-40B4-BE49-F238E27FC236}">
                <a16:creationId xmlns:a16="http://schemas.microsoft.com/office/drawing/2014/main" id="{E0D36CCC-6C7A-4A83-99D9-B2916232E635}"/>
              </a:ext>
            </a:extLst>
          </p:cNvPr>
          <p:cNvSpPr>
            <a:spLocks noGrp="1"/>
          </p:cNvSpPr>
          <p:nvPr/>
        </p:nvSpPr>
        <p:spPr>
          <a:xfrm>
            <a:off x="8058150" y="5267325"/>
            <a:ext cx="3571875" cy="304800"/>
          </a:xfrm>
          <a:prstGeom prst="rect">
            <a:avLst/>
          </a:prstGeom>
          <a:noFill/>
          <a:ln w="0">
            <a:noFill/>
          </a:ln>
        </p:spPr>
        <p:txBody>
          <a:bodyPr lIns="0" tIns="0" rIns="0" bIns="0">
            <a:noAutofit/>
          </a:bodyPr>
          <a:lstStyle>
            <a:defPPr>
              <a:defRPr sz="1650" b="1">
                <a:solidFill>
                  <a:srgbClr val="617580"/>
                </a:solidFill>
                <a:latin typeface="Segoe UI"/>
                <a:ea typeface="Segoe UI"/>
                <a:cs typeface="Segoe UI"/>
              </a:defRPr>
            </a:defPPr>
          </a:lstStyle>
          <a:p>
            <a:pPr>
              <a:defRPr sz="1650" b="1">
                <a:solidFill>
                  <a:srgbClr val="617580"/>
                </a:solidFill>
                <a:latin typeface="Segoe UI"/>
                <a:ea typeface="Segoe UI"/>
                <a:cs typeface="Segoe UI"/>
              </a:defRPr>
            </a:pPr>
            <a:r>
              <a:rPr sz="1650" b="1">
                <a:solidFill>
                  <a:srgbClr val="617580"/>
                </a:solidFill>
                <a:latin typeface="Segoe UI"/>
                <a:ea typeface="Segoe UI"/>
                <a:cs typeface="Segoe UI"/>
              </a:rPr>
              <a:t>Batch: 230 spectra · 10 ramps</a:t>
            </a:r>
          </a:p>
        </p:txBody>
      </p:sp>
      <p:sp>
        <p:nvSpPr>
          <p:cNvPr id="7" name="reveal_187">
            <a:extLst>
              <a:ext uri="{FF2B5EF4-FFF2-40B4-BE49-F238E27FC236}">
                <a16:creationId xmlns:a16="http://schemas.microsoft.com/office/drawing/2014/main" id="{CB6C1BD6-A776-41D6-A106-FDFA32E67050}"/>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087E98"/>
                </a:solidFill>
                <a:latin typeface="Segoe UI"/>
                <a:ea typeface="Segoe UI"/>
                <a:cs typeface="Segoe UI"/>
              </a:defRPr>
            </a:defPPr>
          </a:lstStyle>
          <a:p>
            <a:pPr>
              <a:defRPr sz="2100" b="1">
                <a:solidFill>
                  <a:srgbClr val="087E98"/>
                </a:solidFill>
                <a:latin typeface="Segoe UI"/>
                <a:ea typeface="Segoe UI"/>
                <a:cs typeface="Segoe UI"/>
              </a:defRPr>
            </a:pPr>
            <a:r>
              <a:rPr sz="2100" b="1">
                <a:solidFill>
                  <a:srgbClr val="087E98"/>
                </a:solidFill>
                <a:latin typeface="Segoe UI"/>
                <a:ea typeface="Segoe UI"/>
                <a:cs typeface="Segoe UI"/>
              </a:rPr>
              <a:t>DALTAIL repeats the analysis from a saved configuration</a:t>
            </a:r>
          </a:p>
        </p:txBody>
      </p:sp>
      <p:sp>
        <p:nvSpPr>
          <p:cNvPr id="8" name="text_188">
            <a:extLst>
              <a:ext uri="{FF2B5EF4-FFF2-40B4-BE49-F238E27FC236}">
                <a16:creationId xmlns:a16="http://schemas.microsoft.com/office/drawing/2014/main" id="{327231E7-163F-4D10-9522-489A255D0B55}"/>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650" b="0">
                <a:solidFill>
                  <a:srgbClr val="617580"/>
                </a:solidFill>
                <a:latin typeface="Segoe UI"/>
                <a:ea typeface="Segoe UI"/>
                <a:cs typeface="Segoe UI"/>
              </a:defRPr>
            </a:defPPr>
          </a:lstStyle>
          <a:p>
            <a:pPr>
              <a:defRPr sz="1650" b="0">
                <a:solidFill>
                  <a:srgbClr val="617580"/>
                </a:solidFill>
                <a:latin typeface="Segoe UI"/>
                <a:ea typeface="Segoe UI"/>
                <a:cs typeface="Segoe UI"/>
              </a:defRPr>
            </a:pPr>
            <a:r>
              <a:rPr sz="1650" b="0">
                <a:solidFill>
                  <a:srgbClr val="617580"/>
                </a:solidFill>
                <a:latin typeface="Segoe UI"/>
                <a:ea typeface="Segoe UI"/>
                <a:cs typeface="Segoe UI"/>
              </a:rPr>
              <a:t>Archived decays. Primary D incorporates TTMS and temperature together; molecular masses remain model-dependent.</a:t>
            </a:r>
          </a:p>
        </p:txBody>
      </p:sp>
    </p:spTree>
    <p:extLst>
      <p:ext uri="{BB962C8B-B14F-4D97-AF65-F5344CB8AC3E}">
        <p14:creationId xmlns:p14="http://schemas.microsoft.com/office/powerpoint/2010/main" val="27623863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8" name="slide_number">
            <a:extLst>
              <a:ext uri="{FF2B5EF4-FFF2-40B4-BE49-F238E27FC236}">
                <a16:creationId xmlns:a16="http://schemas.microsoft.com/office/drawing/2014/main" id="{DA37EF45-BB94-4988-BD05-9918771FE28E}"/>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22</a:t>
            </a:r>
          </a:p>
        </p:txBody>
      </p:sp>
      <p:sp>
        <p:nvSpPr>
          <p:cNvPr id="2" name="slide_title">
            <a:extLst>
              <a:ext uri="{FF2B5EF4-FFF2-40B4-BE49-F238E27FC236}">
                <a16:creationId xmlns:a16="http://schemas.microsoft.com/office/drawing/2014/main" id="{C9AE88FC-8E28-4C99-A6A8-5BE66212559C}"/>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75" b="1">
                <a:solidFill>
                  <a:srgbClr val="EAF3F4"/>
                </a:solidFill>
                <a:latin typeface="Segoe UI"/>
                <a:ea typeface="Segoe UI"/>
                <a:cs typeface="Segoe UI"/>
              </a:defRPr>
            </a:defPPr>
          </a:lstStyle>
          <a:p>
            <a:pPr>
              <a:defRPr sz="3375" b="1">
                <a:solidFill>
                  <a:srgbClr val="EAF3F4"/>
                </a:solidFill>
                <a:latin typeface="Segoe UI"/>
                <a:ea typeface="Segoe UI"/>
                <a:cs typeface="Segoe UI"/>
              </a:defRPr>
            </a:pPr>
            <a:r>
              <a:rPr sz="3375" b="1">
                <a:solidFill>
                  <a:srgbClr val="EAF3F4"/>
                </a:solidFill>
                <a:latin typeface="Segoe UI"/>
                <a:ea typeface="Segoe UI"/>
                <a:cs typeface="Segoe UI"/>
              </a:rPr>
              <a:t>TP194 case · keep what the model cannot explain visible</a:t>
            </a:r>
          </a:p>
        </p:txBody>
      </p:sp>
      <p:pic>
        <p:nvPicPr>
          <p:cNvPr id="3" name="Imagen 2">
            <a:extLst>
              <a:ext uri="{FF2B5EF4-FFF2-40B4-BE49-F238E27FC236}">
                <a16:creationId xmlns:a16="http://schemas.microsoft.com/office/drawing/2014/main" id="{0B8D3C76-DA79-437B-A648-36DE8805777B}"/>
              </a:ext>
            </a:extLst>
          </p:cNvPr>
          <p:cNvPicPr>
            <a:picLocks noChangeAspect="1"/>
          </p:cNvPicPr>
          <p:nvPr/>
        </p:nvPicPr>
        <p:blipFill>
          <a:blip r:embed="rId3"/>
          <a:stretch/>
        </p:blipFill>
        <p:spPr>
          <a:xfrm>
            <a:off x="851958" y="1619250"/>
            <a:ext cx="7078133" cy="3981450"/>
          </a:xfrm>
          <a:prstGeom prst="rect">
            <a:avLst/>
          </a:prstGeom>
        </p:spPr>
      </p:pic>
      <p:sp>
        <p:nvSpPr>
          <p:cNvPr id="4" name="text_189">
            <a:extLst>
              <a:ext uri="{FF2B5EF4-FFF2-40B4-BE49-F238E27FC236}">
                <a16:creationId xmlns:a16="http://schemas.microsoft.com/office/drawing/2014/main" id="{CC83B58B-0BC7-4515-9878-7145A07AD167}"/>
              </a:ext>
            </a:extLst>
          </p:cNvPr>
          <p:cNvSpPr>
            <a:spLocks noGrp="1"/>
          </p:cNvSpPr>
          <p:nvPr/>
        </p:nvSpPr>
        <p:spPr>
          <a:xfrm>
            <a:off x="8972550" y="1962150"/>
            <a:ext cx="2762250" cy="1466850"/>
          </a:xfrm>
          <a:prstGeom prst="rect">
            <a:avLst/>
          </a:prstGeom>
          <a:noFill/>
          <a:ln w="0">
            <a:noFill/>
          </a:ln>
        </p:spPr>
        <p:txBody>
          <a:bodyPr lIns="0" tIns="0" rIns="0" bIns="0">
            <a:noAutofit/>
          </a:bodyPr>
          <a:lstStyle>
            <a:defPPr>
              <a:defRPr sz="3225" b="1">
                <a:solidFill>
                  <a:srgbClr val="55DDE0"/>
                </a:solidFill>
                <a:latin typeface="Segoe UI"/>
                <a:ea typeface="Segoe UI"/>
                <a:cs typeface="Segoe UI"/>
              </a:defRPr>
            </a:defPPr>
          </a:lstStyle>
          <a:p>
            <a:pPr>
              <a:defRPr sz="3225" b="1">
                <a:solidFill>
                  <a:srgbClr val="55DDE0"/>
                </a:solidFill>
                <a:latin typeface="Segoe UI"/>
                <a:ea typeface="Segoe UI"/>
                <a:cs typeface="Segoe UI"/>
              </a:defRPr>
            </a:pPr>
            <a:r>
              <a:rPr sz="3225" b="1">
                <a:solidFill>
                  <a:srgbClr val="55DDE0"/>
                </a:solidFill>
                <a:latin typeface="Segoe UI"/>
                <a:ea typeface="Segoe UI"/>
                <a:cs typeface="Segoe UI"/>
              </a:rPr>
              <a:t>≈6%</a:t>
            </a:r>
          </a:p>
          <a:p>
            <a:pPr>
              <a:defRPr sz="3225" b="1">
                <a:solidFill>
                  <a:srgbClr val="55DDE0"/>
                </a:solidFill>
                <a:latin typeface="Segoe UI"/>
                <a:ea typeface="Segoe UI"/>
                <a:cs typeface="Segoe UI"/>
              </a:defRPr>
            </a:pPr>
            <a:r>
              <a:rPr sz="3225" b="1">
                <a:solidFill>
                  <a:srgbClr val="55DDE0"/>
                </a:solidFill>
                <a:latin typeface="Segoe UI"/>
                <a:ea typeface="Segoe UI"/>
                <a:cs typeface="Segoe UI"/>
              </a:rPr>
              <a:t>unassigned</a:t>
            </a:r>
          </a:p>
        </p:txBody>
      </p:sp>
      <p:sp>
        <p:nvSpPr>
          <p:cNvPr id="5" name="text_190">
            <a:extLst>
              <a:ext uri="{FF2B5EF4-FFF2-40B4-BE49-F238E27FC236}">
                <a16:creationId xmlns:a16="http://schemas.microsoft.com/office/drawing/2014/main" id="{9D08ED19-2ACC-49DF-9F92-5ED9291A4990}"/>
              </a:ext>
            </a:extLst>
          </p:cNvPr>
          <p:cNvSpPr>
            <a:spLocks noGrp="1"/>
          </p:cNvSpPr>
          <p:nvPr/>
        </p:nvSpPr>
        <p:spPr>
          <a:xfrm>
            <a:off x="8972550" y="3829050"/>
            <a:ext cx="2762250" cy="1485900"/>
          </a:xfrm>
          <a:prstGeom prst="rect">
            <a:avLst/>
          </a:prstGeom>
          <a:noFill/>
          <a:ln w="0">
            <a:noFill/>
          </a:ln>
        </p:spPr>
        <p:txBody>
          <a:bodyPr lIns="0" tIns="0" rIns="0" bIns="0">
            <a:noAutofit/>
          </a:bodyPr>
          <a:lstStyle>
            <a:defPPr>
              <a:defRPr sz="2100" b="0">
                <a:solidFill>
                  <a:srgbClr val="EAF3F4"/>
                </a:solidFill>
                <a:latin typeface="Segoe UI"/>
                <a:ea typeface="Segoe UI"/>
                <a:cs typeface="Segoe UI"/>
              </a:defRPr>
            </a:defPPr>
          </a:lstStyle>
          <a:p>
            <a:pPr>
              <a:defRPr sz="2100" b="0">
                <a:solidFill>
                  <a:srgbClr val="EAF3F4"/>
                </a:solidFill>
                <a:latin typeface="Segoe UI"/>
                <a:ea typeface="Segoe UI"/>
                <a:cs typeface="Segoe UI"/>
              </a:defRPr>
            </a:pPr>
            <a:r>
              <a:rPr sz="2100" b="0">
                <a:solidFill>
                  <a:srgbClr val="EAF3F4"/>
                </a:solidFill>
                <a:latin typeface="Segoe UI"/>
                <a:ea typeface="Segoe UI"/>
                <a:cs typeface="Segoe UI"/>
              </a:rPr>
              <a:t>Retain the signal</a:t>
            </a:r>
          </a:p>
          <a:p>
            <a:pPr>
              <a:defRPr sz="2100" b="0">
                <a:solidFill>
                  <a:srgbClr val="EAF3F4"/>
                </a:solidFill>
                <a:latin typeface="Segoe UI"/>
                <a:ea typeface="Segoe UI"/>
                <a:cs typeface="Segoe UI"/>
              </a:defRPr>
            </a:pPr>
            <a:r>
              <a:rPr sz="2100" b="0">
                <a:solidFill>
                  <a:srgbClr val="EAF3F4"/>
                </a:solidFill>
                <a:latin typeface="Segoe UI"/>
                <a:ea typeface="Segoe UI"/>
                <a:cs typeface="Segoe UI"/>
              </a:rPr>
              <a:t>Compare methods</a:t>
            </a:r>
          </a:p>
          <a:p>
            <a:pPr>
              <a:defRPr sz="2100" b="0">
                <a:solidFill>
                  <a:srgbClr val="EAF3F4"/>
                </a:solidFill>
                <a:latin typeface="Segoe UI"/>
                <a:ea typeface="Segoe UI"/>
                <a:cs typeface="Segoe UI"/>
              </a:defRPr>
            </a:pPr>
            <a:r>
              <a:rPr sz="2100" b="0">
                <a:solidFill>
                  <a:srgbClr val="EAF3F4"/>
                </a:solidFill>
                <a:latin typeface="Segoe UI"/>
                <a:ea typeface="Segoe UI"/>
                <a:cs typeface="Segoe UI"/>
              </a:rPr>
              <a:t>Hold out gradients</a:t>
            </a:r>
          </a:p>
        </p:txBody>
      </p:sp>
      <p:sp>
        <p:nvSpPr>
          <p:cNvPr id="6" name="reveal_191">
            <a:extLst>
              <a:ext uri="{FF2B5EF4-FFF2-40B4-BE49-F238E27FC236}">
                <a16:creationId xmlns:a16="http://schemas.microsoft.com/office/drawing/2014/main" id="{4943FB14-3901-462D-AF80-D89110C004FB}"/>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55DDE0"/>
                </a:solidFill>
                <a:latin typeface="Segoe UI"/>
                <a:ea typeface="Segoe UI"/>
                <a:cs typeface="Segoe UI"/>
              </a:defRPr>
            </a:defPPr>
          </a:lstStyle>
          <a:p>
            <a:pPr>
              <a:defRPr sz="2100" b="1">
                <a:solidFill>
                  <a:srgbClr val="55DDE0"/>
                </a:solidFill>
                <a:latin typeface="Segoe UI"/>
                <a:ea typeface="Segoe UI"/>
                <a:cs typeface="Segoe UI"/>
              </a:defRPr>
            </a:pPr>
            <a:r>
              <a:rPr sz="2100" b="1">
                <a:solidFill>
                  <a:srgbClr val="55DDE0"/>
                </a:solidFill>
                <a:latin typeface="Segoe UI"/>
                <a:ea typeface="Segoe UI"/>
                <a:cs typeface="Segoe UI"/>
              </a:rPr>
              <a:t>A useful map lets us review the fit and what remains unresolved</a:t>
            </a:r>
          </a:p>
        </p:txBody>
      </p:sp>
      <p:sp>
        <p:nvSpPr>
          <p:cNvPr id="7" name="text_192">
            <a:extLst>
              <a:ext uri="{FF2B5EF4-FFF2-40B4-BE49-F238E27FC236}">
                <a16:creationId xmlns:a16="http://schemas.microsoft.com/office/drawing/2014/main" id="{2E05F53D-E90C-40DB-9BC9-6578451019F2}"/>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575" b="0">
                <a:solidFill>
                  <a:srgbClr val="A9C0CC"/>
                </a:solidFill>
                <a:latin typeface="Segoe UI"/>
                <a:ea typeface="Segoe UI"/>
                <a:cs typeface="Segoe UI"/>
              </a:defRPr>
            </a:defPPr>
          </a:lstStyle>
          <a:p>
            <a:pPr>
              <a:defRPr sz="1575" b="0">
                <a:solidFill>
                  <a:srgbClr val="A9C0CC"/>
                </a:solidFill>
                <a:latin typeface="Segoe UI"/>
                <a:ea typeface="Segoe UI"/>
                <a:cs typeface="Segoe UI"/>
              </a:defRPr>
            </a:pPr>
            <a:r>
              <a:rPr sz="1575" b="0">
                <a:solidFill>
                  <a:srgbClr val="A9C0CC"/>
                </a:solidFill>
                <a:latin typeface="Segoe UI"/>
                <a:ea typeface="Segoe UI"/>
                <a:cs typeface="Segoe UI"/>
              </a:rPr>
              <a:t>Real TP194 · archived projection case. Predictive checks are a subsequent Scientific Workbench step.</a:t>
            </a:r>
          </a:p>
        </p:txBody>
      </p:sp>
    </p:spTree>
    <p:extLst>
      <p:ext uri="{BB962C8B-B14F-4D97-AF65-F5344CB8AC3E}">
        <p14:creationId xmlns:p14="http://schemas.microsoft.com/office/powerpoint/2010/main" val="164735338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7D33DED-1619-4AD8-A7E5-97906712CF55}"/>
              </a:ext>
            </a:extLst>
          </p:cNvPr>
          <p:cNvPicPr>
            <a:picLocks noChangeAspect="1"/>
          </p:cNvPicPr>
          <p:nvPr/>
        </p:nvPicPr>
        <p:blipFill>
          <a:blip r:embed="rId5"/>
          <a:stretch/>
        </p:blipFill>
        <p:spPr>
          <a:xfrm>
            <a:off x="0" y="0"/>
            <a:ext cx="12192000" cy="6858000"/>
          </a:xfrm>
          <a:prstGeom prst="rect">
            <a:avLst/>
          </a:prstGeom>
        </p:spPr>
      </p:pic>
      <p:pic>
        <p:nvPicPr>
          <p:cNvPr id="3" name="DOSY_VIDEO_23" descr="Scientific teaching simulation / Simulación didáctica">
            <a:hlinkClick action="ppaction://media"/>
            <a:extLst>
              <a:ext uri="{FF2B5EF4-FFF2-40B4-BE49-F238E27FC236}">
                <a16:creationId xmlns:a16="http://schemas.microsoft.com/office/drawing/2014/main" id="{09766C56-ADF6-FDD9-3929-BDB4D2B8CD6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211640347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0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10" name="slide_number">
            <a:extLst>
              <a:ext uri="{FF2B5EF4-FFF2-40B4-BE49-F238E27FC236}">
                <a16:creationId xmlns:a16="http://schemas.microsoft.com/office/drawing/2014/main" id="{EC413459-B98E-45D0-9D9F-C9C9F61E42DA}"/>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24</a:t>
            </a:r>
          </a:p>
        </p:txBody>
      </p:sp>
      <p:sp>
        <p:nvSpPr>
          <p:cNvPr id="2" name="slide_title">
            <a:extLst>
              <a:ext uri="{FF2B5EF4-FFF2-40B4-BE49-F238E27FC236}">
                <a16:creationId xmlns:a16="http://schemas.microsoft.com/office/drawing/2014/main" id="{0EAE6892-C53D-4B85-A30C-9034524E8CEB}"/>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225" b="1">
                <a:solidFill>
                  <a:srgbClr val="EAF3F4"/>
                </a:solidFill>
                <a:latin typeface="Segoe UI"/>
                <a:ea typeface="Segoe UI"/>
                <a:cs typeface="Segoe UI"/>
              </a:defRPr>
            </a:defPPr>
          </a:lstStyle>
          <a:p>
            <a:pPr>
              <a:defRPr sz="3225" b="1">
                <a:solidFill>
                  <a:srgbClr val="EAF3F4"/>
                </a:solidFill>
                <a:latin typeface="Segoe UI"/>
                <a:ea typeface="Segoe UI"/>
                <a:cs typeface="Segoe UI"/>
              </a:defRPr>
            </a:pPr>
            <a:r>
              <a:rPr sz="3225" b="1">
                <a:solidFill>
                  <a:srgbClr val="EAF3F4"/>
                </a:solidFill>
                <a:latin typeface="Segoe UI"/>
                <a:ea typeface="Segoe UI"/>
                <a:cs typeface="Segoe UI"/>
              </a:rPr>
              <a:t>Ultrafast: diffusion and relaxation in one map</a:t>
            </a:r>
          </a:p>
        </p:txBody>
      </p:sp>
      <p:pic>
        <p:nvPicPr>
          <p:cNvPr id="3" name="Imagen 2">
            <a:extLst>
              <a:ext uri="{FF2B5EF4-FFF2-40B4-BE49-F238E27FC236}">
                <a16:creationId xmlns:a16="http://schemas.microsoft.com/office/drawing/2014/main" id="{269EB252-FCD5-4C93-92F9-7A5307824A5E}"/>
              </a:ext>
            </a:extLst>
          </p:cNvPr>
          <p:cNvPicPr>
            <a:picLocks noChangeAspect="1"/>
          </p:cNvPicPr>
          <p:nvPr/>
        </p:nvPicPr>
        <p:blipFill>
          <a:blip r:embed="rId3"/>
          <a:stretch/>
        </p:blipFill>
        <p:spPr>
          <a:xfrm>
            <a:off x="661536" y="1247775"/>
            <a:ext cx="7782829" cy="5095875"/>
          </a:xfrm>
          <a:prstGeom prst="rect">
            <a:avLst/>
          </a:prstGeom>
        </p:spPr>
      </p:pic>
      <p:sp>
        <p:nvSpPr>
          <p:cNvPr id="4" name="text_193">
            <a:extLst>
              <a:ext uri="{FF2B5EF4-FFF2-40B4-BE49-F238E27FC236}">
                <a16:creationId xmlns:a16="http://schemas.microsoft.com/office/drawing/2014/main" id="{BBA7C41B-3B07-41E0-90B0-907939D39CAA}"/>
              </a:ext>
            </a:extLst>
          </p:cNvPr>
          <p:cNvSpPr>
            <a:spLocks noGrp="1"/>
          </p:cNvSpPr>
          <p:nvPr/>
        </p:nvSpPr>
        <p:spPr>
          <a:xfrm>
            <a:off x="9067800" y="1666875"/>
            <a:ext cx="2657475" cy="552450"/>
          </a:xfrm>
          <a:prstGeom prst="rect">
            <a:avLst/>
          </a:prstGeom>
          <a:noFill/>
          <a:ln w="0">
            <a:noFill/>
          </a:ln>
        </p:spPr>
        <p:txBody>
          <a:bodyPr lIns="0" tIns="0" rIns="0" bIns="0">
            <a:noAutofit/>
          </a:bodyPr>
          <a:lstStyle>
            <a:defPPr>
              <a:defRPr sz="2925" b="1">
                <a:solidFill>
                  <a:srgbClr val="55DDE0"/>
                </a:solidFill>
                <a:latin typeface="Segoe UI"/>
                <a:ea typeface="Segoe UI"/>
                <a:cs typeface="Segoe UI"/>
              </a:defRPr>
            </a:defPPr>
          </a:lstStyle>
          <a:p>
            <a:pPr>
              <a:defRPr sz="2925" b="1">
                <a:solidFill>
                  <a:srgbClr val="55DDE0"/>
                </a:solidFill>
                <a:latin typeface="Segoe UI"/>
                <a:ea typeface="Segoe UI"/>
                <a:cs typeface="Segoe UI"/>
              </a:defRPr>
            </a:pPr>
            <a:r>
              <a:rPr sz="2925" b="1">
                <a:solidFill>
                  <a:srgbClr val="55DDE0"/>
                </a:solidFill>
                <a:latin typeface="Segoe UI"/>
                <a:ea typeface="Segoe UI"/>
                <a:cs typeface="Segoe UI"/>
              </a:rPr>
              <a:t>UF D–T₂</a:t>
            </a:r>
          </a:p>
        </p:txBody>
      </p:sp>
      <p:sp>
        <p:nvSpPr>
          <p:cNvPr id="5" name="text_194">
            <a:extLst>
              <a:ext uri="{FF2B5EF4-FFF2-40B4-BE49-F238E27FC236}">
                <a16:creationId xmlns:a16="http://schemas.microsoft.com/office/drawing/2014/main" id="{2891CFFF-270F-4AEA-B888-C84D0E8D9709}"/>
              </a:ext>
            </a:extLst>
          </p:cNvPr>
          <p:cNvSpPr>
            <a:spLocks noGrp="1"/>
          </p:cNvSpPr>
          <p:nvPr/>
        </p:nvSpPr>
        <p:spPr>
          <a:xfrm>
            <a:off x="9067800" y="2409825"/>
            <a:ext cx="2657475" cy="1104900"/>
          </a:xfrm>
          <a:prstGeom prst="rect">
            <a:avLst/>
          </a:prstGeom>
          <a:noFill/>
          <a:ln w="0">
            <a:noFill/>
          </a:ln>
        </p:spPr>
        <p:txBody>
          <a:bodyPr lIns="0" tIns="0" rIns="0" bIns="0">
            <a:noAutofit/>
          </a:bodyPr>
          <a:lstStyle>
            <a:defPPr>
              <a:defRPr sz="2025" b="0">
                <a:solidFill>
                  <a:srgbClr val="EAF3F4"/>
                </a:solidFill>
                <a:latin typeface="Segoe UI"/>
                <a:ea typeface="Segoe UI"/>
                <a:cs typeface="Segoe UI"/>
              </a:defRPr>
            </a:defPPr>
          </a:lstStyle>
          <a:p>
            <a:pPr>
              <a:defRPr sz="2025" b="0">
                <a:solidFill>
                  <a:srgbClr val="EAF3F4"/>
                </a:solidFill>
                <a:latin typeface="Segoe UI"/>
                <a:ea typeface="Segoe UI"/>
                <a:cs typeface="Segoe UI"/>
              </a:defRPr>
            </a:pPr>
            <a:r>
              <a:rPr sz="2025" b="0">
                <a:solidFill>
                  <a:srgbClr val="EAF3F4"/>
                </a:solidFill>
                <a:latin typeface="Segoe UI"/>
                <a:ea typeface="Segoe UI"/>
                <a:cs typeface="Segoe UI"/>
              </a:rPr>
              <a:t>Experiment 10</a:t>
            </a:r>
          </a:p>
          <a:p>
            <a:pPr>
              <a:defRPr sz="2025" b="0">
                <a:solidFill>
                  <a:srgbClr val="EAF3F4"/>
                </a:solidFill>
                <a:latin typeface="Segoe UI"/>
                <a:ea typeface="Segoe UI"/>
                <a:cs typeface="Segoe UI"/>
              </a:defRPr>
            </a:pPr>
            <a:r>
              <a:rPr sz="2025" b="0">
                <a:solidFill>
                  <a:srgbClr val="EAF3F4"/>
                </a:solidFill>
                <a:latin typeface="Segoe UI"/>
                <a:ea typeface="Segoe UI"/>
                <a:cs typeface="Segoe UI"/>
              </a:rPr>
              <a:t>4 scans · 32 echoes</a:t>
            </a:r>
          </a:p>
          <a:p>
            <a:pPr>
              <a:defRPr sz="2025" b="0">
                <a:solidFill>
                  <a:srgbClr val="EAF3F4"/>
                </a:solidFill>
                <a:latin typeface="Segoe UI"/>
                <a:ea typeface="Segoe UI"/>
                <a:cs typeface="Segoe UI"/>
              </a:defRPr>
            </a:pPr>
            <a:r>
              <a:rPr sz="2025" b="0">
                <a:solidFill>
                  <a:srgbClr val="EAF3F4"/>
                </a:solidFill>
                <a:latin typeface="Segoe UI"/>
                <a:ea typeface="Segoe UI"/>
                <a:cs typeface="Segoe UI"/>
              </a:rPr>
              <a:t>≈28 seconds</a:t>
            </a:r>
          </a:p>
        </p:txBody>
      </p:sp>
      <p:sp>
        <p:nvSpPr>
          <p:cNvPr id="6" name="text_195">
            <a:extLst>
              <a:ext uri="{FF2B5EF4-FFF2-40B4-BE49-F238E27FC236}">
                <a16:creationId xmlns:a16="http://schemas.microsoft.com/office/drawing/2014/main" id="{395493F6-B022-48D8-8ED5-306240BC140C}"/>
              </a:ext>
            </a:extLst>
          </p:cNvPr>
          <p:cNvSpPr>
            <a:spLocks noGrp="1"/>
          </p:cNvSpPr>
          <p:nvPr/>
        </p:nvSpPr>
        <p:spPr>
          <a:xfrm>
            <a:off x="9067800" y="3848100"/>
            <a:ext cx="2657475" cy="400050"/>
          </a:xfrm>
          <a:prstGeom prst="rect">
            <a:avLst/>
          </a:prstGeom>
          <a:noFill/>
          <a:ln w="0">
            <a:noFill/>
          </a:ln>
        </p:spPr>
        <p:txBody>
          <a:bodyPr lIns="0" tIns="0" rIns="0" bIns="0">
            <a:noAutofit/>
          </a:bodyPr>
          <a:lstStyle>
            <a:defPPr>
              <a:defRPr sz="1500" b="1">
                <a:solidFill>
                  <a:srgbClr val="A9C0CC"/>
                </a:solidFill>
                <a:latin typeface="Segoe UI"/>
                <a:ea typeface="Segoe UI"/>
                <a:cs typeface="Segoe UI"/>
              </a:defRPr>
            </a:defPPr>
          </a:lstStyle>
          <a:p>
            <a:pPr>
              <a:defRPr sz="1500" b="1">
                <a:solidFill>
                  <a:srgbClr val="A9C0CC"/>
                </a:solidFill>
                <a:latin typeface="Segoe UI"/>
                <a:ea typeface="Segoe UI"/>
                <a:cs typeface="Segoe UI"/>
              </a:defRPr>
            </a:pPr>
            <a:r>
              <a:rPr sz="1500" b="1">
                <a:solidFill>
                  <a:srgbClr val="A9C0CC"/>
                </a:solidFill>
                <a:latin typeface="Segoe UI"/>
                <a:ea typeface="Segoe UI"/>
                <a:cs typeface="Segoe UI"/>
              </a:rPr>
              <a:t>CURRENT DEVELOPMENT</a:t>
            </a:r>
          </a:p>
        </p:txBody>
      </p:sp>
      <p:sp>
        <p:nvSpPr>
          <p:cNvPr id="7" name="text_196">
            <a:extLst>
              <a:ext uri="{FF2B5EF4-FFF2-40B4-BE49-F238E27FC236}">
                <a16:creationId xmlns:a16="http://schemas.microsoft.com/office/drawing/2014/main" id="{FB830A24-0DD6-4CB1-9D89-4874A27AE313}"/>
              </a:ext>
            </a:extLst>
          </p:cNvPr>
          <p:cNvSpPr>
            <a:spLocks noGrp="1"/>
          </p:cNvSpPr>
          <p:nvPr/>
        </p:nvSpPr>
        <p:spPr>
          <a:xfrm>
            <a:off x="9067800" y="4343400"/>
            <a:ext cx="2657475" cy="914400"/>
          </a:xfrm>
          <a:prstGeom prst="rect">
            <a:avLst/>
          </a:prstGeom>
          <a:noFill/>
          <a:ln w="0">
            <a:noFill/>
          </a:ln>
        </p:spPr>
        <p:txBody>
          <a:bodyPr lIns="0" tIns="0" rIns="0" bIns="0">
            <a:noAutofit/>
          </a:bodyPr>
          <a:lstStyle>
            <a:defPPr>
              <a:defRPr sz="2175" b="1">
                <a:solidFill>
                  <a:srgbClr val="55DDE0"/>
                </a:solidFill>
                <a:latin typeface="Segoe UI"/>
                <a:ea typeface="Segoe UI"/>
                <a:cs typeface="Segoe UI"/>
              </a:defRPr>
            </a:defPPr>
          </a:lstStyle>
          <a:p>
            <a:pPr>
              <a:defRPr sz="2175" b="1">
                <a:solidFill>
                  <a:srgbClr val="55DDE0"/>
                </a:solidFill>
                <a:latin typeface="Segoe UI"/>
                <a:ea typeface="Segoe UI"/>
                <a:cs typeface="Segoe UI"/>
              </a:defRPr>
            </a:pPr>
            <a:r>
              <a:rPr sz="2175" b="1">
                <a:solidFill>
                  <a:srgbClr val="55DDE0"/>
                </a:solidFill>
                <a:latin typeface="Segoe UI"/>
                <a:ea typeface="Segoe UI"/>
                <a:cs typeface="Segoe UI"/>
              </a:rPr>
              <a:t>z gradient</a:t>
            </a:r>
          </a:p>
          <a:p>
            <a:pPr>
              <a:defRPr sz="2175" b="1">
                <a:solidFill>
                  <a:srgbClr val="55DDE0"/>
                </a:solidFill>
                <a:latin typeface="Segoe UI"/>
                <a:ea typeface="Segoe UI"/>
                <a:cs typeface="Segoe UI"/>
              </a:defRPr>
            </a:pPr>
            <a:r>
              <a:rPr sz="2175" b="1">
                <a:solidFill>
                  <a:srgbClr val="55DDE0"/>
                </a:solidFill>
                <a:latin typeface="Segoe UI"/>
                <a:ea typeface="Segoe UI"/>
                <a:cs typeface="Segoe UI"/>
              </a:rPr>
              <a:t>+ EPSI readout</a:t>
            </a:r>
          </a:p>
        </p:txBody>
      </p:sp>
      <p:sp>
        <p:nvSpPr>
          <p:cNvPr id="8" name="reveal_197">
            <a:extLst>
              <a:ext uri="{FF2B5EF4-FFF2-40B4-BE49-F238E27FC236}">
                <a16:creationId xmlns:a16="http://schemas.microsoft.com/office/drawing/2014/main" id="{72615B5B-2FEA-48B6-B471-02D14B9406A9}"/>
              </a:ext>
            </a:extLst>
          </p:cNvPr>
          <p:cNvSpPr>
            <a:spLocks noGrp="1"/>
          </p:cNvSpPr>
          <p:nvPr/>
        </p:nvSpPr>
        <p:spPr>
          <a:xfrm>
            <a:off x="9067800" y="5362575"/>
            <a:ext cx="2657475" cy="657225"/>
          </a:xfrm>
          <a:prstGeom prst="rect">
            <a:avLst/>
          </a:prstGeom>
          <a:noFill/>
          <a:ln w="0">
            <a:noFill/>
          </a:ln>
        </p:spPr>
        <p:txBody>
          <a:bodyPr lIns="0" tIns="0" rIns="0" bIns="0">
            <a:noAutofit/>
          </a:bodyPr>
          <a:lstStyle>
            <a:defPPr>
              <a:defRPr sz="1875" b="1">
                <a:solidFill>
                  <a:srgbClr val="F3AE6D"/>
                </a:solidFill>
                <a:latin typeface="Segoe UI"/>
                <a:ea typeface="Segoe UI"/>
                <a:cs typeface="Segoe UI"/>
              </a:defRPr>
            </a:defPPr>
          </a:lstStyle>
          <a:p>
            <a:pPr>
              <a:defRPr sz="1875" b="1">
                <a:solidFill>
                  <a:srgbClr val="F3AE6D"/>
                </a:solidFill>
                <a:latin typeface="Segoe UI"/>
                <a:ea typeface="Segoe UI"/>
                <a:cs typeface="Segoe UI"/>
              </a:defRPr>
            </a:pPr>
            <a:r>
              <a:rPr sz="1875" b="1">
                <a:solidFill>
                  <a:srgbClr val="F3AE6D"/>
                </a:solidFill>
                <a:latin typeface="Segoe UI"/>
                <a:ea typeface="Segoe UI"/>
                <a:cs typeface="Segoe UI"/>
              </a:rPr>
              <a:t>Validate b(z)</a:t>
            </a:r>
          </a:p>
          <a:p>
            <a:pPr>
              <a:defRPr sz="1875" b="1">
                <a:solidFill>
                  <a:srgbClr val="F3AE6D"/>
                </a:solidFill>
                <a:latin typeface="Segoe UI"/>
                <a:ea typeface="Segoe UI"/>
                <a:cs typeface="Segoe UI"/>
              </a:defRPr>
            </a:pPr>
            <a:r>
              <a:rPr sz="1875" b="1">
                <a:solidFill>
                  <a:srgbClr val="F3AE6D"/>
                </a:solidFill>
                <a:latin typeface="Segoe UI"/>
                <a:ea typeface="Segoe UI"/>
                <a:cs typeface="Segoe UI"/>
              </a:rPr>
              <a:t>and sensitivity</a:t>
            </a:r>
          </a:p>
        </p:txBody>
      </p:sp>
      <p:sp>
        <p:nvSpPr>
          <p:cNvPr id="9" name="text_198">
            <a:extLst>
              <a:ext uri="{FF2B5EF4-FFF2-40B4-BE49-F238E27FC236}">
                <a16:creationId xmlns:a16="http://schemas.microsoft.com/office/drawing/2014/main" id="{BFA2F1EB-8337-48B9-83B7-7F7AB177D903}"/>
              </a:ext>
            </a:extLst>
          </p:cNvPr>
          <p:cNvSpPr>
            <a:spLocks noGrp="1"/>
          </p:cNvSpPr>
          <p:nvPr/>
        </p:nvSpPr>
        <p:spPr>
          <a:xfrm>
            <a:off x="571500" y="6534150"/>
            <a:ext cx="10953750" cy="276225"/>
          </a:xfrm>
          <a:prstGeom prst="rect">
            <a:avLst/>
          </a:prstGeom>
          <a:noFill/>
          <a:ln w="0">
            <a:noFill/>
          </a:ln>
        </p:spPr>
        <p:txBody>
          <a:bodyPr lIns="0" tIns="0" rIns="0" bIns="0">
            <a:noAutofit/>
          </a:bodyPr>
          <a:lstStyle>
            <a:defPPr>
              <a:defRPr sz="1500" b="0">
                <a:solidFill>
                  <a:srgbClr val="A9C0CC"/>
                </a:solidFill>
                <a:latin typeface="Segoe UI"/>
                <a:ea typeface="Segoe UI"/>
                <a:cs typeface="Segoe UI"/>
              </a:defRPr>
            </a:defPPr>
          </a:lstStyle>
          <a:p>
            <a:pPr>
              <a:defRPr sz="1500" b="0">
                <a:solidFill>
                  <a:srgbClr val="A9C0CC"/>
                </a:solidFill>
                <a:latin typeface="Segoe UI"/>
                <a:ea typeface="Segoe UI"/>
                <a:cs typeface="Segoe UI"/>
              </a:defRPr>
            </a:pPr>
            <a:r>
              <a:rPr sz="1500" b="0">
                <a:solidFill>
                  <a:srgbClr val="A9C0CC"/>
                </a:solidFill>
                <a:latin typeface="Segoe UI"/>
                <a:ea typeface="Segoe UI"/>
                <a:cs typeface="Segoe UI"/>
              </a:rPr>
              <a:t>TRAIN2D · 2025 experiment, preceding EPSI v9.4 · D and T₂ accuracy remains to be validated</a:t>
            </a:r>
          </a:p>
        </p:txBody>
      </p:sp>
    </p:spTree>
    <p:extLst>
      <p:ext uri="{BB962C8B-B14F-4D97-AF65-F5344CB8AC3E}">
        <p14:creationId xmlns:p14="http://schemas.microsoft.com/office/powerpoint/2010/main" val="25922794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7" name="slide_number">
            <a:extLst>
              <a:ext uri="{FF2B5EF4-FFF2-40B4-BE49-F238E27FC236}">
                <a16:creationId xmlns:a16="http://schemas.microsoft.com/office/drawing/2014/main" id="{26A812D6-A36B-46C0-99CF-FBA7FD718DE1}"/>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25</a:t>
            </a:r>
          </a:p>
        </p:txBody>
      </p:sp>
      <p:sp>
        <p:nvSpPr>
          <p:cNvPr id="2" name="closing_message">
            <a:extLst>
              <a:ext uri="{FF2B5EF4-FFF2-40B4-BE49-F238E27FC236}">
                <a16:creationId xmlns:a16="http://schemas.microsoft.com/office/drawing/2014/main" id="{C62DF7ED-2F2F-459B-A635-2C72EA79B1AF}"/>
              </a:ext>
            </a:extLst>
          </p:cNvPr>
          <p:cNvSpPr>
            <a:spLocks noGrp="1"/>
          </p:cNvSpPr>
          <p:nvPr/>
        </p:nvSpPr>
        <p:spPr>
          <a:xfrm>
            <a:off x="561975" y="942975"/>
            <a:ext cx="10972800" cy="2524125"/>
          </a:xfrm>
          <a:prstGeom prst="rect">
            <a:avLst/>
          </a:prstGeom>
          <a:noFill/>
          <a:ln w="0">
            <a:noFill/>
          </a:ln>
        </p:spPr>
        <p:txBody>
          <a:bodyPr lIns="0" tIns="0" rIns="0" bIns="0">
            <a:noAutofit/>
          </a:bodyPr>
          <a:lstStyle>
            <a:defPPr>
              <a:defRPr sz="4800" b="1">
                <a:solidFill>
                  <a:srgbClr val="EAF3F4"/>
                </a:solidFill>
                <a:latin typeface="Segoe UI"/>
                <a:ea typeface="Segoe UI"/>
                <a:cs typeface="Segoe UI"/>
              </a:defRPr>
            </a:defPPr>
          </a:lstStyle>
          <a:p>
            <a:pPr>
              <a:defRPr sz="4800" b="1">
                <a:solidFill>
                  <a:srgbClr val="EAF3F4"/>
                </a:solidFill>
                <a:latin typeface="Segoe UI"/>
                <a:ea typeface="Segoe UI"/>
                <a:cs typeface="Segoe UI"/>
              </a:defRPr>
            </a:pPr>
            <a:r>
              <a:rPr sz="4800" b="1">
                <a:solidFill>
                  <a:srgbClr val="EAF3F4"/>
                </a:solidFill>
                <a:latin typeface="Segoe UI"/>
                <a:ea typeface="Segoe UI"/>
                <a:cs typeface="Segoe UI"/>
              </a:rPr>
              <a:t>A carefully acquired signal.</a:t>
            </a:r>
          </a:p>
          <a:p>
            <a:pPr>
              <a:defRPr sz="4800" b="1">
                <a:solidFill>
                  <a:srgbClr val="EAF3F4"/>
                </a:solidFill>
                <a:latin typeface="Segoe UI"/>
                <a:ea typeface="Segoe UI"/>
                <a:cs typeface="Segoe UI"/>
              </a:defRPr>
            </a:pPr>
            <a:r>
              <a:rPr sz="4800" b="1">
                <a:solidFill>
                  <a:srgbClr val="EAF3F4"/>
                </a:solidFill>
                <a:latin typeface="Segoe UI"/>
                <a:ea typeface="Segoe UI"/>
                <a:cs typeface="Segoe UI"/>
              </a:rPr>
              <a:t>A reproducible analysis.</a:t>
            </a:r>
          </a:p>
          <a:p>
            <a:pPr>
              <a:defRPr sz="4800" b="1">
                <a:solidFill>
                  <a:srgbClr val="EAF3F4"/>
                </a:solidFill>
                <a:latin typeface="Segoe UI"/>
                <a:ea typeface="Segoe UI"/>
                <a:cs typeface="Segoe UI"/>
              </a:defRPr>
            </a:pPr>
            <a:r>
              <a:rPr sz="4800" b="1">
                <a:solidFill>
                  <a:srgbClr val="EAF3F4"/>
                </a:solidFill>
                <a:latin typeface="Segoe UI"/>
                <a:ea typeface="Segoe UI"/>
                <a:cs typeface="Segoe UI"/>
              </a:rPr>
              <a:t>A result we can check.</a:t>
            </a:r>
          </a:p>
        </p:txBody>
      </p:sp>
      <p:sp>
        <p:nvSpPr>
          <p:cNvPr id="3" name="text_199">
            <a:extLst>
              <a:ext uri="{FF2B5EF4-FFF2-40B4-BE49-F238E27FC236}">
                <a16:creationId xmlns:a16="http://schemas.microsoft.com/office/drawing/2014/main" id="{B17B346F-03A1-4655-8AC6-810898298E4B}"/>
              </a:ext>
            </a:extLst>
          </p:cNvPr>
          <p:cNvSpPr>
            <a:spLocks noGrp="1"/>
          </p:cNvSpPr>
          <p:nvPr/>
        </p:nvSpPr>
        <p:spPr>
          <a:xfrm>
            <a:off x="590550" y="4029075"/>
            <a:ext cx="10953750" cy="504825"/>
          </a:xfrm>
          <a:prstGeom prst="rect">
            <a:avLst/>
          </a:prstGeom>
          <a:noFill/>
          <a:ln w="0">
            <a:noFill/>
          </a:ln>
        </p:spPr>
        <p:txBody>
          <a:bodyPr lIns="0" tIns="0" rIns="0" bIns="0">
            <a:noAutofit/>
          </a:bodyPr>
          <a:lstStyle>
            <a:defPPr>
              <a:defRPr sz="2550" b="1">
                <a:solidFill>
                  <a:srgbClr val="FF817B"/>
                </a:solidFill>
                <a:latin typeface="Segoe UI"/>
                <a:ea typeface="Segoe UI"/>
                <a:cs typeface="Segoe UI"/>
              </a:defRPr>
            </a:defPPr>
          </a:lstStyle>
          <a:p>
            <a:pPr>
              <a:defRPr sz="2550" b="1">
                <a:solidFill>
                  <a:srgbClr val="FF817B"/>
                </a:solidFill>
                <a:latin typeface="Segoe UI"/>
                <a:ea typeface="Segoe UI"/>
                <a:cs typeface="Segoe UI"/>
              </a:defRPr>
            </a:pPr>
            <a:r>
              <a:rPr sz="2550" b="1">
                <a:solidFill>
                  <a:srgbClr val="FF817B"/>
                </a:solidFill>
                <a:latin typeface="Segoe UI"/>
                <a:ea typeface="Segoe UI"/>
                <a:cs typeface="Segoe UI"/>
              </a:rPr>
              <a:t>Calibrate and retain useful information</a:t>
            </a:r>
          </a:p>
        </p:txBody>
      </p:sp>
      <p:sp>
        <p:nvSpPr>
          <p:cNvPr id="4" name="text_200">
            <a:extLst>
              <a:ext uri="{FF2B5EF4-FFF2-40B4-BE49-F238E27FC236}">
                <a16:creationId xmlns:a16="http://schemas.microsoft.com/office/drawing/2014/main" id="{46886454-2B8D-4867-85FE-762B9C95EB27}"/>
              </a:ext>
            </a:extLst>
          </p:cNvPr>
          <p:cNvSpPr>
            <a:spLocks noGrp="1"/>
          </p:cNvSpPr>
          <p:nvPr/>
        </p:nvSpPr>
        <p:spPr>
          <a:xfrm>
            <a:off x="590550" y="4667250"/>
            <a:ext cx="10953750" cy="504825"/>
          </a:xfrm>
          <a:prstGeom prst="rect">
            <a:avLst/>
          </a:prstGeom>
          <a:noFill/>
          <a:ln w="0">
            <a:noFill/>
          </a:ln>
        </p:spPr>
        <p:txBody>
          <a:bodyPr lIns="0" tIns="0" rIns="0" bIns="0">
            <a:noAutofit/>
          </a:bodyPr>
          <a:lstStyle>
            <a:defPPr>
              <a:defRPr sz="2550" b="1">
                <a:solidFill>
                  <a:srgbClr val="EAF3F4"/>
                </a:solidFill>
                <a:latin typeface="Segoe UI"/>
                <a:ea typeface="Segoe UI"/>
                <a:cs typeface="Segoe UI"/>
              </a:defRPr>
            </a:defPPr>
          </a:lstStyle>
          <a:p>
            <a:pPr>
              <a:defRPr sz="2550" b="1">
                <a:solidFill>
                  <a:srgbClr val="EAF3F4"/>
                </a:solidFill>
                <a:latin typeface="Segoe UI"/>
                <a:ea typeface="Segoe UI"/>
                <a:cs typeface="Segoe UI"/>
              </a:defRPr>
            </a:pPr>
            <a:r>
              <a:rPr sz="2550" b="1">
                <a:solidFill>
                  <a:srgbClr val="EAF3F4"/>
                </a:solidFill>
                <a:latin typeface="Segoe UI"/>
                <a:ea typeface="Segoe UI"/>
                <a:cs typeface="Segoe UI"/>
              </a:rPr>
              <a:t>Automate repetitive steps</a:t>
            </a:r>
          </a:p>
        </p:txBody>
      </p:sp>
      <p:sp>
        <p:nvSpPr>
          <p:cNvPr id="5" name="text_201">
            <a:extLst>
              <a:ext uri="{FF2B5EF4-FFF2-40B4-BE49-F238E27FC236}">
                <a16:creationId xmlns:a16="http://schemas.microsoft.com/office/drawing/2014/main" id="{4D277787-67BA-490F-8A38-A40B2F104D27}"/>
              </a:ext>
            </a:extLst>
          </p:cNvPr>
          <p:cNvSpPr>
            <a:spLocks noGrp="1"/>
          </p:cNvSpPr>
          <p:nvPr/>
        </p:nvSpPr>
        <p:spPr>
          <a:xfrm>
            <a:off x="590550" y="5305425"/>
            <a:ext cx="10953750" cy="600075"/>
          </a:xfrm>
          <a:prstGeom prst="rect">
            <a:avLst/>
          </a:prstGeom>
          <a:noFill/>
          <a:ln w="0">
            <a:noFill/>
          </a:ln>
        </p:spPr>
        <p:txBody>
          <a:bodyPr lIns="0" tIns="0" rIns="0" bIns="0">
            <a:noAutofit/>
          </a:bodyPr>
          <a:lstStyle>
            <a:defPPr>
              <a:defRPr sz="2550" b="1">
                <a:solidFill>
                  <a:srgbClr val="55DDE0"/>
                </a:solidFill>
                <a:latin typeface="Segoe UI"/>
                <a:ea typeface="Segoe UI"/>
                <a:cs typeface="Segoe UI"/>
              </a:defRPr>
            </a:defPPr>
          </a:lstStyle>
          <a:p>
            <a:pPr>
              <a:defRPr sz="2550" b="1">
                <a:solidFill>
                  <a:srgbClr val="55DDE0"/>
                </a:solidFill>
                <a:latin typeface="Segoe UI"/>
                <a:ea typeface="Segoe UI"/>
                <a:cs typeface="Segoe UI"/>
              </a:defRPr>
            </a:pPr>
            <a:r>
              <a:rPr sz="2550" b="1">
                <a:solidFill>
                  <a:srgbClr val="55DDE0"/>
                </a:solidFill>
                <a:latin typeface="Segoe UI"/>
                <a:ea typeface="Segoe UI"/>
                <a:cs typeface="Segoe UI"/>
              </a:rPr>
              <a:t>Review the result with examples and controls</a:t>
            </a:r>
          </a:p>
        </p:txBody>
      </p:sp>
      <p:sp>
        <p:nvSpPr>
          <p:cNvPr id="6" name="text_202">
            <a:extLst>
              <a:ext uri="{FF2B5EF4-FFF2-40B4-BE49-F238E27FC236}">
                <a16:creationId xmlns:a16="http://schemas.microsoft.com/office/drawing/2014/main" id="{204B3C25-8E5D-4449-99BC-9236C083B9F9}"/>
              </a:ext>
            </a:extLst>
          </p:cNvPr>
          <p:cNvSpPr>
            <a:spLocks noGrp="1"/>
          </p:cNvSpPr>
          <p:nvPr/>
        </p:nvSpPr>
        <p:spPr>
          <a:xfrm>
            <a:off x="609600" y="6286500"/>
            <a:ext cx="10925175" cy="361950"/>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DiffAtOnce Prime · ifernan@ual.es · fmarrabal@ual.es</a:t>
            </a:r>
          </a:p>
        </p:txBody>
      </p:sp>
    </p:spTree>
    <p:extLst>
      <p:ext uri="{BB962C8B-B14F-4D97-AF65-F5344CB8AC3E}">
        <p14:creationId xmlns:p14="http://schemas.microsoft.com/office/powerpoint/2010/main" val="173628881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DF24E5B3-9B7A-4FEC-8BC6-DBFBD0CDCA0B}"/>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26</a:t>
            </a:r>
          </a:p>
        </p:txBody>
      </p:sp>
      <p:sp>
        <p:nvSpPr>
          <p:cNvPr id="2" name="slide_title">
            <a:extLst>
              <a:ext uri="{FF2B5EF4-FFF2-40B4-BE49-F238E27FC236}">
                <a16:creationId xmlns:a16="http://schemas.microsoft.com/office/drawing/2014/main" id="{CA6979C8-1A59-4882-990E-AE0AB0AAA609}"/>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Prime · local ILT 1/4</a:t>
            </a:r>
          </a:p>
        </p:txBody>
      </p:sp>
      <p:graphicFrame>
        <p:nvGraphicFramePr>
          <p:cNvPr id="3" name="Tabla 2">
            <a:extLst>
              <a:ext uri="{FF2B5EF4-FFF2-40B4-BE49-F238E27FC236}">
                <a16:creationId xmlns:a16="http://schemas.microsoft.com/office/drawing/2014/main" id="{0204CD57-BBF5-4B13-AF14-F194EA6381ED}"/>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NNLS</a:t>
                      </a:r>
                    </a:p>
                  </a:txBody>
                  <a:tcPr>
                    <a:solidFill>
                      <a:srgbClr val="081522"/>
                    </a:solidFill>
                  </a:tcPr>
                </a:tc>
                <a:tc>
                  <a:txBody>
                    <a:bodyPr/>
                    <a:lstStyle/>
                    <a:p>
                      <a:r>
                        <a:rPr sz="1575" b="0">
                          <a:solidFill>
                            <a:srgbClr val="EAF3F4"/>
                          </a:solidFill>
                          <a:latin typeface="Segoe UI"/>
                          <a:ea typeface="Segoe UI"/>
                          <a:cs typeface="Segoe UI"/>
                        </a:rPr>
                        <a:t>Positive baseline without smoothing; diagnose minimum residual.</a:t>
                      </a:r>
                    </a:p>
                  </a:txBody>
                  <a:tcPr>
                    <a:solidFill>
                      <a:srgbClr val="081522"/>
                    </a:solidFill>
                  </a:tcPr>
                </a:tc>
                <a:tc>
                  <a:txBody>
                    <a:bodyPr/>
                    <a:lstStyle/>
                    <a:p>
                      <a:r>
                        <a:rPr sz="1575" b="0">
                          <a:solidFill>
                            <a:srgbClr val="EAF3F4"/>
                          </a:solidFill>
                          <a:latin typeface="Segoe UI"/>
                          <a:ea typeface="Segoe UI"/>
                          <a:cs typeface="Segoe UI"/>
                        </a:rPr>
                        <a:t>SciPy NNLS / active-set NNLS; explicit dictionary</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Tikhonov</a:t>
                      </a:r>
                    </a:p>
                  </a:txBody>
                  <a:tcPr>
                    <a:solidFill>
                      <a:srgbClr val="081522"/>
                    </a:solidFill>
                  </a:tcPr>
                </a:tc>
                <a:tc>
                  <a:txBody>
                    <a:bodyPr/>
                    <a:lstStyle/>
                    <a:p>
                      <a:r>
                        <a:rPr sz="1575" b="0">
                          <a:solidFill>
                            <a:srgbClr val="EAF3F4"/>
                          </a:solidFill>
                          <a:latin typeface="Segoe UI"/>
                          <a:ea typeface="Segoe UI"/>
                          <a:cs typeface="Segoe UI"/>
                        </a:rPr>
                        <a:t>Continuous distributions with controlled smoothness; polymers/polydispersity.</a:t>
                      </a:r>
                    </a:p>
                  </a:txBody>
                  <a:tcPr>
                    <a:solidFill>
                      <a:srgbClr val="081522"/>
                    </a:solidFill>
                  </a:tcPr>
                </a:tc>
                <a:tc>
                  <a:txBody>
                    <a:bodyPr/>
                    <a:lstStyle/>
                    <a:p>
                      <a:r>
                        <a:rPr sz="1575" b="0">
                          <a:solidFill>
                            <a:srgbClr val="EAF3F4"/>
                          </a:solidFill>
                          <a:latin typeface="Segoe UI"/>
                          <a:ea typeface="Segoe UI"/>
                          <a:cs typeface="Segoe UI"/>
                        </a:rPr>
                        <a:t>Fixed λ; check penalty order and grid scaling.</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FLINT quadratic objective</a:t>
                      </a:r>
                    </a:p>
                  </a:txBody>
                  <a:tcPr>
                    <a:solidFill>
                      <a:srgbClr val="081522"/>
                    </a:solidFill>
                  </a:tcPr>
                </a:tc>
                <a:tc>
                  <a:txBody>
                    <a:bodyPr/>
                    <a:lstStyle/>
                    <a:p>
                      <a:r>
                        <a:rPr sz="1575" b="0">
                          <a:solidFill>
                            <a:srgbClr val="EAF3F4"/>
                          </a:solidFill>
                          <a:latin typeface="Segoe UI"/>
                          <a:ea typeface="Segoe UI"/>
                          <a:cs typeface="Segoe UI"/>
                        </a:rPr>
                        <a:t>Positive L2 objective for stable inversion; this library uses NNLS.</a:t>
                      </a:r>
                    </a:p>
                  </a:txBody>
                  <a:tcPr>
                    <a:solidFill>
                      <a:srgbClr val="081522"/>
                    </a:solidFill>
                  </a:tcPr>
                </a:tc>
                <a:tc>
                  <a:txBody>
                    <a:bodyPr/>
                    <a:lstStyle/>
                    <a:p>
                      <a:r>
                        <a:rPr sz="1575" b="0">
                          <a:solidFill>
                            <a:srgbClr val="EAF3F4"/>
                          </a:solidFill>
                          <a:latin typeface="Segoe UI"/>
                          <a:ea typeface="Segoe UI"/>
                          <a:cs typeface="Segoe UI"/>
                        </a:rPr>
                        <a:t>Same positive L2 objective; NNLS engine, not FLINT original iteration</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GNAT ILT NNLS</a:t>
                      </a:r>
                    </a:p>
                  </a:txBody>
                  <a:tcPr>
                    <a:solidFill>
                      <a:srgbClr val="081522"/>
                    </a:solidFill>
                  </a:tcPr>
                </a:tc>
                <a:tc>
                  <a:txBody>
                    <a:bodyPr/>
                    <a:lstStyle/>
                    <a:p>
                      <a:r>
                        <a:rPr sz="1575" b="0">
                          <a:solidFill>
                            <a:srgbClr val="EAF3F4"/>
                          </a:solidFill>
                          <a:latin typeface="Segoe UI"/>
                          <a:ea typeface="Segoe UI"/>
                          <a:cs typeface="Segoe UI"/>
                        </a:rPr>
                        <a:t>Compare GNAT positive ILT branch at a manual lambda.</a:t>
                      </a:r>
                    </a:p>
                  </a:txBody>
                  <a:tcPr>
                    <a:solidFill>
                      <a:srgbClr val="081522"/>
                    </a:solidFill>
                  </a:tcPr>
                </a:tc>
                <a:tc>
                  <a:txBody>
                    <a:bodyPr/>
                    <a:lstStyle/>
                    <a:p>
                      <a:r>
                        <a:rPr sz="1575" b="0">
                          <a:solidFill>
                            <a:srgbClr val="EAF3F4"/>
                          </a:solidFill>
                          <a:latin typeface="Segoe UI"/>
                          <a:ea typeface="Segoe UI"/>
                          <a:cs typeface="Segoe UI"/>
                        </a:rPr>
                        <a:t>Manual lambda squared; excludes GNAT GCV/L-curve/UI peak picking</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TRAIn-style trust region</a:t>
                      </a:r>
                    </a:p>
                  </a:txBody>
                  <a:tcPr>
                    <a:solidFill>
                      <a:srgbClr val="081522"/>
                    </a:solidFill>
                  </a:tcPr>
                </a:tc>
                <a:tc>
                  <a:txBody>
                    <a:bodyPr/>
                    <a:lstStyle/>
                    <a:p>
                      <a:r>
                        <a:rPr sz="1575" b="0">
                          <a:solidFill>
                            <a:srgbClr val="EAF3F4"/>
                          </a:solidFill>
                          <a:latin typeface="Segoe UI"/>
                          <a:ea typeface="Segoe UI"/>
                          <a:cs typeface="Segoe UI"/>
                        </a:rPr>
                        <a:t>Iterative positive trust-region inversion; control its stopping criterion.</a:t>
                      </a:r>
                    </a:p>
                  </a:txBody>
                  <a:tcPr>
                    <a:solidFill>
                      <a:srgbClr val="081522"/>
                    </a:solidFill>
                  </a:tcPr>
                </a:tc>
                <a:tc>
                  <a:txBody>
                    <a:bodyPr/>
                    <a:lstStyle/>
                    <a:p>
                      <a:r>
                        <a:rPr sz="1575" b="0">
                          <a:solidFill>
                            <a:srgbClr val="EAF3F4"/>
                          </a:solidFill>
                          <a:latin typeface="Segoe UI"/>
                          <a:ea typeface="Segoe UI"/>
                          <a:cs typeface="Segoe UI"/>
                        </a:rPr>
                        <a:t>Prime uses termFac × NNLS residual; do not interchange it with noise radii.</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203">
            <a:extLst>
              <a:ext uri="{FF2B5EF4-FFF2-40B4-BE49-F238E27FC236}">
                <a16:creationId xmlns:a16="http://schemas.microsoft.com/office/drawing/2014/main" id="{274DDC04-7DD1-4C45-ACCF-ECBCE65A1E1A}"/>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39147468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CC897BC6-B849-42E8-AD20-B8A37975B384}"/>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27</a:t>
            </a:r>
          </a:p>
        </p:txBody>
      </p:sp>
      <p:sp>
        <p:nvSpPr>
          <p:cNvPr id="2" name="slide_title">
            <a:extLst>
              <a:ext uri="{FF2B5EF4-FFF2-40B4-BE49-F238E27FC236}">
                <a16:creationId xmlns:a16="http://schemas.microsoft.com/office/drawing/2014/main" id="{3D0267D9-F5A6-4B7E-B913-35DAD73FC0FA}"/>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Prime · local ILT 2/4</a:t>
            </a:r>
          </a:p>
        </p:txBody>
      </p:sp>
      <p:graphicFrame>
        <p:nvGraphicFramePr>
          <p:cNvPr id="3" name="Tabla 2">
            <a:extLst>
              <a:ext uri="{FF2B5EF4-FFF2-40B4-BE49-F238E27FC236}">
                <a16:creationId xmlns:a16="http://schemas.microsoft.com/office/drawing/2014/main" id="{939EB042-DA14-47DC-B94A-0A75E25ABBA0}"/>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ITAMeD positive FISTA</a:t>
                      </a:r>
                    </a:p>
                  </a:txBody>
                  <a:tcPr>
                    <a:solidFill>
                      <a:srgbClr val="081522"/>
                    </a:solidFill>
                  </a:tcPr>
                </a:tc>
                <a:tc>
                  <a:txBody>
                    <a:bodyPr/>
                    <a:lstStyle/>
                    <a:p>
                      <a:r>
                        <a:rPr sz="1575" b="0">
                          <a:solidFill>
                            <a:srgbClr val="EAF3F4"/>
                          </a:solidFill>
                          <a:latin typeface="Segoe UI"/>
                          <a:ea typeface="Segoe UI"/>
                          <a:cs typeface="Segoe UI"/>
                        </a:rPr>
                        <a:t>Sparse distributions with few peaks through L1 and FISTA.</a:t>
                      </a:r>
                    </a:p>
                  </a:txBody>
                  <a:tcPr>
                    <a:solidFill>
                      <a:srgbClr val="081522"/>
                    </a:solidFill>
                  </a:tcPr>
                </a:tc>
                <a:tc>
                  <a:txBody>
                    <a:bodyPr/>
                    <a:lstStyle/>
                    <a:p>
                      <a:r>
                        <a:rPr sz="1575" b="0">
                          <a:solidFill>
                            <a:srgbClr val="EAF3F4"/>
                          </a:solidFill>
                          <a:latin typeface="Segoe UI"/>
                          <a:ea typeface="Segoe UI"/>
                          <a:cs typeface="Segoe UI"/>
                        </a:rPr>
                        <a:t>Fixed grid; check objective scaling before comparing lambda.</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Positive smooth sparse inversion</a:t>
                      </a:r>
                    </a:p>
                  </a:txBody>
                  <a:tcPr>
                    <a:solidFill>
                      <a:srgbClr val="081522"/>
                    </a:solidFill>
                  </a:tcPr>
                </a:tc>
                <a:tc>
                  <a:txBody>
                    <a:bodyPr/>
                    <a:lstStyle/>
                    <a:p>
                      <a:r>
                        <a:rPr sz="1575" b="0">
                          <a:solidFill>
                            <a:srgbClr val="EAF3F4"/>
                          </a:solidFill>
                          <a:latin typeface="Segoe UI"/>
                          <a:ea typeface="Segoe UI"/>
                          <a:cs typeface="Segoe UI"/>
                        </a:rPr>
                        <a:t>Compromise between few peaks and smoothness.</a:t>
                      </a:r>
                    </a:p>
                  </a:txBody>
                  <a:tcPr>
                    <a:solidFill>
                      <a:srgbClr val="081522"/>
                    </a:solidFill>
                  </a:tcPr>
                </a:tc>
                <a:tc>
                  <a:txBody>
                    <a:bodyPr/>
                    <a:lstStyle/>
                    <a:p>
                      <a:r>
                        <a:rPr sz="1575" b="0">
                          <a:solidFill>
                            <a:srgbClr val="EAF3F4"/>
                          </a:solidFill>
                          <a:latin typeface="Segoe UI"/>
                          <a:ea typeface="Segoe UI"/>
                          <a:cs typeface="Segoe UI"/>
                        </a:rPr>
                        <a:t>L1 plus finite-difference quadratic</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Positive maximum entropy</a:t>
                      </a:r>
                    </a:p>
                  </a:txBody>
                  <a:tcPr>
                    <a:solidFill>
                      <a:srgbClr val="081522"/>
                    </a:solidFill>
                  </a:tcPr>
                </a:tc>
                <a:tc>
                  <a:txBody>
                    <a:bodyPr/>
                    <a:lstStyle/>
                    <a:p>
                      <a:r>
                        <a:rPr sz="1575" b="0">
                          <a:solidFill>
                            <a:srgbClr val="EAF3F4"/>
                          </a:solidFill>
                          <a:latin typeface="Segoe UI"/>
                          <a:ea typeface="Segoe UI"/>
                          <a:cs typeface="Segoe UI"/>
                        </a:rPr>
                        <a:t>Positive distributions regularized by entropy relative to a reference.</a:t>
                      </a:r>
                    </a:p>
                  </a:txBody>
                  <a:tcPr>
                    <a:solidFill>
                      <a:srgbClr val="081522"/>
                    </a:solidFill>
                  </a:tcPr>
                </a:tc>
                <a:tc>
                  <a:txBody>
                    <a:bodyPr/>
                    <a:lstStyle/>
                    <a:p>
                      <a:r>
                        <a:rPr sz="1575" b="0">
                          <a:solidFill>
                            <a:srgbClr val="EAF3F4"/>
                          </a:solidFill>
                          <a:latin typeface="Segoe UI"/>
                          <a:ea typeface="Segoe UI"/>
                          <a:cs typeface="Segoe UI"/>
                        </a:rPr>
                        <a:t>Reference depends on data; check convergence and implementation.</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PALMA entropy/L1 PPXA+</a:t>
                      </a:r>
                    </a:p>
                  </a:txBody>
                  <a:tcPr>
                    <a:solidFill>
                      <a:srgbClr val="081522"/>
                    </a:solidFill>
                  </a:tcPr>
                </a:tc>
                <a:tc>
                  <a:txBody>
                    <a:bodyPr/>
                    <a:lstStyle/>
                    <a:p>
                      <a:r>
                        <a:rPr sz="1575" b="0">
                          <a:solidFill>
                            <a:srgbClr val="EAF3F4"/>
                          </a:solidFill>
                          <a:latin typeface="Segoe UI"/>
                          <a:ea typeface="Segoe UI"/>
                          <a:cs typeface="Segoe UI"/>
                        </a:rPr>
                        <a:t>Combine peaks and broad distributions with entropy/L1 and a noise radius.</a:t>
                      </a:r>
                    </a:p>
                  </a:txBody>
                  <a:tcPr>
                    <a:solidFill>
                      <a:srgbClr val="081522"/>
                    </a:solidFill>
                  </a:tcPr>
                </a:tc>
                <a:tc>
                  <a:txBody>
                    <a:bodyPr/>
                    <a:lstStyle/>
                    <a:p>
                      <a:r>
                        <a:rPr sz="1575" b="0">
                          <a:solidFill>
                            <a:srgbClr val="EAF3F4"/>
                          </a:solidFill>
                          <a:latin typeface="Segoe UI"/>
                          <a:ea typeface="Segoe UI"/>
                          <a:cs typeface="Segoe UI"/>
                        </a:rPr>
                        <a:t>First observation must be positive; verify final feasibility.</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Local curvature reweighted Tikhonov</a:t>
                      </a:r>
                    </a:p>
                  </a:txBody>
                  <a:tcPr>
                    <a:solidFill>
                      <a:srgbClr val="081522"/>
                    </a:solidFill>
                  </a:tcPr>
                </a:tc>
                <a:tc>
                  <a:txBody>
                    <a:bodyPr/>
                    <a:lstStyle/>
                    <a:p>
                      <a:r>
                        <a:rPr sz="1575" b="0">
                          <a:solidFill>
                            <a:srgbClr val="EAF3F4"/>
                          </a:solidFill>
                          <a:latin typeface="Segoe UI"/>
                          <a:ea typeface="Segoe UI"/>
                          <a:cs typeface="Segoe UI"/>
                        </a:rPr>
                        <a:t>Adapt local smoothing to curvature; compare sensitivity.</a:t>
                      </a:r>
                    </a:p>
                  </a:txBody>
                  <a:tcPr>
                    <a:solidFill>
                      <a:srgbClr val="081522"/>
                    </a:solidFill>
                  </a:tcPr>
                </a:tc>
                <a:tc>
                  <a:txBody>
                    <a:bodyPr/>
                    <a:lstStyle/>
                    <a:p>
                      <a:r>
                        <a:rPr sz="1575" b="0">
                          <a:solidFill>
                            <a:srgbClr val="EAF3F4"/>
                          </a:solidFill>
                          <a:latin typeface="Segoe UI"/>
                          <a:ea typeface="Segoe UI"/>
                          <a:cs typeface="Segoe UI"/>
                        </a:rPr>
                        <a:t>Not authentic UPEN2D/MUPEN2D</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204">
            <a:extLst>
              <a:ext uri="{FF2B5EF4-FFF2-40B4-BE49-F238E27FC236}">
                <a16:creationId xmlns:a16="http://schemas.microsoft.com/office/drawing/2014/main" id="{4836311D-B182-4C0B-988E-1361DD08F3D8}"/>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25532902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FB3720C2-1D5E-4E54-B3AE-4ED9943DC8FA}"/>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28</a:t>
            </a:r>
          </a:p>
        </p:txBody>
      </p:sp>
      <p:sp>
        <p:nvSpPr>
          <p:cNvPr id="2" name="slide_title">
            <a:extLst>
              <a:ext uri="{FF2B5EF4-FFF2-40B4-BE49-F238E27FC236}">
                <a16:creationId xmlns:a16="http://schemas.microsoft.com/office/drawing/2014/main" id="{9CAE1E43-77FC-4CAC-9BFC-C3805681A2CA}"/>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Prime · local ILT 3/4</a:t>
            </a:r>
          </a:p>
        </p:txBody>
      </p:sp>
      <p:graphicFrame>
        <p:nvGraphicFramePr>
          <p:cNvPr id="3" name="Tabla 2">
            <a:extLst>
              <a:ext uri="{FF2B5EF4-FFF2-40B4-BE49-F238E27FC236}">
                <a16:creationId xmlns:a16="http://schemas.microsoft.com/office/drawing/2014/main" id="{109FA42D-C6FC-4092-94F7-4FF4E7FD4632}"/>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BRD dual positive L2</a:t>
                      </a:r>
                    </a:p>
                  </a:txBody>
                  <a:tcPr>
                    <a:solidFill>
                      <a:srgbClr val="081522"/>
                    </a:solidFill>
                  </a:tcPr>
                </a:tc>
                <a:tc>
                  <a:txBody>
                    <a:bodyPr/>
                    <a:lstStyle/>
                    <a:p>
                      <a:r>
                        <a:rPr sz="1575" b="0">
                          <a:solidFill>
                            <a:srgbClr val="EAF3F4"/>
                          </a:solidFill>
                          <a:latin typeface="Segoe UI"/>
                          <a:ea typeface="Segoe UI"/>
                          <a:cs typeface="Segoe UI"/>
                        </a:rPr>
                        <a:t>Solve positive L2 via a dual formulation; explicit lambda.</a:t>
                      </a:r>
                    </a:p>
                  </a:txBody>
                  <a:tcPr>
                    <a:solidFill>
                      <a:srgbClr val="081522"/>
                    </a:solidFill>
                  </a:tcPr>
                </a:tc>
                <a:tc>
                  <a:txBody>
                    <a:bodyPr/>
                    <a:lstStyle/>
                    <a:p>
                      <a:r>
                        <a:rPr sz="1575" b="0">
                          <a:solidFill>
                            <a:srgbClr val="EAF3F4"/>
                          </a:solidFill>
                          <a:latin typeface="Segoe UI"/>
                          <a:ea typeface="Segoe UI"/>
                          <a:cs typeface="Segoe UI"/>
                        </a:rPr>
                        <a:t>Fixed alpha; no OSILAP automatic selection or compression.</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Chambolle-Pock positive L1</a:t>
                      </a:r>
                    </a:p>
                  </a:txBody>
                  <a:tcPr>
                    <a:solidFill>
                      <a:srgbClr val="081522"/>
                    </a:solidFill>
                  </a:tcPr>
                </a:tc>
                <a:tc>
                  <a:txBody>
                    <a:bodyPr/>
                    <a:lstStyle/>
                    <a:p>
                      <a:r>
                        <a:rPr sz="1575" b="0">
                          <a:solidFill>
                            <a:srgbClr val="EAF3F4"/>
                          </a:solidFill>
                          <a:latin typeface="Segoe UI"/>
                          <a:ea typeface="Segoe UI"/>
                          <a:cs typeface="Segoe UI"/>
                        </a:rPr>
                        <a:t>Solve sparse L1 inversion by primal-dual splitting.</a:t>
                      </a:r>
                    </a:p>
                  </a:txBody>
                  <a:tcPr>
                    <a:solidFill>
                      <a:srgbClr val="081522"/>
                    </a:solidFill>
                  </a:tcPr>
                </a:tc>
                <a:tc>
                  <a:txBody>
                    <a:bodyPr/>
                    <a:lstStyle/>
                    <a:p>
                      <a:r>
                        <a:rPr sz="1575" b="0">
                          <a:solidFill>
                            <a:srgbClr val="EAF3F4"/>
                          </a:solidFill>
                          <a:latin typeface="Segoe UI"/>
                          <a:ea typeface="Segoe UI"/>
                          <a:cs typeface="Segoe UI"/>
                        </a:rPr>
                        <a:t>Not PDHGM2; inspect the projected-gradient residual.</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Regularized block Kaczmarz</a:t>
                      </a:r>
                    </a:p>
                  </a:txBody>
                  <a:tcPr>
                    <a:solidFill>
                      <a:srgbClr val="081522"/>
                    </a:solidFill>
                  </a:tcPr>
                </a:tc>
                <a:tc>
                  <a:txBody>
                    <a:bodyPr/>
                    <a:lstStyle/>
                    <a:p>
                      <a:r>
                        <a:rPr sz="1575" b="0">
                          <a:solidFill>
                            <a:srgbClr val="EAF3F4"/>
                          </a:solidFill>
                          <a:latin typeface="Segoe UI"/>
                          <a:ea typeface="Segoe UI"/>
                          <a:cs typeface="Segoe UI"/>
                        </a:rPr>
                        <a:t>Solve regularized inversion using row/block updates.</a:t>
                      </a:r>
                    </a:p>
                  </a:txBody>
                  <a:tcPr>
                    <a:solidFill>
                      <a:srgbClr val="081522"/>
                    </a:solidFill>
                  </a:tcPr>
                </a:tc>
                <a:tc>
                  <a:txBody>
                    <a:bodyPr/>
                    <a:lstStyle/>
                    <a:p>
                      <a:r>
                        <a:rPr sz="1575" b="0">
                          <a:solidFill>
                            <a:srgbClr val="EAF3F4"/>
                          </a:solidFill>
                          <a:latin typeface="Segoe UI"/>
                          <a:ea typeface="Segoe UI"/>
                          <a:cs typeface="Segoe UI"/>
                        </a:rPr>
                        <a:t>Row order matters; the grid adapter uses internal defaults.</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Positive L1-LS</a:t>
                      </a:r>
                    </a:p>
                  </a:txBody>
                  <a:tcPr>
                    <a:solidFill>
                      <a:srgbClr val="081522"/>
                    </a:solidFill>
                  </a:tcPr>
                </a:tc>
                <a:tc>
                  <a:txBody>
                    <a:bodyPr/>
                    <a:lstStyle/>
                    <a:p>
                      <a:r>
                        <a:rPr sz="1575" b="0">
                          <a:solidFill>
                            <a:srgbClr val="EAF3F4"/>
                          </a:solidFill>
                          <a:latin typeface="Segoe UI"/>
                          <a:ea typeface="Segoe UI"/>
                          <a:cs typeface="Segoe UI"/>
                        </a:rPr>
                        <a:t>Positive L1 solution by interior point; optimization reference.</a:t>
                      </a:r>
                    </a:p>
                  </a:txBody>
                  <a:tcPr>
                    <a:solidFill>
                      <a:srgbClr val="081522"/>
                    </a:solidFill>
                  </a:tcPr>
                </a:tc>
                <a:tc>
                  <a:txBody>
                    <a:bodyPr/>
                    <a:lstStyle/>
                    <a:p>
                      <a:r>
                        <a:rPr sz="1575" b="0">
                          <a:solidFill>
                            <a:srgbClr val="EAF3F4"/>
                          </a:solidFill>
                          <a:latin typeface="Segoe UI"/>
                          <a:ea typeface="Segoe UI"/>
                          <a:cs typeface="Segoe UI"/>
                        </a:rPr>
                        <a:t>Fixed lambda and dense Newton; not the original large-scale PCG.</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FLINT-FISTA</a:t>
                      </a:r>
                    </a:p>
                  </a:txBody>
                  <a:tcPr>
                    <a:solidFill>
                      <a:srgbClr val="081522"/>
                    </a:solidFill>
                  </a:tcPr>
                </a:tc>
                <a:tc>
                  <a:txBody>
                    <a:bodyPr/>
                    <a:lstStyle/>
                    <a:p>
                      <a:r>
                        <a:rPr sz="1575" b="0">
                          <a:solidFill>
                            <a:srgbClr val="EAF3F4"/>
                          </a:solidFill>
                          <a:latin typeface="Segoe UI"/>
                          <a:ea typeface="Segoe UI"/>
                          <a:cs typeface="Segoe UI"/>
                        </a:rPr>
                        <a:t>Iteratively solve the positive FLINT quadratic objective.</a:t>
                      </a:r>
                    </a:p>
                  </a:txBody>
                  <a:tcPr>
                    <a:solidFill>
                      <a:srgbClr val="081522"/>
                    </a:solidFill>
                  </a:tcPr>
                </a:tc>
                <a:tc>
                  <a:txBody>
                    <a:bodyPr/>
                    <a:lstStyle/>
                    <a:p>
                      <a:r>
                        <a:rPr sz="1575" b="0">
                          <a:solidFill>
                            <a:srgbClr val="EAF3F4"/>
                          </a:solidFill>
                          <a:latin typeface="Segoe UI"/>
                          <a:ea typeface="Segoe UI"/>
                          <a:cs typeface="Segoe UI"/>
                        </a:rPr>
                        <a:t>Step and stopping differ from upstream; check convergence.</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205">
            <a:extLst>
              <a:ext uri="{FF2B5EF4-FFF2-40B4-BE49-F238E27FC236}">
                <a16:creationId xmlns:a16="http://schemas.microsoft.com/office/drawing/2014/main" id="{38F6DFA6-8004-4359-A776-D21E6203355A}"/>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207411655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3885F1D3-1739-4BFB-AA47-C6EDC05BFB71}"/>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29</a:t>
            </a:r>
          </a:p>
        </p:txBody>
      </p:sp>
      <p:sp>
        <p:nvSpPr>
          <p:cNvPr id="2" name="slide_title">
            <a:extLst>
              <a:ext uri="{FF2B5EF4-FFF2-40B4-BE49-F238E27FC236}">
                <a16:creationId xmlns:a16="http://schemas.microsoft.com/office/drawing/2014/main" id="{38C1C31D-821F-4027-9C27-62D646FA3EC8}"/>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Prime · shared structure</a:t>
            </a:r>
          </a:p>
        </p:txBody>
      </p:sp>
      <p:graphicFrame>
        <p:nvGraphicFramePr>
          <p:cNvPr id="3" name="Tabla 2">
            <a:extLst>
              <a:ext uri="{FF2B5EF4-FFF2-40B4-BE49-F238E27FC236}">
                <a16:creationId xmlns:a16="http://schemas.microsoft.com/office/drawing/2014/main" id="{6B502FB0-32A5-43F3-AD30-DA7A5E234D22}"/>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819150">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819150">
                <a:tc>
                  <a:txBody>
                    <a:bodyPr/>
                    <a:lstStyle/>
                    <a:p>
                      <a:r>
                        <a:rPr sz="1575" b="0">
                          <a:solidFill>
                            <a:srgbClr val="EAF3F4"/>
                          </a:solidFill>
                          <a:latin typeface="Segoe UI"/>
                          <a:ea typeface="Segoe UI"/>
                          <a:cs typeface="Segoe UI"/>
                        </a:rPr>
                        <a:t>Positive row-group sparse inversion</a:t>
                      </a:r>
                    </a:p>
                  </a:txBody>
                  <a:tcPr>
                    <a:solidFill>
                      <a:srgbClr val="081522"/>
                    </a:solidFill>
                  </a:tcPr>
                </a:tc>
                <a:tc>
                  <a:txBody>
                    <a:bodyPr/>
                    <a:lstStyle/>
                    <a:p>
                      <a:r>
                        <a:rPr sz="1575" b="0">
                          <a:solidFill>
                            <a:srgbClr val="EAF3F4"/>
                          </a:solidFill>
                          <a:latin typeface="Segoe UI"/>
                          <a:ea typeface="Segoe UI"/>
                          <a:cs typeface="Segoe UI"/>
                        </a:rPr>
                        <a:t>Shared D support across multiple frequencies.</a:t>
                      </a:r>
                    </a:p>
                  </a:txBody>
                  <a:tcPr>
                    <a:solidFill>
                      <a:srgbClr val="081522"/>
                    </a:solidFill>
                  </a:tcPr>
                </a:tc>
                <a:tc>
                  <a:txBody>
                    <a:bodyPr/>
                    <a:lstStyle/>
                    <a:p>
                      <a:r>
                        <a:rPr sz="1575" b="0">
                          <a:solidFill>
                            <a:srgbClr val="EAF3F4"/>
                          </a:solidFill>
                          <a:latin typeface="Segoe UI"/>
                          <a:ea typeface="Segoe UI"/>
                          <a:cs typeface="Segoe UI"/>
                        </a:rPr>
                        <a:t>Shared support is not molecular identity; one column reduces to L1.</a:t>
                      </a:r>
                    </a:p>
                  </a:txBody>
                  <a:tcPr>
                    <a:solidFill>
                      <a:srgbClr val="081522"/>
                    </a:solidFill>
                  </a:tcPr>
                </a:tc>
                <a:extLst>
                  <a:ext uri="{0D108BD9-81ED-4DB2-BD59-A6C34878D82A}">
                    <a16:rowId xmlns:a16="http://schemas.microsoft.com/office/drawing/2014/main" val="10001"/>
                  </a:ext>
                </a:extLst>
              </a:tr>
              <a:tr h="819150">
                <a:tc>
                  <a:txBody>
                    <a:bodyPr/>
                    <a:lstStyle/>
                    <a:p>
                      <a:r>
                        <a:rPr sz="1575" b="0">
                          <a:solidFill>
                            <a:srgbClr val="EAF3F4"/>
                          </a:solidFill>
                          <a:latin typeface="Segoe UI"/>
                          <a:ea typeface="Segoe UI"/>
                          <a:cs typeface="Segoe UI"/>
                        </a:rPr>
                        <a:t>Nonnegative sparse nuclear regularization</a:t>
                      </a:r>
                    </a:p>
                  </a:txBody>
                  <a:tcPr>
                    <a:solidFill>
                      <a:srgbClr val="081522"/>
                    </a:solidFill>
                  </a:tcPr>
                </a:tc>
                <a:tc>
                  <a:txBody>
                    <a:bodyPr/>
                    <a:lstStyle/>
                    <a:p>
                      <a:r>
                        <a:rPr sz="1575" b="0">
                          <a:solidFill>
                            <a:srgbClr val="EAF3F4"/>
                          </a:solidFill>
                          <a:latin typeface="Segoe UI"/>
                          <a:ea typeface="Segoe UI"/>
                          <a:cs typeface="Segoe UI"/>
                        </a:rPr>
                        <a:t>Joint map with few profiles and sparse significant coefficients.</a:t>
                      </a:r>
                    </a:p>
                  </a:txBody>
                  <a:tcPr>
                    <a:solidFill>
                      <a:srgbClr val="081522"/>
                    </a:solidFill>
                  </a:tcPr>
                </a:tc>
                <a:tc>
                  <a:txBody>
                    <a:bodyPr/>
                    <a:lstStyle/>
                    <a:p>
                      <a:r>
                        <a:rPr sz="1575" b="0">
                          <a:solidFill>
                            <a:srgbClr val="EAF3F4"/>
                          </a:solidFill>
                          <a:latin typeface="Segoe UI"/>
                          <a:ea typeface="Segoe UI"/>
                          <a:cs typeface="Segoe UI"/>
                        </a:rPr>
                        <a:t>ADMM; not branded ADSpLRU/LRSpILT</a:t>
                      </a:r>
                    </a:p>
                  </a:txBody>
                  <a:tcPr>
                    <a:solidFill>
                      <a:srgbClr val="081522"/>
                    </a:solidFill>
                  </a:tcPr>
                </a:tc>
                <a:extLst>
                  <a:ext uri="{0D108BD9-81ED-4DB2-BD59-A6C34878D82A}">
                    <a16:rowId xmlns:a16="http://schemas.microsoft.com/office/drawing/2014/main" val="10002"/>
                  </a:ext>
                </a:extLst>
              </a:tr>
              <a:tr h="819150">
                <a:tc>
                  <a:txBody>
                    <a:bodyPr/>
                    <a:lstStyle/>
                    <a:p>
                      <a:r>
                        <a:rPr sz="1575" b="0">
                          <a:solidFill>
                            <a:srgbClr val="EAF3F4"/>
                          </a:solidFill>
                          <a:latin typeface="Segoe UI"/>
                          <a:ea typeface="Segoe UI"/>
                          <a:cs typeface="Segoe UI"/>
                        </a:rPr>
                        <a:t>Reweighted nuclear heuristic</a:t>
                      </a:r>
                    </a:p>
                  </a:txBody>
                  <a:tcPr>
                    <a:solidFill>
                      <a:srgbClr val="081522"/>
                    </a:solidFill>
                  </a:tcPr>
                </a:tc>
                <a:tc>
                  <a:txBody>
                    <a:bodyPr/>
                    <a:lstStyle/>
                    <a:p>
                      <a:r>
                        <a:rPr sz="1575" b="0">
                          <a:solidFill>
                            <a:srgbClr val="EAF3F4"/>
                          </a:solidFill>
                          <a:latin typeface="Segoe UI"/>
                          <a:ea typeface="Segoe UI"/>
                          <a:cs typeface="Segoe UI"/>
                        </a:rPr>
                        <a:t>Strengthen rank/support selection through adaptive weights.</a:t>
                      </a:r>
                    </a:p>
                  </a:txBody>
                  <a:tcPr>
                    <a:solidFill>
                      <a:srgbClr val="081522"/>
                    </a:solidFill>
                  </a:tcPr>
                </a:tc>
                <a:tc>
                  <a:txBody>
                    <a:bodyPr/>
                    <a:lstStyle/>
                    <a:p>
                      <a:r>
                        <a:rPr sz="1575" b="0">
                          <a:solidFill>
                            <a:srgbClr val="EAF3F4"/>
                          </a:solidFill>
                          <a:latin typeface="Segoe UI"/>
                          <a:ea typeface="Segoe UI"/>
                          <a:cs typeface="Segoe UI"/>
                        </a:rPr>
                        <a:t>Changing weights; no fixed convex objective certificate</a:t>
                      </a:r>
                    </a:p>
                  </a:txBody>
                  <a:tcPr>
                    <a:solidFill>
                      <a:srgbClr val="081522"/>
                    </a:solidFill>
                  </a:tcPr>
                </a:tc>
                <a:extLst>
                  <a:ext uri="{0D108BD9-81ED-4DB2-BD59-A6C34878D82A}">
                    <a16:rowId xmlns:a16="http://schemas.microsoft.com/office/drawing/2014/main" val="10003"/>
                  </a:ext>
                </a:extLst>
              </a:tr>
              <a:tr h="819150">
                <a:tc>
                  <a:txBody>
                    <a:bodyPr/>
                    <a:lstStyle/>
                    <a:p>
                      <a:r>
                        <a:rPr sz="1575" b="0">
                          <a:solidFill>
                            <a:srgbClr val="EAF3F4"/>
                          </a:solidFill>
                          <a:latin typeface="Segoe UI"/>
                          <a:ea typeface="Segoe UI"/>
                          <a:cs typeface="Segoe UI"/>
                        </a:rPr>
                        <a:t>Orthogonal matching pursuit dictionary adapter</a:t>
                      </a:r>
                    </a:p>
                  </a:txBody>
                  <a:tcPr>
                    <a:solidFill>
                      <a:srgbClr val="081522"/>
                    </a:solidFill>
                  </a:tcPr>
                </a:tc>
                <a:tc>
                  <a:txBody>
                    <a:bodyPr/>
                    <a:lstStyle/>
                    <a:p>
                      <a:r>
                        <a:rPr sz="1575" b="0">
                          <a:solidFill>
                            <a:srgbClr val="EAF3F4"/>
                          </a:solidFill>
                          <a:latin typeface="Segoe UI"/>
                          <a:ea typeface="Segoe UI"/>
                          <a:cs typeface="Segoe UI"/>
                        </a:rPr>
                        <a:t>Select few D atoms from a dictionary; explicit support limit.</a:t>
                      </a:r>
                    </a:p>
                  </a:txBody>
                  <a:tcPr>
                    <a:solidFill>
                      <a:srgbClr val="081522"/>
                    </a:solidFill>
                  </a:tcPr>
                </a:tc>
                <a:tc>
                  <a:txBody>
                    <a:bodyPr/>
                    <a:lstStyle/>
                    <a:p>
                      <a:r>
                        <a:rPr sz="1575" b="0">
                          <a:solidFill>
                            <a:srgbClr val="EAF3F4"/>
                          </a:solidFill>
                          <a:latin typeface="Segoe UI"/>
                          <a:ea typeface="Segoe UI"/>
                          <a:cs typeface="Segoe UI"/>
                        </a:rPr>
                        <a:t>Column scaling affects selection; no automatic noise estimate.</a:t>
                      </a:r>
                    </a:p>
                  </a:txBody>
                  <a:tcPr>
                    <a:solidFill>
                      <a:srgbClr val="081522"/>
                    </a:solidFill>
                  </a:tcPr>
                </a:tc>
                <a:extLst>
                  <a:ext uri="{0D108BD9-81ED-4DB2-BD59-A6C34878D82A}">
                    <a16:rowId xmlns:a16="http://schemas.microsoft.com/office/drawing/2014/main" val="10004"/>
                  </a:ext>
                </a:extLst>
              </a:tr>
            </a:tbl>
          </a:graphicData>
        </a:graphic>
      </p:graphicFrame>
      <p:sp>
        <p:nvSpPr>
          <p:cNvPr id="4" name="text_206">
            <a:extLst>
              <a:ext uri="{FF2B5EF4-FFF2-40B4-BE49-F238E27FC236}">
                <a16:creationId xmlns:a16="http://schemas.microsoft.com/office/drawing/2014/main" id="{9103C614-235C-437E-B91E-6621CC642498}"/>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153089955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208233AD-24C0-4E34-8231-652F451A24E2}"/>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30</a:t>
            </a:r>
          </a:p>
        </p:txBody>
      </p:sp>
      <p:sp>
        <p:nvSpPr>
          <p:cNvPr id="2" name="slide_title">
            <a:extLst>
              <a:ext uri="{FF2B5EF4-FFF2-40B4-BE49-F238E27FC236}">
                <a16:creationId xmlns:a16="http://schemas.microsoft.com/office/drawing/2014/main" id="{4DC080BF-1CA0-4A48-ADB9-7008A5DD39BB}"/>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Prime · joint maps 1/2</a:t>
            </a:r>
          </a:p>
        </p:txBody>
      </p:sp>
      <p:graphicFrame>
        <p:nvGraphicFramePr>
          <p:cNvPr id="3" name="Tabla 2">
            <a:extLst>
              <a:ext uri="{FF2B5EF4-FFF2-40B4-BE49-F238E27FC236}">
                <a16:creationId xmlns:a16="http://schemas.microsoft.com/office/drawing/2014/main" id="{82DC011A-C8D2-4B35-9131-FC31F56D8E57}"/>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MF-NNLS</a:t>
                      </a:r>
                    </a:p>
                  </a:txBody>
                  <a:tcPr>
                    <a:solidFill>
                      <a:srgbClr val="081522"/>
                    </a:solidFill>
                  </a:tcPr>
                </a:tc>
                <a:tc>
                  <a:txBody>
                    <a:bodyPr/>
                    <a:lstStyle/>
                    <a:p>
                      <a:r>
                        <a:rPr sz="1575" b="0">
                          <a:solidFill>
                            <a:srgbClr val="EAF3F4"/>
                          </a:solidFill>
                          <a:latin typeface="Segoe UI"/>
                          <a:ea typeface="Segoe UI"/>
                          <a:cs typeface="Segoe UI"/>
                        </a:rPr>
                        <a:t>Joint distribution map with shared factors.</a:t>
                      </a:r>
                    </a:p>
                  </a:txBody>
                  <a:tcPr>
                    <a:solidFill>
                      <a:srgbClr val="081522"/>
                    </a:solidFill>
                  </a:tcPr>
                </a:tc>
                <a:tc>
                  <a:txBody>
                    <a:bodyPr/>
                    <a:lstStyle/>
                    <a:p>
                      <a:r>
                        <a:rPr sz="1575" b="0">
                          <a:solidFill>
                            <a:srgbClr val="EAF3F4"/>
                          </a:solidFill>
                          <a:latin typeface="Segoe UI"/>
                          <a:ea typeface="Segoe UI"/>
                          <a:cs typeface="Segoe UI"/>
                        </a:rPr>
                        <a:t>Predictive rank ≠ molecules; inspect lambdaS, lambdaA, bounds and residuals.</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TRAIn-MF</a:t>
                      </a:r>
                    </a:p>
                  </a:txBody>
                  <a:tcPr>
                    <a:solidFill>
                      <a:srgbClr val="081522"/>
                    </a:solidFill>
                  </a:tcPr>
                </a:tc>
                <a:tc>
                  <a:txBody>
                    <a:bodyPr/>
                    <a:lstStyle/>
                    <a:p>
                      <a:r>
                        <a:rPr sz="1575" b="0">
                          <a:solidFill>
                            <a:srgbClr val="EAF3F4"/>
                          </a:solidFill>
                          <a:latin typeface="Segoe UI"/>
                          <a:ea typeface="Segoe UI"/>
                          <a:cs typeface="Segoe UI"/>
                        </a:rPr>
                        <a:t>Joint model with signed attenuations; explicit legacy replay.</a:t>
                      </a:r>
                    </a:p>
                  </a:txBody>
                  <a:tcPr>
                    <a:solidFill>
                      <a:srgbClr val="081522"/>
                    </a:solidFill>
                  </a:tcPr>
                </a:tc>
                <a:tc>
                  <a:txBody>
                    <a:bodyPr/>
                    <a:lstStyle/>
                    <a:p>
                      <a:r>
                        <a:rPr sz="1575" b="0">
                          <a:solidFill>
                            <a:srgbClr val="EAF3F4"/>
                          </a:solidFill>
                          <a:latin typeface="Segoe UI"/>
                          <a:ea typeface="Segoe UI"/>
                          <a:cs typeface="Segoe UI"/>
                        </a:rPr>
                        <a:t>Historical identifier label does not describe the revised route. Not per-bin TRAIn.</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Per-bin TRAIn</a:t>
                      </a:r>
                    </a:p>
                  </a:txBody>
                  <a:tcPr>
                    <a:solidFill>
                      <a:srgbClr val="081522"/>
                    </a:solidFill>
                  </a:tcPr>
                </a:tc>
                <a:tc>
                  <a:txBody>
                    <a:bodyPr/>
                    <a:lstStyle/>
                    <a:p>
                      <a:r>
                        <a:rPr sz="1575" b="0">
                          <a:solidFill>
                            <a:srgbClr val="EAF3F4"/>
                          </a:solidFill>
                          <a:latin typeface="Segoe UI"/>
                          <a:ea typeface="Segoe UI"/>
                          <a:cs typeface="Segoe UI"/>
                        </a:rPr>
                        <a:t>Same local fit for every frequency in a region.</a:t>
                      </a:r>
                    </a:p>
                  </a:txBody>
                  <a:tcPr>
                    <a:solidFill>
                      <a:srgbClr val="081522"/>
                    </a:solidFill>
                  </a:tcPr>
                </a:tc>
                <a:tc>
                  <a:txBody>
                    <a:bodyPr/>
                    <a:lstStyle/>
                    <a:p>
                      <a:r>
                        <a:rPr sz="1575" b="0">
                          <a:solidFill>
                            <a:srgbClr val="EAF3F4"/>
                          </a:solidFill>
                          <a:latin typeface="Segoe UI"/>
                          <a:ea typeface="Segoe UI"/>
                          <a:cs typeface="Segoe UI"/>
                        </a:rPr>
                        <a:t>Does not impose inter-frequency correlations or shared factors.</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RAI-S</a:t>
                      </a:r>
                    </a:p>
                  </a:txBody>
                  <a:tcPr>
                    <a:solidFill>
                      <a:srgbClr val="081522"/>
                    </a:solidFill>
                  </a:tcPr>
                </a:tc>
                <a:tc>
                  <a:txBody>
                    <a:bodyPr/>
                    <a:lstStyle/>
                    <a:p>
                      <a:r>
                        <a:rPr sz="1575" b="0">
                          <a:solidFill>
                            <a:srgbClr val="EAF3F4"/>
                          </a:solidFill>
                          <a:latin typeface="Segoe UI"/>
                          <a:ea typeface="Segoe UI"/>
                          <a:cs typeface="Segoe UI"/>
                        </a:rPr>
                        <a:t>Few discrete D values with spectral support selection.</a:t>
                      </a:r>
                    </a:p>
                  </a:txBody>
                  <a:tcPr>
                    <a:solidFill>
                      <a:srgbClr val="081522"/>
                    </a:solidFill>
                  </a:tcPr>
                </a:tc>
                <a:tc>
                  <a:txBody>
                    <a:bodyPr/>
                    <a:lstStyle/>
                    <a:p>
                      <a:r>
                        <a:rPr sz="1575" b="0">
                          <a:solidFill>
                            <a:srgbClr val="EAF3F4"/>
                          </a:solidFill>
                          <a:latin typeface="Segoe UI"/>
                          <a:ea typeface="Segoe UI"/>
                          <a:cs typeface="Segoe UI"/>
                        </a:rPr>
                        <a:t>Not RAI-Net or a trained network; a broad distribution may violate the discrete model.</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DOME-S</a:t>
                      </a:r>
                    </a:p>
                  </a:txBody>
                  <a:tcPr>
                    <a:solidFill>
                      <a:srgbClr val="081522"/>
                    </a:solidFill>
                  </a:tcPr>
                </a:tc>
                <a:tc>
                  <a:txBody>
                    <a:bodyPr/>
                    <a:lstStyle/>
                    <a:p>
                      <a:r>
                        <a:rPr sz="1575" b="0">
                          <a:solidFill>
                            <a:srgbClr val="EAF3F4"/>
                          </a:solidFill>
                          <a:latin typeface="Segoe UI"/>
                          <a:ea typeface="Segoe UI"/>
                          <a:cs typeface="Segoe UI"/>
                        </a:rPr>
                        <a:t>Shared discrete rates with coverage and support review.</a:t>
                      </a:r>
                    </a:p>
                  </a:txBody>
                  <a:tcPr>
                    <a:solidFill>
                      <a:srgbClr val="081522"/>
                    </a:solidFill>
                  </a:tcPr>
                </a:tc>
                <a:tc>
                  <a:txBody>
                    <a:bodyPr/>
                    <a:lstStyle/>
                    <a:p>
                      <a:r>
                        <a:rPr sz="1575" b="0">
                          <a:solidFill>
                            <a:srgbClr val="EAF3F4"/>
                          </a:solidFill>
                          <a:latin typeface="Segoe UI"/>
                          <a:ea typeface="Segoe UI"/>
                          <a:cs typeface="Segoe UI"/>
                        </a:rPr>
                        <a:t>Check boundaries, held-out prediction and component count.</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207">
            <a:extLst>
              <a:ext uri="{FF2B5EF4-FFF2-40B4-BE49-F238E27FC236}">
                <a16:creationId xmlns:a16="http://schemas.microsoft.com/office/drawing/2014/main" id="{2B81F211-4995-4145-935A-94E48A12876A}"/>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144577738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F3566345-CCD3-4CCB-9E5E-24879E304305}"/>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31</a:t>
            </a:r>
          </a:p>
        </p:txBody>
      </p:sp>
      <p:sp>
        <p:nvSpPr>
          <p:cNvPr id="2" name="slide_title">
            <a:extLst>
              <a:ext uri="{FF2B5EF4-FFF2-40B4-BE49-F238E27FC236}">
                <a16:creationId xmlns:a16="http://schemas.microsoft.com/office/drawing/2014/main" id="{5E8846CE-B668-4EBB-A49F-5F9CBDC9B7AE}"/>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Prime · joint maps and 2D</a:t>
            </a:r>
          </a:p>
        </p:txBody>
      </p:sp>
      <p:graphicFrame>
        <p:nvGraphicFramePr>
          <p:cNvPr id="3" name="Tabla 2">
            <a:extLst>
              <a:ext uri="{FF2B5EF4-FFF2-40B4-BE49-F238E27FC236}">
                <a16:creationId xmlns:a16="http://schemas.microsoft.com/office/drawing/2014/main" id="{69CF35DE-1BE0-4569-B524-7F028D0F38BB}"/>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819150">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819150">
                <a:tc>
                  <a:txBody>
                    <a:bodyPr/>
                    <a:lstStyle/>
                    <a:p>
                      <a:r>
                        <a:rPr sz="1575" b="0">
                          <a:solidFill>
                            <a:srgbClr val="EAF3F4"/>
                          </a:solidFill>
                          <a:latin typeface="Segoe UI"/>
                          <a:ea typeface="Segoe UI"/>
                          <a:cs typeface="Segoe UI"/>
                        </a:rPr>
                        <a:t>SILT-DOSY</a:t>
                      </a:r>
                    </a:p>
                  </a:txBody>
                  <a:tcPr>
                    <a:solidFill>
                      <a:srgbClr val="081522"/>
                    </a:solidFill>
                  </a:tcPr>
                </a:tc>
                <a:tc>
                  <a:txBody>
                    <a:bodyPr/>
                    <a:lstStyle/>
                    <a:p>
                      <a:r>
                        <a:rPr sz="1575" b="0">
                          <a:solidFill>
                            <a:srgbClr val="EAF3F4"/>
                          </a:solidFill>
                          <a:latin typeface="Segoe UI"/>
                          <a:ea typeface="Segoe UI"/>
                          <a:cs typeface="Segoe UI"/>
                        </a:rPr>
                        <a:t>Joint map with sparse and low-rank penalties.</a:t>
                      </a:r>
                    </a:p>
                  </a:txBody>
                  <a:tcPr>
                    <a:solidFill>
                      <a:srgbClr val="081522"/>
                    </a:solidFill>
                  </a:tcPr>
                </a:tc>
                <a:tc>
                  <a:txBody>
                    <a:bodyPr/>
                    <a:lstStyle/>
                    <a:p>
                      <a:r>
                        <a:rPr sz="1575" b="0">
                          <a:solidFill>
                            <a:srgbClr val="EAF3F4"/>
                          </a:solidFill>
                          <a:latin typeface="Segoe UI"/>
                          <a:ea typeface="Segoe UI"/>
                          <a:cs typeface="Segoe UI"/>
                        </a:rPr>
                        <a:t>Nonconvex reweighting; operational stop ≠ global optimum.</a:t>
                      </a:r>
                    </a:p>
                  </a:txBody>
                  <a:tcPr>
                    <a:solidFill>
                      <a:srgbClr val="081522"/>
                    </a:solidFill>
                  </a:tcPr>
                </a:tc>
                <a:extLst>
                  <a:ext uri="{0D108BD9-81ED-4DB2-BD59-A6C34878D82A}">
                    <a16:rowId xmlns:a16="http://schemas.microsoft.com/office/drawing/2014/main" val="10001"/>
                  </a:ext>
                </a:extLst>
              </a:tr>
              <a:tr h="819150">
                <a:tc>
                  <a:txBody>
                    <a:bodyPr/>
                    <a:lstStyle/>
                    <a:p>
                      <a:r>
                        <a:rPr sz="1575" b="0">
                          <a:solidFill>
                            <a:srgbClr val="EAF3F4"/>
                          </a:solidFill>
                          <a:latin typeface="Segoe UI"/>
                          <a:ea typeface="Segoe UI"/>
                          <a:cs typeface="Segoe UI"/>
                        </a:rPr>
                        <a:t>SILT original</a:t>
                      </a:r>
                    </a:p>
                    <a:p>
                      <a:r>
                        <a:rPr sz="1575" b="0">
                          <a:solidFill>
                            <a:srgbClr val="EAF3F4"/>
                          </a:solidFill>
                          <a:latin typeface="Segoe UI"/>
                          <a:ea typeface="Segoe UI"/>
                          <a:cs typeface="Segoe UI"/>
                        </a:rPr>
                        <a:t>ADSpLRU</a:t>
                      </a:r>
                    </a:p>
                  </a:txBody>
                  <a:tcPr>
                    <a:solidFill>
                      <a:srgbClr val="081522"/>
                    </a:solidFill>
                  </a:tcPr>
                </a:tc>
                <a:tc>
                  <a:txBody>
                    <a:bodyPr/>
                    <a:lstStyle/>
                    <a:p>
                      <a:r>
                        <a:rPr sz="1575" b="0">
                          <a:solidFill>
                            <a:srgbClr val="EAF3F4"/>
                          </a:solidFill>
                          <a:latin typeface="Segoe UI"/>
                          <a:ea typeface="Segoe UI"/>
                          <a:cs typeface="Segoe UI"/>
                        </a:rPr>
                        <a:t>Replay the supplied original core with diagnostics.</a:t>
                      </a:r>
                    </a:p>
                  </a:txBody>
                  <a:tcPr>
                    <a:solidFill>
                      <a:srgbClr val="081522"/>
                    </a:solidFill>
                  </a:tcPr>
                </a:tc>
                <a:tc>
                  <a:txBody>
                    <a:bodyPr/>
                    <a:lstStyle/>
                    <a:p>
                      <a:r>
                        <a:rPr sz="1575" b="0">
                          <a:solidFill>
                            <a:srgbClr val="EAF3F4"/>
                          </a:solidFill>
                          <a:latin typeface="Segoe UI"/>
                          <a:ea typeface="Segoe UI"/>
                          <a:cs typeface="Segoe UI"/>
                        </a:rPr>
                        <a:t>Historical stop ≠ KKT certificate; separate from revised SILT.</a:t>
                      </a:r>
                    </a:p>
                  </a:txBody>
                  <a:tcPr>
                    <a:solidFill>
                      <a:srgbClr val="081522"/>
                    </a:solidFill>
                  </a:tcPr>
                </a:tc>
                <a:extLst>
                  <a:ext uri="{0D108BD9-81ED-4DB2-BD59-A6C34878D82A}">
                    <a16:rowId xmlns:a16="http://schemas.microsoft.com/office/drawing/2014/main" val="10002"/>
                  </a:ext>
                </a:extLst>
              </a:tr>
              <a:tr h="819150">
                <a:tc>
                  <a:txBody>
                    <a:bodyPr/>
                    <a:lstStyle/>
                    <a:p>
                      <a:r>
                        <a:rPr sz="1575" b="0">
                          <a:solidFill>
                            <a:srgbClr val="EAF3F4"/>
                          </a:solidFill>
                          <a:latin typeface="Segoe UI"/>
                          <a:ea typeface="Segoe UI"/>
                          <a:cs typeface="Segoe UI"/>
                        </a:rPr>
                        <a:t>TRAIn2D · C#</a:t>
                      </a:r>
                    </a:p>
                  </a:txBody>
                  <a:tcPr>
                    <a:solidFill>
                      <a:srgbClr val="081522"/>
                    </a:solidFill>
                  </a:tcPr>
                </a:tc>
                <a:tc>
                  <a:txBody>
                    <a:bodyPr/>
                    <a:lstStyle/>
                    <a:p>
                      <a:r>
                        <a:rPr sz="1575" b="0">
                          <a:solidFill>
                            <a:srgbClr val="EAF3F4"/>
                          </a:solidFill>
                          <a:latin typeface="Segoe UI"/>
                          <a:ea typeface="Segoe UI"/>
                          <a:cs typeface="Segoe UI"/>
                        </a:rPr>
                        <a:t>Separable D–T2 inversion or other two-operator problems.</a:t>
                      </a:r>
                    </a:p>
                  </a:txBody>
                  <a:tcPr>
                    <a:solidFill>
                      <a:srgbClr val="081522"/>
                    </a:solidFill>
                  </a:tcPr>
                </a:tc>
                <a:tc>
                  <a:txBody>
                    <a:bodyPr/>
                    <a:lstStyle/>
                    <a:p>
                      <a:r>
                        <a:rPr sz="1575" b="0">
                          <a:solidFill>
                            <a:srgbClr val="EAF3F4"/>
                          </a:solidFill>
                          <a:latin typeface="Segoe UI"/>
                          <a:ea typeface="Segoe UI"/>
                          <a:cs typeface="Segoe UI"/>
                        </a:rPr>
                        <a:t>No lambda; termFac and NNLS residual. Physical kernel/profile must be reviewed.</a:t>
                      </a:r>
                    </a:p>
                  </a:txBody>
                  <a:tcPr>
                    <a:solidFill>
                      <a:srgbClr val="081522"/>
                    </a:solidFill>
                  </a:tcPr>
                </a:tc>
                <a:extLst>
                  <a:ext uri="{0D108BD9-81ED-4DB2-BD59-A6C34878D82A}">
                    <a16:rowId xmlns:a16="http://schemas.microsoft.com/office/drawing/2014/main" val="10003"/>
                  </a:ext>
                </a:extLst>
              </a:tr>
              <a:tr h="819150">
                <a:tc>
                  <a:txBody>
                    <a:bodyPr/>
                    <a:lstStyle/>
                    <a:p>
                      <a:r>
                        <a:rPr sz="1575" b="0">
                          <a:solidFill>
                            <a:srgbClr val="EAF3F4"/>
                          </a:solidFill>
                          <a:latin typeface="Segoe UI"/>
                          <a:ea typeface="Segoe UI"/>
                          <a:cs typeface="Segoe UI"/>
                        </a:rPr>
                        <a:t>FISTA 2D · C#</a:t>
                      </a:r>
                    </a:p>
                  </a:txBody>
                  <a:tcPr>
                    <a:solidFill>
                      <a:srgbClr val="081522"/>
                    </a:solidFill>
                  </a:tcPr>
                </a:tc>
                <a:tc>
                  <a:txBody>
                    <a:bodyPr/>
                    <a:lstStyle/>
                    <a:p>
                      <a:r>
                        <a:rPr sz="1575" b="0">
                          <a:solidFill>
                            <a:srgbClr val="EAF3F4"/>
                          </a:solidFill>
                          <a:latin typeface="Segoe UI"/>
                          <a:ea typeface="Segoe UI"/>
                          <a:cs typeface="Segoe UI"/>
                        </a:rPr>
                        <a:t>Positive L1 2D inversion using a separable operator.</a:t>
                      </a:r>
                    </a:p>
                  </a:txBody>
                  <a:tcPr>
                    <a:solidFill>
                      <a:srgbClr val="081522"/>
                    </a:solidFill>
                  </a:tcPr>
                </a:tc>
                <a:tc>
                  <a:txBody>
                    <a:bodyPr/>
                    <a:lstStyle/>
                    <a:p>
                      <a:r>
                        <a:rPr sz="1575" b="0">
                          <a:solidFill>
                            <a:srgbClr val="EAF3F4"/>
                          </a:solidFill>
                          <a:latin typeface="Segoe UI"/>
                          <a:ea typeface="Segoe UI"/>
                          <a:cs typeface="Segoe UI"/>
                        </a:rPr>
                        <a:t>Not a verbatim ITAMeD copy; KKT does not validate the physical model.</a:t>
                      </a:r>
                    </a:p>
                  </a:txBody>
                  <a:tcPr>
                    <a:solidFill>
                      <a:srgbClr val="081522"/>
                    </a:solidFill>
                  </a:tcPr>
                </a:tc>
                <a:extLst>
                  <a:ext uri="{0D108BD9-81ED-4DB2-BD59-A6C34878D82A}">
                    <a16:rowId xmlns:a16="http://schemas.microsoft.com/office/drawing/2014/main" val="10004"/>
                  </a:ext>
                </a:extLst>
              </a:tr>
            </a:tbl>
          </a:graphicData>
        </a:graphic>
      </p:graphicFrame>
      <p:sp>
        <p:nvSpPr>
          <p:cNvPr id="4" name="text_208">
            <a:extLst>
              <a:ext uri="{FF2B5EF4-FFF2-40B4-BE49-F238E27FC236}">
                <a16:creationId xmlns:a16="http://schemas.microsoft.com/office/drawing/2014/main" id="{A6B0D25F-9520-4CE8-A247-5AA7D009ED4B}"/>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71419092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0A9FC802-E2F3-4B7D-A41E-87796F3EAF95}"/>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32</a:t>
            </a:r>
          </a:p>
        </p:txBody>
      </p:sp>
      <p:sp>
        <p:nvSpPr>
          <p:cNvPr id="2" name="slide_title">
            <a:extLst>
              <a:ext uri="{FF2B5EF4-FFF2-40B4-BE49-F238E27FC236}">
                <a16:creationId xmlns:a16="http://schemas.microsoft.com/office/drawing/2014/main" id="{A0609DFF-001A-46A7-8979-C8A148D05FD0}"/>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Library · discrete components 1/2</a:t>
            </a:r>
          </a:p>
        </p:txBody>
      </p:sp>
      <p:graphicFrame>
        <p:nvGraphicFramePr>
          <p:cNvPr id="3" name="Tabla 2">
            <a:extLst>
              <a:ext uri="{FF2B5EF4-FFF2-40B4-BE49-F238E27FC236}">
                <a16:creationId xmlns:a16="http://schemas.microsoft.com/office/drawing/2014/main" id="{4B0F6068-626D-4665-9FA2-828F8A9CF15E}"/>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Positive variable projection</a:t>
                      </a:r>
                    </a:p>
                  </a:txBody>
                  <a:tcPr>
                    <a:solidFill>
                      <a:srgbClr val="081522"/>
                    </a:solidFill>
                  </a:tcPr>
                </a:tc>
                <a:tc>
                  <a:txBody>
                    <a:bodyPr/>
                    <a:lstStyle/>
                    <a:p>
                      <a:r>
                        <a:rPr sz="1575" b="0">
                          <a:solidFill>
                            <a:srgbClr val="EAF3F4"/>
                          </a:solidFill>
                          <a:latin typeface="Segoe UI"/>
                          <a:ea typeface="Segoe UI"/>
                          <a:cs typeface="Segoe UI"/>
                        </a:rPr>
                        <a:t>Fit a fixed number of exponential components without a D grid.</a:t>
                      </a:r>
                    </a:p>
                  </a:txBody>
                  <a:tcPr>
                    <a:solidFill>
                      <a:srgbClr val="081522"/>
                    </a:solidFill>
                  </a:tcPr>
                </a:tc>
                <a:tc>
                  <a:txBody>
                    <a:bodyPr/>
                    <a:lstStyle/>
                    <a:p>
                      <a:r>
                        <a:rPr sz="1575" b="0">
                          <a:solidFill>
                            <a:srgbClr val="EAF3F4"/>
                          </a:solidFill>
                          <a:latin typeface="Segoe UI"/>
                          <a:ea typeface="Segoe UI"/>
                          <a:cs typeface="Segoe UI"/>
                        </a:rPr>
                        <a:t>Fixed rank and local minima; no guaranteed identification.</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SCORE</a:t>
                      </a:r>
                    </a:p>
                  </a:txBody>
                  <a:tcPr>
                    <a:solidFill>
                      <a:srgbClr val="081522"/>
                    </a:solidFill>
                  </a:tcPr>
                </a:tc>
                <a:tc>
                  <a:txBody>
                    <a:bodyPr/>
                    <a:lstStyle/>
                    <a:p>
                      <a:r>
                        <a:rPr sz="1575" b="0">
                          <a:solidFill>
                            <a:srgbClr val="EAF3F4"/>
                          </a:solidFill>
                          <a:latin typeface="Segoe UI"/>
                          <a:ea typeface="Segoe UI"/>
                          <a:cs typeface="Segoe UI"/>
                        </a:rPr>
                        <a:t>Separate component spectra by sharing D across frequencies.</a:t>
                      </a:r>
                    </a:p>
                  </a:txBody>
                  <a:tcPr>
                    <a:solidFill>
                      <a:srgbClr val="081522"/>
                    </a:solidFill>
                  </a:tcPr>
                </a:tc>
                <a:tc>
                  <a:txBody>
                    <a:bodyPr/>
                    <a:lstStyle/>
                    <a:p>
                      <a:r>
                        <a:rPr sz="1575" b="0">
                          <a:solidFill>
                            <a:srgbClr val="EAF3F4"/>
                          </a:solidFill>
                          <a:latin typeface="Segoe UI"/>
                          <a:ea typeface="Segoe UI"/>
                          <a:cs typeface="Segoe UI"/>
                        </a:rPr>
                        <a:t>Request signed amplitudes; the generic VP default is positive.</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OUTSCORE</a:t>
                      </a:r>
                    </a:p>
                  </a:txBody>
                  <a:tcPr>
                    <a:solidFill>
                      <a:srgbClr val="081522"/>
                    </a:solidFill>
                  </a:tcPr>
                </a:tc>
                <a:tc>
                  <a:txBody>
                    <a:bodyPr/>
                    <a:lstStyle/>
                    <a:p>
                      <a:r>
                        <a:rPr sz="1575" b="0">
                          <a:solidFill>
                            <a:srgbClr val="EAF3F4"/>
                          </a:solidFill>
                          <a:latin typeface="Segoe UI"/>
                          <a:ea typeface="Segoe UI"/>
                          <a:cs typeface="Segoe UI"/>
                        </a:rPr>
                        <a:t>Unmixing that penalizes overlap between component spectra.</a:t>
                      </a:r>
                    </a:p>
                  </a:txBody>
                  <a:tcPr>
                    <a:solidFill>
                      <a:srgbClr val="081522"/>
                    </a:solidFill>
                  </a:tcPr>
                </a:tc>
                <a:tc>
                  <a:txBody>
                    <a:bodyPr/>
                    <a:lstStyle/>
                    <a:p>
                      <a:r>
                        <a:rPr sz="1575" b="0">
                          <a:solidFill>
                            <a:srgbClr val="EAF3F4"/>
                          </a:solidFill>
                          <a:latin typeface="Segoe UI"/>
                          <a:ea typeface="Segoe UI"/>
                          <a:cs typeface="Segoe UI"/>
                        </a:rPr>
                        <a:t>GNAT absolute spectral cross-talk objective; fixed rank</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HYSCORE</a:t>
                      </a:r>
                    </a:p>
                  </a:txBody>
                  <a:tcPr>
                    <a:solidFill>
                      <a:srgbClr val="081522"/>
                    </a:solidFill>
                  </a:tcPr>
                </a:tc>
                <a:tc>
                  <a:txBody>
                    <a:bodyPr/>
                    <a:lstStyle/>
                    <a:p>
                      <a:r>
                        <a:rPr sz="1575" b="0">
                          <a:solidFill>
                            <a:srgbClr val="EAF3F4"/>
                          </a:solidFill>
                          <a:latin typeface="Segoe UI"/>
                          <a:ea typeface="Segoe UI"/>
                          <a:cs typeface="Segoe UI"/>
                        </a:rPr>
                        <a:t>Balance reconstruction and spectral separation in a discrete model.</a:t>
                      </a:r>
                    </a:p>
                  </a:txBody>
                  <a:tcPr>
                    <a:solidFill>
                      <a:srgbClr val="081522"/>
                    </a:solidFill>
                  </a:tcPr>
                </a:tc>
                <a:tc>
                  <a:txBody>
                    <a:bodyPr/>
                    <a:lstStyle/>
                    <a:p>
                      <a:r>
                        <a:rPr sz="1575" b="0">
                          <a:solidFill>
                            <a:srgbClr val="EAF3F4"/>
                          </a:solidFill>
                          <a:latin typeface="Segoe UI"/>
                          <a:ea typeface="Segoe UI"/>
                          <a:cs typeface="Segoe UI"/>
                        </a:rPr>
                        <a:t>GNAT hybrid residual/cross-talk objective; explicit relative weight</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AIC/BIC selection over VP</a:t>
                      </a:r>
                    </a:p>
                  </a:txBody>
                  <a:tcPr>
                    <a:solidFill>
                      <a:srgbClr val="081522"/>
                    </a:solidFill>
                  </a:tcPr>
                </a:tc>
                <a:tc>
                  <a:txBody>
                    <a:bodyPr/>
                    <a:lstStyle/>
                    <a:p>
                      <a:r>
                        <a:rPr sz="1575" b="0">
                          <a:solidFill>
                            <a:srgbClr val="EAF3F4"/>
                          </a:solidFill>
                          <a:latin typeface="Segoe UI"/>
                          <a:ea typeface="Segoe UI"/>
                          <a:cs typeface="Segoe UI"/>
                        </a:rPr>
                        <a:t>Choose model order among variable-projection models using AIC/BIC.</a:t>
                      </a:r>
                    </a:p>
                  </a:txBody>
                  <a:tcPr>
                    <a:solidFill>
                      <a:srgbClr val="081522"/>
                    </a:solidFill>
                  </a:tcPr>
                </a:tc>
                <a:tc>
                  <a:txBody>
                    <a:bodyPr/>
                    <a:lstStyle/>
                    <a:p>
                      <a:r>
                        <a:rPr sz="1575" b="0">
                          <a:solidFill>
                            <a:srgbClr val="EAF3F4"/>
                          </a:solidFill>
                          <a:latin typeface="Segoe UI"/>
                          <a:ea typeface="Segoe UI"/>
                          <a:cs typeface="Segoe UI"/>
                        </a:rPr>
                        <a:t>Not original Provencher DISCRETE or SPLMOD</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209">
            <a:extLst>
              <a:ext uri="{FF2B5EF4-FFF2-40B4-BE49-F238E27FC236}">
                <a16:creationId xmlns:a16="http://schemas.microsoft.com/office/drawing/2014/main" id="{A5A4A28F-DD1B-4CF7-B215-F2CFD5FA9F2C}"/>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176777962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45D5E107-1FD4-4D47-B856-42C5ECEC90C6}"/>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33</a:t>
            </a:r>
          </a:p>
        </p:txBody>
      </p:sp>
      <p:sp>
        <p:nvSpPr>
          <p:cNvPr id="2" name="slide_title">
            <a:extLst>
              <a:ext uri="{FF2B5EF4-FFF2-40B4-BE49-F238E27FC236}">
                <a16:creationId xmlns:a16="http://schemas.microsoft.com/office/drawing/2014/main" id="{66C5F625-59FD-42C2-B627-E88B129E4A2D}"/>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Library · discrete components 2/2</a:t>
            </a:r>
          </a:p>
        </p:txBody>
      </p:sp>
      <p:graphicFrame>
        <p:nvGraphicFramePr>
          <p:cNvPr id="3" name="Tabla 2">
            <a:extLst>
              <a:ext uri="{FF2B5EF4-FFF2-40B4-BE49-F238E27FC236}">
                <a16:creationId xmlns:a16="http://schemas.microsoft.com/office/drawing/2014/main" id="{9C6EEF73-30D6-437B-85A3-3470DA6DA48C}"/>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819150">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819150">
                <a:tc>
                  <a:txBody>
                    <a:bodyPr/>
                    <a:lstStyle/>
                    <a:p>
                      <a:r>
                        <a:rPr sz="1575" b="0">
                          <a:solidFill>
                            <a:srgbClr val="EAF3F4"/>
                          </a:solidFill>
                          <a:latin typeface="Segoe UI"/>
                          <a:ea typeface="Segoe UI"/>
                          <a:cs typeface="Segoe UI"/>
                        </a:rPr>
                        <a:t>DECRA</a:t>
                      </a:r>
                    </a:p>
                  </a:txBody>
                  <a:tcPr>
                    <a:solidFill>
                      <a:srgbClr val="081522"/>
                    </a:solidFill>
                  </a:tcPr>
                </a:tc>
                <a:tc>
                  <a:txBody>
                    <a:bodyPr/>
                    <a:lstStyle/>
                    <a:p>
                      <a:r>
                        <a:rPr sz="1575" b="0">
                          <a:solidFill>
                            <a:srgbClr val="EAF3F4"/>
                          </a:solidFill>
                          <a:latin typeface="Segoe UI"/>
                          <a:ea typeface="Segoe UI"/>
                          <a:cs typeface="Segoe UI"/>
                        </a:rPr>
                        <a:t>Algebraic decomposition of exponential components with uniform b.</a:t>
                      </a:r>
                    </a:p>
                  </a:txBody>
                  <a:tcPr>
                    <a:solidFill>
                      <a:srgbClr val="081522"/>
                    </a:solidFill>
                  </a:tcPr>
                </a:tc>
                <a:tc>
                  <a:txBody>
                    <a:bodyPr/>
                    <a:lstStyle/>
                    <a:p>
                      <a:r>
                        <a:rPr sz="1575" b="0">
                          <a:solidFill>
                            <a:srgbClr val="EAF3F4"/>
                          </a:solidFill>
                          <a:latin typeface="Segoe UI"/>
                          <a:ea typeface="Segoe UI"/>
                          <a:cs typeface="Segoe UI"/>
                        </a:rPr>
                        <a:t>Requires uniform b steps and sufficient rank; poles may be nonphysical.</a:t>
                      </a:r>
                    </a:p>
                  </a:txBody>
                  <a:tcPr>
                    <a:solidFill>
                      <a:srgbClr val="081522"/>
                    </a:solidFill>
                  </a:tcPr>
                </a:tc>
                <a:extLst>
                  <a:ext uri="{0D108BD9-81ED-4DB2-BD59-A6C34878D82A}">
                    <a16:rowId xmlns:a16="http://schemas.microsoft.com/office/drawing/2014/main" val="10001"/>
                  </a:ext>
                </a:extLst>
              </a:tr>
              <a:tr h="819150">
                <a:tc>
                  <a:txBody>
                    <a:bodyPr/>
                    <a:lstStyle/>
                    <a:p>
                      <a:r>
                        <a:rPr sz="1575" b="0">
                          <a:solidFill>
                            <a:srgbClr val="EAF3F4"/>
                          </a:solidFill>
                          <a:latin typeface="Segoe UI"/>
                          <a:ea typeface="Segoe UI"/>
                          <a:cs typeface="Segoe UI"/>
                        </a:rPr>
                        <a:t>Explicit-region local SCORE</a:t>
                      </a:r>
                    </a:p>
                  </a:txBody>
                  <a:tcPr>
                    <a:solidFill>
                      <a:srgbClr val="081522"/>
                    </a:solidFill>
                  </a:tcPr>
                </a:tc>
                <a:tc>
                  <a:txBody>
                    <a:bodyPr/>
                    <a:lstStyle/>
                    <a:p>
                      <a:r>
                        <a:rPr sz="1575" b="0">
                          <a:solidFill>
                            <a:srgbClr val="EAF3F4"/>
                          </a:solidFill>
                          <a:latin typeface="Segoe UI"/>
                          <a:ea typeface="Segoe UI"/>
                          <a:cs typeface="Segoe UI"/>
                        </a:rPr>
                        <a:t>Apply SCORE to explicitly selected ppm regions.</a:t>
                      </a:r>
                    </a:p>
                  </a:txBody>
                  <a:tcPr>
                    <a:solidFill>
                      <a:srgbClr val="081522"/>
                    </a:solidFill>
                  </a:tcPr>
                </a:tc>
                <a:tc>
                  <a:txBody>
                    <a:bodyPr/>
                    <a:lstStyle/>
                    <a:p>
                      <a:r>
                        <a:rPr sz="1575" b="0">
                          <a:solidFill>
                            <a:srgbClr val="EAF3F4"/>
                          </a:solidFill>
                          <a:latin typeface="Segoe UI"/>
                          <a:ea typeface="Segoe UI"/>
                          <a:cs typeface="Segoe UI"/>
                        </a:rPr>
                        <a:t>Use disjoint regions; segmentation is not automatic.</a:t>
                      </a:r>
                    </a:p>
                  </a:txBody>
                  <a:tcPr>
                    <a:solidFill>
                      <a:srgbClr val="081522"/>
                    </a:solidFill>
                  </a:tcPr>
                </a:tc>
                <a:extLst>
                  <a:ext uri="{0D108BD9-81ED-4DB2-BD59-A6C34878D82A}">
                    <a16:rowId xmlns:a16="http://schemas.microsoft.com/office/drawing/2014/main" val="10002"/>
                  </a:ext>
                </a:extLst>
              </a:tr>
              <a:tr h="819150">
                <a:tc>
                  <a:txBody>
                    <a:bodyPr/>
                    <a:lstStyle/>
                    <a:p>
                      <a:r>
                        <a:rPr sz="1575" b="0">
                          <a:solidFill>
                            <a:srgbClr val="EAF3F4"/>
                          </a:solidFill>
                          <a:latin typeface="Segoe UI"/>
                          <a:ea typeface="Segoe UI"/>
                          <a:cs typeface="Segoe UI"/>
                        </a:rPr>
                        <a:t>Automatic LOCODOSY local inversion</a:t>
                      </a:r>
                    </a:p>
                  </a:txBody>
                  <a:tcPr>
                    <a:solidFill>
                      <a:srgbClr val="081522"/>
                    </a:solidFill>
                  </a:tcPr>
                </a:tc>
                <a:tc>
                  <a:txBody>
                    <a:bodyPr/>
                    <a:lstStyle/>
                    <a:p>
                      <a:r>
                        <a:rPr sz="1575" b="0">
                          <a:solidFill>
                            <a:srgbClr val="EAF3F4"/>
                          </a:solidFill>
                          <a:latin typeface="Segoe UI"/>
                          <a:ea typeface="Segoe UI"/>
                          <a:cs typeface="Segoe UI"/>
                        </a:rPr>
                        <a:t>Segment regions, estimate local order and reduce components.</a:t>
                      </a:r>
                    </a:p>
                  </a:txBody>
                  <a:tcPr>
                    <a:solidFill>
                      <a:srgbClr val="081522"/>
                    </a:solidFill>
                  </a:tcPr>
                </a:tc>
                <a:tc>
                  <a:txBody>
                    <a:bodyPr/>
                    <a:lstStyle/>
                    <a:p>
                      <a:r>
                        <a:rPr sz="1575" b="0">
                          <a:solidFill>
                            <a:srgbClr val="EAF3F4"/>
                          </a:solidFill>
                          <a:latin typeface="Segoe UI"/>
                          <a:ea typeface="Segoe UI"/>
                          <a:cs typeface="Segoe UI"/>
                        </a:rPr>
                        <a:t>Adapted segmentation; reported intervals are not calibrated uncertainty.</a:t>
                      </a:r>
                    </a:p>
                  </a:txBody>
                  <a:tcPr>
                    <a:solidFill>
                      <a:srgbClr val="081522"/>
                    </a:solidFill>
                  </a:tcPr>
                </a:tc>
                <a:extLst>
                  <a:ext uri="{0D108BD9-81ED-4DB2-BD59-A6C34878D82A}">
                    <a16:rowId xmlns:a16="http://schemas.microsoft.com/office/drawing/2014/main" val="10003"/>
                  </a:ext>
                </a:extLst>
              </a:tr>
              <a:tr h="819150">
                <a:tc>
                  <a:txBody>
                    <a:bodyPr/>
                    <a:lstStyle/>
                    <a:p>
                      <a:r>
                        <a:rPr sz="1575" b="0">
                          <a:solidFill>
                            <a:srgbClr val="EAF3F4"/>
                          </a:solidFill>
                          <a:latin typeface="Segoe UI"/>
                          <a:ea typeface="Segoe UI"/>
                          <a:cs typeface="Segoe UI"/>
                        </a:rPr>
                        <a:t>ESPIRA-II AAA-selected Loewner pencil</a:t>
                      </a:r>
                    </a:p>
                  </a:txBody>
                  <a:tcPr>
                    <a:solidFill>
                      <a:srgbClr val="081522"/>
                    </a:solidFill>
                  </a:tcPr>
                </a:tc>
                <a:tc>
                  <a:txBody>
                    <a:bodyPr/>
                    <a:lstStyle/>
                    <a:p>
                      <a:r>
                        <a:rPr sz="1575" b="0">
                          <a:solidFill>
                            <a:srgbClr val="EAF3F4"/>
                          </a:solidFill>
                          <a:latin typeface="Segoe UI"/>
                          <a:ea typeface="Segoe UI"/>
                          <a:cs typeface="Segoe UI"/>
                        </a:rPr>
                        <a:t>Identify exponential sums through poles and a fixed rank.</a:t>
                      </a:r>
                    </a:p>
                  </a:txBody>
                  <a:tcPr>
                    <a:solidFill>
                      <a:srgbClr val="081522"/>
                    </a:solidFill>
                  </a:tcPr>
                </a:tc>
                <a:tc>
                  <a:txBody>
                    <a:bodyPr/>
                    <a:lstStyle/>
                    <a:p>
                      <a:r>
                        <a:rPr sz="1575" b="0">
                          <a:solidFill>
                            <a:srgbClr val="EAF3F4"/>
                          </a:solidFill>
                          <a:latin typeface="Segoe UI"/>
                          <a:ea typeface="Segoe UI"/>
                          <a:cs typeface="Segoe UI"/>
                        </a:rPr>
                        <a:t>Uniform sampling and fixed rank; retain nonphysical poles.</a:t>
                      </a:r>
                    </a:p>
                  </a:txBody>
                  <a:tcPr>
                    <a:solidFill>
                      <a:srgbClr val="081522"/>
                    </a:solidFill>
                  </a:tcPr>
                </a:tc>
                <a:extLst>
                  <a:ext uri="{0D108BD9-81ED-4DB2-BD59-A6C34878D82A}">
                    <a16:rowId xmlns:a16="http://schemas.microsoft.com/office/drawing/2014/main" val="10004"/>
                  </a:ext>
                </a:extLst>
              </a:tr>
            </a:tbl>
          </a:graphicData>
        </a:graphic>
      </p:graphicFrame>
      <p:sp>
        <p:nvSpPr>
          <p:cNvPr id="4" name="text_210">
            <a:extLst>
              <a:ext uri="{FF2B5EF4-FFF2-40B4-BE49-F238E27FC236}">
                <a16:creationId xmlns:a16="http://schemas.microsoft.com/office/drawing/2014/main" id="{62006D3A-297C-45DD-913D-6E54F77AA540}"/>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71898900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B581CABB-9894-41C8-93D4-664CD747D5F9}"/>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34</a:t>
            </a:r>
          </a:p>
        </p:txBody>
      </p:sp>
      <p:sp>
        <p:nvSpPr>
          <p:cNvPr id="2" name="slide_title">
            <a:extLst>
              <a:ext uri="{FF2B5EF4-FFF2-40B4-BE49-F238E27FC236}">
                <a16:creationId xmlns:a16="http://schemas.microsoft.com/office/drawing/2014/main" id="{4EF0486B-2037-4ADD-B3E2-3000E727D927}"/>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Library · decomposition and FID</a:t>
            </a:r>
          </a:p>
        </p:txBody>
      </p:sp>
      <p:graphicFrame>
        <p:nvGraphicFramePr>
          <p:cNvPr id="3" name="Tabla 2">
            <a:extLst>
              <a:ext uri="{FF2B5EF4-FFF2-40B4-BE49-F238E27FC236}">
                <a16:creationId xmlns:a16="http://schemas.microsoft.com/office/drawing/2014/main" id="{E2BDB33C-E319-4E11-85D1-373AB8AC6E0A}"/>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MCR-ALS</a:t>
                      </a:r>
                    </a:p>
                  </a:txBody>
                  <a:tcPr>
                    <a:solidFill>
                      <a:srgbClr val="081522"/>
                    </a:solidFill>
                  </a:tcPr>
                </a:tc>
                <a:tc>
                  <a:txBody>
                    <a:bodyPr/>
                    <a:lstStyle/>
                    <a:p>
                      <a:r>
                        <a:rPr sz="1575" b="0">
                          <a:solidFill>
                            <a:srgbClr val="EAF3F4"/>
                          </a:solidFill>
                          <a:latin typeface="Segoe UI"/>
                          <a:ea typeface="Segoe UI"/>
                          <a:cs typeface="Segoe UI"/>
                        </a:rPr>
                        <a:t>Multivariate decomposition with constraints and optional exponential profiles.</a:t>
                      </a:r>
                    </a:p>
                  </a:txBody>
                  <a:tcPr>
                    <a:solidFill>
                      <a:srgbClr val="081522"/>
                    </a:solidFill>
                  </a:tcPr>
                </a:tc>
                <a:tc>
                  <a:txBody>
                    <a:bodyPr/>
                    <a:lstStyle/>
                    <a:p>
                      <a:r>
                        <a:rPr sz="1575" b="0">
                          <a:solidFill>
                            <a:srgbClr val="EAF3F4"/>
                          </a:solidFill>
                          <a:latin typeface="Segoe UI"/>
                          <a:ea typeface="Segoe UI"/>
                          <a:cs typeface="Segoe UI"/>
                        </a:rPr>
                        <a:t>Rotational ambiguity remains; an exponential fit is needed to obtain D.</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Symmetric FastICA</a:t>
                      </a:r>
                    </a:p>
                  </a:txBody>
                  <a:tcPr>
                    <a:solidFill>
                      <a:srgbClr val="081522"/>
                    </a:solidFill>
                  </a:tcPr>
                </a:tc>
                <a:tc>
                  <a:txBody>
                    <a:bodyPr/>
                    <a:lstStyle/>
                    <a:p>
                      <a:r>
                        <a:rPr sz="1575" b="0">
                          <a:solidFill>
                            <a:srgbClr val="EAF3F4"/>
                          </a:solidFill>
                          <a:latin typeface="Segoe UI"/>
                          <a:ea typeface="Segoe UI"/>
                          <a:cs typeface="Segoe UI"/>
                        </a:rPr>
                        <a:t>Explore statistically independent factors; fit D afterwards if appropriate.</a:t>
                      </a:r>
                    </a:p>
                  </a:txBody>
                  <a:tcPr>
                    <a:solidFill>
                      <a:srgbClr val="081522"/>
                    </a:solidFill>
                  </a:tcPr>
                </a:tc>
                <a:tc>
                  <a:txBody>
                    <a:bodyPr/>
                    <a:lstStyle/>
                    <a:p>
                      <a:r>
                        <a:rPr sz="1575" b="0">
                          <a:solidFill>
                            <a:srgbClr val="EAF3F4"/>
                          </a:solidFill>
                          <a:latin typeface="Segoe UI"/>
                          <a:ea typeface="Segoe UI"/>
                          <a:cs typeface="Segoe UI"/>
                        </a:rPr>
                        <a:t>Statistical independence estimates neither D nor molecular identity.</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Three-way CP-ALS</a:t>
                      </a:r>
                    </a:p>
                  </a:txBody>
                  <a:tcPr>
                    <a:solidFill>
                      <a:srgbClr val="081522"/>
                    </a:solidFill>
                  </a:tcPr>
                </a:tc>
                <a:tc>
                  <a:txBody>
                    <a:bodyPr/>
                    <a:lstStyle/>
                    <a:p>
                      <a:r>
                        <a:rPr sz="1575" b="0">
                          <a:solidFill>
                            <a:srgbClr val="EAF3F4"/>
                          </a:solidFill>
                          <a:latin typeface="Segoe UI"/>
                          <a:ea typeface="Segoe UI"/>
                          <a:cs typeface="Segoe UI"/>
                        </a:rPr>
                        <a:t>Three-dimensional data with factors shared across modes.</a:t>
                      </a:r>
                    </a:p>
                  </a:txBody>
                  <a:tcPr>
                    <a:solidFill>
                      <a:srgbClr val="081522"/>
                    </a:solidFill>
                  </a:tcPr>
                </a:tc>
                <a:tc>
                  <a:txBody>
                    <a:bodyPr/>
                    <a:lstStyle/>
                    <a:p>
                      <a:r>
                        <a:rPr sz="1575" b="0">
                          <a:solidFill>
                            <a:srgbClr val="EAF3F4"/>
                          </a:solidFill>
                          <a:latin typeface="Segoe UI"/>
                          <a:ea typeface="Segoe UI"/>
                          <a:cs typeface="Segoe UI"/>
                        </a:rPr>
                        <a:t>Local solution; it does not perform DOSY inversion by itself.</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GNAT Fourier RRT</a:t>
                      </a:r>
                    </a:p>
                  </a:txBody>
                  <a:tcPr>
                    <a:solidFill>
                      <a:srgbClr val="081522"/>
                    </a:solidFill>
                  </a:tcPr>
                </a:tc>
                <a:tc>
                  <a:txBody>
                    <a:bodyPr/>
                    <a:lstStyle/>
                    <a:p>
                      <a:r>
                        <a:rPr sz="1575" b="0">
                          <a:solidFill>
                            <a:srgbClr val="EAF3F4"/>
                          </a:solidFill>
                          <a:latin typeface="Segoe UI"/>
                          <a:ea typeface="Segoe UI"/>
                          <a:cs typeface="Segoe UI"/>
                        </a:rPr>
                        <a:t>Fourier-Laplace reconstruction from complex FID and uniform b.</a:t>
                      </a:r>
                    </a:p>
                  </a:txBody>
                  <a:tcPr>
                    <a:solidFill>
                      <a:srgbClr val="081522"/>
                    </a:solidFill>
                  </a:tcPr>
                </a:tc>
                <a:tc>
                  <a:txBody>
                    <a:bodyPr/>
                    <a:lstStyle/>
                    <a:p>
                      <a:r>
                        <a:rPr sz="1575" b="0">
                          <a:solidFill>
                            <a:srgbClr val="EAF3F4"/>
                          </a:solidFill>
                          <a:latin typeface="Segoe UI"/>
                          <a:ea typeface="Segoe UI"/>
                          <a:cs typeface="Segoe UI"/>
                        </a:rPr>
                        <a:t>Requires uniform b and correctly oriented FID; output is a complex map.</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GNAT Fourier FDM</a:t>
                      </a:r>
                    </a:p>
                  </a:txBody>
                  <a:tcPr>
                    <a:solidFill>
                      <a:srgbClr val="081522"/>
                    </a:solidFill>
                  </a:tcPr>
                </a:tc>
                <a:tc>
                  <a:txBody>
                    <a:bodyPr/>
                    <a:lstStyle/>
                    <a:p>
                      <a:r>
                        <a:rPr sz="1575" b="0">
                          <a:solidFill>
                            <a:srgbClr val="EAF3F4"/>
                          </a:solidFill>
                          <a:latin typeface="Segoe UI"/>
                          <a:ea typeface="Segoe UI"/>
                          <a:cs typeface="Segoe UI"/>
                        </a:rPr>
                        <a:t>Resolve poles/frequencies from FIDs through filter diagonalization.</a:t>
                      </a:r>
                    </a:p>
                  </a:txBody>
                  <a:tcPr>
                    <a:solidFill>
                      <a:srgbClr val="081522"/>
                    </a:solidFill>
                  </a:tcPr>
                </a:tc>
                <a:tc>
                  <a:txBody>
                    <a:bodyPr/>
                    <a:lstStyle/>
                    <a:p>
                      <a:r>
                        <a:rPr sz="1575" b="0">
                          <a:solidFill>
                            <a:srgbClr val="EAF3F4"/>
                          </a:solidFill>
                          <a:latin typeface="Segoe UI"/>
                          <a:ea typeface="Segoe UI"/>
                          <a:cs typeface="Segoe UI"/>
                        </a:rPr>
                        <a:t>Numerical policies differ; output is not a calibrated physical density.</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211">
            <a:extLst>
              <a:ext uri="{FF2B5EF4-FFF2-40B4-BE49-F238E27FC236}">
                <a16:creationId xmlns:a16="http://schemas.microsoft.com/office/drawing/2014/main" id="{D1D4F9CD-9BE4-43CA-A937-208A50DC5D46}"/>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148741637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1453A678-0C17-466D-93BE-F182E28C38B8}"/>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35</a:t>
            </a:r>
          </a:p>
        </p:txBody>
      </p:sp>
      <p:sp>
        <p:nvSpPr>
          <p:cNvPr id="2" name="slide_title">
            <a:extLst>
              <a:ext uri="{FF2B5EF4-FFF2-40B4-BE49-F238E27FC236}">
                <a16:creationId xmlns:a16="http://schemas.microsoft.com/office/drawing/2014/main" id="{62A93939-B838-451C-8C6E-0A24195E4921}"/>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Library · linear cores</a:t>
            </a:r>
          </a:p>
        </p:txBody>
      </p:sp>
      <p:graphicFrame>
        <p:nvGraphicFramePr>
          <p:cNvPr id="3" name="Tabla 2">
            <a:extLst>
              <a:ext uri="{FF2B5EF4-FFF2-40B4-BE49-F238E27FC236}">
                <a16:creationId xmlns:a16="http://schemas.microsoft.com/office/drawing/2014/main" id="{96201547-7FEE-4515-A59A-69C0D17EDA2B}"/>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Signed L1 interior point</a:t>
                      </a:r>
                    </a:p>
                  </a:txBody>
                  <a:tcPr>
                    <a:solidFill>
                      <a:srgbClr val="081522"/>
                    </a:solidFill>
                  </a:tcPr>
                </a:tc>
                <a:tc>
                  <a:txBody>
                    <a:bodyPr/>
                    <a:lstStyle/>
                    <a:p>
                      <a:r>
                        <a:rPr sz="1575" b="0">
                          <a:solidFill>
                            <a:srgbClr val="EAF3F4"/>
                          </a:solidFill>
                          <a:latin typeface="Segoe UI"/>
                          <a:ea typeface="Segoe UI"/>
                          <a:cs typeface="Segoe UI"/>
                        </a:rPr>
                        <a:t>Signed sparse linear fits; not automatically a positive distribution.</a:t>
                      </a:r>
                    </a:p>
                  </a:txBody>
                  <a:tcPr>
                    <a:solidFill>
                      <a:srgbClr val="081522"/>
                    </a:solidFill>
                  </a:tcPr>
                </a:tc>
                <a:tc>
                  <a:txBody>
                    <a:bodyPr/>
                    <a:lstStyle/>
                    <a:p>
                      <a:r>
                        <a:rPr sz="1575" b="0">
                          <a:solidFill>
                            <a:srgbClr val="EAF3F4"/>
                          </a:solidFill>
                          <a:latin typeface="Segoe UI"/>
                          <a:ea typeface="Segoe UI"/>
                          <a:cs typeface="Segoe UI"/>
                        </a:rPr>
                        <a:t>Signed output does not represent positive masses without constraints.</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PLSS residual recursive solver</a:t>
                      </a:r>
                    </a:p>
                  </a:txBody>
                  <a:tcPr>
                    <a:solidFill>
                      <a:srgbClr val="081522"/>
                    </a:solidFill>
                  </a:tcPr>
                </a:tc>
                <a:tc>
                  <a:txBody>
                    <a:bodyPr/>
                    <a:lstStyle/>
                    <a:p>
                      <a:r>
                        <a:rPr sz="1575" b="0">
                          <a:solidFill>
                            <a:srgbClr val="EAF3F4"/>
                          </a:solidFill>
                          <a:latin typeface="Segoe UI"/>
                          <a:ea typeface="Segoe UI"/>
                          <a:cs typeface="Segoe UI"/>
                        </a:rPr>
                        <a:t>Consistent linear systems; auxiliary unregularized core.</a:t>
                      </a:r>
                    </a:p>
                  </a:txBody>
                  <a:tcPr>
                    <a:solidFill>
                      <a:srgbClr val="081522"/>
                    </a:solidFill>
                  </a:tcPr>
                </a:tc>
                <a:tc>
                  <a:txBody>
                    <a:bodyPr/>
                    <a:lstStyle/>
                    <a:p>
                      <a:r>
                        <a:rPr sz="1575" b="0">
                          <a:solidFill>
                            <a:srgbClr val="EAF3F4"/>
                          </a:solidFill>
                          <a:latin typeface="Segoe UI"/>
                          <a:ea typeface="Segoe UI"/>
                          <a:cs typeface="Segoe UI"/>
                        </a:rPr>
                        <a:t>For consistent systems; signed, unregularized output.</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IRLS (fixed p)</a:t>
                      </a:r>
                    </a:p>
                    <a:p>
                      <a:r>
                        <a:rPr sz="1575" b="0">
                          <a:solidFill>
                            <a:srgbClr val="EAF3F4"/>
                          </a:solidFill>
                          <a:latin typeface="Segoe UI"/>
                          <a:ea typeface="Segoe UI"/>
                          <a:cs typeface="Segoe UI"/>
                        </a:rPr>
                        <a:t>dictionary adapter</a:t>
                      </a:r>
                    </a:p>
                  </a:txBody>
                  <a:tcPr>
                    <a:solidFill>
                      <a:srgbClr val="081522"/>
                    </a:solidFill>
                  </a:tcPr>
                </a:tc>
                <a:tc>
                  <a:txBody>
                    <a:bodyPr/>
                    <a:lstStyle/>
                    <a:p>
                      <a:r>
                        <a:rPr sz="1575" b="0">
                          <a:solidFill>
                            <a:srgbClr val="EAF3F4"/>
                          </a:solidFill>
                          <a:latin typeface="Segoe UI"/>
                          <a:ea typeface="Segoe UI"/>
                          <a:cs typeface="Segoe UI"/>
                        </a:rPr>
                        <a:t>Explore sparse solutions through reweighted least squares.</a:t>
                      </a:r>
                    </a:p>
                  </a:txBody>
                  <a:tcPr>
                    <a:solidFill>
                      <a:srgbClr val="081522"/>
                    </a:solidFill>
                  </a:tcPr>
                </a:tc>
                <a:tc>
                  <a:txBody>
                    <a:bodyPr/>
                    <a:lstStyle/>
                    <a:p>
                      <a:r>
                        <a:rPr sz="1575" b="0">
                          <a:solidFill>
                            <a:srgbClr val="EAF3F4"/>
                          </a:solidFill>
                          <a:latin typeface="Segoe UI"/>
                          <a:ea typeface="Segoe UI"/>
                          <a:cs typeface="Segoe UI"/>
                        </a:rPr>
                        <a:t>Signed output; iterate stability does not prove global optimality.</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Weighted PLSS recursive core</a:t>
                      </a:r>
                    </a:p>
                  </a:txBody>
                  <a:tcPr>
                    <a:solidFill>
                      <a:srgbClr val="081522"/>
                    </a:solidFill>
                  </a:tcPr>
                </a:tc>
                <a:tc>
                  <a:txBody>
                    <a:bodyPr/>
                    <a:lstStyle/>
                    <a:p>
                      <a:r>
                        <a:rPr sz="1575" b="0">
                          <a:solidFill>
                            <a:srgbClr val="EAF3F4"/>
                          </a:solidFill>
                          <a:latin typeface="Segoe UI"/>
                          <a:ea typeface="Segoe UI"/>
                          <a:cs typeface="Segoe UI"/>
                        </a:rPr>
                        <a:t>Weighted consistent linear systems; auxiliary core.</a:t>
                      </a:r>
                    </a:p>
                  </a:txBody>
                  <a:tcPr>
                    <a:solidFill>
                      <a:srgbClr val="081522"/>
                    </a:solidFill>
                  </a:tcPr>
                </a:tc>
                <a:tc>
                  <a:txBody>
                    <a:bodyPr/>
                    <a:lstStyle/>
                    <a:p>
                      <a:r>
                        <a:rPr sz="1575" b="0">
                          <a:solidFill>
                            <a:srgbClr val="EAF3F4"/>
                          </a:solidFill>
                          <a:latin typeface="Segoe UI"/>
                          <a:ea typeface="Segoe UI"/>
                          <a:cs typeface="Segoe UI"/>
                        </a:rPr>
                        <a:t>Consistent systems and signed output; not every PLSS variant is included.</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CP-ALS 3D / 4D</a:t>
                      </a:r>
                    </a:p>
                  </a:txBody>
                  <a:tcPr>
                    <a:solidFill>
                      <a:srgbClr val="081522"/>
                    </a:solidFill>
                  </a:tcPr>
                </a:tc>
                <a:tc>
                  <a:txBody>
                    <a:bodyPr/>
                    <a:lstStyle/>
                    <a:p>
                      <a:r>
                        <a:rPr sz="1575" b="0">
                          <a:solidFill>
                            <a:srgbClr val="EAF3F4"/>
                          </a:solidFill>
                          <a:latin typeface="Segoe UI"/>
                          <a:ea typeface="Segoe UI"/>
                          <a:cs typeface="Segoe UI"/>
                        </a:rPr>
                        <a:t>Factorize three/four-way tensors; multi-experiment studies.</a:t>
                      </a:r>
                    </a:p>
                  </a:txBody>
                  <a:tcPr>
                    <a:solidFill>
                      <a:srgbClr val="081522"/>
                    </a:solidFill>
                  </a:tcPr>
                </a:tc>
                <a:tc>
                  <a:txBody>
                    <a:bodyPr/>
                    <a:lstStyle/>
                    <a:p>
                      <a:r>
                        <a:rPr sz="1575" b="0">
                          <a:solidFill>
                            <a:srgbClr val="EAF3F4"/>
                          </a:solidFill>
                          <a:latin typeface="Segoe UI"/>
                          <a:ea typeface="Segoe UI"/>
                          <a:cs typeface="Segoe UI"/>
                        </a:rPr>
                        <a:t>Local solution; stability is not a stationarity certificate.</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212">
            <a:extLst>
              <a:ext uri="{FF2B5EF4-FFF2-40B4-BE49-F238E27FC236}">
                <a16:creationId xmlns:a16="http://schemas.microsoft.com/office/drawing/2014/main" id="{C890E3F7-65AD-4466-BDEE-C829E122B340}"/>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134944762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AEDE7D9C-E02C-419C-9ABF-D6FE0E31334A}"/>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36</a:t>
            </a:r>
          </a:p>
        </p:txBody>
      </p:sp>
      <p:sp>
        <p:nvSpPr>
          <p:cNvPr id="2" name="slide_title">
            <a:extLst>
              <a:ext uri="{FF2B5EF4-FFF2-40B4-BE49-F238E27FC236}">
                <a16:creationId xmlns:a16="http://schemas.microsoft.com/office/drawing/2014/main" id="{D2832F02-D2BE-4F01-8C24-F8279C0278B8}"/>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Library · other Laplace cores</a:t>
            </a:r>
          </a:p>
        </p:txBody>
      </p:sp>
      <p:graphicFrame>
        <p:nvGraphicFramePr>
          <p:cNvPr id="3" name="Tabla 2">
            <a:extLst>
              <a:ext uri="{FF2B5EF4-FFF2-40B4-BE49-F238E27FC236}">
                <a16:creationId xmlns:a16="http://schemas.microsoft.com/office/drawing/2014/main" id="{DD1EAD68-5EA2-40A5-9A63-D850D60D7ADA}"/>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ADSpLRU archived reweighted ADMM</a:t>
                      </a:r>
                    </a:p>
                  </a:txBody>
                  <a:tcPr>
                    <a:solidFill>
                      <a:srgbClr val="081522"/>
                    </a:solidFill>
                  </a:tcPr>
                </a:tc>
                <a:tc>
                  <a:txBody>
                    <a:bodyPr/>
                    <a:lstStyle/>
                    <a:p>
                      <a:r>
                        <a:rPr sz="1575" b="0">
                          <a:solidFill>
                            <a:srgbClr val="EAF3F4"/>
                          </a:solidFill>
                          <a:latin typeface="Segoe UI"/>
                          <a:ea typeface="Segoe UI"/>
                          <a:cs typeface="Segoe UI"/>
                        </a:rPr>
                        <a:t>Joint sparse/low-rank unmixing with reweighted ADMM.</a:t>
                      </a:r>
                    </a:p>
                  </a:txBody>
                  <a:tcPr>
                    <a:solidFill>
                      <a:srgbClr val="081522"/>
                    </a:solidFill>
                  </a:tcPr>
                </a:tc>
                <a:tc>
                  <a:txBody>
                    <a:bodyPr/>
                    <a:lstStyle/>
                    <a:p>
                      <a:r>
                        <a:rPr sz="1575" b="0">
                          <a:solidFill>
                            <a:srgbClr val="EAF3F4"/>
                          </a:solidFill>
                          <a:latin typeface="Segoe UI"/>
                          <a:ea typeface="Segoe UI"/>
                          <a:cs typeface="Segoe UI"/>
                        </a:rPr>
                        <a:t>Historical residual stop is not a fixed convex-objective certificate.</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IPSpLRU incremental proximal recurrence</a:t>
                      </a:r>
                    </a:p>
                  </a:txBody>
                  <a:tcPr>
                    <a:solidFill>
                      <a:srgbClr val="081522"/>
                    </a:solidFill>
                  </a:tcPr>
                </a:tc>
                <a:tc>
                  <a:txBody>
                    <a:bodyPr/>
                    <a:lstStyle/>
                    <a:p>
                      <a:r>
                        <a:rPr sz="1575" b="0">
                          <a:solidFill>
                            <a:srgbClr val="EAF3F4"/>
                          </a:solidFill>
                          <a:latin typeface="Segoe UI"/>
                          <a:ea typeface="Segoe UI"/>
                          <a:cs typeface="Segoe UI"/>
                        </a:rPr>
                        <a:t>Joint unmixing with an incremental proximal recurrence.</a:t>
                      </a:r>
                    </a:p>
                  </a:txBody>
                  <a:tcPr>
                    <a:solidFill>
                      <a:srgbClr val="081522"/>
                    </a:solidFill>
                  </a:tcPr>
                </a:tc>
                <a:tc>
                  <a:txBody>
                    <a:bodyPr/>
                    <a:lstStyle/>
                    <a:p>
                      <a:r>
                        <a:rPr sz="1575" b="0">
                          <a:solidFill>
                            <a:srgbClr val="EAF3F4"/>
                          </a:solidFill>
                          <a:latin typeface="Segoe UI"/>
                          <a:ea typeface="Segoe UI"/>
                          <a:cs typeface="Segoe UI"/>
                        </a:rPr>
                        <a:t>Explicit initialization and update count; convergence is not guaranteed.</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LRSpILT archived ADMM recurrence</a:t>
                      </a:r>
                    </a:p>
                  </a:txBody>
                  <a:tcPr>
                    <a:solidFill>
                      <a:srgbClr val="081522"/>
                    </a:solidFill>
                  </a:tcPr>
                </a:tc>
                <a:tc>
                  <a:txBody>
                    <a:bodyPr/>
                    <a:lstStyle/>
                    <a:p>
                      <a:r>
                        <a:rPr sz="1575" b="0">
                          <a:solidFill>
                            <a:srgbClr val="EAF3F4"/>
                          </a:solidFill>
                          <a:latin typeface="Segoe UI"/>
                          <a:ea typeface="Segoe UI"/>
                          <a:cs typeface="Segoe UI"/>
                        </a:rPr>
                        <a:t>Joint DOSY reconstruction using low-rank and sparse structure.</a:t>
                      </a:r>
                    </a:p>
                  </a:txBody>
                  <a:tcPr>
                    <a:solidFill>
                      <a:srgbClr val="081522"/>
                    </a:solidFill>
                  </a:tcPr>
                </a:tc>
                <a:tc>
                  <a:txBody>
                    <a:bodyPr/>
                    <a:lstStyle/>
                    <a:p>
                      <a:r>
                        <a:rPr sz="1575" b="0">
                          <a:solidFill>
                            <a:srgbClr val="EAF3F4"/>
                          </a:solidFill>
                          <a:latin typeface="Segoe UI"/>
                          <a:ea typeface="Segoe UI"/>
                          <a:cs typeface="Segoe UI"/>
                        </a:rPr>
                        <a:t>Adaptive thresholds; relative stopping is not an optimality certificate.</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PDHGM2</a:t>
                      </a:r>
                    </a:p>
                    <a:p>
                      <a:r>
                        <a:rPr sz="1575" b="0">
                          <a:solidFill>
                            <a:srgbClr val="EAF3F4"/>
                          </a:solidFill>
                          <a:latin typeface="Segoe UI"/>
                          <a:ea typeface="Segoe UI"/>
                          <a:cs typeface="Segoe UI"/>
                        </a:rPr>
                        <a:t>NMRInversions.jl</a:t>
                      </a:r>
                    </a:p>
                  </a:txBody>
                  <a:tcPr>
                    <a:solidFill>
                      <a:srgbClr val="081522"/>
                    </a:solidFill>
                  </a:tcPr>
                </a:tc>
                <a:tc>
                  <a:txBody>
                    <a:bodyPr/>
                    <a:lstStyle/>
                    <a:p>
                      <a:r>
                        <a:rPr sz="1575" b="0">
                          <a:solidFill>
                            <a:srgbClr val="EAF3F4"/>
                          </a:solidFill>
                          <a:latin typeface="Segoe UI"/>
                          <a:ea typeface="Segoe UI"/>
                          <a:cs typeface="Segoe UI"/>
                        </a:rPr>
                        <a:t>Replay the NMRInversions.jl recurrence and check KKT separately.</a:t>
                      </a:r>
                    </a:p>
                  </a:txBody>
                  <a:tcPr>
                    <a:solidFill>
                      <a:srgbClr val="081522"/>
                    </a:solidFill>
                  </a:tcPr>
                </a:tc>
                <a:tc>
                  <a:txBody>
                    <a:bodyPr/>
                    <a:lstStyle/>
                    <a:p>
                      <a:r>
                        <a:rPr sz="1575" b="0">
                          <a:solidFill>
                            <a:srgbClr val="EAF3F4"/>
                          </a:solidFill>
                          <a:latin typeface="Segoe UI"/>
                          <a:ea typeface="Segoe UI"/>
                          <a:cs typeface="Segoe UI"/>
                        </a:rPr>
                        <a:t>Projection does not guarantee the positive objective; inspect actual KKT.</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ILT.jl</a:t>
                      </a:r>
                    </a:p>
                    <a:p>
                      <a:r>
                        <a:rPr sz="1575" b="0">
                          <a:solidFill>
                            <a:srgbClr val="EAF3F4"/>
                          </a:solidFill>
                          <a:latin typeface="Segoe UI"/>
                          <a:ea typeface="Segoe UI"/>
                          <a:cs typeface="Segoe UI"/>
                        </a:rPr>
                        <a:t>positive ridge</a:t>
                      </a:r>
                    </a:p>
                  </a:txBody>
                  <a:tcPr>
                    <a:solidFill>
                      <a:srgbClr val="081522"/>
                    </a:solidFill>
                  </a:tcPr>
                </a:tc>
                <a:tc>
                  <a:txBody>
                    <a:bodyPr/>
                    <a:lstStyle/>
                    <a:p>
                      <a:r>
                        <a:rPr sz="1575" b="0">
                          <a:solidFill>
                            <a:srgbClr val="EAF3F4"/>
                          </a:solidFill>
                          <a:latin typeface="Segoe UI"/>
                          <a:ea typeface="Segoe UI"/>
                          <a:cs typeface="Segoe UI"/>
                        </a:rPr>
                        <a:t>Positive inversion with a signed baseline term.</a:t>
                      </a:r>
                    </a:p>
                  </a:txBody>
                  <a:tcPr>
                    <a:solidFill>
                      <a:srgbClr val="081522"/>
                    </a:solidFill>
                  </a:tcPr>
                </a:tc>
                <a:tc>
                  <a:txBody>
                    <a:bodyPr/>
                    <a:lstStyle/>
                    <a:p>
                      <a:r>
                        <a:rPr sz="1575" b="0">
                          <a:solidFill>
                            <a:srgbClr val="EAF3F4"/>
                          </a:solidFill>
                          <a:latin typeface="Segoe UI"/>
                          <a:ea typeface="Segoe UI"/>
                          <a:cs typeface="Segoe UI"/>
                        </a:rPr>
                        <a:t>NNLS replaces Ipopt; baseline is also penalized and alpha is fixed.</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213">
            <a:extLst>
              <a:ext uri="{FF2B5EF4-FFF2-40B4-BE49-F238E27FC236}">
                <a16:creationId xmlns:a16="http://schemas.microsoft.com/office/drawing/2014/main" id="{A531B45F-A522-4C2D-AAEB-B91E3EFF72CD}"/>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156286001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0B39D0BC-B9B2-451C-8F9E-939252ED4677}"/>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37</a:t>
            </a:r>
          </a:p>
        </p:txBody>
      </p:sp>
      <p:sp>
        <p:nvSpPr>
          <p:cNvPr id="2" name="slide_title">
            <a:extLst>
              <a:ext uri="{FF2B5EF4-FFF2-40B4-BE49-F238E27FC236}">
                <a16:creationId xmlns:a16="http://schemas.microsoft.com/office/drawing/2014/main" id="{CDAA25A4-813C-41B1-852B-6B5B200C0535}"/>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Library · regularization and unmixing</a:t>
            </a:r>
          </a:p>
        </p:txBody>
      </p:sp>
      <p:graphicFrame>
        <p:nvGraphicFramePr>
          <p:cNvPr id="3" name="Tabla 2">
            <a:extLst>
              <a:ext uri="{FF2B5EF4-FFF2-40B4-BE49-F238E27FC236}">
                <a16:creationId xmlns:a16="http://schemas.microsoft.com/office/drawing/2014/main" id="{A93DC5B9-5D05-4AC0-AE0E-517D735D45CA}"/>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TailoredNorm archived p sweep</a:t>
                      </a:r>
                    </a:p>
                  </a:txBody>
                  <a:tcPr>
                    <a:solidFill>
                      <a:srgbClr val="081522"/>
                    </a:solidFill>
                  </a:tcPr>
                </a:tc>
                <a:tc>
                  <a:txBody>
                    <a:bodyPr/>
                    <a:lstStyle/>
                    <a:p>
                      <a:r>
                        <a:rPr sz="1575" b="0">
                          <a:solidFill>
                            <a:srgbClr val="EAF3F4"/>
                          </a:solidFill>
                          <a:latin typeface="Segoe UI"/>
                          <a:ea typeface="Segoe UI"/>
                          <a:cs typeface="Segoe UI"/>
                        </a:rPr>
                        <a:t>Explore a p-norm sweep; replay the archived numerical policy.</a:t>
                      </a:r>
                    </a:p>
                  </a:txBody>
                  <a:tcPr>
                    <a:solidFill>
                      <a:srgbClr val="081522"/>
                    </a:solidFill>
                  </a:tcPr>
                </a:tc>
                <a:tc>
                  <a:txBody>
                    <a:bodyPr/>
                    <a:lstStyle/>
                    <a:p>
                      <a:r>
                        <a:rPr sz="1575" b="0">
                          <a:solidFill>
                            <a:srgbClr val="EAF3F4"/>
                          </a:solidFill>
                          <a:latin typeface="Segoe UI"/>
                          <a:ea typeface="Segoe UI"/>
                          <a:cs typeface="Segoe UI"/>
                        </a:rPr>
                        <a:t>The original threshold can annihilate output; retain this failure.</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UPEN2D adaptive spatial penalties</a:t>
                      </a:r>
                    </a:p>
                  </a:txBody>
                  <a:tcPr>
                    <a:solidFill>
                      <a:srgbClr val="081522"/>
                    </a:solidFill>
                  </a:tcPr>
                </a:tc>
                <a:tc>
                  <a:txBody>
                    <a:bodyPr/>
                    <a:lstStyle/>
                    <a:p>
                      <a:r>
                        <a:rPr sz="1575" b="0">
                          <a:solidFill>
                            <a:srgbClr val="EAF3F4"/>
                          </a:solidFill>
                          <a:latin typeface="Segoe UI"/>
                          <a:ea typeface="Segoe UI"/>
                          <a:cs typeface="Segoe UI"/>
                        </a:rPr>
                        <a:t>2D distributions with adaptive local smoothing; two physical operators.</a:t>
                      </a:r>
                    </a:p>
                  </a:txBody>
                  <a:tcPr>
                    <a:solidFill>
                      <a:srgbClr val="081522"/>
                    </a:solidFill>
                  </a:tcPr>
                </a:tc>
                <a:tc>
                  <a:txBody>
                    <a:bodyPr/>
                    <a:lstStyle/>
                    <a:p>
                      <a:r>
                        <a:rPr sz="1575" b="0">
                          <a:solidFill>
                            <a:srgbClr val="EAF3F4"/>
                          </a:solidFill>
                          <a:latin typeface="Segoe UI"/>
                          <a:ea typeface="Segoe UI"/>
                          <a:cs typeface="Segoe UI"/>
                        </a:rPr>
                        <a:t>NNLS inner solver; no original compression. Check both operators.</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MUPEN2D spatial multi-penalty FISTA</a:t>
                      </a:r>
                    </a:p>
                  </a:txBody>
                  <a:tcPr>
                    <a:solidFill>
                      <a:srgbClr val="081522"/>
                    </a:solidFill>
                  </a:tcPr>
                </a:tc>
                <a:tc>
                  <a:txBody>
                    <a:bodyPr/>
                    <a:lstStyle/>
                    <a:p>
                      <a:r>
                        <a:rPr sz="1575" b="0">
                          <a:solidFill>
                            <a:srgbClr val="EAF3F4"/>
                          </a:solidFill>
                          <a:latin typeface="Segoe UI"/>
                          <a:ea typeface="Segoe UI"/>
                          <a:cs typeface="Segoe UI"/>
                        </a:rPr>
                        <a:t>2D inversion with adaptive multiple penalties; signed output.</a:t>
                      </a:r>
                    </a:p>
                  </a:txBody>
                  <a:tcPr>
                    <a:solidFill>
                      <a:srgbClr val="081522"/>
                    </a:solidFill>
                  </a:tcPr>
                </a:tc>
                <a:tc>
                  <a:txBody>
                    <a:bodyPr/>
                    <a:lstStyle/>
                    <a:p>
                      <a:r>
                        <a:rPr sz="1575" b="0">
                          <a:solidFill>
                            <a:srgbClr val="EAF3F4"/>
                          </a:solidFill>
                          <a:latin typeface="Segoe UI"/>
                          <a:ea typeface="Segoe UI"/>
                          <a:cs typeface="Segoe UI"/>
                        </a:rPr>
                        <a:t>Signed output; distinguish corrected adjoint from the historical policy.</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SUnSAL unmixing ADMM</a:t>
                      </a:r>
                    </a:p>
                  </a:txBody>
                  <a:tcPr>
                    <a:solidFill>
                      <a:srgbClr val="081522"/>
                    </a:solidFill>
                  </a:tcPr>
                </a:tc>
                <a:tc>
                  <a:txBody>
                    <a:bodyPr/>
                    <a:lstStyle/>
                    <a:p>
                      <a:r>
                        <a:rPr sz="1575" b="0">
                          <a:solidFill>
                            <a:srgbClr val="EAF3F4"/>
                          </a:solidFill>
                          <a:latin typeface="Segoe UI"/>
                          <a:ea typeface="Segoe UI"/>
                          <a:cs typeface="Segoe UI"/>
                        </a:rPr>
                        <a:t>Sparse unmixing with an explicit dictionary and optional constraints.</a:t>
                      </a:r>
                    </a:p>
                  </a:txBody>
                  <a:tcPr>
                    <a:solidFill>
                      <a:srgbClr val="081522"/>
                    </a:solidFill>
                  </a:tcPr>
                </a:tc>
                <a:tc>
                  <a:txBody>
                    <a:bodyPr/>
                    <a:lstStyle/>
                    <a:p>
                      <a:r>
                        <a:rPr sz="1575" b="0">
                          <a:solidFill>
                            <a:srgbClr val="EAF3F4"/>
                          </a:solidFill>
                          <a:latin typeface="Segoe UI"/>
                          <a:ea typeface="Segoe UI"/>
                          <a:cs typeface="Segoe UI"/>
                        </a:rPr>
                        <a:t>Justify positivity and sum-one; L1 is constant on a positive simplex.</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CLSUnSAL collaborative unmixing</a:t>
                      </a:r>
                    </a:p>
                  </a:txBody>
                  <a:tcPr>
                    <a:solidFill>
                      <a:srgbClr val="081522"/>
                    </a:solidFill>
                  </a:tcPr>
                </a:tc>
                <a:tc>
                  <a:txBody>
                    <a:bodyPr/>
                    <a:lstStyle/>
                    <a:p>
                      <a:r>
                        <a:rPr sz="1575" b="0">
                          <a:solidFill>
                            <a:srgbClr val="EAF3F4"/>
                          </a:solidFill>
                          <a:latin typeface="Segoe UI"/>
                          <a:ea typeface="Segoe UI"/>
                          <a:cs typeface="Segoe UI"/>
                        </a:rPr>
                        <a:t>Collaborative unmixing with support shared across columns.</a:t>
                      </a:r>
                    </a:p>
                  </a:txBody>
                  <a:tcPr>
                    <a:solidFill>
                      <a:srgbClr val="081522"/>
                    </a:solidFill>
                  </a:tcPr>
                </a:tc>
                <a:tc>
                  <a:txBody>
                    <a:bodyPr/>
                    <a:lstStyle/>
                    <a:p>
                      <a:r>
                        <a:rPr sz="1575" b="0">
                          <a:solidFill>
                            <a:srgbClr val="EAF3F4"/>
                          </a:solidFill>
                          <a:latin typeface="Segoe UI"/>
                          <a:ea typeface="Segoe UI"/>
                          <a:cs typeface="Segoe UI"/>
                        </a:rPr>
                        <a:t>Historical stopping is not an optimality certificate.</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214">
            <a:extLst>
              <a:ext uri="{FF2B5EF4-FFF2-40B4-BE49-F238E27FC236}">
                <a16:creationId xmlns:a16="http://schemas.microsoft.com/office/drawing/2014/main" id="{5BD5386F-2CC4-4775-84FE-C39B6A9563D6}"/>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202155056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F96F4297-4A04-474D-B154-DDEAC16C2982}"/>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38</a:t>
            </a:r>
          </a:p>
        </p:txBody>
      </p:sp>
      <p:sp>
        <p:nvSpPr>
          <p:cNvPr id="2" name="slide_title">
            <a:extLst>
              <a:ext uri="{FF2B5EF4-FFF2-40B4-BE49-F238E27FC236}">
                <a16:creationId xmlns:a16="http://schemas.microsoft.com/office/drawing/2014/main" id="{6E240C59-E93C-48F1-A17B-F338F4EE1331}"/>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Library · specific domains</a:t>
            </a:r>
          </a:p>
        </p:txBody>
      </p:sp>
      <p:graphicFrame>
        <p:nvGraphicFramePr>
          <p:cNvPr id="3" name="Tabla 2">
            <a:extLst>
              <a:ext uri="{FF2B5EF4-FFF2-40B4-BE49-F238E27FC236}">
                <a16:creationId xmlns:a16="http://schemas.microsoft.com/office/drawing/2014/main" id="{EBF5B51C-CDF2-4D48-9D77-863D95F2F5B3}"/>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1023938">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1023938">
                <a:tc>
                  <a:txBody>
                    <a:bodyPr/>
                    <a:lstStyle/>
                    <a:p>
                      <a:r>
                        <a:rPr sz="1575" b="0">
                          <a:solidFill>
                            <a:srgbClr val="EAF3F4"/>
                          </a:solidFill>
                          <a:latin typeface="Segoe UI"/>
                          <a:ea typeface="Segoe UI"/>
                          <a:cs typeface="Segoe UI"/>
                        </a:rPr>
                        <a:t>Fully constrained least squares</a:t>
                      </a:r>
                    </a:p>
                  </a:txBody>
                  <a:tcPr>
                    <a:solidFill>
                      <a:srgbClr val="081522"/>
                    </a:solidFill>
                  </a:tcPr>
                </a:tc>
                <a:tc>
                  <a:txBody>
                    <a:bodyPr/>
                    <a:lstStyle/>
                    <a:p>
                      <a:r>
                        <a:rPr sz="1575" b="0">
                          <a:solidFill>
                            <a:srgbClr val="EAF3F4"/>
                          </a:solidFill>
                          <a:latin typeface="Segoe UI"/>
                          <a:ea typeface="Segoe UI"/>
                          <a:cs typeface="Segoe UI"/>
                        </a:rPr>
                        <a:t>Positive sum-to-one unmixing only when normalization justifies it.</a:t>
                      </a:r>
                    </a:p>
                  </a:txBody>
                  <a:tcPr>
                    <a:solidFill>
                      <a:srgbClr val="081522"/>
                    </a:solidFill>
                  </a:tcPr>
                </a:tc>
                <a:tc>
                  <a:txBody>
                    <a:bodyPr/>
                    <a:lstStyle/>
                    <a:p>
                      <a:r>
                        <a:rPr sz="1575" b="0">
                          <a:solidFill>
                            <a:srgbClr val="EAF3F4"/>
                          </a:solidFill>
                          <a:latin typeface="Segoe UI"/>
                          <a:ea typeface="Segoe UI"/>
                          <a:cs typeface="Segoe UI"/>
                        </a:rPr>
                        <a:t>Sum-one is mandatory; justify it for DOSY intensities.</a:t>
                      </a:r>
                    </a:p>
                  </a:txBody>
                  <a:tcPr>
                    <a:solidFill>
                      <a:srgbClr val="081522"/>
                    </a:solidFill>
                  </a:tcPr>
                </a:tc>
                <a:extLst>
                  <a:ext uri="{0D108BD9-81ED-4DB2-BD59-A6C34878D82A}">
                    <a16:rowId xmlns:a16="http://schemas.microsoft.com/office/drawing/2014/main" val="10001"/>
                  </a:ext>
                </a:extLst>
              </a:tr>
              <a:tr h="1023938">
                <a:tc>
                  <a:txBody>
                    <a:bodyPr/>
                    <a:lstStyle/>
                    <a:p>
                      <a:r>
                        <a:rPr sz="1575" b="0">
                          <a:solidFill>
                            <a:srgbClr val="EAF3F4"/>
                          </a:solidFill>
                          <a:latin typeface="Segoe UI"/>
                          <a:ea typeface="Segoe UI"/>
                          <a:cs typeface="Segoe UI"/>
                        </a:rPr>
                        <a:t>MRI mixture of Wisharts/tensors matrix core</a:t>
                      </a:r>
                    </a:p>
                  </a:txBody>
                  <a:tcPr>
                    <a:solidFill>
                      <a:srgbClr val="081522"/>
                    </a:solidFill>
                  </a:tcPr>
                </a:tc>
                <a:tc>
                  <a:txBody>
                    <a:bodyPr/>
                    <a:lstStyle/>
                    <a:p>
                      <a:r>
                        <a:rPr sz="1575" b="0">
                          <a:solidFill>
                            <a:srgbClr val="EAF3F4"/>
                          </a:solidFill>
                          <a:latin typeface="Segoe UI"/>
                          <a:ea typeface="Segoe UI"/>
                          <a:cs typeface="Segoe UI"/>
                        </a:rPr>
                        <a:t>Directional MRI diffusion using Wishart/tensor mixtures.</a:t>
                      </a:r>
                    </a:p>
                  </a:txBody>
                  <a:tcPr>
                    <a:solidFill>
                      <a:srgbClr val="081522"/>
                    </a:solidFill>
                  </a:tcPr>
                </a:tc>
                <a:tc>
                  <a:txBody>
                    <a:bodyPr/>
                    <a:lstStyle/>
                    <a:p>
                      <a:r>
                        <a:rPr sz="1575" b="0">
                          <a:solidFill>
                            <a:srgbClr val="EAF3F4"/>
                          </a:solidFill>
                          <a:latin typeface="Segoe UI"/>
                          <a:ea typeface="Segoe UI"/>
                          <a:cs typeface="Segoe UI"/>
                        </a:rPr>
                        <a:t>Not scalar DOSY ILT; directional encoding is required.</a:t>
                      </a:r>
                    </a:p>
                  </a:txBody>
                  <a:tcPr>
                    <a:solidFill>
                      <a:srgbClr val="081522"/>
                    </a:solidFill>
                  </a:tcPr>
                </a:tc>
                <a:extLst>
                  <a:ext uri="{0D108BD9-81ED-4DB2-BD59-A6C34878D82A}">
                    <a16:rowId xmlns:a16="http://schemas.microsoft.com/office/drawing/2014/main" val="10002"/>
                  </a:ext>
                </a:extLst>
              </a:tr>
              <a:tr h="1023938">
                <a:tc>
                  <a:txBody>
                    <a:bodyPr/>
                    <a:lstStyle/>
                    <a:p>
                      <a:r>
                        <a:rPr sz="1575" b="0">
                          <a:solidFill>
                            <a:srgbClr val="EAF3F4"/>
                          </a:solidFill>
                          <a:latin typeface="Segoe UI"/>
                          <a:ea typeface="Segoe UI"/>
                          <a:cs typeface="Segoe UI"/>
                        </a:rPr>
                        <a:t>MRI Q-ball harmonic transform</a:t>
                      </a:r>
                    </a:p>
                  </a:txBody>
                  <a:tcPr>
                    <a:solidFill>
                      <a:srgbClr val="081522"/>
                    </a:solidFill>
                  </a:tcPr>
                </a:tc>
                <a:tc>
                  <a:txBody>
                    <a:bodyPr/>
                    <a:lstStyle/>
                    <a:p>
                      <a:r>
                        <a:rPr sz="1575" b="0">
                          <a:solidFill>
                            <a:srgbClr val="EAF3F4"/>
                          </a:solidFill>
                          <a:latin typeface="Segoe UI"/>
                          <a:ea typeface="Segoe UI"/>
                          <a:cs typeface="Segoe UI"/>
                        </a:rPr>
                        <a:t>Angular Q-ball MRI reconstruction in a supplied harmonic basis.</a:t>
                      </a:r>
                    </a:p>
                  </a:txBody>
                  <a:tcPr>
                    <a:solidFill>
                      <a:srgbClr val="081522"/>
                    </a:solidFill>
                  </a:tcPr>
                </a:tc>
                <a:tc>
                  <a:txBody>
                    <a:bodyPr/>
                    <a:lstStyle/>
                    <a:p>
                      <a:r>
                        <a:rPr sz="1575" b="0">
                          <a:solidFill>
                            <a:srgbClr val="EAF3F4"/>
                          </a:solidFill>
                          <a:latin typeface="Segoe UI"/>
                          <a:ea typeface="Segoe UI"/>
                          <a:cs typeface="Segoe UI"/>
                        </a:rPr>
                        <a:t>External harmonic basis; neither scalar ILT nor normalized probability.</a:t>
                      </a:r>
                    </a:p>
                  </a:txBody>
                  <a:tcPr>
                    <a:solidFill>
                      <a:srgbClr val="081522"/>
                    </a:solidFill>
                  </a:tcPr>
                </a:tc>
                <a:extLst>
                  <a:ext uri="{0D108BD9-81ED-4DB2-BD59-A6C34878D82A}">
                    <a16:rowId xmlns:a16="http://schemas.microsoft.com/office/drawing/2014/main" val="10003"/>
                  </a:ext>
                </a:extLst>
              </a:tr>
            </a:tbl>
          </a:graphicData>
        </a:graphic>
      </p:graphicFrame>
      <p:sp>
        <p:nvSpPr>
          <p:cNvPr id="4" name="text_215">
            <a:extLst>
              <a:ext uri="{FF2B5EF4-FFF2-40B4-BE49-F238E27FC236}">
                <a16:creationId xmlns:a16="http://schemas.microsoft.com/office/drawing/2014/main" id="{61EB467D-31C8-4186-A7A6-25195AFA4062}"/>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158238718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7167957B-7DE5-498B-AA77-9D2B38913DF1}"/>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39</a:t>
            </a:r>
          </a:p>
        </p:txBody>
      </p:sp>
      <p:sp>
        <p:nvSpPr>
          <p:cNvPr id="2" name="slide_title">
            <a:extLst>
              <a:ext uri="{FF2B5EF4-FFF2-40B4-BE49-F238E27FC236}">
                <a16:creationId xmlns:a16="http://schemas.microsoft.com/office/drawing/2014/main" id="{DE947013-85A8-4B4B-9205-A9CF14790A38}"/>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Context · models and engines</a:t>
            </a:r>
          </a:p>
        </p:txBody>
      </p:sp>
      <p:graphicFrame>
        <p:nvGraphicFramePr>
          <p:cNvPr id="3" name="Tabla 2">
            <a:extLst>
              <a:ext uri="{FF2B5EF4-FFF2-40B4-BE49-F238E27FC236}">
                <a16:creationId xmlns:a16="http://schemas.microsoft.com/office/drawing/2014/main" id="{D010A942-417D-4CEF-9043-628E5186B83A}"/>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Mono / multi-exponential fitting</a:t>
                      </a:r>
                    </a:p>
                  </a:txBody>
                  <a:tcPr>
                    <a:solidFill>
                      <a:srgbClr val="081522"/>
                    </a:solidFill>
                  </a:tcPr>
                </a:tc>
                <a:tc>
                  <a:txBody>
                    <a:bodyPr/>
                    <a:lstStyle/>
                    <a:p>
                      <a:r>
                        <a:rPr sz="1575" b="0">
                          <a:solidFill>
                            <a:srgbClr val="EAF3F4"/>
                          </a:solidFill>
                          <a:latin typeface="Segoe UI"/>
                          <a:ea typeface="Segoe UI"/>
                          <a:cs typeface="Segoe UI"/>
                        </a:rPr>
                        <a:t>Few expected components; start with monoexponential fitting on an isolated signal.</a:t>
                      </a:r>
                    </a:p>
                  </a:txBody>
                  <a:tcPr>
                    <a:solidFill>
                      <a:srgbClr val="081522"/>
                    </a:solidFill>
                  </a:tcPr>
                </a:tc>
                <a:tc>
                  <a:txBody>
                    <a:bodyPr/>
                    <a:lstStyle/>
                    <a:p>
                      <a:r>
                        <a:rPr sz="1575" b="0">
                          <a:solidFill>
                            <a:srgbClr val="EAF3F4"/>
                          </a:solidFill>
                          <a:latin typeface="Segoe UI"/>
                          <a:ea typeface="Segoe UI"/>
                          <a:cs typeface="Segoe UI"/>
                        </a:rPr>
                        <a:t>A k-exponential fit assumes k; nearby D values are hard to resolve.</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CONTIN</a:t>
                      </a:r>
                    </a:p>
                  </a:txBody>
                  <a:tcPr>
                    <a:solidFill>
                      <a:srgbClr val="081522"/>
                    </a:solidFill>
                  </a:tcPr>
                </a:tc>
                <a:tc>
                  <a:txBody>
                    <a:bodyPr/>
                    <a:lstStyle/>
                    <a:p>
                      <a:r>
                        <a:rPr sz="1575" b="0">
                          <a:solidFill>
                            <a:srgbClr val="EAF3F4"/>
                          </a:solidFill>
                          <a:latin typeface="Segoe UI"/>
                          <a:ea typeface="Segoe UI"/>
                          <a:cs typeface="Segoe UI"/>
                        </a:rPr>
                        <a:t>Positive continuous distribution with regularization and its own parameter selection.</a:t>
                      </a:r>
                    </a:p>
                  </a:txBody>
                  <a:tcPr>
                    <a:solidFill>
                      <a:srgbClr val="081522"/>
                    </a:solidFill>
                  </a:tcPr>
                </a:tc>
                <a:tc>
                  <a:txBody>
                    <a:bodyPr/>
                    <a:lstStyle/>
                    <a:p>
                      <a:r>
                        <a:rPr sz="1575" b="0">
                          <a:solidFill>
                            <a:srgbClr val="EAF3F4"/>
                          </a:solidFill>
                          <a:latin typeface="Segoe UI"/>
                          <a:ea typeface="Segoe UI"/>
                          <a:cs typeface="Segoe UI"/>
                        </a:rPr>
                        <a:t>Fixed-lambda Tikhonov is not the full CONTIN program.</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SVD / TSVD</a:t>
                      </a:r>
                    </a:p>
                  </a:txBody>
                  <a:tcPr>
                    <a:solidFill>
                      <a:srgbClr val="081522"/>
                    </a:solidFill>
                  </a:tcPr>
                </a:tc>
                <a:tc>
                  <a:txBody>
                    <a:bodyPr/>
                    <a:lstStyle/>
                    <a:p>
                      <a:r>
                        <a:rPr sz="1575" b="0">
                          <a:solidFill>
                            <a:srgbClr val="EAF3F4"/>
                          </a:solidFill>
                          <a:latin typeface="Segoe UI"/>
                          <a:ea typeface="Segoe UI"/>
                          <a:cs typeface="Segoe UI"/>
                        </a:rPr>
                        <a:t>Diagnose informative rank; compress the problem or truncate weak modes.</a:t>
                      </a:r>
                    </a:p>
                  </a:txBody>
                  <a:tcPr>
                    <a:solidFill>
                      <a:srgbClr val="081522"/>
                    </a:solidFill>
                  </a:tcPr>
                </a:tc>
                <a:tc>
                  <a:txBody>
                    <a:bodyPr/>
                    <a:lstStyle/>
                    <a:p>
                      <a:r>
                        <a:rPr sz="1575" b="0">
                          <a:solidFill>
                            <a:srgbClr val="EAF3F4"/>
                          </a:solidFill>
                          <a:latin typeface="Segoe UI"/>
                          <a:ea typeface="Segoe UI"/>
                          <a:cs typeface="Segoe UI"/>
                        </a:rPr>
                        <a:t>SVD alone does not guarantee positivity; more bins do not create resolution.</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FISTA</a:t>
                      </a:r>
                    </a:p>
                  </a:txBody>
                  <a:tcPr>
                    <a:solidFill>
                      <a:srgbClr val="081522"/>
                    </a:solidFill>
                  </a:tcPr>
                </a:tc>
                <a:tc>
                  <a:txBody>
                    <a:bodyPr/>
                    <a:lstStyle/>
                    <a:p>
                      <a:r>
                        <a:rPr sz="1575" b="0">
                          <a:solidFill>
                            <a:srgbClr val="EAF3F4"/>
                          </a:solidFill>
                          <a:latin typeface="Segoe UI"/>
                          <a:ea typeface="Segoe UI"/>
                          <a:cs typeface="Segoe UI"/>
                        </a:rPr>
                        <a:t>Numerical engine for L1 or L2 objectives with projection/proximal operators.</a:t>
                      </a:r>
                    </a:p>
                  </a:txBody>
                  <a:tcPr>
                    <a:solidFill>
                      <a:srgbClr val="081522"/>
                    </a:solidFill>
                  </a:tcPr>
                </a:tc>
                <a:tc>
                  <a:txBody>
                    <a:bodyPr/>
                    <a:lstStyle/>
                    <a:p>
                      <a:r>
                        <a:rPr sz="1575" b="0">
                          <a:solidFill>
                            <a:srgbClr val="EAF3F4"/>
                          </a:solidFill>
                          <a:latin typeface="Segoe UI"/>
                          <a:ea typeface="Segoe UI"/>
                          <a:cs typeface="Segoe UI"/>
                        </a:rPr>
                        <a:t>The engine alone defines neither the prior nor the experiment.</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UPEN / 2DUPEN / MUPEN2D</a:t>
                      </a:r>
                    </a:p>
                  </a:txBody>
                  <a:tcPr>
                    <a:solidFill>
                      <a:srgbClr val="081522"/>
                    </a:solidFill>
                  </a:tcPr>
                </a:tc>
                <a:tc>
                  <a:txBody>
                    <a:bodyPr/>
                    <a:lstStyle/>
                    <a:p>
                      <a:r>
                        <a:rPr sz="1575" b="0">
                          <a:solidFill>
                            <a:srgbClr val="EAF3F4"/>
                          </a:solidFill>
                          <a:latin typeface="Segoe UI"/>
                          <a:ea typeface="Segoe UI"/>
                          <a:cs typeface="Segoe UI"/>
                        </a:rPr>
                        <a:t>Adaptive local smoothing for sharp peaks and broad regions.</a:t>
                      </a:r>
                    </a:p>
                  </a:txBody>
                  <a:tcPr>
                    <a:solidFill>
                      <a:srgbClr val="081522"/>
                    </a:solidFill>
                  </a:tcPr>
                </a:tc>
                <a:tc>
                  <a:txBody>
                    <a:bodyPr/>
                    <a:lstStyle/>
                    <a:p>
                      <a:r>
                        <a:rPr sz="1575" b="0">
                          <a:solidFill>
                            <a:srgbClr val="EAF3F4"/>
                          </a:solidFill>
                          <a:latin typeface="Segoe UI"/>
                          <a:ea typeface="Segoe UI"/>
                          <a:cs typeface="Segoe UI"/>
                        </a:rPr>
                        <a:t>Specify version, positivity and operators; not generic curvature_reweighted.</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216">
            <a:extLst>
              <a:ext uri="{FF2B5EF4-FFF2-40B4-BE49-F238E27FC236}">
                <a16:creationId xmlns:a16="http://schemas.microsoft.com/office/drawing/2014/main" id="{5BE6C1A2-FFBD-43B4-8065-60DE65F0B997}"/>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114912864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2A2FAF4D-C28D-4C47-BA79-D7A11CD2CADA}"/>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40</a:t>
            </a:r>
          </a:p>
        </p:txBody>
      </p:sp>
      <p:sp>
        <p:nvSpPr>
          <p:cNvPr id="2" name="slide_title">
            <a:extLst>
              <a:ext uri="{FF2B5EF4-FFF2-40B4-BE49-F238E27FC236}">
                <a16:creationId xmlns:a16="http://schemas.microsoft.com/office/drawing/2014/main" id="{31FFC00D-FA3A-48F3-A033-E96A2B5EEA47}"/>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Context · multidimensional and learning</a:t>
            </a:r>
          </a:p>
        </p:txBody>
      </p:sp>
      <p:graphicFrame>
        <p:nvGraphicFramePr>
          <p:cNvPr id="3" name="Tabla 2">
            <a:extLst>
              <a:ext uri="{FF2B5EF4-FFF2-40B4-BE49-F238E27FC236}">
                <a16:creationId xmlns:a16="http://schemas.microsoft.com/office/drawing/2014/main" id="{933D2697-A1AE-4A38-8B40-C33431FAB2D0}"/>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819150">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819150">
                <a:tc>
                  <a:txBody>
                    <a:bodyPr/>
                    <a:lstStyle/>
                    <a:p>
                      <a:r>
                        <a:rPr sz="1575" b="0">
                          <a:solidFill>
                            <a:srgbClr val="EAF3F4"/>
                          </a:solidFill>
                          <a:latin typeface="Segoe UI"/>
                          <a:ea typeface="Segoe UI"/>
                          <a:cs typeface="Segoe UI"/>
                        </a:rPr>
                        <a:t>EDMILT</a:t>
                      </a:r>
                    </a:p>
                  </a:txBody>
                  <a:tcPr>
                    <a:solidFill>
                      <a:srgbClr val="081522"/>
                    </a:solidFill>
                  </a:tcPr>
                </a:tc>
                <a:tc>
                  <a:txBody>
                    <a:bodyPr/>
                    <a:lstStyle/>
                    <a:p>
                      <a:r>
                        <a:rPr sz="1575" b="0">
                          <a:solidFill>
                            <a:srgbClr val="EAF3F4"/>
                          </a:solidFill>
                          <a:latin typeface="Segoe UI"/>
                          <a:ea typeface="Segoe UI"/>
                          <a:cs typeface="Segoe UI"/>
                        </a:rPr>
                        <a:t>Multidimensional ILT with tailored regularization; D–T2/T1–T2 correlations.</a:t>
                      </a:r>
                    </a:p>
                  </a:txBody>
                  <a:tcPr>
                    <a:solidFill>
                      <a:srgbClr val="081522"/>
                    </a:solidFill>
                  </a:tcPr>
                </a:tc>
                <a:tc>
                  <a:txBody>
                    <a:bodyPr/>
                    <a:lstStyle/>
                    <a:p>
                      <a:r>
                        <a:rPr sz="1575" b="0">
                          <a:solidFill>
                            <a:srgbClr val="EAF3F4"/>
                          </a:solidFill>
                          <a:latin typeface="Segoe UI"/>
                          <a:ea typeface="Segoe UI"/>
                          <a:cs typeface="Segoe UI"/>
                        </a:rPr>
                        <a:t>Requires multidimensional data/operators; not assumed implemented in Prime selector.</a:t>
                      </a:r>
                    </a:p>
                  </a:txBody>
                  <a:tcPr>
                    <a:solidFill>
                      <a:srgbClr val="081522"/>
                    </a:solidFill>
                  </a:tcPr>
                </a:tc>
                <a:extLst>
                  <a:ext uri="{0D108BD9-81ED-4DB2-BD59-A6C34878D82A}">
                    <a16:rowId xmlns:a16="http://schemas.microsoft.com/office/drawing/2014/main" val="10001"/>
                  </a:ext>
                </a:extLst>
              </a:tr>
              <a:tr h="819150">
                <a:tc>
                  <a:txBody>
                    <a:bodyPr/>
                    <a:lstStyle/>
                    <a:p>
                      <a:r>
                        <a:rPr sz="1575" b="0">
                          <a:solidFill>
                            <a:srgbClr val="EAF3F4"/>
                          </a:solidFill>
                          <a:latin typeface="Segoe UI"/>
                          <a:ea typeface="Segoe UI"/>
                          <a:cs typeface="Segoe UI"/>
                        </a:rPr>
                        <a:t>DRECT</a:t>
                      </a:r>
                    </a:p>
                  </a:txBody>
                  <a:tcPr>
                    <a:solidFill>
                      <a:srgbClr val="081522"/>
                    </a:solidFill>
                  </a:tcPr>
                </a:tc>
                <a:tc>
                  <a:txBody>
                    <a:bodyPr/>
                    <a:lstStyle/>
                    <a:p>
                      <a:r>
                        <a:rPr sz="1575" b="0">
                          <a:solidFill>
                            <a:srgbClr val="EAF3F4"/>
                          </a:solidFill>
                          <a:latin typeface="Segoe UI"/>
                          <a:ea typeface="Segoe UI"/>
                          <a:cs typeface="Segoe UI"/>
                        </a:rPr>
                        <a:t>Learned Laplace-map reconstruction from synthetic training.</a:t>
                      </a:r>
                    </a:p>
                  </a:txBody>
                  <a:tcPr>
                    <a:solidFill>
                      <a:srgbClr val="081522"/>
                    </a:solidFill>
                  </a:tcPr>
                </a:tc>
                <a:tc>
                  <a:txBody>
                    <a:bodyPr/>
                    <a:lstStyle/>
                    <a:p>
                      <a:r>
                        <a:rPr sz="1575" b="0">
                          <a:solidFill>
                            <a:srgbClr val="EAF3F4"/>
                          </a:solidFill>
                          <a:latin typeface="Segoe UI"/>
                          <a:ea typeface="Segoe UI"/>
                          <a:cs typeface="Segoe UI"/>
                        </a:rPr>
                        <a:t>Check kernel, SNR and domain; a checkpoint is not local validation.</a:t>
                      </a:r>
                    </a:p>
                  </a:txBody>
                  <a:tcPr>
                    <a:solidFill>
                      <a:srgbClr val="081522"/>
                    </a:solidFill>
                  </a:tcPr>
                </a:tc>
                <a:extLst>
                  <a:ext uri="{0D108BD9-81ED-4DB2-BD59-A6C34878D82A}">
                    <a16:rowId xmlns:a16="http://schemas.microsoft.com/office/drawing/2014/main" val="10002"/>
                  </a:ext>
                </a:extLst>
              </a:tr>
              <a:tr h="819150">
                <a:tc>
                  <a:txBody>
                    <a:bodyPr/>
                    <a:lstStyle/>
                    <a:p>
                      <a:r>
                        <a:rPr sz="1575" b="0">
                          <a:solidFill>
                            <a:srgbClr val="EAF3F4"/>
                          </a:solidFill>
                          <a:latin typeface="Segoe UI"/>
                          <a:ea typeface="Segoe UI"/>
                          <a:cs typeface="Segoe UI"/>
                        </a:rPr>
                        <a:t>DREAM</a:t>
                      </a:r>
                    </a:p>
                  </a:txBody>
                  <a:tcPr>
                    <a:solidFill>
                      <a:srgbClr val="081522"/>
                    </a:solidFill>
                  </a:tcPr>
                </a:tc>
                <a:tc>
                  <a:txBody>
                    <a:bodyPr/>
                    <a:lstStyle/>
                    <a:p>
                      <a:r>
                        <a:rPr sz="1575" b="0">
                          <a:solidFill>
                            <a:srgbClr val="EAF3F4"/>
                          </a:solidFill>
                          <a:latin typeface="Segoe UI"/>
                          <a:ea typeface="Segoe UI"/>
                          <a:cs typeface="Segoe UI"/>
                        </a:rPr>
                        <a:t>Learned reconstruction with aleatoric uncertainty estimation.</a:t>
                      </a:r>
                    </a:p>
                  </a:txBody>
                  <a:tcPr>
                    <a:solidFill>
                      <a:srgbClr val="081522"/>
                    </a:solidFill>
                  </a:tcPr>
                </a:tc>
                <a:tc>
                  <a:txBody>
                    <a:bodyPr/>
                    <a:lstStyle/>
                    <a:p>
                      <a:r>
                        <a:rPr sz="1575" b="0">
                          <a:solidFill>
                            <a:srgbClr val="EAF3F4"/>
                          </a:solidFill>
                          <a:latin typeface="Segoe UI"/>
                          <a:ea typeface="Segoe UI"/>
                          <a:cs typeface="Segoe UI"/>
                        </a:rPr>
                        <a:t>Network uncertainty certifies neither identity nor coverage outside training.</a:t>
                      </a:r>
                    </a:p>
                  </a:txBody>
                  <a:tcPr>
                    <a:solidFill>
                      <a:srgbClr val="081522"/>
                    </a:solidFill>
                  </a:tcPr>
                </a:tc>
                <a:extLst>
                  <a:ext uri="{0D108BD9-81ED-4DB2-BD59-A6C34878D82A}">
                    <a16:rowId xmlns:a16="http://schemas.microsoft.com/office/drawing/2014/main" val="10003"/>
                  </a:ext>
                </a:extLst>
              </a:tr>
              <a:tr h="819150">
                <a:tc>
                  <a:txBody>
                    <a:bodyPr/>
                    <a:lstStyle/>
                    <a:p>
                      <a:r>
                        <a:rPr sz="1575" b="0">
                          <a:solidFill>
                            <a:srgbClr val="EAF3F4"/>
                          </a:solidFill>
                          <a:latin typeface="Segoe UI"/>
                          <a:ea typeface="Segoe UI"/>
                          <a:cs typeface="Segoe UI"/>
                        </a:rPr>
                        <a:t>CoMeF / DOSY-Net / DLEMLR / DILT</a:t>
                      </a:r>
                    </a:p>
                  </a:txBody>
                  <a:tcPr>
                    <a:solidFill>
                      <a:srgbClr val="081522"/>
                    </a:solidFill>
                  </a:tcPr>
                </a:tc>
                <a:tc>
                  <a:txBody>
                    <a:bodyPr/>
                    <a:lstStyle/>
                    <a:p>
                      <a:r>
                        <a:rPr sz="1575" b="0">
                          <a:solidFill>
                            <a:srgbClr val="EAF3F4"/>
                          </a:solidFill>
                          <a:latin typeface="Segoe UI"/>
                          <a:ea typeface="Segoe UI"/>
                          <a:cs typeface="Segoe UI"/>
                        </a:rPr>
                        <a:t>Other learned architectures for ILT/DOSY/multidimensional data.</a:t>
                      </a:r>
                    </a:p>
                  </a:txBody>
                  <a:tcPr>
                    <a:solidFill>
                      <a:srgbClr val="081522"/>
                    </a:solidFill>
                  </a:tcPr>
                </a:tc>
                <a:tc>
                  <a:txBody>
                    <a:bodyPr/>
                    <a:lstStyle/>
                    <a:p>
                      <a:r>
                        <a:rPr sz="1575" b="0">
                          <a:solidFill>
                            <a:srgbClr val="EAF3F4"/>
                          </a:solidFill>
                          <a:latin typeface="Segoe UI"/>
                          <a:ea typeface="Segoe UI"/>
                          <a:cs typeface="Segoe UI"/>
                        </a:rPr>
                        <a:t>Check architecture, weights and domain; archived code need not be in Prime.</a:t>
                      </a:r>
                    </a:p>
                  </a:txBody>
                  <a:tcPr>
                    <a:solidFill>
                      <a:srgbClr val="081522"/>
                    </a:solidFill>
                  </a:tcPr>
                </a:tc>
                <a:extLst>
                  <a:ext uri="{0D108BD9-81ED-4DB2-BD59-A6C34878D82A}">
                    <a16:rowId xmlns:a16="http://schemas.microsoft.com/office/drawing/2014/main" val="10004"/>
                  </a:ext>
                </a:extLst>
              </a:tr>
            </a:tbl>
          </a:graphicData>
        </a:graphic>
      </p:graphicFrame>
      <p:sp>
        <p:nvSpPr>
          <p:cNvPr id="4" name="text_217">
            <a:extLst>
              <a:ext uri="{FF2B5EF4-FFF2-40B4-BE49-F238E27FC236}">
                <a16:creationId xmlns:a16="http://schemas.microsoft.com/office/drawing/2014/main" id="{81818C9D-99BB-4DC7-8484-2D513987927C}"/>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99539309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9CC4B3B0-39E0-4AE9-AC86-ADFA56633409}"/>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41</a:t>
            </a:r>
          </a:p>
        </p:txBody>
      </p:sp>
      <p:sp>
        <p:nvSpPr>
          <p:cNvPr id="2" name="slide_title">
            <a:extLst>
              <a:ext uri="{FF2B5EF4-FFF2-40B4-BE49-F238E27FC236}">
                <a16:creationId xmlns:a16="http://schemas.microsoft.com/office/drawing/2014/main" id="{EDB8DF49-42F7-48AB-AEC0-3E932331B783}"/>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Context · discrete and selection</a:t>
            </a:r>
          </a:p>
        </p:txBody>
      </p:sp>
      <p:graphicFrame>
        <p:nvGraphicFramePr>
          <p:cNvPr id="3" name="Tabla 2">
            <a:extLst>
              <a:ext uri="{FF2B5EF4-FFF2-40B4-BE49-F238E27FC236}">
                <a16:creationId xmlns:a16="http://schemas.microsoft.com/office/drawing/2014/main" id="{26B010DB-16ED-4FF1-9AA3-CB2B6D1F6B14}"/>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1023938">
                <a:tc>
                  <a:txBody>
                    <a:bodyPr/>
                    <a:lstStyle/>
                    <a:p>
                      <a:r>
                        <a:rPr sz="1575" b="1">
                          <a:solidFill>
                            <a:srgbClr val="EAF3F4"/>
                          </a:solidFill>
                          <a:latin typeface="Segoe UI"/>
                          <a:ea typeface="Segoe UI"/>
                          <a:cs typeface="Segoe UI"/>
                        </a:rPr>
                        <a:t>Method / component</a:t>
                      </a:r>
                    </a:p>
                  </a:txBody>
                  <a:tcPr>
                    <a:solidFill>
                      <a:srgbClr val="1D3E50"/>
                    </a:solidFill>
                  </a:tcPr>
                </a:tc>
                <a:tc>
                  <a:txBody>
                    <a:bodyPr/>
                    <a:lstStyle/>
                    <a:p>
                      <a:r>
                        <a:rPr sz="1575" b="1">
                          <a:solidFill>
                            <a:srgbClr val="EAF3F4"/>
                          </a:solidFill>
                          <a:latin typeface="Segoe UI"/>
                          <a:ea typeface="Segoe UI"/>
                          <a:cs typeface="Segoe UI"/>
                        </a:rPr>
                        <a:t>What it is used for</a:t>
                      </a:r>
                    </a:p>
                  </a:txBody>
                  <a:tcPr>
                    <a:solidFill>
                      <a:srgbClr val="1D3E50"/>
                    </a:solidFill>
                  </a:tcPr>
                </a:tc>
                <a:tc>
                  <a:txBody>
                    <a:bodyPr/>
                    <a:lstStyle/>
                    <a:p>
                      <a:r>
                        <a:rPr sz="1575" b="1">
                          <a:solidFill>
                            <a:srgbClr val="EAF3F4"/>
                          </a:solidFill>
                          <a:latin typeface="Segoe UI"/>
                          <a:ea typeface="Segoe UI"/>
                          <a:cs typeface="Segoe UI"/>
                        </a:rPr>
                        <a:t>Main caution</a:t>
                      </a:r>
                    </a:p>
                  </a:txBody>
                  <a:tcPr>
                    <a:solidFill>
                      <a:srgbClr val="1D3E50"/>
                    </a:solidFill>
                  </a:tcPr>
                </a:tc>
                <a:extLst>
                  <a:ext uri="{0D108BD9-81ED-4DB2-BD59-A6C34878D82A}">
                    <a16:rowId xmlns:a16="http://schemas.microsoft.com/office/drawing/2014/main" val="10000"/>
                  </a:ext>
                </a:extLst>
              </a:tr>
              <a:tr h="1023938">
                <a:tc>
                  <a:txBody>
                    <a:bodyPr/>
                    <a:lstStyle/>
                    <a:p>
                      <a:r>
                        <a:rPr sz="1575" b="0">
                          <a:solidFill>
                            <a:srgbClr val="EAF3F4"/>
                          </a:solidFill>
                          <a:latin typeface="Segoe UI"/>
                          <a:ea typeface="Segoe UI"/>
                          <a:cs typeface="Segoe UI"/>
                        </a:rPr>
                        <a:t>DISCRETE / SPLMOD / Prony</a:t>
                      </a:r>
                    </a:p>
                  </a:txBody>
                  <a:tcPr>
                    <a:solidFill>
                      <a:srgbClr val="081522"/>
                    </a:solidFill>
                  </a:tcPr>
                </a:tc>
                <a:tc>
                  <a:txBody>
                    <a:bodyPr/>
                    <a:lstStyle/>
                    <a:p>
                      <a:r>
                        <a:rPr sz="1575" b="0">
                          <a:solidFill>
                            <a:srgbClr val="EAF3F4"/>
                          </a:solidFill>
                          <a:latin typeface="Segoe UI"/>
                          <a:ea typeface="Segoe UI"/>
                          <a:cs typeface="Segoe UI"/>
                        </a:rPr>
                        <a:t>Finite exponential sums; poles and amplitudes.</a:t>
                      </a:r>
                    </a:p>
                  </a:txBody>
                  <a:tcPr>
                    <a:solidFill>
                      <a:srgbClr val="081522"/>
                    </a:solidFill>
                  </a:tcPr>
                </a:tc>
                <a:tc>
                  <a:txBody>
                    <a:bodyPr/>
                    <a:lstStyle/>
                    <a:p>
                      <a:r>
                        <a:rPr sz="1575" b="0">
                          <a:solidFill>
                            <a:srgbClr val="EAF3F4"/>
                          </a:solidFill>
                          <a:latin typeface="Segoe UI"/>
                          <a:ea typeface="Segoe UI"/>
                          <a:cs typeface="Segoe UI"/>
                        </a:rPr>
                        <a:t>Discrete assumption, order and sampling matter; not a continuous distribution.</a:t>
                      </a:r>
                    </a:p>
                  </a:txBody>
                  <a:tcPr>
                    <a:solidFill>
                      <a:srgbClr val="081522"/>
                    </a:solidFill>
                  </a:tcPr>
                </a:tc>
                <a:extLst>
                  <a:ext uri="{0D108BD9-81ED-4DB2-BD59-A6C34878D82A}">
                    <a16:rowId xmlns:a16="http://schemas.microsoft.com/office/drawing/2014/main" val="10001"/>
                  </a:ext>
                </a:extLst>
              </a:tr>
              <a:tr h="1023938">
                <a:tc>
                  <a:txBody>
                    <a:bodyPr/>
                    <a:lstStyle/>
                    <a:p>
                      <a:r>
                        <a:rPr sz="1575" b="0">
                          <a:solidFill>
                            <a:srgbClr val="EAF3F4"/>
                          </a:solidFill>
                          <a:latin typeface="Segoe UI"/>
                          <a:ea typeface="Segoe UI"/>
                          <a:cs typeface="Segoe UI"/>
                        </a:rPr>
                        <a:t>Landweber / CG / LSQR</a:t>
                      </a:r>
                    </a:p>
                  </a:txBody>
                  <a:tcPr>
                    <a:solidFill>
                      <a:srgbClr val="081522"/>
                    </a:solidFill>
                  </a:tcPr>
                </a:tc>
                <a:tc>
                  <a:txBody>
                    <a:bodyPr/>
                    <a:lstStyle/>
                    <a:p>
                      <a:r>
                        <a:rPr sz="1575" b="0">
                          <a:solidFill>
                            <a:srgbClr val="EAF3F4"/>
                          </a:solidFill>
                          <a:latin typeface="Segoe UI"/>
                          <a:ea typeface="Segoe UI"/>
                          <a:cs typeface="Segoe UI"/>
                        </a:rPr>
                        <a:t>Iterative engines; early stopping as regularization.</a:t>
                      </a:r>
                    </a:p>
                  </a:txBody>
                  <a:tcPr>
                    <a:solidFill>
                      <a:srgbClr val="081522"/>
                    </a:solidFill>
                  </a:tcPr>
                </a:tc>
                <a:tc>
                  <a:txBody>
                    <a:bodyPr/>
                    <a:lstStyle/>
                    <a:p>
                      <a:r>
                        <a:rPr sz="1575" b="0">
                          <a:solidFill>
                            <a:srgbClr val="EAF3F4"/>
                          </a:solidFill>
                          <a:latin typeface="Segoe UI"/>
                          <a:ea typeface="Segoe UI"/>
                          <a:cs typeface="Segoe UI"/>
                        </a:rPr>
                        <a:t>Residual convergence does not prove component resolution.</a:t>
                      </a:r>
                    </a:p>
                  </a:txBody>
                  <a:tcPr>
                    <a:solidFill>
                      <a:srgbClr val="081522"/>
                    </a:solidFill>
                  </a:tcPr>
                </a:tc>
                <a:extLst>
                  <a:ext uri="{0D108BD9-81ED-4DB2-BD59-A6C34878D82A}">
                    <a16:rowId xmlns:a16="http://schemas.microsoft.com/office/drawing/2014/main" val="10002"/>
                  </a:ext>
                </a:extLst>
              </a:tr>
              <a:tr h="1023938">
                <a:tc>
                  <a:txBody>
                    <a:bodyPr/>
                    <a:lstStyle/>
                    <a:p>
                      <a:r>
                        <a:rPr sz="1575" b="0">
                          <a:solidFill>
                            <a:srgbClr val="EAF3F4"/>
                          </a:solidFill>
                          <a:latin typeface="Segoe UI"/>
                          <a:ea typeface="Segoe UI"/>
                          <a:cs typeface="Segoe UI"/>
                        </a:rPr>
                        <a:t>Discrepancy / L-curve / GCV</a:t>
                      </a:r>
                    </a:p>
                  </a:txBody>
                  <a:tcPr>
                    <a:solidFill>
                      <a:srgbClr val="081522"/>
                    </a:solidFill>
                  </a:tcPr>
                </a:tc>
                <a:tc>
                  <a:txBody>
                    <a:bodyPr/>
                    <a:lstStyle/>
                    <a:p>
                      <a:r>
                        <a:rPr sz="1575" b="0">
                          <a:solidFill>
                            <a:srgbClr val="EAF3F4"/>
                          </a:solidFill>
                          <a:latin typeface="Segoe UI"/>
                          <a:ea typeface="Segoe UI"/>
                          <a:cs typeface="Segoe UI"/>
                        </a:rPr>
                        <a:t>Choose regularization or rank and study stability/uncertainty.</a:t>
                      </a:r>
                    </a:p>
                  </a:txBody>
                  <a:tcPr>
                    <a:solidFill>
                      <a:srgbClr val="081522"/>
                    </a:solidFill>
                  </a:tcPr>
                </a:tc>
                <a:tc>
                  <a:txBody>
                    <a:bodyPr/>
                    <a:lstStyle/>
                    <a:p>
                      <a:r>
                        <a:rPr sz="1575" b="0">
                          <a:solidFill>
                            <a:srgbClr val="EAF3F4"/>
                          </a:solidFill>
                          <a:latin typeface="Segoe UI"/>
                          <a:ea typeface="Segoe UI"/>
                          <a:cs typeface="Segoe UI"/>
                        </a:rPr>
                        <a:t>Selection/diagnostic strategies; not new solvers or experimental truth.</a:t>
                      </a:r>
                    </a:p>
                  </a:txBody>
                  <a:tcPr>
                    <a:solidFill>
                      <a:srgbClr val="081522"/>
                    </a:solidFill>
                  </a:tcPr>
                </a:tc>
                <a:extLst>
                  <a:ext uri="{0D108BD9-81ED-4DB2-BD59-A6C34878D82A}">
                    <a16:rowId xmlns:a16="http://schemas.microsoft.com/office/drawing/2014/main" val="10003"/>
                  </a:ext>
                </a:extLst>
              </a:tr>
            </a:tbl>
          </a:graphicData>
        </a:graphic>
      </p:graphicFrame>
      <p:sp>
        <p:nvSpPr>
          <p:cNvPr id="4" name="text_218">
            <a:extLst>
              <a:ext uri="{FF2B5EF4-FFF2-40B4-BE49-F238E27FC236}">
                <a16:creationId xmlns:a16="http://schemas.microsoft.com/office/drawing/2014/main" id="{1B87C3CC-E75B-474F-A698-DD0F1B7A960D}"/>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Reference catalogue · details, availability and sources in notes and accompanying CSV / TXT</a:t>
            </a:r>
          </a:p>
        </p:txBody>
      </p:sp>
    </p:spTree>
    <p:extLst>
      <p:ext uri="{BB962C8B-B14F-4D97-AF65-F5344CB8AC3E}">
        <p14:creationId xmlns:p14="http://schemas.microsoft.com/office/powerpoint/2010/main" val="191269660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5F5F0"/>
        </a:solidFill>
        <a:effectLst/>
      </p:bgPr>
    </p:bg>
    <p:spTree>
      <p:nvGrpSpPr>
        <p:cNvPr id="1" name=""/>
        <p:cNvGrpSpPr/>
        <p:nvPr/>
      </p:nvGrpSpPr>
      <p:grpSpPr>
        <a:xfrm>
          <a:off x="0" y="0"/>
          <a:ext cx="0" cy="0"/>
          <a:chOff x="0" y="0"/>
          <a:chExt cx="0" cy="0"/>
        </a:xfrm>
      </p:grpSpPr>
      <p:sp>
        <p:nvSpPr>
          <p:cNvPr id="7" name="slide_number">
            <a:extLst>
              <a:ext uri="{FF2B5EF4-FFF2-40B4-BE49-F238E27FC236}">
                <a16:creationId xmlns:a16="http://schemas.microsoft.com/office/drawing/2014/main" id="{0E169FA1-E24A-4C01-BB3D-248E94527D83}"/>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42</a:t>
            </a:r>
          </a:p>
        </p:txBody>
      </p:sp>
      <p:sp>
        <p:nvSpPr>
          <p:cNvPr id="2" name="slide_title">
            <a:extLst>
              <a:ext uri="{FF2B5EF4-FFF2-40B4-BE49-F238E27FC236}">
                <a16:creationId xmlns:a16="http://schemas.microsoft.com/office/drawing/2014/main" id="{B651D2E4-E60A-4D6D-893B-E7005F509FEC}"/>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675" b="1">
                <a:solidFill>
                  <a:srgbClr val="123447"/>
                </a:solidFill>
                <a:latin typeface="Segoe UI"/>
                <a:ea typeface="Segoe UI"/>
                <a:cs typeface="Segoe UI"/>
              </a:defRPr>
            </a:defPPr>
          </a:lstStyle>
          <a:p>
            <a:pPr>
              <a:defRPr sz="3675" b="1">
                <a:solidFill>
                  <a:srgbClr val="123447"/>
                </a:solidFill>
                <a:latin typeface="Segoe UI"/>
                <a:ea typeface="Segoe UI"/>
                <a:cs typeface="Segoe UI"/>
              </a:defRPr>
            </a:pPr>
            <a:r>
              <a:rPr sz="3675" b="1">
                <a:solidFill>
                  <a:srgbClr val="123447"/>
                </a:solidFill>
                <a:latin typeface="Segoe UI"/>
                <a:ea typeface="Segoe UI"/>
                <a:cs typeface="Segoe UI"/>
              </a:rPr>
              <a:t>Sequence-dependent equations</a:t>
            </a:r>
          </a:p>
        </p:txBody>
      </p:sp>
      <p:sp>
        <p:nvSpPr>
          <p:cNvPr id="3" name="text_219">
            <a:extLst>
              <a:ext uri="{FF2B5EF4-FFF2-40B4-BE49-F238E27FC236}">
                <a16:creationId xmlns:a16="http://schemas.microsoft.com/office/drawing/2014/main" id="{3052B2D4-900A-4A8C-B7F2-1C7D83267503}"/>
              </a:ext>
            </a:extLst>
          </p:cNvPr>
          <p:cNvSpPr>
            <a:spLocks noGrp="1"/>
          </p:cNvSpPr>
          <p:nvPr/>
        </p:nvSpPr>
        <p:spPr>
          <a:xfrm>
            <a:off x="571500" y="1657350"/>
            <a:ext cx="11020425" cy="609600"/>
          </a:xfrm>
          <a:prstGeom prst="rect">
            <a:avLst/>
          </a:prstGeom>
          <a:noFill/>
          <a:ln w="0">
            <a:noFill/>
          </a:ln>
        </p:spPr>
        <p:txBody>
          <a:bodyPr lIns="0" tIns="0" rIns="0" bIns="0">
            <a:noAutofit/>
          </a:bodyPr>
          <a:lstStyle>
            <a:defPPr>
              <a:defRPr sz="2925" b="1">
                <a:solidFill>
                  <a:srgbClr val="087E98"/>
                </a:solidFill>
                <a:latin typeface="Segoe UI"/>
                <a:ea typeface="Segoe UI"/>
                <a:cs typeface="Segoe UI"/>
              </a:defRPr>
            </a:defPPr>
          </a:lstStyle>
          <a:p>
            <a:pPr>
              <a:defRPr sz="2925" b="1">
                <a:solidFill>
                  <a:srgbClr val="087E98"/>
                </a:solidFill>
                <a:latin typeface="Segoe UI"/>
                <a:ea typeface="Segoe UI"/>
                <a:cs typeface="Segoe UI"/>
              </a:defRPr>
            </a:pPr>
            <a:r>
              <a:rPr sz="2925" b="1">
                <a:solidFill>
                  <a:srgbClr val="087E98"/>
                </a:solidFill>
                <a:latin typeface="Segoe UI"/>
                <a:ea typeface="Segoe UI"/>
                <a:cs typeface="Segoe UI"/>
              </a:rPr>
              <a:t>b = (γgδ)² F</a:t>
            </a:r>
          </a:p>
        </p:txBody>
      </p:sp>
      <p:graphicFrame>
        <p:nvGraphicFramePr>
          <p:cNvPr id="4" name="Tabla 3">
            <a:extLst>
              <a:ext uri="{FF2B5EF4-FFF2-40B4-BE49-F238E27FC236}">
                <a16:creationId xmlns:a16="http://schemas.microsoft.com/office/drawing/2014/main" id="{46398C26-FFD8-43B1-B48F-68309BC7C04B}"/>
              </a:ext>
            </a:extLst>
          </p:cNvPr>
          <p:cNvGraphicFramePr/>
          <p:nvPr/>
        </p:nvGraphicFramePr>
        <p:xfrm>
          <a:off x="552450" y="2524125"/>
          <a:ext cx="11087100" cy="2400300"/>
        </p:xfrm>
        <a:graphic>
          <a:graphicData uri="http://schemas.openxmlformats.org/drawingml/2006/table">
            <a:tbl>
              <a:tblPr/>
              <a:tblGrid>
                <a:gridCol w="5048250">
                  <a:extLst>
                    <a:ext uri="{9D8B030D-6E8A-4147-A177-3AD203B41FA5}">
                      <a16:colId xmlns:a16="http://schemas.microsoft.com/office/drawing/2014/main" val="20000"/>
                    </a:ext>
                  </a:extLst>
                </a:gridCol>
                <a:gridCol w="6038850">
                  <a:extLst>
                    <a:ext uri="{9D8B030D-6E8A-4147-A177-3AD203B41FA5}">
                      <a16:colId xmlns:a16="http://schemas.microsoft.com/office/drawing/2014/main" val="20001"/>
                    </a:ext>
                  </a:extLst>
                </a:gridCol>
              </a:tblGrid>
              <a:tr h="600075">
                <a:tc>
                  <a:txBody>
                    <a:bodyPr/>
                    <a:lstStyle/>
                    <a:p>
                      <a:r>
                        <a:rPr sz="2250" b="1">
                          <a:solidFill>
                            <a:srgbClr val="EAF3F4"/>
                          </a:solidFill>
                          <a:latin typeface="Segoe UI"/>
                          <a:ea typeface="Segoe UI"/>
                          <a:cs typeface="Segoe UI"/>
                        </a:rPr>
                        <a:t>Rectangular gradients</a:t>
                      </a:r>
                    </a:p>
                  </a:txBody>
                  <a:tcPr>
                    <a:solidFill>
                      <a:srgbClr val="123447"/>
                    </a:solidFill>
                  </a:tcPr>
                </a:tc>
                <a:tc>
                  <a:txBody>
                    <a:bodyPr/>
                    <a:lstStyle/>
                    <a:p>
                      <a:r>
                        <a:rPr sz="2250" b="1">
                          <a:solidFill>
                            <a:srgbClr val="EAF3F4"/>
                          </a:solidFill>
                          <a:latin typeface="Segoe UI"/>
                          <a:ea typeface="Segoe UI"/>
                          <a:cs typeface="Segoe UI"/>
                        </a:rPr>
                        <a:t>F</a:t>
                      </a:r>
                    </a:p>
                  </a:txBody>
                  <a:tcPr>
                    <a:solidFill>
                      <a:srgbClr val="123447"/>
                    </a:solidFill>
                  </a:tcPr>
                </a:tc>
                <a:extLst>
                  <a:ext uri="{0D108BD9-81ED-4DB2-BD59-A6C34878D82A}">
                    <a16:rowId xmlns:a16="http://schemas.microsoft.com/office/drawing/2014/main" val="10000"/>
                  </a:ext>
                </a:extLst>
              </a:tr>
              <a:tr h="600075">
                <a:tc>
                  <a:txBody>
                    <a:bodyPr/>
                    <a:lstStyle/>
                    <a:p>
                      <a:r>
                        <a:rPr sz="2250" b="0">
                          <a:solidFill>
                            <a:srgbClr val="123447"/>
                          </a:solidFill>
                          <a:latin typeface="Segoe UI"/>
                          <a:ea typeface="Segoe UI"/>
                          <a:cs typeface="Segoe UI"/>
                        </a:rPr>
                        <a:t>PGSE / PGSTE</a:t>
                      </a:r>
                    </a:p>
                  </a:txBody>
                  <a:tcPr>
                    <a:solidFill>
                      <a:srgbClr val="F5F5F0"/>
                    </a:solidFill>
                  </a:tcPr>
                </a:tc>
                <a:tc>
                  <a:txBody>
                    <a:bodyPr/>
                    <a:lstStyle/>
                    <a:p>
                      <a:r>
                        <a:rPr sz="2250" b="0">
                          <a:solidFill>
                            <a:srgbClr val="123447"/>
                          </a:solidFill>
                          <a:latin typeface="Segoe UI"/>
                          <a:ea typeface="Segoe UI"/>
                          <a:cs typeface="Segoe UI"/>
                        </a:rPr>
                        <a:t>Δ − δ/3</a:t>
                      </a:r>
                    </a:p>
                  </a:txBody>
                  <a:tcPr>
                    <a:solidFill>
                      <a:srgbClr val="F5F5F0"/>
                    </a:solidFill>
                  </a:tcPr>
                </a:tc>
                <a:extLst>
                  <a:ext uri="{0D108BD9-81ED-4DB2-BD59-A6C34878D82A}">
                    <a16:rowId xmlns:a16="http://schemas.microsoft.com/office/drawing/2014/main" val="10001"/>
                  </a:ext>
                </a:extLst>
              </a:tr>
              <a:tr h="600075">
                <a:tc>
                  <a:txBody>
                    <a:bodyPr/>
                    <a:lstStyle/>
                    <a:p>
                      <a:r>
                        <a:rPr sz="2250" b="0">
                          <a:solidFill>
                            <a:srgbClr val="123447"/>
                          </a:solidFill>
                          <a:latin typeface="Segoe UI"/>
                          <a:ea typeface="Segoe UI"/>
                          <a:cs typeface="Segoe UI"/>
                        </a:rPr>
                        <a:t>Balanced bipolar</a:t>
                      </a:r>
                    </a:p>
                  </a:txBody>
                  <a:tcPr>
                    <a:solidFill>
                      <a:srgbClr val="F5F5F0"/>
                    </a:solidFill>
                  </a:tcPr>
                </a:tc>
                <a:tc>
                  <a:txBody>
                    <a:bodyPr/>
                    <a:lstStyle/>
                    <a:p>
                      <a:r>
                        <a:rPr sz="2250" b="0">
                          <a:solidFill>
                            <a:srgbClr val="123447"/>
                          </a:solidFill>
                          <a:latin typeface="Segoe UI"/>
                          <a:ea typeface="Segoe UI"/>
                          <a:cs typeface="Segoe UI"/>
                        </a:rPr>
                        <a:t>Δ − δ/3 − τ/2</a:t>
                      </a:r>
                    </a:p>
                  </a:txBody>
                  <a:tcPr>
                    <a:solidFill>
                      <a:srgbClr val="F5F5F0"/>
                    </a:solidFill>
                  </a:tcPr>
                </a:tc>
                <a:extLst>
                  <a:ext uri="{0D108BD9-81ED-4DB2-BD59-A6C34878D82A}">
                    <a16:rowId xmlns:a16="http://schemas.microsoft.com/office/drawing/2014/main" val="10002"/>
                  </a:ext>
                </a:extLst>
              </a:tr>
              <a:tr h="600075">
                <a:tc>
                  <a:txBody>
                    <a:bodyPr/>
                    <a:lstStyle/>
                    <a:p>
                      <a:r>
                        <a:rPr sz="2250" b="0">
                          <a:solidFill>
                            <a:srgbClr val="123447"/>
                          </a:solidFill>
                          <a:latin typeface="Segoe UI"/>
                          <a:ea typeface="Segoe UI"/>
                          <a:cs typeface="Segoe UI"/>
                        </a:rPr>
                        <a:t>Double bipolar</a:t>
                      </a:r>
                    </a:p>
                  </a:txBody>
                  <a:tcPr>
                    <a:solidFill>
                      <a:srgbClr val="F5F5F0"/>
                    </a:solidFill>
                  </a:tcPr>
                </a:tc>
                <a:tc>
                  <a:txBody>
                    <a:bodyPr/>
                    <a:lstStyle/>
                    <a:p>
                      <a:r>
                        <a:rPr sz="2250" b="0">
                          <a:solidFill>
                            <a:srgbClr val="123447"/>
                          </a:solidFill>
                          <a:latin typeface="Segoe UI"/>
                          <a:ea typeface="Segoe UI"/>
                          <a:cs typeface="Segoe UI"/>
                        </a:rPr>
                        <a:t>Δ − 2δ/3 − (τ₁ + τ₂)/2</a:t>
                      </a:r>
                    </a:p>
                  </a:txBody>
                  <a:tcPr>
                    <a:solidFill>
                      <a:srgbClr val="F5F5F0"/>
                    </a:solidFill>
                  </a:tcPr>
                </a:tc>
                <a:extLst>
                  <a:ext uri="{0D108BD9-81ED-4DB2-BD59-A6C34878D82A}">
                    <a16:rowId xmlns:a16="http://schemas.microsoft.com/office/drawing/2014/main" val="10003"/>
                  </a:ext>
                </a:extLst>
              </a:tr>
            </a:tbl>
          </a:graphicData>
        </a:graphic>
      </p:graphicFrame>
      <p:sp>
        <p:nvSpPr>
          <p:cNvPr id="5" name="text_220">
            <a:extLst>
              <a:ext uri="{FF2B5EF4-FFF2-40B4-BE49-F238E27FC236}">
                <a16:creationId xmlns:a16="http://schemas.microsoft.com/office/drawing/2014/main" id="{EDA364C0-730A-4F5B-B654-C2DEDA57DF94}"/>
              </a:ext>
            </a:extLst>
          </p:cNvPr>
          <p:cNvSpPr>
            <a:spLocks noGrp="1"/>
          </p:cNvSpPr>
          <p:nvPr/>
        </p:nvSpPr>
        <p:spPr>
          <a:xfrm>
            <a:off x="590550" y="5267325"/>
            <a:ext cx="11001375" cy="914400"/>
          </a:xfrm>
          <a:prstGeom prst="rect">
            <a:avLst/>
          </a:prstGeom>
          <a:noFill/>
          <a:ln w="0">
            <a:noFill/>
          </a:ln>
        </p:spPr>
        <p:txBody>
          <a:bodyPr lIns="0" tIns="0" rIns="0" bIns="0">
            <a:noAutofit/>
          </a:bodyPr>
          <a:lstStyle>
            <a:defPPr>
              <a:defRPr sz="2100" b="0">
                <a:solidFill>
                  <a:srgbClr val="123447"/>
                </a:solidFill>
                <a:latin typeface="Segoe UI"/>
                <a:ea typeface="Segoe UI"/>
                <a:cs typeface="Segoe UI"/>
              </a:defRPr>
            </a:defPPr>
          </a:lstStyle>
          <a:p>
            <a:pPr>
              <a:defRPr sz="2100" b="0">
                <a:solidFill>
                  <a:srgbClr val="123447"/>
                </a:solidFill>
                <a:latin typeface="Segoe UI"/>
                <a:ea typeface="Segoe UI"/>
                <a:cs typeface="Segoe UI"/>
              </a:defRPr>
            </a:pPr>
            <a:r>
              <a:rPr sz="2100" b="0">
                <a:solidFill>
                  <a:srgbClr val="123447"/>
                </a:solidFill>
                <a:latin typeface="Segoe UI"/>
                <a:ea typeface="Segoe UI"/>
                <a:cs typeface="Segoe UI"/>
              </a:rPr>
              <a:t>Bipolar δ: sum of lobes · τ: internal gap including RF</a:t>
            </a:r>
          </a:p>
          <a:p>
            <a:pPr>
              <a:defRPr sz="2100" b="0">
                <a:solidFill>
                  <a:srgbClr val="123447"/>
                </a:solidFill>
                <a:latin typeface="Segoe UI"/>
                <a:ea typeface="Segoe UI"/>
                <a:cs typeface="Segoe UI"/>
              </a:defRPr>
            </a:pPr>
            <a:r>
              <a:rPr sz="2100" b="0">
                <a:solidFill>
                  <a:srgbClr val="123447"/>
                </a:solidFill>
                <a:latin typeface="Segoe UI"/>
                <a:ea typeface="Segoe UI"/>
                <a:cs typeface="Segoe UI"/>
              </a:rPr>
              <a:t>Double: two equal Δ/2 blocks; verify the program definition</a:t>
            </a:r>
          </a:p>
        </p:txBody>
      </p:sp>
      <p:sp>
        <p:nvSpPr>
          <p:cNvPr id="6" name="text_221">
            <a:extLst>
              <a:ext uri="{FF2B5EF4-FFF2-40B4-BE49-F238E27FC236}">
                <a16:creationId xmlns:a16="http://schemas.microsoft.com/office/drawing/2014/main" id="{3069A836-46FF-4AD0-A3DD-3A63147337F0}"/>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617580"/>
                </a:solidFill>
                <a:latin typeface="Segoe UI"/>
                <a:ea typeface="Segoe UI"/>
                <a:cs typeface="Segoe UI"/>
              </a:defRPr>
            </a:defPPr>
          </a:lstStyle>
          <a:p>
            <a:pPr>
              <a:defRPr sz="1725" b="0">
                <a:solidFill>
                  <a:srgbClr val="617580"/>
                </a:solidFill>
                <a:latin typeface="Segoe UI"/>
                <a:ea typeface="Segoe UI"/>
                <a:cs typeface="Segoe UI"/>
              </a:defRPr>
            </a:pPr>
            <a:r>
              <a:rPr sz="1725" b="0">
                <a:solidFill>
                  <a:srgbClr val="617580"/>
                </a:solidFill>
                <a:latin typeface="Segoe UI"/>
                <a:ea typeface="Segoe UI"/>
                <a:cs typeface="Segoe UI"/>
              </a:rPr>
              <a:t>Sinnaeve (2012) · doi: 10.1002/cmr.a.21223</a:t>
            </a:r>
          </a:p>
        </p:txBody>
      </p:sp>
    </p:spTree>
    <p:extLst>
      <p:ext uri="{BB962C8B-B14F-4D97-AF65-F5344CB8AC3E}">
        <p14:creationId xmlns:p14="http://schemas.microsoft.com/office/powerpoint/2010/main" val="54490363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5F5F0"/>
        </a:solidFill>
        <a:effectLst/>
      </p:bgPr>
    </p:bg>
    <p:spTree>
      <p:nvGrpSpPr>
        <p:cNvPr id="1" name=""/>
        <p:cNvGrpSpPr/>
        <p:nvPr/>
      </p:nvGrpSpPr>
      <p:grpSpPr>
        <a:xfrm>
          <a:off x="0" y="0"/>
          <a:ext cx="0" cy="0"/>
          <a:chOff x="0" y="0"/>
          <a:chExt cx="0" cy="0"/>
        </a:xfrm>
      </p:grpSpPr>
      <p:sp>
        <p:nvSpPr>
          <p:cNvPr id="9" name="slide_number">
            <a:extLst>
              <a:ext uri="{FF2B5EF4-FFF2-40B4-BE49-F238E27FC236}">
                <a16:creationId xmlns:a16="http://schemas.microsoft.com/office/drawing/2014/main" id="{730DAD43-00F4-4308-83EF-F08982AE1F17}"/>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43</a:t>
            </a:r>
          </a:p>
        </p:txBody>
      </p:sp>
      <p:sp>
        <p:nvSpPr>
          <p:cNvPr id="2" name="slide_title">
            <a:extLst>
              <a:ext uri="{FF2B5EF4-FFF2-40B4-BE49-F238E27FC236}">
                <a16:creationId xmlns:a16="http://schemas.microsoft.com/office/drawing/2014/main" id="{A44CEF44-B46D-4EDC-8E92-D11A0F03832A}"/>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675" b="1">
                <a:solidFill>
                  <a:srgbClr val="123447"/>
                </a:solidFill>
                <a:latin typeface="Segoe UI"/>
                <a:ea typeface="Segoe UI"/>
                <a:cs typeface="Segoe UI"/>
              </a:defRPr>
            </a:defPPr>
          </a:lstStyle>
          <a:p>
            <a:pPr>
              <a:defRPr sz="3675" b="1">
                <a:solidFill>
                  <a:srgbClr val="123447"/>
                </a:solidFill>
                <a:latin typeface="Segoe UI"/>
                <a:ea typeface="Segoe UI"/>
                <a:cs typeface="Segoe UI"/>
              </a:defRPr>
            </a:pPr>
            <a:r>
              <a:rPr sz="3675" b="1">
                <a:solidFill>
                  <a:srgbClr val="123447"/>
                </a:solidFill>
                <a:latin typeface="Segoe UI"/>
                <a:ea typeface="Segoe UI"/>
                <a:cs typeface="Segoe UI"/>
              </a:rPr>
              <a:t>stebpgp1s1d + SMSQ10.100</a:t>
            </a:r>
          </a:p>
        </p:txBody>
      </p:sp>
      <p:sp>
        <p:nvSpPr>
          <p:cNvPr id="3" name="text_222">
            <a:extLst>
              <a:ext uri="{FF2B5EF4-FFF2-40B4-BE49-F238E27FC236}">
                <a16:creationId xmlns:a16="http://schemas.microsoft.com/office/drawing/2014/main" id="{4E6B64FB-094D-41FC-89C9-2B283C3C2544}"/>
              </a:ext>
            </a:extLst>
          </p:cNvPr>
          <p:cNvSpPr>
            <a:spLocks noGrp="1"/>
          </p:cNvSpPr>
          <p:nvPr/>
        </p:nvSpPr>
        <p:spPr>
          <a:xfrm>
            <a:off x="561975" y="2047875"/>
            <a:ext cx="11106150" cy="790575"/>
          </a:xfrm>
          <a:prstGeom prst="rect">
            <a:avLst/>
          </a:prstGeom>
          <a:noFill/>
          <a:ln w="0">
            <a:noFill/>
          </a:ln>
        </p:spPr>
        <p:txBody>
          <a:bodyPr lIns="0" tIns="0" rIns="0" bIns="0">
            <a:noAutofit/>
          </a:bodyPr>
          <a:lstStyle>
            <a:defPPr>
              <a:defRPr sz="3225" b="1">
                <a:solidFill>
                  <a:srgbClr val="087E98"/>
                </a:solidFill>
                <a:latin typeface="Segoe UI"/>
                <a:ea typeface="Segoe UI"/>
                <a:cs typeface="Segoe UI"/>
              </a:defRPr>
            </a:defPPr>
          </a:lstStyle>
          <a:p>
            <a:pPr>
              <a:defRPr sz="3225" b="1">
                <a:solidFill>
                  <a:srgbClr val="087E98"/>
                </a:solidFill>
                <a:latin typeface="Segoe UI"/>
                <a:ea typeface="Segoe UI"/>
                <a:cs typeface="Segoe UI"/>
              </a:defRPr>
            </a:pPr>
            <a:r>
              <a:rPr sz="3225" b="1">
                <a:solidFill>
                  <a:srgbClr val="087E98"/>
                </a:solidFill>
                <a:latin typeface="Segoe UI"/>
                <a:ea typeface="Segoe UI"/>
                <a:cs typeface="Segoe UI"/>
              </a:rPr>
              <a:t>b = 0.81 (γgδ)² [Δ − 0.32525 δ − τ/2]</a:t>
            </a:r>
          </a:p>
        </p:txBody>
      </p:sp>
      <p:sp>
        <p:nvSpPr>
          <p:cNvPr id="4" name="text_223">
            <a:extLst>
              <a:ext uri="{FF2B5EF4-FFF2-40B4-BE49-F238E27FC236}">
                <a16:creationId xmlns:a16="http://schemas.microsoft.com/office/drawing/2014/main" id="{A109ED72-945B-4189-A205-054B39DBDA9C}"/>
              </a:ext>
            </a:extLst>
          </p:cNvPr>
          <p:cNvSpPr>
            <a:spLocks noGrp="1"/>
          </p:cNvSpPr>
          <p:nvPr/>
        </p:nvSpPr>
        <p:spPr>
          <a:xfrm>
            <a:off x="581025" y="3514725"/>
            <a:ext cx="5219700" cy="638175"/>
          </a:xfrm>
          <a:prstGeom prst="rect">
            <a:avLst/>
          </a:prstGeom>
          <a:noFill/>
          <a:ln w="0">
            <a:noFill/>
          </a:ln>
        </p:spPr>
        <p:txBody>
          <a:bodyPr lIns="0" tIns="0" rIns="0" bIns="0">
            <a:noAutofit/>
          </a:bodyPr>
          <a:lstStyle>
            <a:defPPr>
              <a:defRPr sz="2925" b="1">
                <a:solidFill>
                  <a:srgbClr val="123447"/>
                </a:solidFill>
                <a:latin typeface="Segoe UI"/>
                <a:ea typeface="Segoe UI"/>
                <a:cs typeface="Segoe UI"/>
              </a:defRPr>
            </a:defPPr>
          </a:lstStyle>
          <a:p>
            <a:pPr>
              <a:defRPr sz="2925" b="1">
                <a:solidFill>
                  <a:srgbClr val="123447"/>
                </a:solidFill>
                <a:latin typeface="Segoe UI"/>
                <a:ea typeface="Segoe UI"/>
                <a:cs typeface="Segoe UI"/>
              </a:defRPr>
            </a:pPr>
            <a:r>
              <a:rPr sz="2925" b="1">
                <a:solidFill>
                  <a:srgbClr val="123447"/>
                </a:solidFill>
                <a:latin typeface="Segoe UI"/>
                <a:ea typeface="Segoe UI"/>
                <a:cs typeface="Segoe UI"/>
              </a:rPr>
              <a:t>δ = 2 × P30</a:t>
            </a:r>
          </a:p>
        </p:txBody>
      </p:sp>
      <p:sp>
        <p:nvSpPr>
          <p:cNvPr id="5" name="text_224">
            <a:extLst>
              <a:ext uri="{FF2B5EF4-FFF2-40B4-BE49-F238E27FC236}">
                <a16:creationId xmlns:a16="http://schemas.microsoft.com/office/drawing/2014/main" id="{BB693131-73AF-45CC-BF96-894580ED5A3F}"/>
              </a:ext>
            </a:extLst>
          </p:cNvPr>
          <p:cNvSpPr>
            <a:spLocks noGrp="1"/>
          </p:cNvSpPr>
          <p:nvPr/>
        </p:nvSpPr>
        <p:spPr>
          <a:xfrm>
            <a:off x="6477000" y="3514725"/>
            <a:ext cx="5153025" cy="638175"/>
          </a:xfrm>
          <a:prstGeom prst="rect">
            <a:avLst/>
          </a:prstGeom>
          <a:noFill/>
          <a:ln w="0">
            <a:noFill/>
          </a:ln>
        </p:spPr>
        <p:txBody>
          <a:bodyPr lIns="0" tIns="0" rIns="0" bIns="0">
            <a:noAutofit/>
          </a:bodyPr>
          <a:lstStyle>
            <a:defPPr>
              <a:defRPr sz="2925" b="1">
                <a:solidFill>
                  <a:srgbClr val="123447"/>
                </a:solidFill>
                <a:latin typeface="Segoe UI"/>
                <a:ea typeface="Segoe UI"/>
                <a:cs typeface="Segoe UI"/>
              </a:defRPr>
            </a:defPPr>
          </a:lstStyle>
          <a:p>
            <a:pPr>
              <a:defRPr sz="2925" b="1">
                <a:solidFill>
                  <a:srgbClr val="123447"/>
                </a:solidFill>
                <a:latin typeface="Segoe UI"/>
                <a:ea typeface="Segoe UI"/>
                <a:cs typeface="Segoe UI"/>
              </a:defRPr>
            </a:pPr>
            <a:r>
              <a:rPr sz="2925" b="1">
                <a:solidFill>
                  <a:srgbClr val="123447"/>
                </a:solidFill>
                <a:latin typeface="Segoe UI"/>
                <a:ea typeface="Segoe UI"/>
                <a:cs typeface="Segoe UI"/>
              </a:rPr>
              <a:t>τ = D16 + P2</a:t>
            </a:r>
          </a:p>
        </p:txBody>
      </p:sp>
      <p:sp>
        <p:nvSpPr>
          <p:cNvPr id="6" name="text_225">
            <a:extLst>
              <a:ext uri="{FF2B5EF4-FFF2-40B4-BE49-F238E27FC236}">
                <a16:creationId xmlns:a16="http://schemas.microsoft.com/office/drawing/2014/main" id="{925972AE-C12A-4216-89F3-FFB8297E4849}"/>
              </a:ext>
            </a:extLst>
          </p:cNvPr>
          <p:cNvSpPr>
            <a:spLocks noGrp="1"/>
          </p:cNvSpPr>
          <p:nvPr/>
        </p:nvSpPr>
        <p:spPr>
          <a:xfrm>
            <a:off x="590550" y="4448175"/>
            <a:ext cx="5219700" cy="1066800"/>
          </a:xfrm>
          <a:prstGeom prst="rect">
            <a:avLst/>
          </a:prstGeom>
          <a:noFill/>
          <a:ln w="0">
            <a:noFill/>
          </a:ln>
        </p:spPr>
        <p:txBody>
          <a:bodyPr lIns="0" tIns="0" rIns="0" bIns="0">
            <a:noAutofit/>
          </a:bodyPr>
          <a:lstStyle>
            <a:defPPr>
              <a:defRPr sz="2400" b="0">
                <a:solidFill>
                  <a:srgbClr val="617580"/>
                </a:solidFill>
                <a:latin typeface="Segoe UI"/>
                <a:ea typeface="Segoe UI"/>
                <a:cs typeface="Segoe UI"/>
              </a:defRPr>
            </a:defPPr>
          </a:lstStyle>
          <a:p>
            <a:pPr>
              <a:defRPr sz="2400" b="0">
                <a:solidFill>
                  <a:srgbClr val="617580"/>
                </a:solidFill>
                <a:latin typeface="Segoe UI"/>
                <a:ea typeface="Segoe UI"/>
                <a:cs typeface="Segoe UI"/>
              </a:defRPr>
            </a:pPr>
            <a:r>
              <a:rPr sz="2400" b="0">
                <a:solidFill>
                  <a:srgbClr val="617580"/>
                </a:solidFill>
                <a:latin typeface="Segoe UI"/>
                <a:ea typeface="Segoe UI"/>
                <a:cs typeface="Segoe UI"/>
              </a:rPr>
              <a:t>Area = 0.90</a:t>
            </a:r>
          </a:p>
          <a:p>
            <a:pPr>
              <a:defRPr sz="2400" b="0">
                <a:solidFill>
                  <a:srgbClr val="617580"/>
                </a:solidFill>
                <a:latin typeface="Segoe UI"/>
                <a:ea typeface="Segoe UI"/>
                <a:cs typeface="Segoe UI"/>
              </a:defRPr>
            </a:pPr>
            <a:r>
              <a:rPr sz="2400" b="0">
                <a:solidFill>
                  <a:srgbClr val="617580"/>
                </a:solidFill>
                <a:latin typeface="Segoe UI"/>
                <a:ea typeface="Segoe UI"/>
                <a:cs typeface="Segoe UI"/>
              </a:rPr>
              <a:t>In b: 0.90² = 0.81</a:t>
            </a:r>
          </a:p>
        </p:txBody>
      </p:sp>
      <p:sp>
        <p:nvSpPr>
          <p:cNvPr id="7" name="text_226">
            <a:extLst>
              <a:ext uri="{FF2B5EF4-FFF2-40B4-BE49-F238E27FC236}">
                <a16:creationId xmlns:a16="http://schemas.microsoft.com/office/drawing/2014/main" id="{31962BFF-1E9D-46AF-BCCA-14C07A05C19A}"/>
              </a:ext>
            </a:extLst>
          </p:cNvPr>
          <p:cNvSpPr>
            <a:spLocks noGrp="1"/>
          </p:cNvSpPr>
          <p:nvPr/>
        </p:nvSpPr>
        <p:spPr>
          <a:xfrm>
            <a:off x="6477000" y="4448175"/>
            <a:ext cx="5153025" cy="1066800"/>
          </a:xfrm>
          <a:prstGeom prst="rect">
            <a:avLst/>
          </a:prstGeom>
          <a:noFill/>
          <a:ln w="0">
            <a:noFill/>
          </a:ln>
        </p:spPr>
        <p:txBody>
          <a:bodyPr lIns="0" tIns="0" rIns="0" bIns="0">
            <a:noAutofit/>
          </a:bodyPr>
          <a:lstStyle>
            <a:defPPr>
              <a:defRPr sz="2175" b="0">
                <a:solidFill>
                  <a:srgbClr val="617580"/>
                </a:solidFill>
                <a:latin typeface="Segoe UI"/>
                <a:ea typeface="Segoe UI"/>
                <a:cs typeface="Segoe UI"/>
              </a:defRPr>
            </a:defPPr>
          </a:lstStyle>
          <a:p>
            <a:pPr>
              <a:defRPr sz="2175" b="0">
                <a:solidFill>
                  <a:srgbClr val="617580"/>
                </a:solidFill>
                <a:latin typeface="Segoe UI"/>
                <a:ea typeface="Segoe UI"/>
                <a:cs typeface="Segoe UI"/>
              </a:defRPr>
            </a:pPr>
            <a:r>
              <a:rPr sz="2175" b="0">
                <a:solidFill>
                  <a:srgbClr val="617580"/>
                </a:solidFill>
                <a:latin typeface="Segoe UI"/>
                <a:ea typeface="Segoe UI"/>
                <a:cs typeface="Segoe UI"/>
              </a:rPr>
              <a:t>The TBO profile uses τ≈D16</a:t>
            </a:r>
          </a:p>
          <a:p>
            <a:pPr>
              <a:defRPr sz="2175" b="0">
                <a:solidFill>
                  <a:srgbClr val="617580"/>
                </a:solidFill>
                <a:latin typeface="Segoe UI"/>
                <a:ea typeface="Segoe UI"/>
                <a:cs typeface="Segoe UI"/>
              </a:defRPr>
            </a:pPr>
            <a:r>
              <a:rPr sz="2175" b="0">
                <a:solidFill>
                  <a:srgbClr val="617580"/>
                </a:solidFill>
                <a:latin typeface="Segoe UI"/>
                <a:ea typeface="Segoe UI"/>
                <a:cs typeface="Segoe UI"/>
              </a:rPr>
              <a:t>Its measured calibration is retained</a:t>
            </a:r>
          </a:p>
        </p:txBody>
      </p:sp>
      <p:sp>
        <p:nvSpPr>
          <p:cNvPr id="8" name="text_227">
            <a:extLst>
              <a:ext uri="{FF2B5EF4-FFF2-40B4-BE49-F238E27FC236}">
                <a16:creationId xmlns:a16="http://schemas.microsoft.com/office/drawing/2014/main" id="{75F8E8FB-3283-4B2C-93B3-CDB1B8FB3940}"/>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875" b="0">
                <a:solidFill>
                  <a:srgbClr val="617580"/>
                </a:solidFill>
                <a:latin typeface="Segoe UI"/>
                <a:ea typeface="Segoe UI"/>
                <a:cs typeface="Segoe UI"/>
              </a:defRPr>
            </a:defPPr>
          </a:lstStyle>
          <a:p>
            <a:pPr>
              <a:defRPr sz="1875" b="0">
                <a:solidFill>
                  <a:srgbClr val="617580"/>
                </a:solidFill>
                <a:latin typeface="Segoe UI"/>
                <a:ea typeface="Segoe UI"/>
                <a:cs typeface="Segoe UI"/>
              </a:defRPr>
            </a:pPr>
            <a:r>
              <a:rPr sz="1875" b="0">
                <a:solidFill>
                  <a:srgbClr val="617580"/>
                </a:solidFill>
                <a:latin typeface="Segoe UI"/>
                <a:ea typeface="Segoe UI"/>
                <a:cs typeface="Segoe UI"/>
              </a:rPr>
              <a:t>Shape, timing, G and Dref(T) must correspond to the same experimental profile.</a:t>
            </a:r>
          </a:p>
        </p:txBody>
      </p:sp>
    </p:spTree>
    <p:extLst>
      <p:ext uri="{BB962C8B-B14F-4D97-AF65-F5344CB8AC3E}">
        <p14:creationId xmlns:p14="http://schemas.microsoft.com/office/powerpoint/2010/main" val="32931008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11" name="slide_number">
            <a:extLst>
              <a:ext uri="{FF2B5EF4-FFF2-40B4-BE49-F238E27FC236}">
                <a16:creationId xmlns:a16="http://schemas.microsoft.com/office/drawing/2014/main" id="{2297AF27-F3AD-4015-B547-35DC3A845D32}"/>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44</a:t>
            </a:r>
          </a:p>
        </p:txBody>
      </p:sp>
      <p:sp>
        <p:nvSpPr>
          <p:cNvPr id="2" name="slide_title">
            <a:extLst>
              <a:ext uri="{FF2B5EF4-FFF2-40B4-BE49-F238E27FC236}">
                <a16:creationId xmlns:a16="http://schemas.microsoft.com/office/drawing/2014/main" id="{AB361FDF-37F6-4847-A1B7-F253D204C954}"/>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75" b="1">
                <a:solidFill>
                  <a:srgbClr val="EAF3F4"/>
                </a:solidFill>
                <a:latin typeface="Segoe UI"/>
                <a:ea typeface="Segoe UI"/>
                <a:cs typeface="Segoe UI"/>
              </a:defRPr>
            </a:defPPr>
          </a:lstStyle>
          <a:p>
            <a:pPr>
              <a:defRPr sz="3375" b="1">
                <a:solidFill>
                  <a:srgbClr val="EAF3F4"/>
                </a:solidFill>
                <a:latin typeface="Segoe UI"/>
                <a:ea typeface="Segoe UI"/>
                <a:cs typeface="Segoe UI"/>
              </a:defRPr>
            </a:pPr>
            <a:r>
              <a:rPr sz="3375" b="1">
                <a:solidFill>
                  <a:srgbClr val="EAF3F4"/>
                </a:solidFill>
                <a:latin typeface="Segoe UI"/>
                <a:ea typeface="Segoe UI"/>
                <a:cs typeface="Segoe UI"/>
              </a:rPr>
              <a:t>Noise is amplified when the decay is inverted</a:t>
            </a:r>
          </a:p>
        </p:txBody>
      </p:sp>
      <p:pic>
        <p:nvPicPr>
          <p:cNvPr id="3" name="Imagen 2">
            <a:extLst>
              <a:ext uri="{FF2B5EF4-FFF2-40B4-BE49-F238E27FC236}">
                <a16:creationId xmlns:a16="http://schemas.microsoft.com/office/drawing/2014/main" id="{4A0FCE9F-B907-4AF9-B90E-63CDD1DC573F}"/>
              </a:ext>
            </a:extLst>
          </p:cNvPr>
          <p:cNvPicPr>
            <a:picLocks noChangeAspect="1"/>
          </p:cNvPicPr>
          <p:nvPr/>
        </p:nvPicPr>
        <p:blipFill>
          <a:blip r:embed="rId3"/>
          <a:stretch/>
        </p:blipFill>
        <p:spPr>
          <a:xfrm>
            <a:off x="285750" y="1679310"/>
            <a:ext cx="7953375" cy="3623204"/>
          </a:xfrm>
          <a:prstGeom prst="rect">
            <a:avLst/>
          </a:prstGeom>
        </p:spPr>
      </p:pic>
      <p:sp>
        <p:nvSpPr>
          <p:cNvPr id="4" name="text_228">
            <a:extLst>
              <a:ext uri="{FF2B5EF4-FFF2-40B4-BE49-F238E27FC236}">
                <a16:creationId xmlns:a16="http://schemas.microsoft.com/office/drawing/2014/main" id="{DB7564AB-0E0C-4EC2-A4FA-F2FD127C432C}"/>
              </a:ext>
            </a:extLst>
          </p:cNvPr>
          <p:cNvSpPr>
            <a:spLocks noGrp="1"/>
          </p:cNvSpPr>
          <p:nvPr/>
        </p:nvSpPr>
        <p:spPr>
          <a:xfrm>
            <a:off x="8553450" y="1809750"/>
            <a:ext cx="3086100" cy="619125"/>
          </a:xfrm>
          <a:prstGeom prst="rect">
            <a:avLst/>
          </a:prstGeom>
          <a:noFill/>
          <a:ln w="0">
            <a:noFill/>
          </a:ln>
        </p:spPr>
        <p:txBody>
          <a:bodyPr lIns="0" tIns="0" rIns="0" bIns="0">
            <a:noAutofit/>
          </a:bodyPr>
          <a:lstStyle>
            <a:defPPr>
              <a:defRPr sz="2925" b="1">
                <a:solidFill>
                  <a:srgbClr val="55DDE0"/>
                </a:solidFill>
                <a:latin typeface="Segoe UI"/>
                <a:ea typeface="Segoe UI"/>
                <a:cs typeface="Segoe UI"/>
              </a:defRPr>
            </a:defPPr>
          </a:lstStyle>
          <a:p>
            <a:pPr>
              <a:defRPr sz="2925" b="1">
                <a:solidFill>
                  <a:srgbClr val="55DDE0"/>
                </a:solidFill>
                <a:latin typeface="Segoe UI"/>
                <a:ea typeface="Segoe UI"/>
                <a:cs typeface="Segoe UI"/>
              </a:defRPr>
            </a:pPr>
            <a:r>
              <a:rPr sz="2925" b="1">
                <a:solidFill>
                  <a:srgbClr val="55DDE0"/>
                </a:solidFill>
                <a:latin typeface="Segoe UI"/>
                <a:ea typeface="Segoe UI"/>
                <a:cs typeface="Segoe UI"/>
              </a:rPr>
              <a:t>S = Kf + ε</a:t>
            </a:r>
          </a:p>
        </p:txBody>
      </p:sp>
      <p:sp>
        <p:nvSpPr>
          <p:cNvPr id="5" name="text_229">
            <a:extLst>
              <a:ext uri="{FF2B5EF4-FFF2-40B4-BE49-F238E27FC236}">
                <a16:creationId xmlns:a16="http://schemas.microsoft.com/office/drawing/2014/main" id="{74E92D20-12A2-492E-9C0C-D9662290B903}"/>
              </a:ext>
            </a:extLst>
          </p:cNvPr>
          <p:cNvSpPr>
            <a:spLocks noGrp="1"/>
          </p:cNvSpPr>
          <p:nvPr/>
        </p:nvSpPr>
        <p:spPr>
          <a:xfrm>
            <a:off x="8486775" y="2809875"/>
            <a:ext cx="3171825" cy="819150"/>
          </a:xfrm>
          <a:prstGeom prst="rect">
            <a:avLst/>
          </a:prstGeom>
          <a:noFill/>
          <a:ln w="0">
            <a:noFill/>
          </a:ln>
        </p:spPr>
        <p:txBody>
          <a:bodyPr lIns="0" tIns="0" rIns="0" bIns="0">
            <a:noAutofit/>
          </a:bodyPr>
          <a:lstStyle>
            <a:defPPr>
              <a:defRPr sz="4875" b="1">
                <a:solidFill>
                  <a:srgbClr val="EAF3F4"/>
                </a:solidFill>
                <a:latin typeface="Segoe UI"/>
                <a:ea typeface="Segoe UI"/>
                <a:cs typeface="Segoe UI"/>
              </a:defRPr>
            </a:defPPr>
          </a:lstStyle>
          <a:p>
            <a:pPr>
              <a:defRPr sz="4875" b="1">
                <a:solidFill>
                  <a:srgbClr val="EAF3F4"/>
                </a:solidFill>
                <a:latin typeface="Segoe UI"/>
                <a:ea typeface="Segoe UI"/>
                <a:cs typeface="Segoe UI"/>
              </a:defRPr>
            </a:pPr>
            <a:r>
              <a:rPr sz="4875" b="1">
                <a:solidFill>
                  <a:srgbClr val="EAF3F4"/>
                </a:solidFill>
                <a:latin typeface="Segoe UI"/>
                <a:ea typeface="Segoe UI"/>
                <a:cs typeface="Segoe UI"/>
              </a:rPr>
              <a:t>25</a:t>
            </a:r>
          </a:p>
        </p:txBody>
      </p:sp>
      <p:sp>
        <p:nvSpPr>
          <p:cNvPr id="6" name="text_230">
            <a:extLst>
              <a:ext uri="{FF2B5EF4-FFF2-40B4-BE49-F238E27FC236}">
                <a16:creationId xmlns:a16="http://schemas.microsoft.com/office/drawing/2014/main" id="{354C79AB-BC2D-4937-9F90-F1B2D0EFBB5C}"/>
              </a:ext>
            </a:extLst>
          </p:cNvPr>
          <p:cNvSpPr>
            <a:spLocks noGrp="1"/>
          </p:cNvSpPr>
          <p:nvPr/>
        </p:nvSpPr>
        <p:spPr>
          <a:xfrm>
            <a:off x="8562975" y="3676650"/>
            <a:ext cx="3067050" cy="428625"/>
          </a:xfrm>
          <a:prstGeom prst="rect">
            <a:avLst/>
          </a:prstGeom>
          <a:noFill/>
          <a:ln w="0">
            <a:noFill/>
          </a:ln>
        </p:spPr>
        <p:txBody>
          <a:bodyPr lIns="0" tIns="0" rIns="0" bIns="0">
            <a:noAutofit/>
          </a:bodyPr>
          <a:lstStyle>
            <a:defPPr>
              <a:defRPr sz="1950" b="0">
                <a:solidFill>
                  <a:srgbClr val="A9C0CC"/>
                </a:solidFill>
                <a:latin typeface="Segoe UI"/>
                <a:ea typeface="Segoe UI"/>
                <a:cs typeface="Segoe UI"/>
              </a:defRPr>
            </a:defPPr>
          </a:lstStyle>
          <a:p>
            <a:pPr>
              <a:defRPr sz="1950" b="0">
                <a:solidFill>
                  <a:srgbClr val="A9C0CC"/>
                </a:solidFill>
                <a:latin typeface="Segoe UI"/>
                <a:ea typeface="Segoe UI"/>
                <a:cs typeface="Segoe UI"/>
              </a:defRPr>
            </a:pPr>
            <a:r>
              <a:rPr sz="1950" b="0">
                <a:solidFill>
                  <a:srgbClr val="A9C0CC"/>
                </a:solidFill>
                <a:latin typeface="Segoe UI"/>
                <a:ea typeface="Segoe UI"/>
                <a:cs typeface="Segoe UI"/>
              </a:rPr>
              <a:t>measurements</a:t>
            </a:r>
          </a:p>
        </p:txBody>
      </p:sp>
      <p:sp>
        <p:nvSpPr>
          <p:cNvPr id="7" name="text_231">
            <a:extLst>
              <a:ext uri="{FF2B5EF4-FFF2-40B4-BE49-F238E27FC236}">
                <a16:creationId xmlns:a16="http://schemas.microsoft.com/office/drawing/2014/main" id="{2257FD72-D39B-4D58-90D1-C043E1CFA1DE}"/>
              </a:ext>
            </a:extLst>
          </p:cNvPr>
          <p:cNvSpPr>
            <a:spLocks noGrp="1"/>
          </p:cNvSpPr>
          <p:nvPr/>
        </p:nvSpPr>
        <p:spPr>
          <a:xfrm>
            <a:off x="8486775" y="4191000"/>
            <a:ext cx="3171825" cy="838200"/>
          </a:xfrm>
          <a:prstGeom prst="rect">
            <a:avLst/>
          </a:prstGeom>
          <a:noFill/>
          <a:ln w="0">
            <a:noFill/>
          </a:ln>
        </p:spPr>
        <p:txBody>
          <a:bodyPr lIns="0" tIns="0" rIns="0" bIns="0">
            <a:noAutofit/>
          </a:bodyPr>
          <a:lstStyle>
            <a:defPPr>
              <a:defRPr sz="4875" b="1">
                <a:solidFill>
                  <a:srgbClr val="FF817B"/>
                </a:solidFill>
                <a:latin typeface="Segoe UI"/>
                <a:ea typeface="Segoe UI"/>
                <a:cs typeface="Segoe UI"/>
              </a:defRPr>
            </a:defPPr>
          </a:lstStyle>
          <a:p>
            <a:pPr>
              <a:defRPr sz="4875" b="1">
                <a:solidFill>
                  <a:srgbClr val="FF817B"/>
                </a:solidFill>
                <a:latin typeface="Segoe UI"/>
                <a:ea typeface="Segoe UI"/>
                <a:cs typeface="Segoe UI"/>
              </a:defRPr>
            </a:pPr>
            <a:r>
              <a:rPr sz="4875" b="1">
                <a:solidFill>
                  <a:srgbClr val="FF817B"/>
                </a:solidFill>
                <a:latin typeface="Segoe UI"/>
                <a:ea typeface="Segoe UI"/>
                <a:cs typeface="Segoe UI"/>
              </a:rPr>
              <a:t>110</a:t>
            </a:r>
          </a:p>
        </p:txBody>
      </p:sp>
      <p:sp>
        <p:nvSpPr>
          <p:cNvPr id="8" name="text_232">
            <a:extLst>
              <a:ext uri="{FF2B5EF4-FFF2-40B4-BE49-F238E27FC236}">
                <a16:creationId xmlns:a16="http://schemas.microsoft.com/office/drawing/2014/main" id="{85ED4BA3-2053-4C67-BCDF-8FB62345E79C}"/>
              </a:ext>
            </a:extLst>
          </p:cNvPr>
          <p:cNvSpPr>
            <a:spLocks noGrp="1"/>
          </p:cNvSpPr>
          <p:nvPr/>
        </p:nvSpPr>
        <p:spPr>
          <a:xfrm>
            <a:off x="8562975" y="5010150"/>
            <a:ext cx="3076575" cy="552450"/>
          </a:xfrm>
          <a:prstGeom prst="rect">
            <a:avLst/>
          </a:prstGeom>
          <a:noFill/>
          <a:ln w="0">
            <a:noFill/>
          </a:ln>
        </p:spPr>
        <p:txBody>
          <a:bodyPr lIns="0" tIns="0" rIns="0" bIns="0">
            <a:noAutofit/>
          </a:bodyPr>
          <a:lstStyle>
            <a:defPPr>
              <a:defRPr sz="1950" b="0">
                <a:solidFill>
                  <a:srgbClr val="A9C0CC"/>
                </a:solidFill>
                <a:latin typeface="Segoe UI"/>
                <a:ea typeface="Segoe UI"/>
                <a:cs typeface="Segoe UI"/>
              </a:defRPr>
            </a:defPPr>
          </a:lstStyle>
          <a:p>
            <a:pPr>
              <a:defRPr sz="1950" b="0">
                <a:solidFill>
                  <a:srgbClr val="A9C0CC"/>
                </a:solidFill>
                <a:latin typeface="Segoe UI"/>
                <a:ea typeface="Segoe UI"/>
                <a:cs typeface="Segoe UI"/>
              </a:defRPr>
            </a:pPr>
            <a:r>
              <a:rPr sz="1950" b="0">
                <a:solidFill>
                  <a:srgbClr val="A9C0CC"/>
                </a:solidFill>
                <a:latin typeface="Segoe UI"/>
                <a:ea typeface="Segoe UI"/>
                <a:cs typeface="Segoe UI"/>
              </a:rPr>
              <a:t>weights to reconstruct</a:t>
            </a:r>
          </a:p>
        </p:txBody>
      </p:sp>
      <p:sp>
        <p:nvSpPr>
          <p:cNvPr id="9" name="reveal_233">
            <a:extLst>
              <a:ext uri="{FF2B5EF4-FFF2-40B4-BE49-F238E27FC236}">
                <a16:creationId xmlns:a16="http://schemas.microsoft.com/office/drawing/2014/main" id="{7830F858-5C3D-4CC6-B704-6A10A9FFB5B7}"/>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55DDE0"/>
                </a:solidFill>
                <a:latin typeface="Segoe UI"/>
                <a:ea typeface="Segoe UI"/>
                <a:cs typeface="Segoe UI"/>
              </a:defRPr>
            </a:defPPr>
          </a:lstStyle>
          <a:p>
            <a:pPr>
              <a:defRPr sz="2100" b="1">
                <a:solidFill>
                  <a:srgbClr val="55DDE0"/>
                </a:solidFill>
                <a:latin typeface="Segoe UI"/>
                <a:ea typeface="Segoe UI"/>
                <a:cs typeface="Segoe UI"/>
              </a:defRPr>
            </a:pPr>
            <a:r>
              <a:rPr sz="2100" b="1">
                <a:solidFill>
                  <a:srgbClr val="55DDE0"/>
                </a:solidFill>
                <a:latin typeface="Segoe UI"/>
                <a:ea typeface="Segoe UI"/>
                <a:cs typeface="Segoe UI"/>
              </a:rPr>
              <a:t>Regularization imposes a preference on the solution</a:t>
            </a:r>
          </a:p>
        </p:txBody>
      </p:sp>
      <p:sp>
        <p:nvSpPr>
          <p:cNvPr id="10" name="text_234">
            <a:extLst>
              <a:ext uri="{FF2B5EF4-FFF2-40B4-BE49-F238E27FC236}">
                <a16:creationId xmlns:a16="http://schemas.microsoft.com/office/drawing/2014/main" id="{6842501F-8C92-494D-B095-1B9007F1DC9A}"/>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SIMULATION · weak kernel directions · small residuals admit very different solutions</a:t>
            </a:r>
          </a:p>
        </p:txBody>
      </p:sp>
    </p:spTree>
    <p:extLst>
      <p:ext uri="{BB962C8B-B14F-4D97-AF65-F5344CB8AC3E}">
        <p14:creationId xmlns:p14="http://schemas.microsoft.com/office/powerpoint/2010/main" val="87173068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6" name="slide_number">
            <a:extLst>
              <a:ext uri="{FF2B5EF4-FFF2-40B4-BE49-F238E27FC236}">
                <a16:creationId xmlns:a16="http://schemas.microsoft.com/office/drawing/2014/main" id="{3FF56E1A-C13F-410A-B8F3-6BD972FC6BAB}"/>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45</a:t>
            </a:r>
          </a:p>
        </p:txBody>
      </p:sp>
      <p:sp>
        <p:nvSpPr>
          <p:cNvPr id="2" name="slide_title">
            <a:extLst>
              <a:ext uri="{FF2B5EF4-FFF2-40B4-BE49-F238E27FC236}">
                <a16:creationId xmlns:a16="http://schemas.microsoft.com/office/drawing/2014/main" id="{1D4B45E0-17B0-4FA2-A973-239C94F28199}"/>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75" b="1">
                <a:solidFill>
                  <a:srgbClr val="EAF3F4"/>
                </a:solidFill>
                <a:latin typeface="Segoe UI"/>
                <a:ea typeface="Segoe UI"/>
                <a:cs typeface="Segoe UI"/>
              </a:defRPr>
            </a:defPPr>
          </a:lstStyle>
          <a:p>
            <a:pPr>
              <a:defRPr sz="3375" b="1">
                <a:solidFill>
                  <a:srgbClr val="EAF3F4"/>
                </a:solidFill>
                <a:latin typeface="Segoe UI"/>
                <a:ea typeface="Segoe UI"/>
                <a:cs typeface="Segoe UI"/>
              </a:defRPr>
            </a:pPr>
            <a:r>
              <a:rPr sz="3375" b="1">
                <a:solidFill>
                  <a:srgbClr val="EAF3F4"/>
                </a:solidFill>
                <a:latin typeface="Segoe UI"/>
                <a:ea typeface="Segoe UI"/>
                <a:cs typeface="Segoe UI"/>
              </a:rPr>
              <a:t>Each algorithm favours a different solution</a:t>
            </a:r>
          </a:p>
        </p:txBody>
      </p:sp>
      <p:graphicFrame>
        <p:nvGraphicFramePr>
          <p:cNvPr id="3" name="Tabla 2">
            <a:extLst>
              <a:ext uri="{FF2B5EF4-FFF2-40B4-BE49-F238E27FC236}">
                <a16:creationId xmlns:a16="http://schemas.microsoft.com/office/drawing/2014/main" id="{29F0DA6D-2B4D-404F-A630-EC6E1839142B}"/>
              </a:ext>
            </a:extLst>
          </p:cNvPr>
          <p:cNvGraphicFramePr/>
          <p:nvPr/>
        </p:nvGraphicFramePr>
        <p:xfrm>
          <a:off x="514350" y="1743075"/>
          <a:ext cx="11163300" cy="3390900"/>
        </p:xfrm>
        <a:graphic>
          <a:graphicData uri="http://schemas.openxmlformats.org/drawingml/2006/table">
            <a:tbl>
              <a:tblPr/>
              <a:tblGrid>
                <a:gridCol w="2962275">
                  <a:extLst>
                    <a:ext uri="{9D8B030D-6E8A-4147-A177-3AD203B41FA5}">
                      <a16:colId xmlns:a16="http://schemas.microsoft.com/office/drawing/2014/main" val="20000"/>
                    </a:ext>
                  </a:extLst>
                </a:gridCol>
                <a:gridCol w="401002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678180">
                <a:tc>
                  <a:txBody>
                    <a:bodyPr/>
                    <a:lstStyle/>
                    <a:p>
                      <a:r>
                        <a:rPr sz="1725" b="1">
                          <a:solidFill>
                            <a:srgbClr val="EAF3F4"/>
                          </a:solidFill>
                          <a:latin typeface="Segoe UI"/>
                          <a:ea typeface="Segoe UI"/>
                          <a:cs typeface="Segoe UI"/>
                        </a:rPr>
                        <a:t>Observed problem</a:t>
                      </a:r>
                    </a:p>
                  </a:txBody>
                  <a:tcPr>
                    <a:solidFill>
                      <a:srgbClr val="1D3E50"/>
                    </a:solidFill>
                  </a:tcPr>
                </a:tc>
                <a:tc>
                  <a:txBody>
                    <a:bodyPr/>
                    <a:lstStyle/>
                    <a:p>
                      <a:r>
                        <a:rPr sz="1725" b="1">
                          <a:solidFill>
                            <a:srgbClr val="EAF3F4"/>
                          </a:solidFill>
                          <a:latin typeface="Segoe UI"/>
                          <a:ea typeface="Segoe UI"/>
                          <a:cs typeface="Segoe UI"/>
                        </a:rPr>
                        <a:t>Family / examples</a:t>
                      </a:r>
                    </a:p>
                  </a:txBody>
                  <a:tcPr>
                    <a:solidFill>
                      <a:srgbClr val="1D3E50"/>
                    </a:solidFill>
                  </a:tcPr>
                </a:tc>
                <a:tc>
                  <a:txBody>
                    <a:bodyPr/>
                    <a:lstStyle/>
                    <a:p>
                      <a:r>
                        <a:rPr sz="1725" b="1">
                          <a:solidFill>
                            <a:srgbClr val="EAF3F4"/>
                          </a:solidFill>
                          <a:latin typeface="Segoe UI"/>
                          <a:ea typeface="Segoe UI"/>
                          <a:cs typeface="Segoe UI"/>
                        </a:rPr>
                        <a:t>Preference and risk</a:t>
                      </a:r>
                    </a:p>
                  </a:txBody>
                  <a:tcPr>
                    <a:solidFill>
                      <a:srgbClr val="1D3E50"/>
                    </a:solidFill>
                  </a:tcPr>
                </a:tc>
                <a:extLst>
                  <a:ext uri="{0D108BD9-81ED-4DB2-BD59-A6C34878D82A}">
                    <a16:rowId xmlns:a16="http://schemas.microsoft.com/office/drawing/2014/main" val="10000"/>
                  </a:ext>
                </a:extLst>
              </a:tr>
              <a:tr h="678180">
                <a:tc>
                  <a:txBody>
                    <a:bodyPr/>
                    <a:lstStyle/>
                    <a:p>
                      <a:r>
                        <a:rPr sz="1725" b="0">
                          <a:solidFill>
                            <a:srgbClr val="EAF3F4"/>
                          </a:solidFill>
                          <a:latin typeface="Segoe UI"/>
                          <a:ea typeface="Segoe UI"/>
                          <a:cs typeface="Segoe UI"/>
                        </a:rPr>
                        <a:t>Isolated signal</a:t>
                      </a:r>
                    </a:p>
                  </a:txBody>
                  <a:tcPr>
                    <a:solidFill>
                      <a:srgbClr val="081522"/>
                    </a:solidFill>
                  </a:tcPr>
                </a:tc>
                <a:tc>
                  <a:txBody>
                    <a:bodyPr/>
                    <a:lstStyle/>
                    <a:p>
                      <a:r>
                        <a:rPr sz="1725" b="0">
                          <a:solidFill>
                            <a:srgbClr val="EAF3F4"/>
                          </a:solidFill>
                          <a:latin typeface="Segoe UI"/>
                          <a:ea typeface="Segoe UI"/>
                          <a:cs typeface="Segoe UI"/>
                        </a:rPr>
                        <a:t>Monoexp. / NNLS</a:t>
                      </a:r>
                    </a:p>
                  </a:txBody>
                  <a:tcPr>
                    <a:solidFill>
                      <a:srgbClr val="081522"/>
                    </a:solidFill>
                  </a:tcPr>
                </a:tc>
                <a:tc>
                  <a:txBody>
                    <a:bodyPr/>
                    <a:lstStyle/>
                    <a:p>
                      <a:r>
                        <a:rPr sz="1725" b="0">
                          <a:solidFill>
                            <a:srgbClr val="EAF3F4"/>
                          </a:solidFill>
                          <a:latin typeface="Segoe UI"/>
                          <a:ea typeface="Segoe UI"/>
                          <a:cs typeface="Segoe UI"/>
                        </a:rPr>
                        <a:t>Minimal model / unstable unregularized peaks</a:t>
                      </a:r>
                    </a:p>
                  </a:txBody>
                  <a:tcPr>
                    <a:solidFill>
                      <a:srgbClr val="081522"/>
                    </a:solidFill>
                  </a:tcPr>
                </a:tc>
                <a:extLst>
                  <a:ext uri="{0D108BD9-81ED-4DB2-BD59-A6C34878D82A}">
                    <a16:rowId xmlns:a16="http://schemas.microsoft.com/office/drawing/2014/main" val="10001"/>
                  </a:ext>
                </a:extLst>
              </a:tr>
              <a:tr h="678180">
                <a:tc>
                  <a:txBody>
                    <a:bodyPr/>
                    <a:lstStyle/>
                    <a:p>
                      <a:r>
                        <a:rPr sz="1725" b="0">
                          <a:solidFill>
                            <a:srgbClr val="EAF3F4"/>
                          </a:solidFill>
                          <a:latin typeface="Segoe UI"/>
                          <a:ea typeface="Segoe UI"/>
                          <a:cs typeface="Segoe UI"/>
                        </a:rPr>
                        <a:t>Broad distribution</a:t>
                      </a:r>
                    </a:p>
                  </a:txBody>
                  <a:tcPr>
                    <a:solidFill>
                      <a:srgbClr val="081522"/>
                    </a:solidFill>
                  </a:tcPr>
                </a:tc>
                <a:tc>
                  <a:txBody>
                    <a:bodyPr/>
                    <a:lstStyle/>
                    <a:p>
                      <a:r>
                        <a:rPr sz="1725" b="0">
                          <a:solidFill>
                            <a:srgbClr val="EAF3F4"/>
                          </a:solidFill>
                          <a:latin typeface="Segoe UI"/>
                          <a:ea typeface="Segoe UI"/>
                          <a:cs typeface="Segoe UI"/>
                        </a:rPr>
                        <a:t>Tikhonov / MaxEnt / PALMA</a:t>
                      </a:r>
                    </a:p>
                  </a:txBody>
                  <a:tcPr>
                    <a:solidFill>
                      <a:srgbClr val="081522"/>
                    </a:solidFill>
                  </a:tcPr>
                </a:tc>
                <a:tc>
                  <a:txBody>
                    <a:bodyPr/>
                    <a:lstStyle/>
                    <a:p>
                      <a:r>
                        <a:rPr sz="1725" b="0">
                          <a:solidFill>
                            <a:srgbClr val="EAF3F4"/>
                          </a:solidFill>
                          <a:latin typeface="Segoe UI"/>
                          <a:ea typeface="Segoe UI"/>
                          <a:cs typeface="Segoe UI"/>
                        </a:rPr>
                        <a:t>Regularization / may merge components</a:t>
                      </a:r>
                    </a:p>
                  </a:txBody>
                  <a:tcPr>
                    <a:solidFill>
                      <a:srgbClr val="081522"/>
                    </a:solidFill>
                  </a:tcPr>
                </a:tc>
                <a:extLst>
                  <a:ext uri="{0D108BD9-81ED-4DB2-BD59-A6C34878D82A}">
                    <a16:rowId xmlns:a16="http://schemas.microsoft.com/office/drawing/2014/main" val="10002"/>
                  </a:ext>
                </a:extLst>
              </a:tr>
              <a:tr h="678180">
                <a:tc>
                  <a:txBody>
                    <a:bodyPr/>
                    <a:lstStyle/>
                    <a:p>
                      <a:r>
                        <a:rPr sz="1725" b="0">
                          <a:solidFill>
                            <a:srgbClr val="EAF3F4"/>
                          </a:solidFill>
                          <a:latin typeface="Segoe UI"/>
                          <a:ea typeface="Segoe UI"/>
                          <a:cs typeface="Segoe UI"/>
                        </a:rPr>
                        <a:t>Few components</a:t>
                      </a:r>
                    </a:p>
                  </a:txBody>
                  <a:tcPr>
                    <a:solidFill>
                      <a:srgbClr val="081522"/>
                    </a:solidFill>
                  </a:tcPr>
                </a:tc>
                <a:tc>
                  <a:txBody>
                    <a:bodyPr/>
                    <a:lstStyle/>
                    <a:p>
                      <a:r>
                        <a:rPr sz="1725" b="0">
                          <a:solidFill>
                            <a:srgbClr val="EAF3F4"/>
                          </a:solidFill>
                          <a:latin typeface="Segoe UI"/>
                          <a:ea typeface="Segoe UI"/>
                          <a:cs typeface="Segoe UI"/>
                        </a:rPr>
                        <a:t>ITAMeD / L1 / VP / SCORE</a:t>
                      </a:r>
                    </a:p>
                  </a:txBody>
                  <a:tcPr>
                    <a:solidFill>
                      <a:srgbClr val="081522"/>
                    </a:solidFill>
                  </a:tcPr>
                </a:tc>
                <a:tc>
                  <a:txBody>
                    <a:bodyPr/>
                    <a:lstStyle/>
                    <a:p>
                      <a:r>
                        <a:rPr sz="1725" b="0">
                          <a:solidFill>
                            <a:srgbClr val="EAF3F4"/>
                          </a:solidFill>
                          <a:latin typeface="Segoe UI"/>
                          <a:ea typeface="Segoe UI"/>
                          <a:cs typeface="Segoe UI"/>
                        </a:rPr>
                        <a:t>Sparsity or model order / wrong assumptions</a:t>
                      </a:r>
                    </a:p>
                  </a:txBody>
                  <a:tcPr>
                    <a:solidFill>
                      <a:srgbClr val="081522"/>
                    </a:solidFill>
                  </a:tcPr>
                </a:tc>
                <a:extLst>
                  <a:ext uri="{0D108BD9-81ED-4DB2-BD59-A6C34878D82A}">
                    <a16:rowId xmlns:a16="http://schemas.microsoft.com/office/drawing/2014/main" val="10003"/>
                  </a:ext>
                </a:extLst>
              </a:tr>
              <a:tr h="678180">
                <a:tc>
                  <a:txBody>
                    <a:bodyPr/>
                    <a:lstStyle/>
                    <a:p>
                      <a:r>
                        <a:rPr sz="1725" b="0">
                          <a:solidFill>
                            <a:srgbClr val="EAF3F4"/>
                          </a:solidFill>
                          <a:latin typeface="Segoe UI"/>
                          <a:ea typeface="Segoe UI"/>
                          <a:cs typeface="Segoe UI"/>
                        </a:rPr>
                        <a:t>Overlapping signals</a:t>
                      </a:r>
                    </a:p>
                  </a:txBody>
                  <a:tcPr>
                    <a:solidFill>
                      <a:srgbClr val="081522"/>
                    </a:solidFill>
                  </a:tcPr>
                </a:tc>
                <a:tc>
                  <a:txBody>
                    <a:bodyPr/>
                    <a:lstStyle/>
                    <a:p>
                      <a:r>
                        <a:rPr sz="1725" b="0">
                          <a:solidFill>
                            <a:srgbClr val="EAF3F4"/>
                          </a:solidFill>
                          <a:latin typeface="Segoe UI"/>
                          <a:ea typeface="Segoe UI"/>
                          <a:cs typeface="Segoe UI"/>
                        </a:rPr>
                        <a:t>MF / TRAIn-MF / SILT</a:t>
                      </a:r>
                    </a:p>
                  </a:txBody>
                  <a:tcPr>
                    <a:solidFill>
                      <a:srgbClr val="081522"/>
                    </a:solidFill>
                  </a:tcPr>
                </a:tc>
                <a:tc>
                  <a:txBody>
                    <a:bodyPr/>
                    <a:lstStyle/>
                    <a:p>
                      <a:r>
                        <a:rPr sz="1725" b="0">
                          <a:solidFill>
                            <a:srgbClr val="EAF3F4"/>
                          </a:solidFill>
                          <a:latin typeface="Segoe UI"/>
                          <a:ea typeface="Segoe UI"/>
                          <a:cs typeface="Segoe UI"/>
                        </a:rPr>
                        <a:t>Shared structure / spurious factors</a:t>
                      </a:r>
                    </a:p>
                  </a:txBody>
                  <a:tcPr>
                    <a:solidFill>
                      <a:srgbClr val="081522"/>
                    </a:solidFill>
                  </a:tcPr>
                </a:tc>
                <a:extLst>
                  <a:ext uri="{0D108BD9-81ED-4DB2-BD59-A6C34878D82A}">
                    <a16:rowId xmlns:a16="http://schemas.microsoft.com/office/drawing/2014/main" val="10004"/>
                  </a:ext>
                </a:extLst>
              </a:tr>
            </a:tbl>
          </a:graphicData>
        </a:graphic>
      </p:graphicFrame>
      <p:sp>
        <p:nvSpPr>
          <p:cNvPr id="4" name="reveal_235">
            <a:extLst>
              <a:ext uri="{FF2B5EF4-FFF2-40B4-BE49-F238E27FC236}">
                <a16:creationId xmlns:a16="http://schemas.microsoft.com/office/drawing/2014/main" id="{50F8E620-63F0-4403-8F01-2FEA500FC560}"/>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55DDE0"/>
                </a:solidFill>
                <a:latin typeface="Segoe UI"/>
                <a:ea typeface="Segoe UI"/>
                <a:cs typeface="Segoe UI"/>
              </a:defRPr>
            </a:defPPr>
          </a:lstStyle>
          <a:p>
            <a:pPr>
              <a:defRPr sz="2100" b="1">
                <a:solidFill>
                  <a:srgbClr val="55DDE0"/>
                </a:solidFill>
                <a:latin typeface="Segoe UI"/>
                <a:ea typeface="Segoe UI"/>
                <a:cs typeface="Segoe UI"/>
              </a:defRPr>
            </a:pPr>
            <a:r>
              <a:rPr sz="2100" b="1">
                <a:solidFill>
                  <a:srgbClr val="55DDE0"/>
                </a:solidFill>
                <a:latin typeface="Segoe UI"/>
                <a:ea typeface="Segoe UI"/>
                <a:cs typeface="Segoe UI"/>
              </a:rPr>
              <a:t>Compare solutions with the same b values, noise and preprocessing</a:t>
            </a:r>
          </a:p>
        </p:txBody>
      </p:sp>
      <p:sp>
        <p:nvSpPr>
          <p:cNvPr id="5" name="text_236">
            <a:extLst>
              <a:ext uri="{FF2B5EF4-FFF2-40B4-BE49-F238E27FC236}">
                <a16:creationId xmlns:a16="http://schemas.microsoft.com/office/drawing/2014/main" id="{DC0C020A-DE9B-4F27-93A0-7351A33B95EC}"/>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650" b="0">
                <a:solidFill>
                  <a:srgbClr val="A9C0CC"/>
                </a:solidFill>
                <a:latin typeface="Segoe UI"/>
                <a:ea typeface="Segoe UI"/>
                <a:cs typeface="Segoe UI"/>
              </a:defRPr>
            </a:defPPr>
          </a:lstStyle>
          <a:p>
            <a:pPr>
              <a:defRPr sz="1650" b="0">
                <a:solidFill>
                  <a:srgbClr val="A9C0CC"/>
                </a:solidFill>
                <a:latin typeface="Segoe UI"/>
                <a:ea typeface="Segoe UI"/>
                <a:cs typeface="Segoe UI"/>
              </a:defRPr>
            </a:pPr>
            <a:r>
              <a:rPr sz="1650" b="0">
                <a:solidFill>
                  <a:srgbClr val="A9C0CC"/>
                </a:solidFill>
                <a:latin typeface="Segoe UI"/>
                <a:ea typeface="Segoe UI"/>
                <a:cs typeface="Segoe UI"/>
              </a:rPr>
              <a:t>Complete catalogue in the appendix: uses, limits and availability. FISTA/ADMM/SVD are engines, not physical models.</a:t>
            </a:r>
          </a:p>
        </p:txBody>
      </p:sp>
    </p:spTree>
    <p:extLst>
      <p:ext uri="{BB962C8B-B14F-4D97-AF65-F5344CB8AC3E}">
        <p14:creationId xmlns:p14="http://schemas.microsoft.com/office/powerpoint/2010/main" val="119269191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30138</Words>
  <Application>Microsoft Office PowerPoint</Application>
  <DocSecurity>0</DocSecurity>
  <PresentationFormat>Panorámica</PresentationFormat>
  <Paragraphs>2622</Paragraphs>
  <Slides>45</Slides>
  <Notes>45</Notes>
  <HiddenSlides>20</HiddenSlides>
  <MMClips>7</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45</vt:i4>
      </vt:variant>
    </vt:vector>
  </HeadingPairs>
  <TitlesOfParts>
    <vt:vector size="49" baseType="lpstr">
      <vt:lpstr>Aptos</vt:lpstr>
      <vt:lpstr>Consolas</vt:lpstr>
      <vt:lpstr>Segoe UI</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Francisco Manuel Arrabal Campos</cp:lastModifiedBy>
  <cp:revision>1</cp:revision>
  <dcterms:created xsi:type="dcterms:W3CDTF">2026-10-02T22:15:24Z</dcterms:created>
  <dcterms:modified xsi:type="dcterms:W3CDTF">2026-10-02T22:16:20Z</dcterms:modified>
</cp:coreProperties>
</file>