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5.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Modelo ideal zg</c:v>
          </c:tx>
          <c:spPr>
            <a:ln w="28575">
              <a:solidFill>
                <a:srgbClr val="087E98"/>
              </a:solidFill>
            </a:ln>
          </c:spPr>
          <c:marker>
            <c:symbol val="none"/>
          </c:marker>
          <c:xVal>
            <c:numRef>
              <c:f>'Chart Data'!$A$2:$A$122</c:f>
              <c:numCache>
                <c:formatCode>General</c:formatCode>
                <c:ptCount val="121"/>
                <c:pt idx="0">
                  <c:v>0</c:v>
                </c:pt>
                <c:pt idx="1">
                  <c:v>0.4</c:v>
                </c:pt>
                <c:pt idx="2">
                  <c:v>0.8</c:v>
                </c:pt>
                <c:pt idx="3">
                  <c:v>1.2</c:v>
                </c:pt>
                <c:pt idx="4">
                  <c:v>1.6</c:v>
                </c:pt>
                <c:pt idx="5">
                  <c:v>2</c:v>
                </c:pt>
                <c:pt idx="6">
                  <c:v>2.4</c:v>
                </c:pt>
                <c:pt idx="7">
                  <c:v>2.8</c:v>
                </c:pt>
                <c:pt idx="8">
                  <c:v>3.2</c:v>
                </c:pt>
                <c:pt idx="9">
                  <c:v>3.6</c:v>
                </c:pt>
                <c:pt idx="10">
                  <c:v>4</c:v>
                </c:pt>
                <c:pt idx="11">
                  <c:v>4.4</c:v>
                </c:pt>
                <c:pt idx="12">
                  <c:v>4.8</c:v>
                </c:pt>
                <c:pt idx="13">
                  <c:v>5.2</c:v>
                </c:pt>
                <c:pt idx="14">
                  <c:v>5.6</c:v>
                </c:pt>
                <c:pt idx="15">
                  <c:v>6</c:v>
                </c:pt>
                <c:pt idx="16">
                  <c:v>6.4</c:v>
                </c:pt>
                <c:pt idx="17">
                  <c:v>6.8</c:v>
                </c:pt>
                <c:pt idx="18">
                  <c:v>7.2</c:v>
                </c:pt>
                <c:pt idx="19">
                  <c:v>7.6</c:v>
                </c:pt>
                <c:pt idx="20">
                  <c:v>8</c:v>
                </c:pt>
                <c:pt idx="21">
                  <c:v>8.4</c:v>
                </c:pt>
                <c:pt idx="22">
                  <c:v>8.8</c:v>
                </c:pt>
                <c:pt idx="23">
                  <c:v>9.2</c:v>
                </c:pt>
                <c:pt idx="24">
                  <c:v>9.6</c:v>
                </c:pt>
                <c:pt idx="25">
                  <c:v>10</c:v>
                </c:pt>
                <c:pt idx="26">
                  <c:v>10.4</c:v>
                </c:pt>
                <c:pt idx="27">
                  <c:v>10.8</c:v>
                </c:pt>
                <c:pt idx="28">
                  <c:v>11.2</c:v>
                </c:pt>
                <c:pt idx="29">
                  <c:v>11.6</c:v>
                </c:pt>
                <c:pt idx="30">
                  <c:v>12</c:v>
                </c:pt>
                <c:pt idx="31">
                  <c:v>12.4</c:v>
                </c:pt>
                <c:pt idx="32">
                  <c:v>12.8</c:v>
                </c:pt>
                <c:pt idx="33">
                  <c:v>13.2</c:v>
                </c:pt>
                <c:pt idx="34">
                  <c:v>13.6</c:v>
                </c:pt>
                <c:pt idx="35">
                  <c:v>14</c:v>
                </c:pt>
                <c:pt idx="36">
                  <c:v>14.4</c:v>
                </c:pt>
                <c:pt idx="37">
                  <c:v>14.8</c:v>
                </c:pt>
                <c:pt idx="38">
                  <c:v>15.2</c:v>
                </c:pt>
                <c:pt idx="39">
                  <c:v>15.6</c:v>
                </c:pt>
                <c:pt idx="40">
                  <c:v>16</c:v>
                </c:pt>
                <c:pt idx="41">
                  <c:v>16.4</c:v>
                </c:pt>
                <c:pt idx="42">
                  <c:v>16.8</c:v>
                </c:pt>
                <c:pt idx="43">
                  <c:v>17.2</c:v>
                </c:pt>
                <c:pt idx="44">
                  <c:v>17.6</c:v>
                </c:pt>
                <c:pt idx="45">
                  <c:v>18</c:v>
                </c:pt>
                <c:pt idx="46">
                  <c:v>18.4</c:v>
                </c:pt>
                <c:pt idx="47">
                  <c:v>18.8</c:v>
                </c:pt>
                <c:pt idx="48">
                  <c:v>19.2</c:v>
                </c:pt>
                <c:pt idx="49">
                  <c:v>19.6</c:v>
                </c:pt>
                <c:pt idx="50">
                  <c:v>20</c:v>
                </c:pt>
                <c:pt idx="51">
                  <c:v>20.4</c:v>
                </c:pt>
                <c:pt idx="52">
                  <c:v>20.8</c:v>
                </c:pt>
                <c:pt idx="53">
                  <c:v>21.2</c:v>
                </c:pt>
                <c:pt idx="54">
                  <c:v>21.6</c:v>
                </c:pt>
                <c:pt idx="55">
                  <c:v>22</c:v>
                </c:pt>
                <c:pt idx="56">
                  <c:v>22.4</c:v>
                </c:pt>
                <c:pt idx="57">
                  <c:v>22.8</c:v>
                </c:pt>
                <c:pt idx="58">
                  <c:v>23.2</c:v>
                </c:pt>
                <c:pt idx="59">
                  <c:v>23.6</c:v>
                </c:pt>
                <c:pt idx="60">
                  <c:v>24</c:v>
                </c:pt>
                <c:pt idx="61">
                  <c:v>24.4</c:v>
                </c:pt>
                <c:pt idx="62">
                  <c:v>24.8</c:v>
                </c:pt>
                <c:pt idx="63">
                  <c:v>25.2</c:v>
                </c:pt>
                <c:pt idx="64">
                  <c:v>25.6</c:v>
                </c:pt>
                <c:pt idx="65">
                  <c:v>26</c:v>
                </c:pt>
                <c:pt idx="66">
                  <c:v>26.4</c:v>
                </c:pt>
                <c:pt idx="67">
                  <c:v>26.8</c:v>
                </c:pt>
                <c:pt idx="68">
                  <c:v>27.2</c:v>
                </c:pt>
                <c:pt idx="69">
                  <c:v>27.6</c:v>
                </c:pt>
                <c:pt idx="70">
                  <c:v>28</c:v>
                </c:pt>
                <c:pt idx="71">
                  <c:v>28.4</c:v>
                </c:pt>
                <c:pt idx="72">
                  <c:v>28.8</c:v>
                </c:pt>
                <c:pt idx="73">
                  <c:v>29.2</c:v>
                </c:pt>
                <c:pt idx="74">
                  <c:v>29.6</c:v>
                </c:pt>
                <c:pt idx="75">
                  <c:v>30</c:v>
                </c:pt>
                <c:pt idx="76">
                  <c:v>30.4</c:v>
                </c:pt>
                <c:pt idx="77">
                  <c:v>30.8</c:v>
                </c:pt>
                <c:pt idx="78">
                  <c:v>31.2</c:v>
                </c:pt>
                <c:pt idx="79">
                  <c:v>31.6</c:v>
                </c:pt>
                <c:pt idx="80">
                  <c:v>32</c:v>
                </c:pt>
                <c:pt idx="81">
                  <c:v>32.4</c:v>
                </c:pt>
                <c:pt idx="82">
                  <c:v>32.8</c:v>
                </c:pt>
                <c:pt idx="83">
                  <c:v>33.2</c:v>
                </c:pt>
                <c:pt idx="84">
                  <c:v>33.6</c:v>
                </c:pt>
                <c:pt idx="85">
                  <c:v>34</c:v>
                </c:pt>
                <c:pt idx="86">
                  <c:v>34.4</c:v>
                </c:pt>
                <c:pt idx="87">
                  <c:v>34.8</c:v>
                </c:pt>
                <c:pt idx="88">
                  <c:v>35.2</c:v>
                </c:pt>
                <c:pt idx="89">
                  <c:v>35.6</c:v>
                </c:pt>
                <c:pt idx="90">
                  <c:v>36</c:v>
                </c:pt>
                <c:pt idx="91">
                  <c:v>36.4</c:v>
                </c:pt>
                <c:pt idx="92">
                  <c:v>36.8</c:v>
                </c:pt>
                <c:pt idx="93">
                  <c:v>37.2</c:v>
                </c:pt>
                <c:pt idx="94">
                  <c:v>37.6</c:v>
                </c:pt>
                <c:pt idx="95">
                  <c:v>38</c:v>
                </c:pt>
                <c:pt idx="96">
                  <c:v>38.4</c:v>
                </c:pt>
                <c:pt idx="97">
                  <c:v>38.8</c:v>
                </c:pt>
                <c:pt idx="98">
                  <c:v>39.2</c:v>
                </c:pt>
                <c:pt idx="99">
                  <c:v>39.6</c:v>
                </c:pt>
                <c:pt idx="100">
                  <c:v>40</c:v>
                </c:pt>
                <c:pt idx="101">
                  <c:v>40.4</c:v>
                </c:pt>
                <c:pt idx="102">
                  <c:v>40.8</c:v>
                </c:pt>
                <c:pt idx="103">
                  <c:v>41.2</c:v>
                </c:pt>
                <c:pt idx="104">
                  <c:v>41.6</c:v>
                </c:pt>
                <c:pt idx="105">
                  <c:v>42</c:v>
                </c:pt>
                <c:pt idx="106">
                  <c:v>42.4</c:v>
                </c:pt>
                <c:pt idx="107">
                  <c:v>42.8</c:v>
                </c:pt>
                <c:pt idx="108">
                  <c:v>43.2</c:v>
                </c:pt>
                <c:pt idx="109">
                  <c:v>43.6</c:v>
                </c:pt>
                <c:pt idx="110">
                  <c:v>44</c:v>
                </c:pt>
                <c:pt idx="111">
                  <c:v>44.4</c:v>
                </c:pt>
                <c:pt idx="112">
                  <c:v>44.8</c:v>
                </c:pt>
                <c:pt idx="113">
                  <c:v>45.2</c:v>
                </c:pt>
                <c:pt idx="114">
                  <c:v>45.6</c:v>
                </c:pt>
                <c:pt idx="115">
                  <c:v>46</c:v>
                </c:pt>
                <c:pt idx="116">
                  <c:v>46.4</c:v>
                </c:pt>
                <c:pt idx="117">
                  <c:v>46.8</c:v>
                </c:pt>
                <c:pt idx="118">
                  <c:v>47.2</c:v>
                </c:pt>
                <c:pt idx="119">
                  <c:v>47.6</c:v>
                </c:pt>
                <c:pt idx="120">
                  <c:v>48</c:v>
                </c:pt>
              </c:numCache>
            </c:numRef>
          </c:xVal>
          <c:yVal>
            <c:numRef>
              <c:f>'Chart Data'!$B$2:$B$122</c:f>
              <c:numCache>
                <c:formatCode>0.0</c:formatCode>
                <c:ptCount val="121"/>
                <c:pt idx="0">
                  <c:v>0</c:v>
                </c:pt>
                <c:pt idx="1">
                  <c:v>0.0570888108628</c:v>
                </c:pt>
                <c:pt idx="2">
                  <c:v>0.113991409891</c:v>
                </c:pt>
                <c:pt idx="3">
                  <c:v>0.170522192633</c:v>
                </c:pt>
                <c:pt idx="4">
                  <c:v>0.226496767426</c:v>
                </c:pt>
                <c:pt idx="5">
                  <c:v>0.281732556841</c:v>
                </c:pt>
                <c:pt idx="6">
                  <c:v>0.336049393215</c:v>
                </c:pt>
                <c:pt idx="7">
                  <c:v>0.389270106317</c:v>
                </c:pt>
                <c:pt idx="8">
                  <c:v>0.441221101243</c:v>
                </c:pt>
                <c:pt idx="9">
                  <c:v>0.491732924646</c:v>
                </c:pt>
                <c:pt idx="10">
                  <c:v>0.540640817456</c:v>
                </c:pt>
                <c:pt idx="11">
                  <c:v>0.587785252292</c:v>
                </c:pt>
                <c:pt idx="12">
                  <c:v>0.633012453809</c:v>
                </c:pt>
                <c:pt idx="13">
                  <c:v>0.676174900274</c:v>
                </c:pt>
                <c:pt idx="14">
                  <c:v>0.717131804759</c:v>
                </c:pt>
                <c:pt idx="15">
                  <c:v>0.755749574354</c:v>
                </c:pt>
                <c:pt idx="16">
                  <c:v>0.791902245922</c:v>
                </c:pt>
                <c:pt idx="17">
                  <c:v>0.825471896963</c:v>
                </c:pt>
                <c:pt idx="18">
                  <c:v>0.856349030252</c:v>
                </c:pt>
                <c:pt idx="19">
                  <c:v>0.884432930998</c:v>
                </c:pt>
                <c:pt idx="20">
                  <c:v>0.909631995355</c:v>
                </c:pt>
                <c:pt idx="21">
                  <c:v>0.931864029211</c:v>
                </c:pt>
                <c:pt idx="22">
                  <c:v>0.951056516295</c:v>
                </c:pt>
                <c:pt idx="23">
                  <c:v>0.967146854702</c:v>
                </c:pt>
                <c:pt idx="24">
                  <c:v>0.980082561092</c:v>
                </c:pt>
                <c:pt idx="25">
                  <c:v>0.989821441881</c:v>
                </c:pt>
                <c:pt idx="26">
                  <c:v>0.996331730863</c:v>
                </c:pt>
                <c:pt idx="27">
                  <c:v>0.999592192828</c:v>
                </c:pt>
                <c:pt idx="28">
                  <c:v>0.999592192828</c:v>
                </c:pt>
                <c:pt idx="29">
                  <c:v>0.996331730863</c:v>
                </c:pt>
                <c:pt idx="30">
                  <c:v>0.989821441881</c:v>
                </c:pt>
                <c:pt idx="31">
                  <c:v>0.980082561092</c:v>
                </c:pt>
                <c:pt idx="32">
                  <c:v>0.967146854702</c:v>
                </c:pt>
                <c:pt idx="33">
                  <c:v>0.951056516295</c:v>
                </c:pt>
                <c:pt idx="34">
                  <c:v>0.931864029211</c:v>
                </c:pt>
                <c:pt idx="35">
                  <c:v>0.909631995355</c:v>
                </c:pt>
                <c:pt idx="36">
                  <c:v>0.884432930998</c:v>
                </c:pt>
                <c:pt idx="37">
                  <c:v>0.856349030252</c:v>
                </c:pt>
                <c:pt idx="38">
                  <c:v>0.825471896963</c:v>
                </c:pt>
                <c:pt idx="39">
                  <c:v>0.791902245922</c:v>
                </c:pt>
                <c:pt idx="40">
                  <c:v>0.755749574354</c:v>
                </c:pt>
                <c:pt idx="41">
                  <c:v>0.717131804759</c:v>
                </c:pt>
                <c:pt idx="42">
                  <c:v>0.676174900274</c:v>
                </c:pt>
                <c:pt idx="43">
                  <c:v>0.633012453809</c:v>
                </c:pt>
                <c:pt idx="44">
                  <c:v>0.587785252292</c:v>
                </c:pt>
                <c:pt idx="45">
                  <c:v>0.540640817456</c:v>
                </c:pt>
                <c:pt idx="46">
                  <c:v>0.491732924646</c:v>
                </c:pt>
                <c:pt idx="47">
                  <c:v>0.441221101243</c:v>
                </c:pt>
                <c:pt idx="48">
                  <c:v>0.389270106317</c:v>
                </c:pt>
                <c:pt idx="49">
                  <c:v>0.336049393215</c:v>
                </c:pt>
                <c:pt idx="50">
                  <c:v>0.281732556841</c:v>
                </c:pt>
                <c:pt idx="51">
                  <c:v>0.226496767426</c:v>
                </c:pt>
                <c:pt idx="52">
                  <c:v>0.170522192633</c:v>
                </c:pt>
                <c:pt idx="53">
                  <c:v>0.113991409891</c:v>
                </c:pt>
                <c:pt idx="54">
                  <c:v>0.0570888108628</c:v>
                </c:pt>
                <c:pt idx="55">
                  <c:v>5.66553889765E-16</c:v>
                </c:pt>
                <c:pt idx="56">
                  <c:v>-0.0570888108628</c:v>
                </c:pt>
                <c:pt idx="57">
                  <c:v>-0.113991409891</c:v>
                </c:pt>
                <c:pt idx="58">
                  <c:v>-0.170522192633</c:v>
                </c:pt>
                <c:pt idx="59">
                  <c:v>-0.226496767426</c:v>
                </c:pt>
                <c:pt idx="60">
                  <c:v>-0.281732556841</c:v>
                </c:pt>
                <c:pt idx="61">
                  <c:v>-0.336049393215</c:v>
                </c:pt>
                <c:pt idx="62">
                  <c:v>-0.389270106317</c:v>
                </c:pt>
                <c:pt idx="63">
                  <c:v>-0.441221101243</c:v>
                </c:pt>
                <c:pt idx="64">
                  <c:v>-0.491732924646</c:v>
                </c:pt>
                <c:pt idx="65">
                  <c:v>-0.540640817456</c:v>
                </c:pt>
                <c:pt idx="66">
                  <c:v>-0.587785252292</c:v>
                </c:pt>
                <c:pt idx="67">
                  <c:v>-0.633012453809</c:v>
                </c:pt>
                <c:pt idx="68">
                  <c:v>-0.676174900274</c:v>
                </c:pt>
                <c:pt idx="69">
                  <c:v>-0.717131804759</c:v>
                </c:pt>
                <c:pt idx="70">
                  <c:v>-0.755749574354</c:v>
                </c:pt>
                <c:pt idx="71">
                  <c:v>-0.791902245922</c:v>
                </c:pt>
                <c:pt idx="72">
                  <c:v>-0.825471896963</c:v>
                </c:pt>
                <c:pt idx="73">
                  <c:v>-0.856349030252</c:v>
                </c:pt>
                <c:pt idx="74">
                  <c:v>-0.884432930998</c:v>
                </c:pt>
                <c:pt idx="75">
                  <c:v>-0.909631995355</c:v>
                </c:pt>
                <c:pt idx="76">
                  <c:v>-0.931864029211</c:v>
                </c:pt>
                <c:pt idx="77">
                  <c:v>-0.951056516295</c:v>
                </c:pt>
                <c:pt idx="78">
                  <c:v>-0.967146854702</c:v>
                </c:pt>
                <c:pt idx="79">
                  <c:v>-0.980082561092</c:v>
                </c:pt>
                <c:pt idx="80">
                  <c:v>-0.989821441881</c:v>
                </c:pt>
                <c:pt idx="81">
                  <c:v>-0.996331730863</c:v>
                </c:pt>
                <c:pt idx="82">
                  <c:v>-0.999592192828</c:v>
                </c:pt>
                <c:pt idx="83">
                  <c:v>-0.999592192828</c:v>
                </c:pt>
                <c:pt idx="84">
                  <c:v>-0.996331730863</c:v>
                </c:pt>
                <c:pt idx="85">
                  <c:v>-0.989821441881</c:v>
                </c:pt>
                <c:pt idx="86">
                  <c:v>-0.980082561092</c:v>
                </c:pt>
                <c:pt idx="87">
                  <c:v>-0.967146854702</c:v>
                </c:pt>
                <c:pt idx="88">
                  <c:v>-0.951056516295</c:v>
                </c:pt>
                <c:pt idx="89">
                  <c:v>-0.931864029211</c:v>
                </c:pt>
                <c:pt idx="90">
                  <c:v>-0.909631995355</c:v>
                </c:pt>
                <c:pt idx="91">
                  <c:v>-0.884432930998</c:v>
                </c:pt>
                <c:pt idx="92">
                  <c:v>-0.856349030252</c:v>
                </c:pt>
                <c:pt idx="93">
                  <c:v>-0.825471896963</c:v>
                </c:pt>
                <c:pt idx="94">
                  <c:v>-0.791902245922</c:v>
                </c:pt>
                <c:pt idx="95">
                  <c:v>-0.755749574354</c:v>
                </c:pt>
                <c:pt idx="96">
                  <c:v>-0.717131804759</c:v>
                </c:pt>
                <c:pt idx="97">
                  <c:v>-0.676174900274</c:v>
                </c:pt>
                <c:pt idx="98">
                  <c:v>-0.633012453809</c:v>
                </c:pt>
                <c:pt idx="99">
                  <c:v>-0.587785252292</c:v>
                </c:pt>
                <c:pt idx="100">
                  <c:v>-0.540640817456</c:v>
                </c:pt>
                <c:pt idx="101">
                  <c:v>-0.491732924646</c:v>
                </c:pt>
                <c:pt idx="102">
                  <c:v>-0.441221101243</c:v>
                </c:pt>
                <c:pt idx="103">
                  <c:v>-0.389270106317</c:v>
                </c:pt>
                <c:pt idx="104">
                  <c:v>-0.336049393215</c:v>
                </c:pt>
                <c:pt idx="105">
                  <c:v>-0.281732556841</c:v>
                </c:pt>
                <c:pt idx="106">
                  <c:v>-0.226496767426</c:v>
                </c:pt>
                <c:pt idx="107">
                  <c:v>-0.170522192633</c:v>
                </c:pt>
                <c:pt idx="108">
                  <c:v>-0.113991409891</c:v>
                </c:pt>
                <c:pt idx="109">
                  <c:v>-0.0570888108628</c:v>
                </c:pt>
                <c:pt idx="110">
                  <c:v>-1.13310777953E-15</c:v>
                </c:pt>
                <c:pt idx="111">
                  <c:v>0.0570888108628</c:v>
                </c:pt>
                <c:pt idx="112">
                  <c:v>0.113991409891</c:v>
                </c:pt>
                <c:pt idx="113">
                  <c:v>0.170522192633</c:v>
                </c:pt>
                <c:pt idx="114">
                  <c:v>0.226496767426</c:v>
                </c:pt>
                <c:pt idx="115">
                  <c:v>0.281732556841</c:v>
                </c:pt>
                <c:pt idx="116">
                  <c:v>0.336049393215</c:v>
                </c:pt>
                <c:pt idx="117">
                  <c:v>0.389270106317</c:v>
                </c:pt>
                <c:pt idx="118">
                  <c:v>0.441221101243</c:v>
                </c:pt>
                <c:pt idx="119">
                  <c:v>0.491732924646</c:v>
                </c:pt>
                <c:pt idx="120">
                  <c:v>0.540640817456</c:v>
                </c:pt>
              </c:numCache>
            </c:numRef>
          </c:yVal>
          <c:smooth val="1"/>
          <c:extLst>
            <c:ext xmlns:c16="http://schemas.microsoft.com/office/drawing/2014/chart" uri="{C3380CC4-5D6E-409C-BE32-E72D297353CC}">
              <c16:uniqueId val="{00000000-A9CE-443A-9C97-A79FD10B2E24}"/>
            </c:ext>
          </c:extLst>
        </c:ser>
        <c:ser>
          <c:idx val="1"/>
          <c:order val="1"/>
          <c:tx>
            <c:v>90°</c:v>
          </c:tx>
          <c:spPr>
            <a:ln w="0" cap="rnd">
              <a:noFill/>
              <a:prstDash val="solid"/>
              <a:round/>
            </a:ln>
            <a:effectLst/>
            <a:extLst>
              <a:ext uri="{91240B29-F687-4F45-9708-019B960494DF}">
                <a14:hiddenLine xmlns:a14="http://schemas.microsoft.com/office/drawing/2010/main" w="0" cap="rnd">
                  <a:solidFill>
                    <a:srgbClr val="087E98"/>
                  </a:solidFill>
                  <a:prstDash val="solid"/>
                  <a:round/>
                </a14:hiddenLine>
              </a:ext>
            </a:extLst>
          </c:spPr>
          <c:marker>
            <c:symbol val="circle"/>
            <c:size val="7"/>
            <c:spPr>
              <a:solidFill>
                <a:srgbClr val="087E98"/>
              </a:solidFill>
              <a:ln w="12700">
                <a:solidFill>
                  <a:srgbClr val="087E98"/>
                </a:solidFill>
                <a:prstDash val="solid"/>
              </a:ln>
              <a:effectLst/>
              <a:extLst>
                <a:ext uri="{91240B29-F687-4F45-9708-019B960494DF}">
                  <a14:hiddenLine xmlns:a14="http://schemas.microsoft.com/office/drawing/2010/main" w="12700">
                    <a:solidFill>
                      <a:srgbClr val="E97132"/>
                    </a:solidFill>
                    <a:prstDash val="solid"/>
                    <a:round/>
                  </a14:hiddenLine>
                </a:ext>
              </a:extLst>
            </c:spPr>
          </c:marker>
          <c:xVal>
            <c:numRef>
              <c:f>'Chart Data'!$C$2:$C$2</c:f>
              <c:numCache>
                <c:formatCode>General</c:formatCode>
                <c:ptCount val="1"/>
                <c:pt idx="0">
                  <c:v>11</c:v>
                </c:pt>
              </c:numCache>
            </c:numRef>
          </c:xVal>
          <c:yVal>
            <c:numRef>
              <c:f>'Chart Data'!$D$2:$D$2</c:f>
              <c:numCache>
                <c:formatCode>0.0</c:formatCode>
                <c:ptCount val="1"/>
                <c:pt idx="0">
                  <c:v>1</c:v>
                </c:pt>
              </c:numCache>
            </c:numRef>
          </c:yVal>
          <c:smooth val="1"/>
          <c:extLst>
            <c:ext xmlns:c16="http://schemas.microsoft.com/office/drawing/2014/chart" uri="{C3380CC4-5D6E-409C-BE32-E72D297353CC}">
              <c16:uniqueId val="{00000001-A9CE-443A-9C97-A79FD10B2E24}"/>
            </c:ext>
          </c:extLst>
        </c:ser>
        <c:ser>
          <c:idx val="2"/>
          <c:order val="2"/>
          <c:tx>
            <c:v>180° / 360°</c:v>
          </c:tx>
          <c:spPr>
            <a:ln w="0" cap="rnd">
              <a:noFill/>
              <a:prstDash val="solid"/>
              <a:round/>
            </a:ln>
            <a:effectLst/>
            <a:extLst>
              <a:ext uri="{91240B29-F687-4F45-9708-019B960494DF}">
                <a14:hiddenLine xmlns:a14="http://schemas.microsoft.com/office/drawing/2010/main" w="0" cap="rnd">
                  <a:solidFill>
                    <a:srgbClr val="BE4038"/>
                  </a:solidFill>
                  <a:prstDash val="solid"/>
                  <a:round/>
                </a14:hiddenLine>
              </a:ext>
            </a:extLst>
          </c:spPr>
          <c:marker>
            <c:symbol val="circle"/>
            <c:size val="7"/>
            <c:spPr>
              <a:solidFill>
                <a:srgbClr val="BE4038"/>
              </a:solidFill>
              <a:ln w="12700">
                <a:solidFill>
                  <a:srgbClr val="BE4038"/>
                </a:solidFill>
                <a:prstDash val="solid"/>
              </a:ln>
              <a:effectLst/>
              <a:extLst>
                <a:ext uri="{91240B29-F687-4F45-9708-019B960494DF}">
                  <a14:hiddenLine xmlns:a14="http://schemas.microsoft.com/office/drawing/2010/main" w="12700">
                    <a:solidFill>
                      <a:srgbClr val="196B24"/>
                    </a:solidFill>
                    <a:prstDash val="solid"/>
                    <a:round/>
                  </a14:hiddenLine>
                </a:ext>
              </a:extLst>
            </c:spPr>
          </c:marker>
          <c:xVal>
            <c:numRef>
              <c:f>'Chart Data'!$E$2:$E$3</c:f>
              <c:numCache>
                <c:formatCode>General</c:formatCode>
                <c:ptCount val="2"/>
                <c:pt idx="0">
                  <c:v>22</c:v>
                </c:pt>
                <c:pt idx="1">
                  <c:v>44</c:v>
                </c:pt>
              </c:numCache>
            </c:numRef>
          </c:xVal>
          <c:yVal>
            <c:numRef>
              <c:f>'Chart Data'!$F$2:$F$3</c:f>
              <c:numCache>
                <c:formatCode>0.0</c:formatCode>
                <c:ptCount val="2"/>
                <c:pt idx="0">
                  <c:v>0</c:v>
                </c:pt>
                <c:pt idx="1">
                  <c:v>0</c:v>
                </c:pt>
              </c:numCache>
            </c:numRef>
          </c:yVal>
          <c:smooth val="1"/>
          <c:extLst>
            <c:ext xmlns:c16="http://schemas.microsoft.com/office/drawing/2014/chart" uri="{C3380CC4-5D6E-409C-BE32-E72D297353CC}">
              <c16:uniqueId val="{00000002-A9CE-443A-9C97-A79FD10B2E24}"/>
            </c:ext>
          </c:extLst>
        </c:ser>
        <c:dLbls>
          <c:showLegendKey val="0"/>
          <c:showVal val="0"/>
          <c:showCatName val="0"/>
          <c:showSerName val="0"/>
          <c:showPercent val="0"/>
          <c:showBubbleSize val="0"/>
        </c:dLbls>
        <c:axId val="48650112"/>
        <c:axId val="48672768"/>
      </c:scatterChart>
      <c:valAx>
        <c:axId val="48672768"/>
        <c:scaling>
          <c:orientation val="minMax"/>
          <c:max val="1.1000000000000001"/>
          <c:min val="-1.1000000000000001"/>
        </c:scaling>
        <c:delete val="0"/>
        <c:axPos val="l"/>
        <c:title>
          <c:tx>
            <c:rich>
              <a:bodyPr/>
              <a:lstStyle/>
              <a:p>
                <a:r>
                  <a:rPr>
                    <a:solidFill>
                      <a:srgbClr val="123447"/>
                    </a:solidFill>
                    <a:latin typeface="Segoe UI" panose="020B0502040204020203" pitchFamily="34" charset="0"/>
                  </a:rPr>
                  <a:t>Señal con signo</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48"/>
          <c:min val="0"/>
        </c:scaling>
        <c:delete val="0"/>
        <c:axPos val="b"/>
        <c:title>
          <c:tx>
            <c:rich>
              <a:bodyPr/>
              <a:lstStyle/>
              <a:p>
                <a:r>
                  <a:rPr>
                    <a:solidFill>
                      <a:srgbClr val="123447"/>
                    </a:solidFill>
                    <a:latin typeface="Segoe UI" panose="020B0502040204020203" pitchFamily="34" charset="0"/>
                  </a:rPr>
                  <a:t>P1 / µs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11"/>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HDO medido</c:v>
          </c:tx>
          <c:spPr>
            <a:ln w="0">
              <a:solidFill>
                <a:srgbClr val="087E98"/>
              </a:solidFill>
            </a:ln>
          </c:spPr>
          <c:marker>
            <c:symbol val="circle"/>
            <c:size val="7"/>
            <c:spPr>
              <a:solidFill>
                <a:srgbClr val="087E98"/>
              </a:solidFill>
            </c:spPr>
          </c:marker>
          <c:xVal>
            <c:numRef>
              <c:f>'Chart Data'!$A$2:$A$24</c:f>
              <c:numCache>
                <c:formatCode>General</c:formatCode>
                <c:ptCount val="23"/>
                <c:pt idx="0">
                  <c:v>0.0064</c:v>
                </c:pt>
                <c:pt idx="1">
                  <c:v>0.0144</c:v>
                </c:pt>
                <c:pt idx="2">
                  <c:v>0.0256</c:v>
                </c:pt>
                <c:pt idx="3">
                  <c:v>0.04</c:v>
                </c:pt>
                <c:pt idx="4">
                  <c:v>0.0576</c:v>
                </c:pt>
                <c:pt idx="5">
                  <c:v>0.0784</c:v>
                </c:pt>
                <c:pt idx="6">
                  <c:v>0.1024</c:v>
                </c:pt>
                <c:pt idx="7">
                  <c:v>0.1296</c:v>
                </c:pt>
                <c:pt idx="8">
                  <c:v>0.16</c:v>
                </c:pt>
                <c:pt idx="9">
                  <c:v>0.1936</c:v>
                </c:pt>
                <c:pt idx="10">
                  <c:v>0.2304</c:v>
                </c:pt>
                <c:pt idx="11">
                  <c:v>0.2704</c:v>
                </c:pt>
                <c:pt idx="12">
                  <c:v>0.3136</c:v>
                </c:pt>
                <c:pt idx="13">
                  <c:v>0.36</c:v>
                </c:pt>
                <c:pt idx="14">
                  <c:v>0.4096</c:v>
                </c:pt>
                <c:pt idx="15">
                  <c:v>0.4624</c:v>
                </c:pt>
                <c:pt idx="16">
                  <c:v>0.5184</c:v>
                </c:pt>
                <c:pt idx="17">
                  <c:v>0.5776</c:v>
                </c:pt>
                <c:pt idx="18">
                  <c:v>0.64</c:v>
                </c:pt>
                <c:pt idx="19">
                  <c:v>0.7056</c:v>
                </c:pt>
                <c:pt idx="20">
                  <c:v>0.7744</c:v>
                </c:pt>
                <c:pt idx="21">
                  <c:v>0.8464</c:v>
                </c:pt>
                <c:pt idx="22">
                  <c:v>0.9216</c:v>
                </c:pt>
              </c:numCache>
            </c:numRef>
          </c:xVal>
          <c:yVal>
            <c:numRef>
              <c:f>'Chart Data'!$B$2:$B$24</c:f>
              <c:numCache>
                <c:formatCode>0.0</c:formatCode>
                <c:ptCount val="23"/>
                <c:pt idx="0">
                  <c:v>0</c:v>
                </c:pt>
                <c:pt idx="1">
                  <c:v>0.00434557991417</c:v>
                </c:pt>
                <c:pt idx="2">
                  <c:v>0.0226195463623</c:v>
                </c:pt>
                <c:pt idx="3">
                  <c:v>0.0454872877104</c:v>
                </c:pt>
                <c:pt idx="4">
                  <c:v>0.0796079214162</c:v>
                </c:pt>
                <c:pt idx="5">
                  <c:v>0.102780571484</c:v>
                </c:pt>
                <c:pt idx="6">
                  <c:v>0.145347196992</c:v>
                </c:pt>
                <c:pt idx="7">
                  <c:v>0.190778271256</c:v>
                </c:pt>
                <c:pt idx="8">
                  <c:v>0.24179088834</c:v>
                </c:pt>
                <c:pt idx="9">
                  <c:v>0.288431276242</c:v>
                </c:pt>
                <c:pt idx="10">
                  <c:v>0.353820238552</c:v>
                </c:pt>
                <c:pt idx="11">
                  <c:v>0.414148373105</c:v>
                </c:pt>
                <c:pt idx="12">
                  <c:v>0.494519237685</c:v>
                </c:pt>
                <c:pt idx="13">
                  <c:v>0.560923156696</c:v>
                </c:pt>
                <c:pt idx="14">
                  <c:v>0.6481989569</c:v>
                </c:pt>
                <c:pt idx="15">
                  <c:v>0.726040915482</c:v>
                </c:pt>
                <c:pt idx="16">
                  <c:v>0.809033128399</c:v>
                </c:pt>
                <c:pt idx="17">
                  <c:v>0.907466016238</c:v>
                </c:pt>
                <c:pt idx="18">
                  <c:v>1.00168822472</c:v>
                </c:pt>
                <c:pt idx="19">
                  <c:v>1.10693033448</c:v>
                </c:pt>
                <c:pt idx="20">
                  <c:v>1.219643171</c:v>
                </c:pt>
                <c:pt idx="21">
                  <c:v>1.32377101174</c:v>
                </c:pt>
                <c:pt idx="22">
                  <c:v>1.4334963509</c:v>
                </c:pt>
              </c:numCache>
            </c:numRef>
          </c:yVal>
          <c:smooth val="1"/>
          <c:extLst>
            <c:ext xmlns:c16="http://schemas.microsoft.com/office/drawing/2014/chart" uri="{C3380CC4-5D6E-409C-BE32-E72D297353CC}">
              <c16:uniqueId val="{00000000-AAB5-482F-8F33-9075BC2EB5C4}"/>
            </c:ext>
          </c:extLst>
        </c:ser>
        <c:ser>
          <c:idx val="1"/>
          <c:order val="1"/>
          <c:tx>
            <c:v>Ajuste</c:v>
          </c:tx>
          <c:spPr>
            <a:ln w="28575">
              <a:solidFill>
                <a:srgbClr val="99521E"/>
              </a:solidFill>
            </a:ln>
          </c:spPr>
          <c:marker>
            <c:symbol val="none"/>
          </c:marker>
          <c:xVal>
            <c:numRef>
              <c:f>'Chart Data'!$C$2:$C$3</c:f>
              <c:numCache>
                <c:formatCode>General</c:formatCode>
                <c:ptCount val="2"/>
                <c:pt idx="0">
                  <c:v>0</c:v>
                </c:pt>
                <c:pt idx="1">
                  <c:v>1</c:v>
                </c:pt>
              </c:numCache>
            </c:numRef>
          </c:xVal>
          <c:yVal>
            <c:numRef>
              <c:f>'Chart Data'!$D$2:$D$3</c:f>
              <c:numCache>
                <c:formatCode>0.0</c:formatCode>
                <c:ptCount val="2"/>
                <c:pt idx="0">
                  <c:v>-0.0136077066163</c:v>
                </c:pt>
                <c:pt idx="1">
                  <c:v>1.57266562822</c:v>
                </c:pt>
              </c:numCache>
            </c:numRef>
          </c:yVal>
          <c:smooth val="1"/>
          <c:extLst>
            <c:ext xmlns:c16="http://schemas.microsoft.com/office/drawing/2014/chart" uri="{C3380CC4-5D6E-409C-BE32-E72D297353CC}">
              <c16:uniqueId val="{00000001-AAB5-482F-8F33-9075BC2EB5C4}"/>
            </c:ext>
          </c:extLst>
        </c:ser>
        <c:dLbls>
          <c:showLegendKey val="0"/>
          <c:showVal val="0"/>
          <c:showCatName val="0"/>
          <c:showSerName val="0"/>
          <c:showPercent val="0"/>
          <c:showBubbleSize val="0"/>
        </c:dLbls>
        <c:axId val="48650112"/>
        <c:axId val="48672768"/>
      </c:scatterChart>
      <c:valAx>
        <c:axId val="48672768"/>
        <c:scaling>
          <c:orientation val="minMax"/>
          <c:max val="1.6"/>
          <c:min val="0"/>
        </c:scaling>
        <c:delete val="0"/>
        <c:axPos val="l"/>
        <c:title>
          <c:tx>
            <c:rich>
              <a:bodyPr/>
              <a:lstStyle/>
              <a:p>
                <a:r>
                  <a:rPr>
                    <a:solidFill>
                      <a:srgbClr val="123447"/>
                    </a:solidFill>
                    <a:latin typeface="Segoe UI" panose="020B0502040204020203" pitchFamily="34" charset="0"/>
                  </a:rPr>
                  <a:t>−ln(I / I₈%)</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
          <c:min val="0"/>
        </c:scaling>
        <c:delete val="0"/>
        <c:axPos val="b"/>
        <c:title>
          <c:tx>
            <c:rich>
              <a:bodyPr/>
              <a:lstStyle/>
              <a:p>
                <a:r>
                  <a:rPr>
                    <a:solidFill>
                      <a:srgbClr val="123447"/>
                    </a:solidFill>
                    <a:latin typeface="Segoe UI" panose="020B0502040204020203" pitchFamily="34" charset="0"/>
                  </a:rPr>
                  <a:t>(GPZ6 / 100)²</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0.2"/>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Datos simulados</c:v>
          </c:tx>
          <c:spPr>
            <a:ln w="0">
              <a:solidFill>
                <a:srgbClr val="087E98"/>
              </a:solidFill>
            </a:ln>
          </c:spPr>
          <c:marker>
            <c:symbol val="circle"/>
            <c:size val="7"/>
            <c:spPr>
              <a:solidFill>
                <a:srgbClr val="087E98"/>
              </a:solidFill>
            </c:spPr>
          </c:marker>
          <c:xVal>
            <c:numRef>
              <c:f>'Chart Data'!$A$2:$A$24</c:f>
              <c:numCache>
                <c:formatCode>General</c:formatCode>
                <c:ptCount val="23"/>
                <c:pt idx="0">
                  <c:v>0.0064</c:v>
                </c:pt>
                <c:pt idx="1">
                  <c:v>0.0144</c:v>
                </c:pt>
                <c:pt idx="2">
                  <c:v>0.0256</c:v>
                </c:pt>
                <c:pt idx="3">
                  <c:v>0.04</c:v>
                </c:pt>
                <c:pt idx="4">
                  <c:v>0.0576</c:v>
                </c:pt>
                <c:pt idx="5">
                  <c:v>0.0784</c:v>
                </c:pt>
                <c:pt idx="6">
                  <c:v>0.1024</c:v>
                </c:pt>
                <c:pt idx="7">
                  <c:v>0.1296</c:v>
                </c:pt>
                <c:pt idx="8">
                  <c:v>0.16</c:v>
                </c:pt>
                <c:pt idx="9">
                  <c:v>0.1936</c:v>
                </c:pt>
                <c:pt idx="10">
                  <c:v>0.2304</c:v>
                </c:pt>
                <c:pt idx="11">
                  <c:v>0.2704</c:v>
                </c:pt>
                <c:pt idx="12">
                  <c:v>0.3136</c:v>
                </c:pt>
                <c:pt idx="13">
                  <c:v>0.36</c:v>
                </c:pt>
                <c:pt idx="14">
                  <c:v>0.4096</c:v>
                </c:pt>
                <c:pt idx="15">
                  <c:v>0.4624</c:v>
                </c:pt>
                <c:pt idx="16">
                  <c:v>0.5184</c:v>
                </c:pt>
                <c:pt idx="17">
                  <c:v>0.5776</c:v>
                </c:pt>
                <c:pt idx="18">
                  <c:v>0.64</c:v>
                </c:pt>
                <c:pt idx="19">
                  <c:v>0.7056</c:v>
                </c:pt>
                <c:pt idx="20">
                  <c:v>0.7744</c:v>
                </c:pt>
                <c:pt idx="21">
                  <c:v>0.8464</c:v>
                </c:pt>
                <c:pt idx="22">
                  <c:v>0.9216</c:v>
                </c:pt>
              </c:numCache>
            </c:numRef>
          </c:xVal>
          <c:yVal>
            <c:numRef>
              <c:f>'Chart Data'!$B$2:$B$24</c:f>
              <c:numCache>
                <c:formatCode>0.0</c:formatCode>
                <c:ptCount val="23"/>
                <c:pt idx="0">
                  <c:v>0.993462211855</c:v>
                </c:pt>
                <c:pt idx="1">
                  <c:v>0.985350050771</c:v>
                </c:pt>
                <c:pt idx="2">
                  <c:v>0.974104187519</c:v>
                </c:pt>
                <c:pt idx="3">
                  <c:v>0.959833610628</c:v>
                </c:pt>
                <c:pt idx="4">
                  <c:v>0.942675398473</c:v>
                </c:pt>
                <c:pt idx="5">
                  <c:v>0.922792527515</c:v>
                </c:pt>
                <c:pt idx="6">
                  <c:v>0.900371296183</c:v>
                </c:pt>
                <c:pt idx="7">
                  <c:v>0.875618421318</c:v>
                </c:pt>
                <c:pt idx="8">
                  <c:v>0.848757870403</c:v>
                </c:pt>
                <c:pt idx="9">
                  <c:v>0.820027497349</c:v>
                </c:pt>
                <c:pt idx="10">
                  <c:v>0.789675552281</c:v>
                </c:pt>
                <c:pt idx="11">
                  <c:v>0.757957136571</c:v>
                </c:pt>
                <c:pt idx="12">
                  <c:v>0.725130673291</c:v>
                </c:pt>
                <c:pt idx="13">
                  <c:v>0.691454460442</c:v>
                </c:pt>
                <c:pt idx="14">
                  <c:v>0.657183369857</c:v>
                </c:pt>
                <c:pt idx="15">
                  <c:v>0.622565748799</c:v>
                </c:pt>
                <c:pt idx="16">
                  <c:v>0.587840574185</c:v>
                </c:pt>
                <c:pt idx="17">
                  <c:v>0.553234901347</c:v>
                </c:pt>
                <c:pt idx="18">
                  <c:v>0.518961640542</c:v>
                </c:pt>
                <c:pt idx="19">
                  <c:v>0.48521768532</c:v>
                </c:pt>
                <c:pt idx="20">
                  <c:v>0.452182407684</c:v>
                </c:pt>
                <c:pt idx="21">
                  <c:v>0.420016525949</c:v>
                </c:pt>
                <c:pt idx="22">
                  <c:v>0.388861342557</c:v>
                </c:pt>
              </c:numCache>
            </c:numRef>
          </c:yVal>
          <c:smooth val="1"/>
          <c:extLst>
            <c:ext xmlns:c16="http://schemas.microsoft.com/office/drawing/2014/chart" uri="{C3380CC4-5D6E-409C-BE32-E72D297353CC}">
              <c16:uniqueId val="{00000000-E4E6-40C5-B2AE-C78B710C2660}"/>
            </c:ext>
          </c:extLst>
        </c:ser>
        <c:ser>
          <c:idx val="1"/>
          <c:order val="1"/>
          <c:tx>
            <c:v>Ambos modelos</c:v>
          </c:tx>
          <c:spPr>
            <a:ln w="28575">
              <a:solidFill>
                <a:srgbClr val="99521E"/>
              </a:solidFill>
            </a:ln>
          </c:spPr>
          <c:marker>
            <c:symbol val="none"/>
          </c:marker>
          <c:xVal>
            <c:numRef>
              <c:f>'Chart Data'!$C$2:$C$62</c:f>
              <c:numCache>
                <c:formatCode>General</c:formatCode>
                <c:ptCount val="61"/>
                <c:pt idx="0">
                  <c:v>0</c:v>
                </c:pt>
                <c:pt idx="1">
                  <c:v>0.0166666666667</c:v>
                </c:pt>
                <c:pt idx="2">
                  <c:v>0.0333333333333</c:v>
                </c:pt>
                <c:pt idx="3">
                  <c:v>0.05</c:v>
                </c:pt>
                <c:pt idx="4">
                  <c:v>0.0666666666667</c:v>
                </c:pt>
                <c:pt idx="5">
                  <c:v>0.0833333333333</c:v>
                </c:pt>
                <c:pt idx="6">
                  <c:v>0.1</c:v>
                </c:pt>
                <c:pt idx="7">
                  <c:v>0.116666666667</c:v>
                </c:pt>
                <c:pt idx="8">
                  <c:v>0.133333333333</c:v>
                </c:pt>
                <c:pt idx="9">
                  <c:v>0.15</c:v>
                </c:pt>
                <c:pt idx="10">
                  <c:v>0.166666666667</c:v>
                </c:pt>
                <c:pt idx="11">
                  <c:v>0.183333333333</c:v>
                </c:pt>
                <c:pt idx="12">
                  <c:v>0.2</c:v>
                </c:pt>
                <c:pt idx="13">
                  <c:v>0.216666666667</c:v>
                </c:pt>
                <c:pt idx="14">
                  <c:v>0.233333333333</c:v>
                </c:pt>
                <c:pt idx="15">
                  <c:v>0.25</c:v>
                </c:pt>
                <c:pt idx="16">
                  <c:v>0.266666666667</c:v>
                </c:pt>
                <c:pt idx="17">
                  <c:v>0.283333333333</c:v>
                </c:pt>
                <c:pt idx="18">
                  <c:v>0.3</c:v>
                </c:pt>
                <c:pt idx="19">
                  <c:v>0.316666666667</c:v>
                </c:pt>
                <c:pt idx="20">
                  <c:v>0.333333333333</c:v>
                </c:pt>
                <c:pt idx="21">
                  <c:v>0.35</c:v>
                </c:pt>
                <c:pt idx="22">
                  <c:v>0.366666666667</c:v>
                </c:pt>
                <c:pt idx="23">
                  <c:v>0.383333333333</c:v>
                </c:pt>
                <c:pt idx="24">
                  <c:v>0.4</c:v>
                </c:pt>
                <c:pt idx="25">
                  <c:v>0.416666666667</c:v>
                </c:pt>
                <c:pt idx="26">
                  <c:v>0.433333333333</c:v>
                </c:pt>
                <c:pt idx="27">
                  <c:v>0.45</c:v>
                </c:pt>
                <c:pt idx="28">
                  <c:v>0.466666666667</c:v>
                </c:pt>
                <c:pt idx="29">
                  <c:v>0.483333333333</c:v>
                </c:pt>
                <c:pt idx="30">
                  <c:v>0.5</c:v>
                </c:pt>
                <c:pt idx="31">
                  <c:v>0.516666666667</c:v>
                </c:pt>
                <c:pt idx="32">
                  <c:v>0.533333333333</c:v>
                </c:pt>
                <c:pt idx="33">
                  <c:v>0.55</c:v>
                </c:pt>
                <c:pt idx="34">
                  <c:v>0.566666666667</c:v>
                </c:pt>
                <c:pt idx="35">
                  <c:v>0.583333333333</c:v>
                </c:pt>
                <c:pt idx="36">
                  <c:v>0.6</c:v>
                </c:pt>
                <c:pt idx="37">
                  <c:v>0.616666666667</c:v>
                </c:pt>
                <c:pt idx="38">
                  <c:v>0.633333333333</c:v>
                </c:pt>
                <c:pt idx="39">
                  <c:v>0.65</c:v>
                </c:pt>
                <c:pt idx="40">
                  <c:v>0.666666666667</c:v>
                </c:pt>
                <c:pt idx="41">
                  <c:v>0.683333333333</c:v>
                </c:pt>
                <c:pt idx="42">
                  <c:v>0.7</c:v>
                </c:pt>
                <c:pt idx="43">
                  <c:v>0.716666666667</c:v>
                </c:pt>
                <c:pt idx="44">
                  <c:v>0.733333333333</c:v>
                </c:pt>
                <c:pt idx="45">
                  <c:v>0.75</c:v>
                </c:pt>
                <c:pt idx="46">
                  <c:v>0.766666666667</c:v>
                </c:pt>
                <c:pt idx="47">
                  <c:v>0.783333333333</c:v>
                </c:pt>
                <c:pt idx="48">
                  <c:v>0.8</c:v>
                </c:pt>
                <c:pt idx="49">
                  <c:v>0.816666666667</c:v>
                </c:pt>
                <c:pt idx="50">
                  <c:v>0.833333333333</c:v>
                </c:pt>
                <c:pt idx="51">
                  <c:v>0.85</c:v>
                </c:pt>
                <c:pt idx="52">
                  <c:v>0.866666666667</c:v>
                </c:pt>
                <c:pt idx="53">
                  <c:v>0.883333333333</c:v>
                </c:pt>
                <c:pt idx="54">
                  <c:v>0.9</c:v>
                </c:pt>
                <c:pt idx="55">
                  <c:v>0.916666666667</c:v>
                </c:pt>
                <c:pt idx="56">
                  <c:v>0.933333333333</c:v>
                </c:pt>
                <c:pt idx="57">
                  <c:v>0.95</c:v>
                </c:pt>
                <c:pt idx="58">
                  <c:v>0.966666666667</c:v>
                </c:pt>
                <c:pt idx="59">
                  <c:v>0.983333333333</c:v>
                </c:pt>
                <c:pt idx="60">
                  <c:v>1</c:v>
                </c:pt>
              </c:numCache>
            </c:numRef>
          </c:xVal>
          <c:yVal>
            <c:numRef>
              <c:f>'Chart Data'!$D$2:$D$62</c:f>
              <c:numCache>
                <c:formatCode>0.0</c:formatCode>
                <c:ptCount val="61"/>
                <c:pt idx="0">
                  <c:v>1</c:v>
                </c:pt>
                <c:pt idx="1">
                  <c:v>0.983063671545</c:v>
                </c:pt>
                <c:pt idx="2">
                  <c:v>0.966414182312</c:v>
                </c:pt>
                <c:pt idx="3">
                  <c:v>0.950046674297</c:v>
                </c:pt>
                <c:pt idx="4">
                  <c:v>0.933956371774</c:v>
                </c:pt>
                <c:pt idx="5">
                  <c:v>0.918138579899</c:v>
                </c:pt>
                <c:pt idx="6">
                  <c:v>0.902588683343</c:v>
                </c:pt>
                <c:pt idx="7">
                  <c:v>0.887302144942</c:v>
                </c:pt>
                <c:pt idx="8">
                  <c:v>0.872274504377</c:v>
                </c:pt>
                <c:pt idx="9">
                  <c:v>0.857501376868</c:v>
                </c:pt>
                <c:pt idx="10">
                  <c:v>0.842978451899</c:v>
                </c:pt>
                <c:pt idx="11">
                  <c:v>0.828701491957</c:v>
                </c:pt>
                <c:pt idx="12">
                  <c:v>0.814666331298</c:v>
                </c:pt>
                <c:pt idx="13">
                  <c:v>0.80086887473</c:v>
                </c:pt>
                <c:pt idx="14">
                  <c:v>0.787305096419</c:v>
                </c:pt>
                <c:pt idx="15">
                  <c:v>0.773971038712</c:v>
                </c:pt>
                <c:pt idx="16">
                  <c:v>0.760862810985</c:v>
                </c:pt>
                <c:pt idx="17">
                  <c:v>0.74797658851</c:v>
                </c:pt>
                <c:pt idx="18">
                  <c:v>0.73530861133</c:v>
                </c:pt>
                <c:pt idx="19">
                  <c:v>0.722855183173</c:v>
                </c:pt>
                <c:pt idx="20">
                  <c:v>0.710612670365</c:v>
                </c:pt>
                <c:pt idx="21">
                  <c:v>0.698577500776</c:v>
                </c:pt>
                <c:pt idx="22">
                  <c:v>0.686746162772</c:v>
                </c:pt>
                <c:pt idx="23">
                  <c:v>0.675115204194</c:v>
                </c:pt>
                <c:pt idx="24">
                  <c:v>0.663681231351</c:v>
                </c:pt>
                <c:pt idx="25">
                  <c:v>0.652440908027</c:v>
                </c:pt>
                <c:pt idx="26">
                  <c:v>0.641390954512</c:v>
                </c:pt>
                <c:pt idx="27">
                  <c:v>0.630528146638</c:v>
                </c:pt>
                <c:pt idx="28">
                  <c:v>0.619849314847</c:v>
                </c:pt>
                <c:pt idx="29">
                  <c:v>0.609351343258</c:v>
                </c:pt>
                <c:pt idx="30">
                  <c:v>0.599031168764</c:v>
                </c:pt>
                <c:pt idx="31">
                  <c:v>0.588885780135</c:v>
                </c:pt>
                <c:pt idx="32">
                  <c:v>0.578912217141</c:v>
                </c:pt>
                <c:pt idx="33">
                  <c:v>0.569107569685</c:v>
                </c:pt>
                <c:pt idx="34">
                  <c:v>0.559468976958</c:v>
                </c:pt>
                <c:pt idx="35">
                  <c:v>0.549993626604</c:v>
                </c:pt>
                <c:pt idx="36">
                  <c:v>0.540678753896</c:v>
                </c:pt>
                <c:pt idx="37">
                  <c:v>0.531521640932</c:v>
                </c:pt>
                <c:pt idx="38">
                  <c:v>0.52251961584</c:v>
                </c:pt>
                <c:pt idx="39">
                  <c:v>0.513670052002</c:v>
                </c:pt>
                <c:pt idx="40">
                  <c:v>0.504970367284</c:v>
                </c:pt>
                <c:pt idx="41">
                  <c:v>0.496418023284</c:v>
                </c:pt>
                <c:pt idx="42">
                  <c:v>0.48801052459</c:v>
                </c:pt>
                <c:pt idx="43">
                  <c:v>0.479745418057</c:v>
                </c:pt>
                <c:pt idx="44">
                  <c:v>0.471620292082</c:v>
                </c:pt>
                <c:pt idx="45">
                  <c:v>0.463632775909</c:v>
                </c:pt>
                <c:pt idx="46">
                  <c:v>0.455780538934</c:v>
                </c:pt>
                <c:pt idx="47">
                  <c:v>0.448061290023</c:v>
                </c:pt>
                <c:pt idx="48">
                  <c:v>0.440472776847</c:v>
                </c:pt>
                <c:pt idx="49">
                  <c:v>0.433012785223</c:v>
                </c:pt>
                <c:pt idx="50">
                  <c:v>0.425679138468</c:v>
                </c:pt>
                <c:pt idx="51">
                  <c:v>0.418469696762</c:v>
                </c:pt>
                <c:pt idx="52">
                  <c:v>0.41138235653</c:v>
                </c:pt>
                <c:pt idx="53">
                  <c:v>0.404415049819</c:v>
                </c:pt>
                <c:pt idx="54">
                  <c:v>0.397565743703</c:v>
                </c:pt>
                <c:pt idx="55">
                  <c:v>0.390832439685</c:v>
                </c:pt>
                <c:pt idx="56">
                  <c:v>0.384213173116</c:v>
                </c:pt>
                <c:pt idx="57">
                  <c:v>0.377706012619</c:v>
                </c:pt>
                <c:pt idx="58">
                  <c:v>0.37130905953</c:v>
                </c:pt>
                <c:pt idx="59">
                  <c:v>0.36502044734</c:v>
                </c:pt>
                <c:pt idx="60">
                  <c:v>0.358838341151</c:v>
                </c:pt>
              </c:numCache>
            </c:numRef>
          </c:yVal>
          <c:smooth val="1"/>
          <c:extLst>
            <c:ext xmlns:c16="http://schemas.microsoft.com/office/drawing/2014/chart" uri="{C3380CC4-5D6E-409C-BE32-E72D297353CC}">
              <c16:uniqueId val="{00000001-E4E6-40C5-B2AE-C78B710C2660}"/>
            </c:ext>
          </c:extLst>
        </c:ser>
        <c:dLbls>
          <c:showLegendKey val="0"/>
          <c:showVal val="0"/>
          <c:showCatName val="0"/>
          <c:showSerName val="0"/>
          <c:showPercent val="0"/>
          <c:showBubbleSize val="0"/>
        </c:dLbls>
        <c:axId val="48650112"/>
        <c:axId val="48672768"/>
      </c:scatterChart>
      <c:valAx>
        <c:axId val="48672768"/>
        <c:scaling>
          <c:orientation val="minMax"/>
          <c:max val="1.05"/>
          <c:min val="0"/>
        </c:scaling>
        <c:delete val="0"/>
        <c:axPos val="l"/>
        <c:title>
          <c:tx>
            <c:rich>
              <a:bodyPr/>
              <a:lstStyle/>
              <a:p>
                <a:r>
                  <a:rPr>
                    <a:solidFill>
                      <a:srgbClr val="123447"/>
                    </a:solidFill>
                    <a:latin typeface="Segoe UI" panose="020B0502040204020203" pitchFamily="34" charset="0"/>
                  </a:rPr>
                  <a:t>I / I₀</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
          <c:min val="0"/>
        </c:scaling>
        <c:delete val="0"/>
        <c:axPos val="b"/>
        <c:title>
          <c:tx>
            <c:rich>
              <a:bodyPr/>
              <a:lstStyle/>
              <a:p>
                <a:r>
                  <a:rPr>
                    <a:solidFill>
                      <a:srgbClr val="123447"/>
                    </a:solidFill>
                    <a:latin typeface="Segoe UI" panose="020B0502040204020203" pitchFamily="34" charset="0"/>
                  </a:rPr>
                  <a:t>(GPZ6 / 100)²</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0.2"/>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Difusión pura</c:v>
          </c:tx>
          <c:spPr>
            <a:ln w="28575">
              <a:solidFill>
                <a:srgbClr val="087E98"/>
              </a:solidFill>
            </a:ln>
          </c:spPr>
          <c:marker>
            <c:symbol val="none"/>
          </c:marker>
          <c:xVal>
            <c:numRef>
              <c:f>'Chart Data'!$A$2:$A$4</c:f>
              <c:numCache>
                <c:formatCode>General</c:formatCode>
                <c:ptCount val="3"/>
                <c:pt idx="0">
                  <c:v>50</c:v>
                </c:pt>
                <c:pt idx="1">
                  <c:v>100</c:v>
                </c:pt>
                <c:pt idx="2">
                  <c:v>150</c:v>
                </c:pt>
              </c:numCache>
            </c:numRef>
          </c:xVal>
          <c:yVal>
            <c:numRef>
              <c:f>'Chart Data'!$B$2:$B$4</c:f>
              <c:numCache>
                <c:formatCode>0.0</c:formatCode>
                <c:ptCount val="3"/>
                <c:pt idx="0">
                  <c:v>0.8</c:v>
                </c:pt>
                <c:pt idx="1">
                  <c:v>0.8</c:v>
                </c:pt>
                <c:pt idx="2">
                  <c:v>0.8</c:v>
                </c:pt>
              </c:numCache>
            </c:numRef>
          </c:yVal>
          <c:smooth val="1"/>
          <c:extLst>
            <c:ext xmlns:c16="http://schemas.microsoft.com/office/drawing/2014/chart" uri="{C3380CC4-5D6E-409C-BE32-E72D297353CC}">
              <c16:uniqueId val="{00000000-3AFB-4D5F-87BB-5784CE11A61C}"/>
            </c:ext>
          </c:extLst>
        </c:ser>
        <c:ser>
          <c:idx val="1"/>
          <c:order val="1"/>
          <c:tx>
            <c:v>Dispersión de velocidades</c:v>
          </c:tx>
          <c:spPr>
            <a:ln w="28575">
              <a:solidFill>
                <a:srgbClr val="BE4038"/>
              </a:solidFill>
            </a:ln>
          </c:spPr>
          <c:marker>
            <c:symbol val="none"/>
          </c:marker>
          <c:xVal>
            <c:numRef>
              <c:f>'Chart Data'!$C$2:$C$4</c:f>
              <c:numCache>
                <c:formatCode>General</c:formatCode>
                <c:ptCount val="3"/>
                <c:pt idx="0">
                  <c:v>50</c:v>
                </c:pt>
                <c:pt idx="1">
                  <c:v>100</c:v>
                </c:pt>
                <c:pt idx="2">
                  <c:v>150</c:v>
                </c:pt>
              </c:numCache>
            </c:numRef>
          </c:xVal>
          <c:yVal>
            <c:numRef>
              <c:f>'Chart Data'!$D$2:$D$4</c:f>
              <c:numCache>
                <c:formatCode>0.0</c:formatCode>
                <c:ptCount val="3"/>
                <c:pt idx="0">
                  <c:v>1.05</c:v>
                </c:pt>
                <c:pt idx="1">
                  <c:v>1.3</c:v>
                </c:pt>
                <c:pt idx="2">
                  <c:v>1.55</c:v>
                </c:pt>
              </c:numCache>
            </c:numRef>
          </c:yVal>
          <c:smooth val="1"/>
          <c:extLst>
            <c:ext xmlns:c16="http://schemas.microsoft.com/office/drawing/2014/chart" uri="{C3380CC4-5D6E-409C-BE32-E72D297353CC}">
              <c16:uniqueId val="{00000001-3AFB-4D5F-87BB-5784CE11A61C}"/>
            </c:ext>
          </c:extLst>
        </c:ser>
        <c:dLbls>
          <c:showLegendKey val="0"/>
          <c:showVal val="0"/>
          <c:showCatName val="0"/>
          <c:showSerName val="0"/>
          <c:showPercent val="0"/>
          <c:showBubbleSize val="0"/>
        </c:dLbls>
        <c:axId val="48650112"/>
        <c:axId val="48672768"/>
      </c:scatterChart>
      <c:valAx>
        <c:axId val="48672768"/>
        <c:scaling>
          <c:orientation val="minMax"/>
          <c:max val="1.7"/>
          <c:min val="0.5"/>
        </c:scaling>
        <c:delete val="0"/>
        <c:axPos val="l"/>
        <c:title>
          <c:tx>
            <c:rich>
              <a:bodyPr/>
              <a:lstStyle/>
              <a:p>
                <a:r>
                  <a:rPr>
                    <a:solidFill>
                      <a:srgbClr val="123447"/>
                    </a:solidFill>
                    <a:latin typeface="Segoe UI" panose="020B0502040204020203" pitchFamily="34" charset="0"/>
                  </a:rPr>
                  <a:t>D aparente / 10⁻⁹ m² s⁻¹</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50"/>
          <c:min val="50"/>
        </c:scaling>
        <c:delete val="0"/>
        <c:axPos val="b"/>
        <c:title>
          <c:tx>
            <c:rich>
              <a:bodyPr/>
              <a:lstStyle/>
              <a:p>
                <a:r>
                  <a:rPr>
                    <a:solidFill>
                      <a:srgbClr val="123447"/>
                    </a:solidFill>
                    <a:latin typeface="Segoe UI" panose="020B0502040204020203" pitchFamily="34" charset="0"/>
                  </a:rPr>
                  <a:t>Δ / ms</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50"/>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1"/>
        <c:ser>
          <c:idx val="0"/>
          <c:order val="0"/>
          <c:tx>
            <c:v>Δ 75 ms</c:v>
          </c:tx>
          <c:spPr>
            <a:ln w="28575">
              <a:solidFill>
                <a:srgbClr val="087E98"/>
              </a:solidFill>
            </a:ln>
          </c:spPr>
          <c:marker>
            <c:symbol val="circle"/>
            <c:size val="6"/>
            <c:spPr>
              <a:solidFill>
                <a:srgbClr val="087E98"/>
              </a:solidFill>
            </c:spPr>
          </c:marker>
          <c:xVal>
            <c:numRef>
              <c:f>'Chart Data'!$A$2:$A$24</c:f>
              <c:numCache>
                <c:formatCode>General</c:formatCode>
                <c:ptCount val="23"/>
                <c:pt idx="0">
                  <c:v>0.0685762998078</c:v>
                </c:pt>
                <c:pt idx="1">
                  <c:v>0.154296674568</c:v>
                </c:pt>
                <c:pt idx="2">
                  <c:v>0.274305199231</c:v>
                </c:pt>
                <c:pt idx="3">
                  <c:v>0.428601873799</c:v>
                </c:pt>
                <c:pt idx="4">
                  <c:v>0.61718669827</c:v>
                </c:pt>
                <c:pt idx="5">
                  <c:v>0.840059672645</c:v>
                </c:pt>
                <c:pt idx="6">
                  <c:v>1.09722079692</c:v>
                </c:pt>
                <c:pt idx="7">
                  <c:v>1.38867007111</c:v>
                </c:pt>
                <c:pt idx="8">
                  <c:v>1.71440749519</c:v>
                </c:pt>
                <c:pt idx="9">
                  <c:v>2.07443306919</c:v>
                </c:pt>
                <c:pt idx="10">
                  <c:v>2.46874679308</c:v>
                </c:pt>
                <c:pt idx="11">
                  <c:v>2.89734866688</c:v>
                </c:pt>
                <c:pt idx="12">
                  <c:v>3.36023869058</c:v>
                </c:pt>
                <c:pt idx="13">
                  <c:v>3.85741686419</c:v>
                </c:pt>
                <c:pt idx="14">
                  <c:v>4.3888831877</c:v>
                </c:pt>
                <c:pt idx="15">
                  <c:v>4.95463766111</c:v>
                </c:pt>
                <c:pt idx="16">
                  <c:v>5.55468028443</c:v>
                </c:pt>
                <c:pt idx="17">
                  <c:v>6.18901105765</c:v>
                </c:pt>
                <c:pt idx="18">
                  <c:v>6.85762998078</c:v>
                </c:pt>
                <c:pt idx="19">
                  <c:v>7.56053705381</c:v>
                </c:pt>
                <c:pt idx="20">
                  <c:v>8.29773227674</c:v>
                </c:pt>
                <c:pt idx="21">
                  <c:v>9.06921564958</c:v>
                </c:pt>
                <c:pt idx="22">
                  <c:v>9.87498717232</c:v>
                </c:pt>
              </c:numCache>
            </c:numRef>
          </c:xVal>
          <c:yVal>
            <c:numRef>
              <c:f>'Chart Data'!$B$2:$B$24</c:f>
              <c:numCache>
                <c:formatCode>0.0</c:formatCode>
                <c:ptCount val="23"/>
                <c:pt idx="0">
                  <c:v>1</c:v>
                </c:pt>
                <c:pt idx="1">
                  <c:v>0.984813707185</c:v>
                </c:pt>
                <c:pt idx="2">
                  <c:v>0.961385350058</c:v>
                </c:pt>
                <c:pt idx="3">
                  <c:v>0.940433796897</c:v>
                </c:pt>
                <c:pt idx="4">
                  <c:v>0.910124426195</c:v>
                </c:pt>
                <c:pt idx="5">
                  <c:v>0.872415755608</c:v>
                </c:pt>
                <c:pt idx="6">
                  <c:v>0.841199538826</c:v>
                </c:pt>
                <c:pt idx="7">
                  <c:v>0.798340807415</c:v>
                </c:pt>
                <c:pt idx="8">
                  <c:v>0.751406104049</c:v>
                </c:pt>
                <c:pt idx="9">
                  <c:v>0.712133028694</c:v>
                </c:pt>
                <c:pt idx="10">
                  <c:v>0.662532667294</c:v>
                </c:pt>
                <c:pt idx="11">
                  <c:v>0.616454791877</c:v>
                </c:pt>
                <c:pt idx="12">
                  <c:v>0.568991026631</c:v>
                </c:pt>
                <c:pt idx="13">
                  <c:v>0.52494140114</c:v>
                </c:pt>
                <c:pt idx="14">
                  <c:v>0.476974077153</c:v>
                </c:pt>
                <c:pt idx="15">
                  <c:v>0.43554312328</c:v>
                </c:pt>
                <c:pt idx="16">
                  <c:v>0.398382831889</c:v>
                </c:pt>
                <c:pt idx="17">
                  <c:v>0.35521865344</c:v>
                </c:pt>
                <c:pt idx="18">
                  <c:v>0.318128395405</c:v>
                </c:pt>
                <c:pt idx="19">
                  <c:v>0.284410629113</c:v>
                </c:pt>
                <c:pt idx="20">
                  <c:v>0.252847511853</c:v>
                </c:pt>
                <c:pt idx="21">
                  <c:v>0.224260792505</c:v>
                </c:pt>
                <c:pt idx="22">
                  <c:v>0.197732257656</c:v>
                </c:pt>
              </c:numCache>
            </c:numRef>
          </c:yVal>
          <c:smooth val="1"/>
          <c:extLst>
            <c:ext xmlns:c16="http://schemas.microsoft.com/office/drawing/2014/chart" uri="{C3380CC4-5D6E-409C-BE32-E72D297353CC}">
              <c16:uniqueId val="{00000000-801C-4185-B670-604D87C84B4A}"/>
            </c:ext>
          </c:extLst>
        </c:ser>
        <c:ser>
          <c:idx val="1"/>
          <c:order val="1"/>
          <c:tx>
            <c:v>Δ 100 ms</c:v>
          </c:tx>
          <c:spPr>
            <a:ln w="28575">
              <a:solidFill>
                <a:srgbClr val="3478C8"/>
              </a:solidFill>
            </a:ln>
          </c:spPr>
          <c:marker>
            <c:symbol val="circle"/>
            <c:size val="6"/>
            <c:spPr>
              <a:solidFill>
                <a:srgbClr val="3478C8"/>
              </a:solidFill>
            </c:spPr>
          </c:marker>
          <c:xVal>
            <c:numRef>
              <c:f>'Chart Data'!$C$2:$C$24</c:f>
              <c:numCache>
                <c:formatCode>General</c:formatCode>
                <c:ptCount val="23"/>
                <c:pt idx="0">
                  <c:v>0.0919248648244</c:v>
                </c:pt>
                <c:pt idx="1">
                  <c:v>0.206830945855</c:v>
                </c:pt>
                <c:pt idx="2">
                  <c:v>0.367699459298</c:v>
                </c:pt>
                <c:pt idx="3">
                  <c:v>0.574530405153</c:v>
                </c:pt>
                <c:pt idx="4">
                  <c:v>0.82732378342</c:v>
                </c:pt>
                <c:pt idx="5">
                  <c:v>1.1260795941</c:v>
                </c:pt>
                <c:pt idx="6">
                  <c:v>1.47079783719</c:v>
                </c:pt>
                <c:pt idx="7">
                  <c:v>1.86147851269</c:v>
                </c:pt>
                <c:pt idx="8">
                  <c:v>2.29812162061</c:v>
                </c:pt>
                <c:pt idx="9">
                  <c:v>2.78072716094</c:v>
                </c:pt>
                <c:pt idx="10">
                  <c:v>3.30929513368</c:v>
                </c:pt>
                <c:pt idx="11">
                  <c:v>3.88382553883</c:v>
                </c:pt>
                <c:pt idx="12">
                  <c:v>4.5043183764</c:v>
                </c:pt>
                <c:pt idx="13">
                  <c:v>5.17077364637</c:v>
                </c:pt>
                <c:pt idx="14">
                  <c:v>5.88319134876</c:v>
                </c:pt>
                <c:pt idx="15">
                  <c:v>6.64157148357</c:v>
                </c:pt>
                <c:pt idx="16">
                  <c:v>7.44591405078</c:v>
                </c:pt>
                <c:pt idx="17">
                  <c:v>8.29621905041</c:v>
                </c:pt>
                <c:pt idx="18">
                  <c:v>9.19248648244</c:v>
                </c:pt>
                <c:pt idx="19">
                  <c:v>10.1347163469</c:v>
                </c:pt>
                <c:pt idx="20">
                  <c:v>11.1229086438</c:v>
                </c:pt>
                <c:pt idx="21">
                  <c:v>12.157063373</c:v>
                </c:pt>
                <c:pt idx="22">
                  <c:v>13.2371805347</c:v>
                </c:pt>
              </c:numCache>
            </c:numRef>
          </c:xVal>
          <c:yVal>
            <c:numRef>
              <c:f>'Chart Data'!$D$2:$D$24</c:f>
              <c:numCache>
                <c:formatCode>0.0</c:formatCode>
                <c:ptCount val="23"/>
                <c:pt idx="0">
                  <c:v>1</c:v>
                </c:pt>
                <c:pt idx="1">
                  <c:v>0.983775772572</c:v>
                </c:pt>
                <c:pt idx="2">
                  <c:v>0.955662114868</c:v>
                </c:pt>
                <c:pt idx="3">
                  <c:v>0.921338355631</c:v>
                </c:pt>
                <c:pt idx="4">
                  <c:v>0.879438209732</c:v>
                </c:pt>
                <c:pt idx="5">
                  <c:v>0.835942928689</c:v>
                </c:pt>
                <c:pt idx="6">
                  <c:v>0.786810924578</c:v>
                </c:pt>
                <c:pt idx="7">
                  <c:v>0.736563920545</c:v>
                </c:pt>
                <c:pt idx="8">
                  <c:v>0.685144108298</c:v>
                </c:pt>
                <c:pt idx="9">
                  <c:v>0.627462501069</c:v>
                </c:pt>
                <c:pt idx="10">
                  <c:v>0.572136659558</c:v>
                </c:pt>
                <c:pt idx="11">
                  <c:v>0.520877161564</c:v>
                </c:pt>
                <c:pt idx="12">
                  <c:v>0.467363616784</c:v>
                </c:pt>
                <c:pt idx="13">
                  <c:v>0.416974624969</c:v>
                </c:pt>
                <c:pt idx="14">
                  <c:v>0.371566462236</c:v>
                </c:pt>
                <c:pt idx="15">
                  <c:v>0.32718233106</c:v>
                </c:pt>
                <c:pt idx="16">
                  <c:v>0.286487604023</c:v>
                </c:pt>
                <c:pt idx="17">
                  <c:v>0.248724020972</c:v>
                </c:pt>
                <c:pt idx="18">
                  <c:v>0.214805178098</c:v>
                </c:pt>
                <c:pt idx="19">
                  <c:v>0.18453632497</c:v>
                </c:pt>
                <c:pt idx="20">
                  <c:v>0.157992934039</c:v>
                </c:pt>
                <c:pt idx="21">
                  <c:v>0.134507878226</c:v>
                </c:pt>
                <c:pt idx="22">
                  <c:v>0.112686116413</c:v>
                </c:pt>
              </c:numCache>
            </c:numRef>
          </c:yVal>
          <c:smooth val="1"/>
          <c:extLst>
            <c:ext xmlns:c16="http://schemas.microsoft.com/office/drawing/2014/chart" uri="{C3380CC4-5D6E-409C-BE32-E72D297353CC}">
              <c16:uniqueId val="{00000001-801C-4185-B670-604D87C84B4A}"/>
            </c:ext>
          </c:extLst>
        </c:ser>
        <c:ser>
          <c:idx val="2"/>
          <c:order val="2"/>
          <c:tx>
            <c:v>Δ 125 ms</c:v>
          </c:tx>
          <c:spPr>
            <a:ln w="28575">
              <a:solidFill>
                <a:srgbClr val="99521E"/>
              </a:solidFill>
            </a:ln>
          </c:spPr>
          <c:marker>
            <c:symbol val="circle"/>
            <c:size val="6"/>
            <c:spPr>
              <a:solidFill>
                <a:srgbClr val="99521E"/>
              </a:solidFill>
            </c:spPr>
          </c:marker>
          <c:xVal>
            <c:numRef>
              <c:f>'Chart Data'!$E$2:$E$24</c:f>
              <c:numCache>
                <c:formatCode>General</c:formatCode>
                <c:ptCount val="23"/>
                <c:pt idx="0">
                  <c:v>0.115273429841</c:v>
                </c:pt>
                <c:pt idx="1">
                  <c:v>0.259365217142</c:v>
                </c:pt>
                <c:pt idx="2">
                  <c:v>0.461093719364</c:v>
                </c:pt>
                <c:pt idx="3">
                  <c:v>0.720458936507</c:v>
                </c:pt>
                <c:pt idx="4">
                  <c:v>1.03746086857</c:v>
                </c:pt>
                <c:pt idx="5">
                  <c:v>1.41209951555</c:v>
                </c:pt>
                <c:pt idx="6">
                  <c:v>1.84437487746</c:v>
                </c:pt>
                <c:pt idx="7">
                  <c:v>2.33428695428</c:v>
                </c:pt>
                <c:pt idx="8">
                  <c:v>2.88183574603</c:v>
                </c:pt>
                <c:pt idx="9">
                  <c:v>3.48702125269</c:v>
                </c:pt>
                <c:pt idx="10">
                  <c:v>4.14984347428</c:v>
                </c:pt>
                <c:pt idx="11">
                  <c:v>4.87030241079</c:v>
                </c:pt>
                <c:pt idx="12">
                  <c:v>5.64839806221</c:v>
                </c:pt>
                <c:pt idx="13">
                  <c:v>6.48413042856</c:v>
                </c:pt>
                <c:pt idx="14">
                  <c:v>7.37749950983</c:v>
                </c:pt>
                <c:pt idx="15">
                  <c:v>8.32850530602</c:v>
                </c:pt>
                <c:pt idx="16">
                  <c:v>9.33714781713</c:v>
                </c:pt>
                <c:pt idx="17">
                  <c:v>10.4034270432</c:v>
                </c:pt>
                <c:pt idx="18">
                  <c:v>11.5273429841</c:v>
                </c:pt>
                <c:pt idx="19">
                  <c:v>12.70889564</c:v>
                </c:pt>
                <c:pt idx="20">
                  <c:v>13.9480850108</c:v>
                </c:pt>
                <c:pt idx="21">
                  <c:v>15.2449110965</c:v>
                </c:pt>
                <c:pt idx="22">
                  <c:v>16.5993738971</c:v>
                </c:pt>
              </c:numCache>
            </c:numRef>
          </c:xVal>
          <c:yVal>
            <c:numRef>
              <c:f>'Chart Data'!$F$2:$F$24</c:f>
              <c:numCache>
                <c:formatCode>0.0</c:formatCode>
                <c:ptCount val="23"/>
                <c:pt idx="0">
                  <c:v>1</c:v>
                </c:pt>
                <c:pt idx="1">
                  <c:v>0.977532485881</c:v>
                </c:pt>
                <c:pt idx="2">
                  <c:v>0.945283007011</c:v>
                </c:pt>
                <c:pt idx="3">
                  <c:v>0.90277968356</c:v>
                </c:pt>
                <c:pt idx="4">
                  <c:v>0.85573930472</c:v>
                </c:pt>
                <c:pt idx="5">
                  <c:v>0.802511336499</c:v>
                </c:pt>
                <c:pt idx="6">
                  <c:v>0.740859622288</c:v>
                </c:pt>
                <c:pt idx="7">
                  <c:v>0.681235995359</c:v>
                </c:pt>
                <c:pt idx="8">
                  <c:v>0.622429157655</c:v>
                </c:pt>
                <c:pt idx="9">
                  <c:v>0.560609583812</c:v>
                </c:pt>
                <c:pt idx="10">
                  <c:v>0.501007940654</c:v>
                </c:pt>
                <c:pt idx="11">
                  <c:v>0.443652877455</c:v>
                </c:pt>
                <c:pt idx="12">
                  <c:v>0.388418698365</c:v>
                </c:pt>
                <c:pt idx="13">
                  <c:v>0.339287238145</c:v>
                </c:pt>
                <c:pt idx="14">
                  <c:v>0.291913806275</c:v>
                </c:pt>
                <c:pt idx="15">
                  <c:v>0.250501709049</c:v>
                </c:pt>
                <c:pt idx="16">
                  <c:v>0.212379462572</c:v>
                </c:pt>
                <c:pt idx="17">
                  <c:v>0.177687468235</c:v>
                </c:pt>
                <c:pt idx="18">
                  <c:v>0.149556065758</c:v>
                </c:pt>
                <c:pt idx="19">
                  <c:v>0.12281196579</c:v>
                </c:pt>
                <c:pt idx="20">
                  <c:v>0.102244824719</c:v>
                </c:pt>
                <c:pt idx="21">
                  <c:v>0.084551871128</c:v>
                </c:pt>
                <c:pt idx="22">
                  <c:v>0.0665560025127</c:v>
                </c:pt>
              </c:numCache>
            </c:numRef>
          </c:yVal>
          <c:smooth val="1"/>
          <c:extLst>
            <c:ext xmlns:c16="http://schemas.microsoft.com/office/drawing/2014/chart" uri="{C3380CC4-5D6E-409C-BE32-E72D297353CC}">
              <c16:uniqueId val="{00000002-801C-4185-B670-604D87C84B4A}"/>
            </c:ext>
          </c:extLst>
        </c:ser>
        <c:dLbls>
          <c:showLegendKey val="0"/>
          <c:showVal val="0"/>
          <c:showCatName val="0"/>
          <c:showSerName val="0"/>
          <c:showPercent val="0"/>
          <c:showBubbleSize val="0"/>
        </c:dLbls>
        <c:axId val="48650112"/>
        <c:axId val="48672768"/>
      </c:scatterChart>
      <c:valAx>
        <c:axId val="48672768"/>
        <c:scaling>
          <c:orientation val="minMax"/>
          <c:max val="1.05"/>
          <c:min val="0"/>
        </c:scaling>
        <c:delete val="0"/>
        <c:axPos val="l"/>
        <c:title>
          <c:tx>
            <c:rich>
              <a:bodyPr/>
              <a:lstStyle/>
              <a:p>
                <a:r>
                  <a:rPr>
                    <a:solidFill>
                      <a:srgbClr val="123447"/>
                    </a:solidFill>
                    <a:latin typeface="Segoe UI" panose="020B0502040204020203" pitchFamily="34" charset="0"/>
                  </a:rPr>
                  <a:t>I / I primer punto</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50112"/>
        <c:crosses val="autoZero"/>
        <c:crossBetween val="midCat"/>
      </c:valAx>
      <c:valAx>
        <c:axId val="48650112"/>
        <c:scaling>
          <c:orientation val="minMax"/>
          <c:max val="18"/>
          <c:min val="0"/>
        </c:scaling>
        <c:delete val="0"/>
        <c:axPos val="b"/>
        <c:title>
          <c:tx>
            <c:rich>
              <a:bodyPr/>
              <a:lstStyle/>
              <a:p>
                <a:r>
                  <a:rPr>
                    <a:solidFill>
                      <a:srgbClr val="123447"/>
                    </a:solidFill>
                    <a:latin typeface="Segoe UI" panose="020B0502040204020203" pitchFamily="34" charset="0"/>
                  </a:rPr>
                  <a:t>b / 10⁹ s m⁻²</a:t>
                </a:r>
              </a:p>
            </c:rich>
          </c:tx>
          <c:overlay val="0"/>
        </c:title>
        <c:numFmt formatCode="General" sourceLinked="1"/>
        <c:majorTickMark val="none"/>
        <c:minorTickMark val="none"/>
        <c:tickLblPos val="low"/>
        <c:spPr>
          <a:ln w="9525">
            <a:solidFill>
              <a:srgbClr val="D4D4D4"/>
            </a:solidFill>
            <a:prstDash val="solid"/>
          </a:ln>
        </c:spPr>
        <c:txPr>
          <a:bodyPr anchorCtr="1"/>
          <a:lstStyle/>
          <a:p>
            <a:pPr>
              <a:defRPr sz="1650">
                <a:solidFill>
                  <a:srgbClr val="123447"/>
                </a:solidFill>
                <a:latin typeface="Segoe UI"/>
                <a:ea typeface="Segoe UI"/>
                <a:cs typeface="Segoe UI"/>
              </a:defRPr>
            </a:pPr>
            <a:endParaRPr lang="es-ES_tradnl"/>
          </a:p>
        </c:txPr>
        <c:crossAx val="48672768"/>
        <c:crosses val="autoZero"/>
        <c:crossBetween val="midCat"/>
        <c:majorUnit val="5"/>
      </c:valAx>
      <c:spPr>
        <a:solidFill>
          <a:srgbClr val="F5F5F0"/>
        </a:solidFill>
      </c:spPr>
    </c:plotArea>
    <c:legend>
      <c:legendPos val="b"/>
      <c:overlay val="0"/>
      <c:txPr>
        <a:bodyPr anchorCtr="1"/>
        <a:lstStyle/>
        <a:p>
          <a:pPr>
            <a:defRPr sz="1650">
              <a:solidFill>
                <a:srgbClr val="123447"/>
              </a:solidFill>
              <a:latin typeface="Segoe UI"/>
              <a:ea typeface="Segoe UI"/>
              <a:cs typeface="Segoe UI"/>
            </a:defRPr>
          </a:pPr>
          <a:endParaRPr lang="es-ES_tradnl"/>
        </a:p>
      </c:txPr>
    </c:legend>
    <c:plotVisOnly val="1"/>
    <c:dispBlanksAs val="zero"/>
    <c:showDLblsOverMax val="1"/>
  </c:chart>
  <c:spPr>
    <a:solidFill>
      <a:srgbClr val="F5F5F0"/>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00:00–00:20 · 20 s</a:t>
            </a:r>
          </a:p>
          <a:p>
            <a:endParaRPr/>
          </a:p>
          <a:p>
            <a:r>
              <a:t>Quiero contar cómo pasamos de una serie de espectros a un resultado que podamos explicar y repetir. Antes de enseñar nuestros programas, veremos los dos obstáculos que motivaron su desarrollo: preparar bien el espectrómetro y procesar sin alterar la información de difusión. Después recorreremos las herramientas y tres ejemplos concretos. Empecemos por el recorrido completo.</a:t>
            </a:r>
          </a:p>
          <a:p>
            <a:endParaRPr/>
          </a:p>
          <a:p>
            <a:endParaRPr/>
          </a:p>
          <a:p>
            <a:endParaRPr/>
          </a:p>
          <a:p>
            <a:r>
              <a:t>Fuentes: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00:20–00:45 · 25 s</a:t>
            </a:r>
          </a:p>
          <a:p>
            <a:endParaRPr/>
          </a:p>
          <a:p>
            <a:r>
              <a:t>El taller tiene cuatro partes, pero una sola historia. Primero necesitamos una intensidad que dependa de la difusión y una escala de b correcta. Después necesitamos conservar esa intensidad y comprender por qué la inversión no tiene una respuesta única. Sólo entonces presentaré cómo nuestros programas hacen este trabajo más manejable, con ejemplos guardados que se pueden revisar. La primera operación es calibrar el pulso de 90 grados.</a:t>
            </a:r>
          </a:p>
          <a:p>
            <a:endParaRPr/>
          </a:p>
          <a:p>
            <a:endParaRPr/>
          </a:p>
          <a:p>
            <a:endParaRPr/>
          </a:p>
          <a:p>
            <a:r>
              <a:t>Fuentes: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00:45–01:35 · 50 s</a:t>
            </a:r>
          </a:p>
          <a:p>
            <a:endParaRPr/>
          </a:p>
          <a:p>
            <a:r>
              <a:t>La duración del pulso depende de la muestra, sintonía y potencia. Copiar P1 de otra preparación puede disminuir la señal y alterar la secuencia. A potencia fija buscamos el primer cruce de señal positiva a negativa después del máximo: es el nulo de 180 grados. Mantengo fase, RG y D1; no hago autophase independiente en cada punto porque perdería el signo. La curva seno es un modelo ideal para explicar el procedimiento, no una nueva medida del espectrómetro. Ahora lo hacemos con tu experimento 1000.</a:t>
            </a:r>
          </a:p>
          <a:p>
            <a:endParaRPr/>
          </a:p>
          <a:p>
            <a:endParaRPr/>
          </a:p>
          <a:p>
            <a:endParaRPr/>
          </a:p>
          <a:p>
            <a:r>
              <a:t>Fuentes:</a:t>
            </a:r>
          </a:p>
          <a:p>
            <a:r>
              <a:t>PLA-D1 pulse calibration: user screenshots and saved experiments 1000 / 10</a:t>
            </a:r>
          </a:p>
          <a:p>
            <a:endParaRPr/>
          </a:p>
          <a:p>
            <a:r>
              <a:t>[local-source: 20250321_PLA-D1_diff_CDCL3]</a:t>
            </a:r>
          </a:p>
          <a:p>
            <a:r>
              <a:t>Bruker TopSpin 3.6 Basic Experiments, pp.109-116; UCSB NMR pulse width calibration</a:t>
            </a:r>
          </a:p>
          <a:p>
            <a:r>
              <a:t>https://nmr.chem.ucsb.edu/protocols/pw90cal.html</a:t>
            </a:r>
          </a:p>
          <a:p>
            <a:r>
              <a:t>&lt;TopSpin&gt;/prog/docu/English/topspin/pdf/step_basic.pdf</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01:35–02:25 · 50 s</a:t>
            </a:r>
          </a:p>
          <a:p>
            <a:endParaRPr/>
          </a:p>
          <a:p>
            <a:r>
              <a:t>Éste es el ejemplo real PLA/CDCl3. En zg, experimento 1000, P1 está en 22 microsegundos a PLW1 de 22 vatios; el usuario identifica ese primer nulo como 180 grados. Dividimos entre dos y obtenemos 11 microsegundos. El DOSY 10 guarda P1 de 11 y P2 de 22 a la misma potencia. El resultado práctico es un valor documentado y transferible bajo las mismas condiciones; verificamos el máximo de 90 grados en zg antes de adquirir. Rojo y azul usan RG, NS y secuencias distintos: la comparación es cualitativa, no una medida absoluta de recuperación de sensibilidad. Ya tenemos RF; ahora necesitamos que el eje de difusión tenga escala física.</a:t>
            </a:r>
          </a:p>
          <a:p>
            <a:endParaRPr/>
          </a:p>
          <a:p>
            <a:endParaRPr/>
          </a:p>
          <a:p>
            <a:endParaRPr/>
          </a:p>
          <a:p>
            <a:r>
              <a:t>Fuentes:</a:t>
            </a:r>
          </a:p>
          <a:p>
            <a:r>
              <a:t>PLA-D1 pulse calibration: user screenshots and saved experiments 1000 / 10</a:t>
            </a:r>
          </a:p>
          <a:p>
            <a:endParaRPr/>
          </a:p>
          <a:p>
            <a:r>
              <a:t>[local-source: 20250321_PLA-D1_diff_CDCL3]</a:t>
            </a:r>
          </a:p>
          <a:p>
            <a:r>
              <a:t>Bruker TopSpin 3.6 Basic Experiments, pp.109-116; UCSB NMR pulse width calibration</a:t>
            </a:r>
          </a:p>
          <a:p>
            <a:r>
              <a:t>https://nmr.chem.ucsb.edu/protocols/pw90cal.html</a:t>
            </a:r>
          </a:p>
          <a:p>
            <a:r>
              <a:t>&lt;TopSpin&gt;/prog/docu/English/topspin/pdf/step_basic.pdf</a:t>
            </a:r>
          </a:p>
          <a:p>
            <a:r>
              <a:t>Read-only audit of pulse calibration and sequence-dependent timing parameters</a:t>
            </a:r>
          </a:p>
          <a:p>
            <a:endParaRPr/>
          </a:p>
          <a:p>
            <a:r>
              <a:t>[local-source: parameters_pulse_evidence.json]</a:t>
            </a:r>
          </a:p>
          <a:p>
            <a:r>
              <a:t>p1 evidence</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02:25–03:45 · 80 s</a:t>
            </a:r>
          </a:p>
          <a:p>
            <a:endParaRPr/>
          </a:p>
          <a:p>
            <a:r>
              <a:t>La escala del gradiente entra al cuadrado en b. En el ejemplo hipotético, G real un diez por ciento mayor que G usado produce D aparente un veintiuno por ciento mayor sin empeorar la exponencial. Calibramos con una rampa del patrón a la temperatura real, tratamiento uniforme, una región fija y un modelo de secuencia compatible. Miramos señal firmada, residuos y deriva, no sólo R cuadrado. El ejemplo experimental HDO/TBO conservado tiene pendiente 1.58627 para Delta de 50 ms, delta de 1.20 ms y SMSQ10.100. Ese perfil histórico usa extracción puntual de altura, no la integral del nuevo asistente. El valor HDO de 1.902 por diez elevado a menos nueve corresponde a 298.15 K; la rampa real tiene otra temperatura y usa una aproximación térmica documentada. Si el modelo es compatible, G nueva es G previa por la raíz de D medida sobre D de referencia. Más adelante haremos una reproducción offline por integrales con el asistente, conservando ambas extracciones separadas y sin sustituir la calibración protegida. La ecuación compatible no es un detalle: cambia el significado de b.</a:t>
            </a:r>
          </a:p>
          <a:p>
            <a:endParaRPr/>
          </a:p>
          <a:p>
            <a:endParaRPr/>
          </a:p>
          <a:p>
            <a:endParaRPr/>
          </a:p>
          <a:p>
            <a:r>
              <a:t>Fuentes:</a:t>
            </a:r>
          </a:p>
          <a:p>
            <a:r>
              <a:t>DiffAtOnce DOSY TopSpin console assistant</a:t>
            </a:r>
          </a:p>
          <a:p>
            <a:endParaRPr/>
          </a:p>
          <a:p>
            <a:r>
              <a:t>[local-source: README_ES.md]</a:t>
            </a:r>
          </a:p>
          <a:p>
            <a:r>
              <a:t>TBO HDO experimental calibration, 4 September 2026</a:t>
            </a:r>
          </a:p>
          <a:p>
            <a:endParaRPr/>
          </a:p>
          <a:p>
            <a:r>
              <a:t>[local-source: TBO_HDO_20260904.json]</a:t>
            </a:r>
          </a:p>
          <a:p>
            <a:r>
              <a:t>Calibración DOSY según la sonda, secuencia, gradiente, temperatura y referencia interna</a:t>
            </a:r>
          </a:p>
          <a:p>
            <a:endParaRPr/>
          </a:p>
          <a:p>
            <a:r>
              <a:t>[local-source: CALIBRACION_SONDA_SECUENCIA_GRADIENTE.md]</a:t>
            </a:r>
          </a:p>
          <a:p>
            <a:r>
              <a:t>tbo calibration</a:t>
            </a:r>
          </a:p>
          <a:p>
            <a:endParaRPr/>
          </a:p>
          <a:p>
            <a:r>
              <a:t>[local-source: TBO_HDO_20260904.json]</a:t>
            </a:r>
          </a:p>
          <a:p>
            <a:r>
              <a:t>tbo calculation</a:t>
            </a:r>
          </a:p>
          <a:p>
            <a:endParaRPr/>
          </a:p>
          <a:p>
            <a:r>
              <a:t>[local-source: calibracion_tbo.py]</a:t>
            </a:r>
          </a:p>
          <a:p>
            <a:r>
              <a:t>topspin readme</a:t>
            </a:r>
          </a:p>
          <a:p>
            <a:endParaRPr/>
          </a:p>
          <a:p>
            <a:r>
              <a:t>[local-source: README_ES.md]</a:t>
            </a:r>
          </a:p>
          <a:p>
            <a:r>
              <a:t>topspin verification</a:t>
            </a:r>
          </a:p>
          <a:p>
            <a:endParaRPr/>
          </a:p>
          <a:p>
            <a:r>
              <a:t>[local-source: VERIFICACION.txt]</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03:45–04:30 · 45 s</a:t>
            </a:r>
          </a:p>
          <a:p>
            <a:endParaRPr/>
          </a:p>
          <a:p>
            <a:r>
              <a:t>No todas las ecuaciones de difusión son intercambiables. El ejemplo simulado usa gradientes bipolares con forma SMSQ y un G físico fijo. Ajustarlo con su modelo da D de 1; con PGSE rectangular da aproximadamente 0.802, con la misma curva y R cuadrado igual a uno. Revisamos pulseprogram, forma, unidades, duración total delta e intervalos RF. En stebpgp1s1d, delta es dos veces P30. Un patrón puede absorber un factor constante de b en una calibración empírica, pero eso no demuestra que se pueda transferir a otra secuencia o a otros tiempos. Las ecuaciones completas quedan en el apéndice. Incluso con b correcto, la rampa puede no tener información suficiente.</a:t>
            </a:r>
          </a:p>
          <a:p>
            <a:endParaRPr/>
          </a:p>
          <a:p>
            <a:endParaRPr/>
          </a:p>
          <a:p>
            <a:endParaRPr/>
          </a:p>
          <a:p>
            <a:r>
              <a:t>Fuentes:</a:t>
            </a:r>
          </a:p>
          <a:p>
            <a:r>
              <a:t>Read-only comparison of the TBO software profile and acquired pulse program</a:t>
            </a:r>
          </a:p>
          <a:p>
            <a:endParaRPr/>
          </a:p>
          <a:p>
            <a:r>
              <a:t>[local-source: local_equation_audit.json]</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r>
              <a:t>TBO HDO experimental calibration, 4 September 2026</a:t>
            </a:r>
          </a:p>
          <a:p>
            <a:endParaRPr/>
          </a:p>
          <a:p>
            <a:r>
              <a:t>[local-source: TBO_HDO_20260904.json]</a:t>
            </a:r>
          </a:p>
          <a:p>
            <a:r>
              <a:t>Ghent University repository — Sinnaeve 2012</a:t>
            </a:r>
          </a:p>
          <a:p>
            <a:r>
              <a:t>https://biblio.ugent.be/publication/2109280</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04:30–05:30 · 60 s</a:t>
            </a:r>
          </a:p>
          <a:p>
            <a:endParaRPr/>
          </a:p>
          <a:p>
            <a:r>
              <a:t>Las tres rampas simuladas tienen la misma D verdadera de uno por diez elevado a menos nueve y ruido absoluto de uno por ciento. La casi plana estima 0.714, con intervalo nominal de cero a 1.81. La extinguida estima 0.237, con intervalo de 0.05 hasta un extremo no identificable. La útil estima 1.007, con intervalo de 0.986 a 1.029. Los residuos son similares, alrededor de una sigma. Es el contenido informativo de la adquisición, no el aspecto del ajuste, lo que cambia. Estos intervalos son condicionales al modelo y al ruido conocido de la simulación, no límites universales. La decisión práctica es repetir el piloto modificando P30/D20 o sensibilidad, no pedir al algoritmo una separación que no está en el dato. Por eso elegimos P30 y D20 a partir de un piloto.</a:t>
            </a:r>
          </a:p>
          <a:p>
            <a:endParaRPr/>
          </a:p>
          <a:p>
            <a:endParaRPr/>
          </a:p>
          <a:p>
            <a:endParaRPr/>
          </a:p>
          <a:p>
            <a:r>
              <a:t>Fuentes:</a:t>
            </a:r>
          </a:p>
          <a:p>
            <a:r>
              <a:t>P30/D20 teaching simulation and fixed-noise model</a:t>
            </a:r>
          </a:p>
          <a:p>
            <a:endParaRPr/>
          </a:p>
          <a:p>
            <a:r>
              <a:t>[local-source: parameter_simulation_model.json]</a:t>
            </a:r>
          </a:p>
          <a:p>
            <a:r>
              <a:t>Generador configurable de rampas DOSY para TopSpin</a:t>
            </a:r>
          </a:p>
          <a:p>
            <a:endParaRPr/>
          </a:p>
          <a:p>
            <a:r>
              <a:t>[local-source: README.md]</a:t>
            </a:r>
          </a:p>
          <a:p>
            <a:r>
              <a:t>V6 controlled ramp and preprocessing simulations</a:t>
            </a:r>
          </a:p>
          <a:p>
            <a:endParaRPr/>
          </a:p>
          <a:p>
            <a:r>
              <a:t>[local-source: problem_simulations.json]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05:30–06:40 · 70 s</a:t>
            </a:r>
          </a:p>
          <a:p>
            <a:endParaRPr/>
          </a:p>
          <a:p>
            <a:r>
              <a:t>No introducimos P30 y D20 sólo porque funcionaron en la muestra anterior. Un piloto con gradientes bajo, medio y alto muestra cuánto atenúan las señales rápidas y lentas. Si necesito más ponderación puedo aumentar delta o Delta, pero pago relajación y sensibilidad; Delta también aumenta la exposición a movimiento, intercambio u otras dinámicas. La animación separa atenuación normalizada de señal absoluta y usa tiempos de relajación hipotéticos: no prescribe límites de la sonda real. Mantengo potencia, temperatura y tratamiento comparables y busco una curva que decaiga apreciablemente conservando puntos por encima del ruido. Los retardos de recuperación también necesitan su comprobación.</a:t>
            </a:r>
          </a:p>
          <a:p>
            <a:endParaRPr/>
          </a:p>
          <a:p>
            <a:endParaRPr/>
          </a:p>
          <a:p>
            <a:endParaRPr/>
          </a:p>
          <a:p>
            <a:r>
              <a:t>Fuentes:</a:t>
            </a:r>
          </a:p>
          <a:p>
            <a:r>
              <a:t>Read-only audit of pulse calibration and sequence-dependent timing parameters</a:t>
            </a:r>
          </a:p>
          <a:p>
            <a:endParaRPr/>
          </a:p>
          <a:p>
            <a:r>
              <a:t>[local-source: parameters_pulse_evidence.json]</a:t>
            </a:r>
          </a:p>
          <a:p>
            <a:r>
              <a:t>P30/D20 teaching simulation and fixed-noise model</a:t>
            </a:r>
          </a:p>
          <a:p>
            <a:endParaRPr/>
          </a:p>
          <a:p>
            <a:r>
              <a:t>[local-source: parameter_simulation_model.json]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06:40–07:35 · 55 s</a:t>
            </a:r>
          </a:p>
          <a:p>
            <a:endParaRPr/>
          </a:p>
          <a:p>
            <a:r>
              <a:t>El siguiente problema es la fase y la forma después de los gradientes. LED permite recuperación, pero también cuesta tiempo y señal. En ledbpgp2s y dstebpgp3s, LED es D21 y D5 no se usa; en diffSteLED, LED es D19 y D5 es el resto del intervalo de difusión. En doble STE revisamos dos bloques DELTA1, ocho lóbulos, más pulsos RF y el ciclo de fases de dieciséis. La compensación de convección cubre un modelo de movimiento, no cualquier flujo. Tres Delta comparables y controles de temperatura ayudan a investigar D dependiente de Delta; por sí solos no identifican la causa. No hay un optimizador universal de estos tiempos. Y repetimos diferentes Delta para mirar más allá del ajuste de una sola rampa.</a:t>
            </a:r>
          </a:p>
          <a:p>
            <a:endParaRPr/>
          </a:p>
          <a:p>
            <a:endParaRPr/>
          </a:p>
          <a:p>
            <a:endParaRPr/>
          </a:p>
          <a:p>
            <a:r>
              <a:t>Fuentes:</a:t>
            </a:r>
          </a:p>
          <a:p>
            <a:r>
              <a:t>Read-only audit of pulse calibration and sequence-dependent timing parameters</a:t>
            </a:r>
          </a:p>
          <a:p>
            <a:endParaRPr/>
          </a:p>
          <a:p>
            <a:r>
              <a:t>[local-source: parameters_pulse_evidence.json]</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07:35–08:10 · 35 s</a:t>
            </a:r>
          </a:p>
          <a:p>
            <a:endParaRPr/>
          </a:p>
          <a:p>
            <a:r>
              <a:t>GUION (35 s):</a:t>
            </a:r>
          </a:p>
          <a:p>
            <a:r>
              <a:t>Si D cambia al cambiar Delta, la difusión puede no ser la única causa de atenuación. La simulación muestra velocidades dispersas: D aparente aumenta aunque D verdadera sea constante, y el ajuste sigue siendo excelente. No diagnostico convección sólo con esa observación; reviso temperatura, amplitudes y patrón, y considero intercambio o restricción. Tres Delta sirven para plantear la siguiente comprobación.</a:t>
            </a:r>
          </a:p>
          <a:p>
            <a:endParaRPr/>
          </a:p>
          <a:p>
            <a:r>
              <a:t>DETALLES DE CONSULTA (no leer durante el pase):</a:t>
            </a:r>
          </a:p>
          <a:p>
            <a:r>
              <a:t>En esta simulación idealizada, dispersión gaussiana de velocidades de 100 micrómetros por segundo hace que la D aparente aumente de 1.05 a 1.30 y 1.55 al aumentar Delta de 50 a 100 y 150 ms, aunque la D verdadera permanece en 0.8. La exponencial sigue ajustando perfectamente. La expresión procede del modelo de pulsos estrechos y velocidades constantes durante cada codificación; no es una ley universal de convección ni el modelo exacto de nuestro pulseprogram. En la muestra real, dependencia de Delta puede tener causas distintas. Revisamos temperatura, amplitudes propias por rampa y controles del patrón antes de atribuirla a convección. Superado el instrumento, empieza la segunda dificultad: el procesado.</a:t>
            </a:r>
          </a:p>
          <a:p>
            <a:endParaRPr/>
          </a:p>
          <a:p>
            <a:endParaRPr/>
          </a:p>
          <a:p>
            <a:endParaRPr/>
          </a:p>
          <a:p>
            <a:r>
              <a:t>Fuentes:</a:t>
            </a:r>
          </a:p>
          <a:p>
            <a:r>
              <a:t>Idealised velocity-distribution attenuation and Delta dependence</a:t>
            </a:r>
          </a:p>
          <a:p>
            <a:endParaRPr/>
          </a:p>
          <a:p>
            <a:r>
              <a:t>[local-source: convection_idealized_model.json]</a:t>
            </a:r>
          </a:p>
          <a:p>
            <a:r>
              <a:t>prime readme</a:t>
            </a:r>
          </a:p>
          <a:p>
            <a:endParaRPr/>
          </a:p>
          <a:p>
            <a:r>
              <a:t>[local-source: README.md]</a:t>
            </a:r>
          </a:p>
          <a:p>
            <a:r>
              <a:t>Read-only audit of pulse calibration and sequence-dependent timing parameters</a:t>
            </a:r>
          </a:p>
          <a:p>
            <a:endParaRPr/>
          </a:p>
          <a:p>
            <a:r>
              <a:t>[local-source: parameters_pulse_evidence.json]</a:t>
            </a:r>
          </a:p>
          <a:p>
            <a:r>
              <a:t>Williamson et al. (2020), Limits to flow detection in phase contrast MRI</a:t>
            </a:r>
          </a:p>
          <a:p>
            <a:r>
              <a:t>https://pmc.ncbi.nlm.nih.gov/articles/PMC7745993/</a:t>
            </a:r>
          </a:p>
          <a:p>
            <a:endParaRPr/>
          </a:p>
          <a:p>
            <a:r>
              <a:t>Gottwald et al. (2003), Separation of velocity distribution and diffusion using PFG NMR</a:t>
            </a:r>
          </a:p>
          <a:p>
            <a:r>
              <a:t>https://pubmed.ncbi.nlm.nih.gov/12810021/</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08:10–09:10 · 60 s</a:t>
            </a:r>
          </a:p>
          <a:p>
            <a:endParaRPr/>
          </a:p>
          <a:p>
            <a:r>
              <a:t>Una serie DOSY no se procesa como espectros independientes a los que buscamos la mejor apariencia. Fase, línea base, eje ppm, RG, NS y escala NC_PROC deben permitir comparar intensidades. En la simulación, un fondo aditivo de sólo cuatro por ciento del primer punto hace que D pase de uno a 0.922; los residuos no gritan error. Quitando el fondo conocido recuperamos 0.999. Normalizar cada espectro por su propia señal destruye la atenuación y produce una D cero artificial. En el experimento el fondo no es conocido por decreto: se inspeccionan regiones sin señal, superposición y desplazamiento de picos. Si una señal se mueve fuera de la ventana, tampoco estamos midiendo sólo difusión. La primera intervención es corregir el procesado de una copia, conservando los originales. Con intensidades comparables todavía debemos decidir qué información podemos reconstruir.</a:t>
            </a:r>
          </a:p>
          <a:p>
            <a:endParaRPr/>
          </a:p>
          <a:p>
            <a:endParaRPr/>
          </a:p>
          <a:p>
            <a:endParaRPr/>
          </a:p>
          <a:p>
            <a:r>
              <a:t>Fuentes:</a:t>
            </a:r>
          </a:p>
          <a:p>
            <a:r>
              <a:t>V6 controlled ramp and preprocessing simulations</a:t>
            </a:r>
          </a:p>
          <a:p>
            <a:endParaRPr/>
          </a:p>
          <a:p>
            <a:r>
              <a:t>[local-source: problem_simulations.json]</a:t>
            </a:r>
          </a:p>
          <a:p>
            <a:r>
              <a:t>prime guide</a:t>
            </a:r>
          </a:p>
          <a:p>
            <a:endParaRPr/>
          </a:p>
          <a:p>
            <a:r>
              <a:t>[local-source: GUIA_PRIME.md]</a:t>
            </a:r>
          </a:p>
          <a:p>
            <a:r>
              <a:t>V6 audit of software actions, observable checks and limitations</a:t>
            </a:r>
          </a:p>
          <a:p>
            <a:endParaRPr/>
          </a:p>
          <a:p>
            <a:r>
              <a:t>[local-source: solutions_mapping.json]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09:10–10:20 · 70 s</a:t>
            </a:r>
          </a:p>
          <a:p>
            <a:endParaRPr/>
          </a:p>
          <a:p>
            <a:r>
              <a:t>Ésta es la dificultad central de la ILT. Una distribución estrecha y dos componentes cercanas producen curvas que difieren como máximo aproximadamente 0.61 por ciento del primer punto en este diseño; el ruido simulado tiene sigma de uno por ciento. Esto no es una prueba universal de imposibilidad, pero muestra lo fácil que es pedir más resolución de la que la adquisición soporta. Al invertir el kernel de Laplace, las direcciones débiles amplifican el ruido. La pregunta útil no es qué algoritmo dibuja dos picos, sino si los datos, la repetición y los controles sostienen dos comportamientos difusivos. Necesitamos una preferencia explícita y una forma de comprobar su efecto.</a:t>
            </a:r>
          </a:p>
          <a:p>
            <a:endParaRPr/>
          </a:p>
          <a:p>
            <a:endParaRPr/>
          </a:p>
          <a:p>
            <a:endParaRPr/>
          </a:p>
          <a:p>
            <a:r>
              <a:t>Fuentes:</a:t>
            </a:r>
          </a:p>
          <a:p>
            <a:r>
              <a:t>Reproducible v5 ILT ambiguity and regularization simulations</a:t>
            </a:r>
          </a:p>
          <a:p>
            <a:endParaRPr/>
          </a:p>
          <a:p>
            <a:r>
              <a:t>[local-source: ilt_simulations.json]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10:20–11:15 · 55 s</a:t>
            </a:r>
          </a:p>
          <a:p>
            <a:endParaRPr/>
          </a:p>
          <a:p>
            <a:r>
              <a:t>La regularización estabiliza la inversión imponiendo una preferencia. En este ejemplo real del cálculo simulado, tres lambda dan residuos RMS de aproximadamente 0.00833, 0.00834 y 0.00842, pero soluciones con picos, moderadas o excesivamente anchas. No elegimos por un residuo mínimo aislado. Para una señal sencilla empezamos por un modelo mínimo; para una distribución ancha comparamos suavidad o entropía; para pocas componentes, esparsidad u orden; para solapamientos, estructura compartida. NNLS, Tikhonov, MaxEnt/PALMA, métodos L1/ITAMeD, VP/SCORE y MF/TRAIn-MF/SILT responden a hipótesis distintas. SVD, FISTA y ADMM son motores numéricos, no pruebas de especies. El catálogo de uso y límites permanece como material de consulta, no ocupa el relato. Y no siempre necesitamos resolver cada frecuencia por separado.</a:t>
            </a:r>
          </a:p>
          <a:p>
            <a:endParaRPr/>
          </a:p>
          <a:p>
            <a:endParaRPr/>
          </a:p>
          <a:p>
            <a:endParaRPr/>
          </a:p>
          <a:p>
            <a:r>
              <a:t>Fuentes:</a:t>
            </a:r>
          </a:p>
          <a:p>
            <a:r>
              <a:t>Reproducible v5 ILT ambiguity and regularization simulations</a:t>
            </a:r>
          </a:p>
          <a:p>
            <a:endParaRPr/>
          </a:p>
          <a:p>
            <a:r>
              <a:t>[local-source: ilt_simulations.json]</a:t>
            </a:r>
          </a:p>
          <a:p>
            <a:r>
              <a:t>ILT method-choice and appendix guidance</a:t>
            </a:r>
          </a:p>
          <a:p>
            <a:endParaRPr/>
          </a:p>
          <a:p>
            <a:r>
              <a:t>[local-source: ilt_teaching_guidance.json]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11:15–11:50 · 35 s</a:t>
            </a:r>
          </a:p>
          <a:p>
            <a:endParaRPr/>
          </a:p>
          <a:p>
            <a:r>
              <a:t>Varias señales pueden compartir perfiles de difusión con amplitudes distintas. Un cálculo conjunto aprovecha esa redundancia: una región fuerte ayuda a otra débil. No impongo una única D a todo el espectro. MF y TRAIn-MF comparten factores; TRAIn por bin mantiene una comparación independiente. Este vídeo es conceptual, sin ruido añadido. La correlación no demuestra interacción ni identidad química; el rango tampoco cuenta moléculas. Veremos cómo mantener la curva local a la vista cuando trabajemos con el mapa. Ya podemos explicar para qué desarrollamos nuestras herramientas.</a:t>
            </a:r>
          </a:p>
          <a:p>
            <a:endParaRPr/>
          </a:p>
          <a:p>
            <a:endParaRPr/>
          </a:p>
          <a:p>
            <a:endParaRPr/>
          </a:p>
          <a:p>
            <a:r>
              <a:t>Fuentes:</a:t>
            </a:r>
          </a:p>
          <a:p>
            <a:r>
              <a:t>Native signed TRAIn-MF and rank selection</a:t>
            </a:r>
          </a:p>
          <a:p>
            <a:endParaRPr/>
          </a:p>
          <a:p>
            <a:endParaRPr/>
          </a:p>
          <a:p>
            <a:r>
              <a:t>ILT method-choice and appendix guidance</a:t>
            </a:r>
          </a:p>
          <a:p>
            <a:endParaRPr/>
          </a:p>
          <a:p>
            <a:r>
              <a:t>[local-source: ilt_teaching_guidance.json]</a:t>
            </a:r>
          </a:p>
          <a:p>
            <a:r>
              <a:t>Audited bilingual catalogue of local inversion methods and context families</a:t>
            </a:r>
          </a:p>
          <a:p>
            <a:endParaRPr/>
          </a:p>
          <a:p>
            <a:r>
              <a:t>[local-source: ilt_algorithm_catalog_bilingual.json]</a:t>
            </a:r>
          </a:p>
          <a:p>
            <a:r>
              <a:t>University of Manchester NMR — Multivariate DOSY</a:t>
            </a:r>
          </a:p>
          <a:p>
            <a:r>
              <a:t>https://www.nmr.chemistry.manchester.ac.uk/?q=node%2F26</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11:50–12:10 · 20 s</a:t>
            </a:r>
          </a:p>
          <a:p>
            <a:endParaRPr/>
          </a:p>
          <a:p>
            <a:r>
              <a:t>GUION (20 s):</a:t>
            </a:r>
          </a:p>
          <a:p>
            <a:r>
              <a:t>Ya conocemos los obstáculos y cómo se revisan. Ahora mostramos para qué hemos desarrollado los programas: preparar sin transcribir, conservar la medida, analizar una señal o el espectro y comprobar el resultado. Cada caso parte de una entrada, realiza una operación y conserva su salida.</a:t>
            </a:r>
          </a:p>
          <a:p>
            <a:endParaRPr/>
          </a:p>
          <a:p>
            <a:r>
              <a:t>DETALLES DE CONSULTA (no leer durante el pase):</a:t>
            </a:r>
          </a:p>
          <a:p>
            <a:r>
              <a:t>Los programas se han desarrollado precisamente para estos obstáculos. Automatizan preparación, lectura y comparación; conservan los pasos que deben revisarse. La ventaja que mostraré es concreta: menos transcripción, trazabilidad de la calibración, de una atenuación al espectro y controles junto al resultado. Una herramienta no rescata una rampa sin información ni sustituye la calibración. Cada programa resuelve una tarea concreta del recorrido.</a:t>
            </a:r>
          </a:p>
          <a:p>
            <a:endParaRPr/>
          </a:p>
          <a:p>
            <a:endParaRPr/>
          </a:p>
          <a:p>
            <a:endParaRPr/>
          </a:p>
          <a:p>
            <a:r>
              <a:t>Fuentes: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12:10–12:45 · 35 s</a:t>
            </a:r>
          </a:p>
          <a:p>
            <a:endParaRPr/>
          </a:p>
          <a:p>
            <a:r>
              <a:t>GUION (35 s):</a:t>
            </a:r>
          </a:p>
          <a:p>
            <a:r>
              <a:t>El asistente TopSpin prepara rampas y registra una calibración. Prime permite explorar una señal, un mapa y sus diagnósticos. ResinAtOnce guía el análisis de resinas y polímeros, separando patrones y resultados condicionados. DALTAIL permite ejecutar por lotes con MATLAB y Python y reproducir tablas desde una configuración guardada. Son herramientas del flujo; TRAIn, MF o SILT son motores que utilizan. Veamos qué trabajo nos evitan y qué resultado dejan.</a:t>
            </a:r>
          </a:p>
          <a:p>
            <a:endParaRPr/>
          </a:p>
          <a:p>
            <a:r>
              <a:t>DETALLES DE CONSULTA (no leer durante el pase):</a:t>
            </a:r>
          </a:p>
          <a:p>
            <a:r>
              <a:t>El asistente TopSpin prepara rampas y calibra una señal del patrón desde la consola. Prime reúne análisis DOSY general: señal local, espectro completo, métodos y comprobaciones. ResinAtOnce organiza resinas y polímeros por muestras y rampas, separa patrones y acompaña resultados D, Rh y masa aparente con sus hipótesis. DALTAIL es el recorrido MATLAB/Python reproducible por lotes; comparte funciones y guarda tablas, factores y diagnóstico. Son productos y recorridos, no cuatro algoritmos ILT nuevos: TRAIn, MF, SILT o RAI-S son motores dentro del análisis. Vamos a recorrer casos que muestran qué trabajo se resuelve en cada etapa. Primero volvemos a la calibración del HDO.</a:t>
            </a:r>
          </a:p>
          <a:p>
            <a:endParaRPr/>
          </a:p>
          <a:p>
            <a:endParaRPr/>
          </a:p>
          <a:p>
            <a:endParaRPr/>
          </a:p>
          <a:p>
            <a:r>
              <a:t>Fuentes:</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12:45–13:50 · 65 s</a:t>
            </a:r>
          </a:p>
          <a:p>
            <a:endParaRPr/>
          </a:p>
          <a:p>
            <a:r>
              <a:t>GUION (65 s):</a:t>
            </a:r>
          </a:p>
          <a:p>
            <a:r>
              <a:t>Seleccionamos la serie HDO 10 a 32 y una ventana fija de 4.5 a 4.9 ppm. El asistente integra, ajusta y genera el informe. El replay offline da R cuadrado de 0.99977, pero detecta deriva térmica de 0.77 K, por encima del límite de 0.5 K, y avisa de fase y DS variables. El éxito es impedir que un ajuste atractivo se confunda con calibración aceptada. La propuesta ilustrativa por integral no sustituye la calibración histórica por altura. Revisamos, estabilizamos y repetimos; el instrumento permanece intacto.</a:t>
            </a:r>
          </a:p>
          <a:p>
            <a:endParaRPr/>
          </a:p>
          <a:p>
            <a:r>
              <a:t>DETALLES DE CONSULTA (no leer durante el pase):</a:t>
            </a:r>
          </a:p>
          <a:p>
            <a:r>
              <a:t>Abrimos xpy dosy_workshop.py y Calibrar con serie 1D. Introducimos EXPNO 10 a 32, ventana 4.5 a 4.9 ppm, el patrón HDO y una D de referencia documentada. El asistente integra áreas firmadas y comprueba metadatos antes de aceptar el ajuste. Mostramos una reproducción offline con datos experimentales reales: su candidato tiene pendiente 1.55703 y R cuadrado de 0.99977, pero la revisión térmica por defecto rechaza la rampa porque TE varía 0.77 K y supera la tolerancia de 0.5 K. También detecta fase y DS variables. Para producir el informe ilustrativo se elevó explícitamente la tolerancia a 0.8 K; eso no significa aceptar la calibración. El éxito es que el software convierte un buen ajuste engañosamente tranquilizador en una decisión trazable. El informe conserva entrada, integral, residuos, avisos y propuesta de escala. El perfil histórico protegido usa altura puntual y pendiente 1.58627: no se sustituye ni se confunde con la integral. No es una ejecución nueva en consola 3.6.4, ni escribe la constante del espectrómetro. Debemos estabilizar temperatura y revisar fase y preparación antes de usar el candidato como calibración. La misma consola puede eliminar la transcripción de las tres rampas.</a:t>
            </a:r>
          </a:p>
          <a:p>
            <a:endParaRPr/>
          </a:p>
          <a:p>
            <a:endParaRPr/>
          </a:p>
          <a:p>
            <a:endParaRPr/>
          </a:p>
          <a:p>
            <a:r>
              <a:t>Fuentes:</a:t>
            </a:r>
          </a:p>
          <a:p>
            <a:r>
              <a:t>DiffAtOnce DOSY TopSpin console assistant</a:t>
            </a:r>
          </a:p>
          <a:p>
            <a:endParaRPr/>
          </a:p>
          <a:p>
            <a:r>
              <a:t>[local-source: README_ES.md]</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r>
              <a:t>HDO signed-area offline calibration summary</a:t>
            </a:r>
          </a:p>
          <a:p>
            <a:endParaRPr/>
          </a:p>
          <a:p>
            <a:r>
              <a:t>[local-source: summary.json]</a:t>
            </a:r>
          </a:p>
          <a:p>
            <a:r>
              <a:t>HDO signed-area candidate with thermal rejection</a:t>
            </a:r>
          </a:p>
          <a:p>
            <a:endParaRPr/>
          </a:p>
          <a:p>
            <a:r>
              <a:t>[local-source: calibracion_integral_offline.json]</a:t>
            </a:r>
          </a:p>
          <a:p>
            <a:r>
              <a:t>HDO signed-area extracted attenuation</a:t>
            </a:r>
          </a:p>
          <a:p>
            <a:endParaRPr/>
          </a:p>
          <a:p>
            <a:r>
              <a:t>[local-source: atenuacion_integral_residuos.csv]</a:t>
            </a:r>
          </a:p>
          <a:p>
            <a:r>
              <a:t>HDO offline calibration report</a:t>
            </a:r>
          </a:p>
          <a:p>
            <a:endParaRPr/>
          </a:p>
          <a:p>
            <a:r>
              <a:t>[local-source: informe_integral_offline.html]</a:t>
            </a:r>
          </a:p>
          <a:p>
            <a:r>
              <a:t>integral replay summary</a:t>
            </a:r>
          </a:p>
          <a:p>
            <a:endParaRPr/>
          </a:p>
          <a:p>
            <a:r>
              <a:t>[local-source: summary.json]</a:t>
            </a:r>
          </a:p>
          <a:p>
            <a:r>
              <a:t>integral replay result</a:t>
            </a:r>
          </a:p>
          <a:p>
            <a:endParaRPr/>
          </a:p>
          <a:p>
            <a:r>
              <a:t>[local-source: calibracion_integral_offline.json]</a:t>
            </a:r>
          </a:p>
          <a:p>
            <a:r>
              <a:t>integral replay csv</a:t>
            </a:r>
          </a:p>
          <a:p>
            <a:endParaRPr/>
          </a:p>
          <a:p>
            <a:r>
              <a:t>[local-source: atenuacion_integral_residuos.csv]</a:t>
            </a:r>
          </a:p>
          <a:p>
            <a:r>
              <a:t>integral replay script</a:t>
            </a:r>
          </a:p>
          <a:p>
            <a:endParaRPr/>
          </a:p>
          <a:p>
            <a:r>
              <a:t>[local-source: replay_integral_calibration.py]</a:t>
            </a:r>
          </a:p>
          <a:p>
            <a:r>
              <a:t>integral replay spectrum</a:t>
            </a:r>
          </a:p>
          <a:p>
            <a:endParaRPr/>
          </a:p>
          <a:p>
            <a:r>
              <a:t>[local-source: HDO_spectral_inspection.png]</a:t>
            </a:r>
          </a:p>
          <a:p>
            <a:r>
              <a:t>topspin calibration source</a:t>
            </a:r>
          </a:p>
          <a:p>
            <a:endParaRPr/>
          </a:p>
          <a:p>
            <a:r>
              <a:t>[local-source: dosy_calibration.py]</a:t>
            </a:r>
          </a:p>
          <a:p>
            <a:r>
              <a:t>topspin console source</a:t>
            </a:r>
          </a:p>
          <a:p>
            <a:endParaRPr/>
          </a:p>
          <a:p>
            <a:r>
              <a:t>[local-source: dosy_console_ui.py]</a:t>
            </a:r>
          </a:p>
          <a:p>
            <a:r>
              <a:t>tbo calibration</a:t>
            </a:r>
          </a:p>
          <a:p>
            <a:endParaRPr/>
          </a:p>
          <a:p>
            <a:r>
              <a:t>[local-source: TBO_HDO_20260904.json]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13:50–14:35 · 45 s</a:t>
            </a:r>
          </a:p>
          <a:p>
            <a:endParaRPr/>
          </a:p>
          <a:p>
            <a:r>
              <a:t>GUION (45 s):</a:t>
            </a:r>
          </a:p>
          <a:p>
            <a:r>
              <a:t>Partimos de una plantilla revisada y elegimos tres Delta configurables. En el ejemplo: 50, 100 y 150 ms, P30 fijo y 23 gradientes de 8 a 96 por ciento. Son 69 destinos que no necesitamos transcribir. Revisamos el plan y las colisiones antes de crear; guardamos CSV y JSON. El generador puede preparar desde consola o exportar macro y Python. Esta demostración es preparación del plan, no una adquisición nueva.</a:t>
            </a:r>
          </a:p>
          <a:p>
            <a:endParaRPr/>
          </a:p>
          <a:p>
            <a:r>
              <a:t>DETALLES DE CONSULTA (no leer durante el pase):</a:t>
            </a:r>
          </a:p>
          <a:p>
            <a:r>
              <a:t>Partimos de una plantilla revisada. Definimos tres valores Delta, que aquí son ejemplos editables de 50, 100 y 150 ms, y la lista GPZ6 de 8 a 96 en pasos de cuatro. Son 23 puntos por rampa, 69 experimentos, con destinos configurables. Antes de crear revisamos el plan, unidades ms a s y colisiones EXPNO. El programa conserva P30 y hereda la plantilla; guarda el plan y vuelve al experimento abierto. No inicia adquisición ni decide los límites de la sonda. El mismo generador puede exportar macro o preparar desde Python. El éxito de esta demostración es crear un plan coherente y auditable sin transcripción repetida; no es una adquisición nueva de 69 espectros. Con datos adquiridos y procesados de manera comparable, abrimos Prime.</a:t>
            </a:r>
          </a:p>
          <a:p>
            <a:endParaRPr/>
          </a:p>
          <a:p>
            <a:endParaRPr/>
          </a:p>
          <a:p>
            <a:endParaRPr/>
          </a:p>
          <a:p>
            <a:r>
              <a:t>Fuentes:</a:t>
            </a:r>
          </a:p>
          <a:p>
            <a:r>
              <a:t>DiffAtOnce DOSY TopSpin console assistant</a:t>
            </a:r>
          </a:p>
          <a:p>
            <a:endParaRPr/>
          </a:p>
          <a:p>
            <a:r>
              <a:t>[local-source: README_ES.md]</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r>
              <a:t>topspin readme</a:t>
            </a:r>
          </a:p>
          <a:p>
            <a:endParaRPr/>
          </a:p>
          <a:p>
            <a:r>
              <a:t>[local-source: README_ES.md]</a:t>
            </a:r>
          </a:p>
          <a:p>
            <a:r>
              <a:t>topspin verification</a:t>
            </a:r>
          </a:p>
          <a:p>
            <a:endParaRPr/>
          </a:p>
          <a:p>
            <a:r>
              <a:t>[local-source: VERIFICACION.txt]</a:t>
            </a:r>
          </a:p>
          <a:p>
            <a:r>
              <a:t>topspin console source</a:t>
            </a:r>
          </a:p>
          <a:p>
            <a:endParaRPr/>
          </a:p>
          <a:p>
            <a:r>
              <a:t>[local-source: dosy_console_ui.py]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14:35–15:30 · 55 s</a:t>
            </a:r>
          </a:p>
          <a:p>
            <a:endParaRPr/>
          </a:p>
          <a:p>
            <a:r>
              <a:t>En TP194 seleccionamos 4.4182 más/menos 0.04 ppm. Prime muestra la extracción firmada, los 23 puntos y un ajuste sin exclusiones: D final aproximada de 0.327 por diez elevado a menos nueve. Esa D procede de un ajuste local monoexponencial, distinto del máximo de distribución que veremos en otra región. Primero miro todos los puntos, cola y residuos, y después comparo métodos cuando la información lo justifique. El promedio firmado de puntos del panel no es la integral trapezoidal del calibrador. El resultado guardado conserva parámetros y calibración: D medida 0.3723534, factor de referencia 0.8772583, factor térmico uno y D final 0.3266501. El error OLS mostrado de 0.00249 es condicional y no incertidumbre total. El éxito práctico es pasar del espectro a una atenuación trazable y revisable, no identificar una molécula por R cuadrado ni optimizar eliminando puntos. Una nueva dificultad aparece cuando dos rutas dibujan distribuciones diferentes para el mismo punto.</a:t>
            </a:r>
          </a:p>
          <a:p>
            <a:endParaRPr/>
          </a:p>
          <a:p>
            <a:endParaRPr/>
          </a:p>
          <a:p>
            <a:endParaRPr/>
          </a:p>
          <a:p>
            <a:r>
              <a:t>Fuentes:</a:t>
            </a:r>
          </a:p>
          <a:p>
            <a:r>
              <a:t>prime guide</a:t>
            </a:r>
          </a:p>
          <a:p>
            <a:endParaRPr/>
          </a:p>
          <a:p>
            <a:r>
              <a:t>[local-source: GUIA_PRIME.md]</a:t>
            </a:r>
          </a:p>
          <a:p>
            <a:r>
              <a:t>prime readme</a:t>
            </a:r>
          </a:p>
          <a:p>
            <a:endParaRPr/>
          </a:p>
          <a:p>
            <a:r>
              <a:t>[local-source: README.md]</a:t>
            </a:r>
          </a:p>
          <a:p>
            <a:r>
              <a:t>V6 audit of software actions, observable checks and limitations</a:t>
            </a:r>
          </a:p>
          <a:p>
            <a:endParaRPr/>
          </a:p>
          <a:p>
            <a:r>
              <a:t>[local-source: solutions_mapping.json]</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15:30–16:30 · 60 s</a:t>
            </a:r>
          </a:p>
          <a:p>
            <a:endParaRPr/>
          </a:p>
          <a:p>
            <a:r>
              <a:t>GUION (60 s):</a:t>
            </a:r>
          </a:p>
          <a:p>
            <a:r>
              <a:t>En TP194, a unos 7.736 ppm, el mapa antiguo y la curva local parecían tener medias parecidas, pero diferían mucho en la distribución. La solución fue usar la misma extracción, rejilla de 2048 y protocolo TRAIn, no cambiar factores para forzar igualdad. Ahora los picos y formas de ambas rutas coinciden en las tres rampas, como muestra la tabla. Es un éxito de coherencia del análisis sobre datos reales. Las diferencias entre rampas permanecen visibles; esta igualdad numérica no identifica moléculas ni demuestra exactitud absoluta.</a:t>
            </a:r>
          </a:p>
          <a:p>
            <a:endParaRPr/>
          </a:p>
          <a:p>
            <a:r>
              <a:t>DETALLES DE CONSULTA (no leer durante el pase):</a:t>
            </a:r>
          </a:p>
          <a:p>
            <a:r>
              <a:t>Ahora usamos un punto experimental distinto de TP194, aproximadamente 7.736 ppm. En la comparación archivada, el mapa antiguo tenía D pico de 0.2982 y media de 0.3673; la media parecía cercana a la ruta local, pero la diferencia de forma normalizada era 84.87 por ciento. La solución no fue modificar factores para que coincidieran. Con extracción, rejilla de 2048 y protocolo TRAIn iguales, la ruta local y el mapa coinciden numéricamente en las tres rampas documentadas. Los picos respectivos son 0.3270, 0.3426 y 0.3806 por diez elevado a menos nueve; la diferencia de forma entre rutas es cero. El éxito es eliminar una inconsistencia numérica del análisis y detectar cuándo otra ruta requiere revisión. Las diferencias entre rampas siguen visibles; la coincidencia de rutas no demuestra una identidad química ni valida D absoluta. Una captura de 256 bins tiene otros valores y no debe mezclarse con esta tabla de 2048. ResinAtOnce y DALTAIL extienden este cuidado al lote completo.</a:t>
            </a:r>
          </a:p>
          <a:p>
            <a:endParaRPr/>
          </a:p>
          <a:p>
            <a:endParaRPr/>
          </a:p>
          <a:p>
            <a:endParaRPr/>
          </a:p>
          <a:p>
            <a:r>
              <a:t>Fuentes:</a:t>
            </a:r>
          </a:p>
          <a:p>
            <a:r>
              <a:t>ILT method-choice and appendix guidance</a:t>
            </a:r>
          </a:p>
          <a:p>
            <a:endParaRPr/>
          </a:p>
          <a:p>
            <a:r>
              <a:t>[local-source: ilt_teaching_guidance.json]</a:t>
            </a:r>
          </a:p>
          <a:p>
            <a:r>
              <a:t>Read-only comparison of the TBO software profile and acquired pulse program</a:t>
            </a:r>
          </a:p>
          <a:p>
            <a:endParaRPr/>
          </a:p>
          <a:p>
            <a:r>
              <a:t>[local-source: local_equation_audit.json]</a:t>
            </a:r>
          </a:p>
          <a:p>
            <a:r>
              <a:t>prime guide</a:t>
            </a:r>
          </a:p>
          <a:p>
            <a:endParaRPr/>
          </a:p>
          <a:p>
            <a:r>
              <a:t>[local-source: GUIA_PRIME.md]</a:t>
            </a:r>
          </a:p>
          <a:p>
            <a:r>
              <a:t>V6 audit of software actions, observable checks and limitations</a:t>
            </a:r>
          </a:p>
          <a:p>
            <a:endParaRPr/>
          </a:p>
          <a:p>
            <a:r>
              <a:t>[local-source: solutions_mapping.json]</a:t>
            </a:r>
          </a:p>
          <a:p>
            <a:r>
              <a:t>prime readme</a:t>
            </a:r>
          </a:p>
          <a:p>
            <a:endParaRPr/>
          </a:p>
          <a:p>
            <a:r>
              <a:t>[local-source: README.md]</a:t>
            </a:r>
          </a:p>
          <a:p>
            <a:r>
              <a:t>Read-only audit of pulse calibration and sequence-dependent timing parameters</a:t>
            </a:r>
          </a:p>
          <a:p>
            <a:endParaRPr/>
          </a:p>
          <a:p>
            <a:r>
              <a:t>[local-source: parameters_pulse_evidence.json]</a:t>
            </a:r>
          </a:p>
          <a:p>
            <a:r>
              <a:t>local coherence doc</a:t>
            </a:r>
          </a:p>
          <a:p>
            <a:endParaRPr/>
          </a:p>
          <a:p>
            <a:r>
              <a:t>[local-source: DOSY_COHERENCIA_0.46.0.md]</a:t>
            </a:r>
          </a:p>
          <a:p>
            <a:r>
              <a:t>tp194 parity</a:t>
            </a:r>
          </a:p>
          <a:p>
            <a:endParaRPr/>
          </a:p>
          <a:p>
            <a:r>
              <a:t>[local-source: real-tp194-parity.json]</a:t>
            </a:r>
          </a:p>
          <a:p>
            <a:r>
              <a:t>local signal screenshot</a:t>
            </a:r>
          </a:p>
          <a:p>
            <a:endParaRPr/>
          </a:p>
          <a:p>
            <a:r>
              <a:t>[local-source: resin-local-signal.png]</a:t>
            </a:r>
          </a:p>
          <a:p>
            <a:r>
              <a:t>local signal ui check</a:t>
            </a:r>
          </a:p>
          <a:p>
            <a:endParaRPr/>
          </a:p>
          <a:p>
            <a:r>
              <a:t>[local-source: local-signal-ui.json]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16:30–17:25 · 55 s</a:t>
            </a:r>
          </a:p>
          <a:p>
            <a:endParaRPr/>
          </a:p>
          <a:p>
            <a:r>
              <a:t>GUION (55 s):</a:t>
            </a:r>
          </a:p>
          <a:p>
            <a:r>
              <a:t>El flujo DALTAIL conserva configuración, atenuaciones, factores y tablas. Este caso KK2 es un informe archivado de 230 espectros y diez rampas. KK2-50 y KK2-51 se resumen por bloques; KK2-52 conserva un caso exploratorio y no se promedian rampas artefactadas. TTMS y temperatura se aplican juntos una sola vez, con sus factores guardados. El éxito es automatizar el lote conservando también lo que falla. No es un replay del procesado actual ni una validación de masa absoluta; ResinAtOnce ofrece el recorrido guiado complementario.</a:t>
            </a:r>
          </a:p>
          <a:p>
            <a:endParaRPr/>
          </a:p>
          <a:p>
            <a:r>
              <a:t>DETALLES DE CONSULTA (no leer durante el pase):</a:t>
            </a:r>
          </a:p>
          <a:p>
            <a:r>
              <a:t>ResinAtOnce organiza muestras, referencias y rampas para este tipo de análisis. El caso mostrado se calculó en el flujo DALTAIL MATLAB/Python y no lo atribuimos a un replay de ResinAtOnce. El informe archivado KK2 recoge 230 espectros y diez rampas. Se guardan fTTMS, fT de 293 sobre T y su producto, aplicados una sola vez al eje completo. KK2-50 y KK2-51 resumen tres bloques cada una; KK2-52 conserva un bloque exploratorio y no promedia rampas largas artefactadas. Los resultados archivados a 293 K, con TTMS, son D de 0.1433 para KK2-50 y 0.08861 para KK2-51, por diez elevado a menos nueve. Las desviaciones entre bloques son 0.00826 y 0.00658, no intervalos poblacionales. El éxito está en procesar el lote sin ocultar qué parte falla. Las masas siguen siendo aparentes para arquitecturas ramificadas. La auditoría actual encuentra 213 archivos procesados distintos del manifiesto archivado; FID y metadatos adquiridos comprobados coinciden. Por eso estos números se citan como resultados archivados, no como una nueva ejecución de todos los archivos actuales. El resultado también debe conservar lo que aún no explica el modelo.</a:t>
            </a:r>
          </a:p>
          <a:p>
            <a:endParaRPr/>
          </a:p>
          <a:p>
            <a:endParaRPr/>
          </a:p>
          <a:p>
            <a:endParaRPr/>
          </a:p>
          <a:p>
            <a:r>
              <a:t>Fuentes:</a:t>
            </a:r>
          </a:p>
          <a:p>
            <a:r>
              <a:t>V6 audit of software actions, observable checks and limitations</a:t>
            </a:r>
          </a:p>
          <a:p>
            <a:endParaRPr/>
          </a:p>
          <a:p>
            <a:r>
              <a:t>[local-source: solutions_mapping.json]</a:t>
            </a:r>
          </a:p>
          <a:p>
            <a:r>
              <a:t>prime readme</a:t>
            </a:r>
          </a:p>
          <a:p>
            <a:endParaRPr/>
          </a:p>
          <a:p>
            <a:r>
              <a:t>[local-source: README.md]</a:t>
            </a:r>
          </a:p>
          <a:p>
            <a:r>
              <a:t>prime guide</a:t>
            </a:r>
          </a:p>
          <a:p>
            <a:endParaRPr/>
          </a:p>
          <a:p>
            <a:r>
              <a:t>[local-source: GUIA_PRIME.md]</a:t>
            </a:r>
          </a:p>
          <a:p>
            <a:r>
              <a:t>Read-only audit of pulse calibration and sequence-dependent timing parameters</a:t>
            </a:r>
          </a:p>
          <a:p>
            <a:endParaRPr/>
          </a:p>
          <a:p>
            <a:r>
              <a:t>[local-source: parameters_pulse_evidence.json]</a:t>
            </a:r>
          </a:p>
          <a:p>
            <a:r>
              <a:t>root readme</a:t>
            </a:r>
          </a:p>
          <a:p>
            <a:endParaRPr/>
          </a:p>
          <a:p>
            <a:r>
              <a:t>[local-source: README.md]</a:t>
            </a:r>
          </a:p>
          <a:p>
            <a:r>
              <a:t>kk2 results</a:t>
            </a:r>
          </a:p>
          <a:p>
            <a:endParaRPr/>
          </a:p>
          <a:p>
            <a:r>
              <a:t>[local-source: resumen_principal.csv]</a:t>
            </a:r>
          </a:p>
          <a:p>
            <a:r>
              <a:t>kk2 factors</a:t>
            </a:r>
          </a:p>
          <a:p>
            <a:endParaRPr/>
          </a:p>
          <a:p>
            <a:r>
              <a:t>[local-source: factores_TTMS_temperatura.csv]</a:t>
            </a:r>
          </a:p>
          <a:p>
            <a:r>
              <a:t>kk2 verification</a:t>
            </a:r>
          </a:p>
          <a:p>
            <a:endParaRPr/>
          </a:p>
          <a:p>
            <a:r>
              <a:t>[local-source: validacion.json]</a:t>
            </a:r>
          </a:p>
          <a:p>
            <a:r>
              <a:t>kk2 source manifest</a:t>
            </a:r>
          </a:p>
          <a:p>
            <a:endParaRPr/>
          </a:p>
          <a:p>
            <a:r>
              <a:t>[local-source: fuentes_sha256.csv]</a:t>
            </a:r>
          </a:p>
          <a:p>
            <a:r>
              <a:t>kk2 fid check</a:t>
            </a:r>
          </a:p>
          <a:p>
            <a:endParaRPr/>
          </a:p>
          <a:p>
            <a:r>
              <a:t>[local-source: verificacion_FID.csv]</a:t>
            </a:r>
          </a:p>
          <a:p>
            <a:r>
              <a:t>kk2 region fits</a:t>
            </a:r>
          </a:p>
          <a:p>
            <a:endParaRPr/>
          </a:p>
          <a:p>
            <a:r>
              <a:t>[local-source: ajustes_todas_senales.csv]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17:25–18:10 · 45 s</a:t>
            </a:r>
          </a:p>
          <a:p>
            <a:endParaRPr/>
          </a:p>
          <a:p>
            <a:r>
              <a:t>GUION (45 s):</a:t>
            </a:r>
          </a:p>
          <a:p>
            <a:r>
              <a:t>El modelo describe dos bandas, pero conserva aproximadamente un seis por ciento de señal sin asignar. No la borramos ni la convertimos en otra especie para completar la historia. Prime permite volver a las señales, comparar métodos y abrir el Laboratorio científico para explorar estabilidad y predicción de gradientes reservados. Esos controles son un paso posterior, no pruebas ya ejecutadas en este ejemplo. El éxito es conservar lo explicado y lo pendiente junto al resultado guardado.</a:t>
            </a:r>
          </a:p>
          <a:p>
            <a:endParaRPr/>
          </a:p>
          <a:p>
            <a:r>
              <a:t>DETALLES DE CONSULTA (no leer durante el pase):</a:t>
            </a:r>
          </a:p>
          <a:p>
            <a:r>
              <a:t>En la proyección modelada TP194 aparecen dos bandas descriptivas centradas aproximadamente en 0.375 y 1.847 por diez elevado a menos nueve, pero queda 5.96 por ciento de área sin asignar y el estado sigue siendo review_residuals. La proyección original da resultados cercanos y 6.42 por ciento sin asignar. Esa señal residual no se borra ni se convierte en otra especie por conveniencia. El éxito es una representación que conserva la duda y permite rastrear qué señales soportan cada banda. Desde Prime abrimos el Laboratorio científico para comparar métodos, rejillas y parámetros, y revisar predicción de b reservados cuando el diseño y convergencia lo permiten. Estos controles están implementados; no afirmamos que se hayan ejecutado todos sobre TP194. Las capturas QA de controles se identifican como tales. Guardar la revisión no sobrescribe D ni calibración. Después de hacer fiable el recorrido convencional, pensamos en su siguiente cuello de botella: el tiempo.</a:t>
            </a:r>
          </a:p>
          <a:p>
            <a:endParaRPr/>
          </a:p>
          <a:p>
            <a:endParaRPr/>
          </a:p>
          <a:p>
            <a:endParaRPr/>
          </a:p>
          <a:p>
            <a:r>
              <a:t>Fuentes:</a:t>
            </a:r>
          </a:p>
          <a:p>
            <a:r>
              <a:t>ILT method-choice and appendix guidance</a:t>
            </a:r>
          </a:p>
          <a:p>
            <a:endParaRPr/>
          </a:p>
          <a:p>
            <a:r>
              <a:t>[local-source: ilt_teaching_guidance.json]</a:t>
            </a:r>
          </a:p>
          <a:p>
            <a:r>
              <a:t>Read-only comparison of the TBO software profile and acquired pulse program</a:t>
            </a:r>
          </a:p>
          <a:p>
            <a:endParaRPr/>
          </a:p>
          <a:p>
            <a:r>
              <a:t>[local-source: local_equation_audit.json]</a:t>
            </a:r>
          </a:p>
          <a:p>
            <a:r>
              <a:t>prime guide</a:t>
            </a:r>
          </a:p>
          <a:p>
            <a:endParaRPr/>
          </a:p>
          <a:p>
            <a:r>
              <a:t>[local-source: GUIA_PRIME.md]</a:t>
            </a:r>
          </a:p>
          <a:p>
            <a:r>
              <a:t>V6 audit of software actions, observable checks and limitations</a:t>
            </a:r>
          </a:p>
          <a:p>
            <a:endParaRPr/>
          </a:p>
          <a:p>
            <a:r>
              <a:t>[local-source: solutions_mapping.json]</a:t>
            </a:r>
          </a:p>
          <a:p>
            <a:r>
              <a:t>prime readme</a:t>
            </a:r>
          </a:p>
          <a:p>
            <a:endParaRPr/>
          </a:p>
          <a:p>
            <a:r>
              <a:t>[local-source: README.md]</a:t>
            </a:r>
          </a:p>
          <a:p>
            <a:r>
              <a:t>Read-only audit of pulse calibration and sequence-dependent timing parameters</a:t>
            </a:r>
          </a:p>
          <a:p>
            <a:endParaRPr/>
          </a:p>
          <a:p>
            <a:r>
              <a:t>[local-source: parameters_pulse_evidence.json]</a:t>
            </a:r>
          </a:p>
          <a:p>
            <a:r>
              <a:t>tp194 projection doc</a:t>
            </a:r>
          </a:p>
          <a:p>
            <a:endParaRPr/>
          </a:p>
          <a:p>
            <a:r>
              <a:t>[local-source: DOSY_PROJECTION_0.46.1.md]</a:t>
            </a:r>
          </a:p>
          <a:p>
            <a:r>
              <a:t>tp194 projection audit</a:t>
            </a:r>
          </a:p>
          <a:p>
            <a:endParaRPr/>
          </a:p>
          <a:p>
            <a:r>
              <a:t>[local-source: audit.json]</a:t>
            </a:r>
          </a:p>
          <a:p>
            <a:r>
              <a:t>tp194 projection screenshot</a:t>
            </a:r>
          </a:p>
          <a:p>
            <a:endParaRPr/>
          </a:p>
          <a:p>
            <a:r>
              <a:t>[local-source: prime-projection-map.png]</a:t>
            </a:r>
          </a:p>
          <a:p>
            <a:r>
              <a:t>tp194 projection ui check</a:t>
            </a:r>
          </a:p>
          <a:p>
            <a:endParaRPr/>
          </a:p>
          <a:p>
            <a:r>
              <a:t>[local-source: projection-ui.json]</a:t>
            </a:r>
          </a:p>
          <a:p>
            <a:r>
              <a:t>tp194 saved project</a:t>
            </a:r>
          </a:p>
          <a:p>
            <a:endParaRPr/>
          </a:p>
          <a:p>
            <a:r>
              <a:t>[local-source: DiffAtOnce] Prime Results\Calibracion_20260929_084154_43b4f1\calibrado.prime.json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18:10–19:10 · 60 s</a:t>
            </a:r>
          </a:p>
          <a:p>
            <a:endParaRPr/>
          </a:p>
          <a:p>
            <a:r>
              <a:t>La adquisición convencional repite gradientes y supone que la preparación sigue siendo comparable durante la serie. Para procesos rápidos, reacciones y señales hiperpolarizadas, ese tiempo puede ser el cuello de botella. Ultrafast DOSY utiliza codificación espacial: distintas posiciones reciben distintas ponderaciones, seguidas de una lectura espacial. SPEN es la codificación espacial usada en estas rutas, no un competidor completamente separado. La ventaja temporal desplaza las dificultades a fase, sensibilidad espacial, ancho de banda y calibración b de z. La literatura citada demuestra aplicaciones; no atribuyo esas demostraciones a nuestro prototipo. El recorrido guiado de Prime obliga a revisar orden de ecos, perfil y kernel y comparar con controles convencionales. Esa es también la dirección de nuestro desarrollo para sondas con gradiente z.</a:t>
            </a:r>
          </a:p>
          <a:p>
            <a:endParaRPr/>
          </a:p>
          <a:p>
            <a:endParaRPr/>
          </a:p>
          <a:p>
            <a:endParaRPr/>
          </a:p>
          <a:p>
            <a:r>
              <a:t>Fuentes:</a:t>
            </a:r>
          </a:p>
          <a:p>
            <a:r>
              <a:t>Single-scan 2D DOSY NMR spectroscopy</a:t>
            </a:r>
          </a:p>
          <a:p>
            <a:r>
              <a:t>https://pubmed.ncbi.nlm.nih.gov/18835796/</a:t>
            </a:r>
          </a:p>
          <a:p>
            <a:endParaRPr/>
          </a:p>
          <a:p>
            <a:r>
              <a:t>Spatially encoded 2D and 3D diffusion-ordered NMR spectroscopy</a:t>
            </a:r>
          </a:p>
          <a:p>
            <a:r>
              <a:t>https://pubs.rsc.org/en/content/articlehtml/2017/cc/c6cc09028a</a:t>
            </a:r>
          </a:p>
          <a:p>
            <a:endParaRPr/>
          </a:p>
          <a:p>
            <a:r>
              <a:t>Spatially encoded diffusion-ordered NMR spectroscopy of reaction mixtures in organic solvents</a:t>
            </a:r>
          </a:p>
          <a:p>
            <a:r>
              <a:t>https://pubs.rsc.org/en/content/articlelanding/2018/an/c8an00434j</a:t>
            </a:r>
          </a:p>
          <a:p>
            <a:endParaRPr/>
          </a:p>
          <a:p>
            <a:r>
              <a:t>Single-Scan 13C Diffusion-Ordered NMR Spectroscopy of DNP-Hyperpolarised Substrates</a:t>
            </a:r>
          </a:p>
          <a:p>
            <a:r>
              <a:t>https://chemistry-europe.onlinelibrary.wiley.com/doi/10.1002/chem.201703300</a:t>
            </a:r>
          </a:p>
          <a:p>
            <a:endParaRPr/>
          </a:p>
          <a:p>
            <a:r>
              <a:t>Ultrafast diffusion-based unmixing of 1H NMR spectra</a:t>
            </a:r>
          </a:p>
          <a:p>
            <a:r>
              <a:t>https://pubs.rsc.org/en/content/articlehtml/2021/cc/d0cc07757g</a:t>
            </a:r>
          </a:p>
          <a:p>
            <a:endParaRPr/>
          </a:p>
          <a:p>
            <a:r>
              <a:t>Accounting for gradient non-uniformity in spatially-encoded diffusion-ordered NMR spectroscopy</a:t>
            </a:r>
          </a:p>
          <a:p>
            <a:r>
              <a:t>https://www.sciencedirect.com/science/article/pii/S1090780723001787</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19:10–19:50 · 40 s</a:t>
            </a:r>
          </a:p>
          <a:p>
            <a:endParaRPr/>
          </a:p>
          <a:p>
            <a:r>
              <a:t>Esta imagen es una reconstrucción TRAIN2D del experimento UF D–T2 número 10, adquirido el 3 de junio de 2025 con 4 transitorios y 32 ecos en 27.768 s. Muestra difusión en el eje vertical y T2 en el horizontal; las proyecciones resumen ambos ejes. Es un ejemplo experimental previo al desarrollo UF_DT2_CS_EPSI v9.4, no un resultado de ese programa ni un mapa D–ppm. El notebook usa un G máximo nominal y un umbral gráfico del 1%; el máximo dominante alcanza el borde inferior de D. No interpretar ese borde como una especie validada. La exactitud absoluta de D y T2 requiere controles de calibración. Nuestro desarrollo actual utiliza gradiente z y lectura EPSI; siguen pendientes b(z), sensibilidad y exactitud con patrones.</a:t>
            </a:r>
          </a:p>
          <a:p>
            <a:endParaRPr/>
          </a:p>
          <a:p>
            <a:r>
              <a:t>Detalles técnicos del desarrollo EPSI:</a:t>
            </a:r>
          </a:p>
          <a:p>
            <a:r>
              <a:t>GUION (40 s):</a:t>
            </a:r>
          </a:p>
          <a:p>
            <a:r>
              <a:t>Estamos desarrollando ultrafast para sondas convencionales con gradiente z y RF formada. Hay programas chirp/STE, CPMG y lectura EPSI, calculadora y reconstrucción diagnóstica. La dificultad se desplaza a calibrar b de z y verificar sensibilidad y exactitud con patrones y controles convencionales. Esa validación experimental cuantitativa sigue pendiente: presentamos una línea de desarrollo concreta, no una nueva prueba de DOSY absoluto en un scan.</a:t>
            </a:r>
          </a:p>
          <a:p>
            <a:endParaRPr/>
          </a:p>
          <a:p>
            <a:r>
              <a:t>DETALLES DE CONSULTA (no leer durante el pase):</a:t>
            </a:r>
          </a:p>
          <a:p>
            <a:r>
              <a:t>Nuestro desarrollo actual implementa codificación chirp con eco estimulado, CPMG y lectura EPSI bipolar, con programas para PABBO, TBI y TBO, calculadora y reconstrucción diagnóstica. Una sonda convencional aquí necesita gradiente z y RF formada; no significa una sonda sin gradientes. El objetivo actual es Avance III 500 con TopSpin 3.8.0 y NS múltiplo de dieciséis, distinto del asistente preparado para 3.6.4. Hay programas y software; la validación cuantitativa experimental de DOSY absoluto sigue pendiente. El siguiente éxito que debemos demostrar es calibrar b de z con patrón y verificar exactitud y estabilidad frente a DOSY convencional. Esta es una perspectiva concreta, no un resultado experimental anunciado. Volvamos a lo que la audiencia puede aplicar mañana.</a:t>
            </a:r>
          </a:p>
          <a:p>
            <a:endParaRPr/>
          </a:p>
          <a:p>
            <a:endParaRPr/>
          </a:p>
          <a:p>
            <a:endParaRPr/>
          </a:p>
          <a:p>
            <a:r>
              <a:t>Fuentes:</a:t>
            </a:r>
          </a:p>
          <a:p>
            <a:r>
              <a:t>local_readme</a:t>
            </a:r>
          </a:p>
          <a:p>
            <a:endParaRPr/>
          </a:p>
          <a:p>
            <a:r>
              <a:t>[local-source: README.md]</a:t>
            </a:r>
          </a:p>
          <a:p>
            <a:r>
              <a:t>local_audit</a:t>
            </a:r>
          </a:p>
          <a:p>
            <a:endParaRPr/>
          </a:p>
          <a:p>
            <a:r>
              <a:t>[local-source: AUDITORIA_METODO_UF_DT2_CS_2026-09-19.md]</a:t>
            </a:r>
          </a:p>
          <a:p>
            <a:r>
              <a:t>local_pp</a:t>
            </a:r>
          </a:p>
          <a:p>
            <a:endParaRPr/>
          </a:p>
          <a:p>
            <a:r>
              <a:t>[local-source: UF_DT2_CS_EPSI_v9_4_TBO]</a:t>
            </a:r>
          </a:p>
          <a:p>
            <a:r>
              <a:t>local_calc</a:t>
            </a:r>
          </a:p>
          <a:p>
            <a:endParaRPr/>
          </a:p>
          <a:p>
            <a:r>
              <a:t>[local-source: UF_DT2_CS_calculator_v9_4.py]</a:t>
            </a:r>
          </a:p>
          <a:p>
            <a:r>
              <a:t>local_recon</a:t>
            </a:r>
          </a:p>
          <a:p>
            <a:endParaRPr/>
          </a:p>
          <a:p>
            <a:r>
              <a:t>[local-source: reconstruct_uf_dt2_cs_v9_4.py]</a:t>
            </a:r>
          </a:p>
          <a:p>
            <a:r>
              <a:t>Spatially encoded diffusion-ordered NMR spectroscopy of reaction mixtures in organic solvents</a:t>
            </a:r>
          </a:p>
          <a:p>
            <a:r>
              <a:t>https://pubs.rsc.org/en/content/articlelanding/2018/an/c8an00434j</a:t>
            </a:r>
          </a:p>
          <a:p>
            <a:endParaRPr/>
          </a:p>
          <a:p>
            <a:r>
              <a:t>Single-Scan 13C Diffusion-Ordered NMR Spectroscopy of DNP-Hyperpolarised Substrates</a:t>
            </a:r>
          </a:p>
          <a:p>
            <a:r>
              <a:t>https://chemistry-europe.onlinelibrary.wiley.com/doi/10.1002/chem.201703300</a:t>
            </a:r>
          </a:p>
          <a:p>
            <a:endParaRPr/>
          </a:p>
          <a:p>
            <a:r>
              <a:t>Experimental UF D–T2 experiment 10 (2025), TRAIN2D reconstruction</a:t>
            </a:r>
          </a:p>
          <a:p>
            <a:endParaRPr/>
          </a:p>
          <a:p>
            <a:r>
              <a:t>[local-source: DT2_map_10.png]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19:50–20:00 · 10 s</a:t>
            </a:r>
          </a:p>
          <a:p>
            <a:endParaRPr/>
          </a:p>
          <a:p>
            <a:r>
              <a:t>Calibrar y procesar DOSY es difícil. Los ejemplos muestran cómo hacerlo y dónde ayudan nuestros programas. El resultado defendible conserva la medida, la hipótesis y la comprobación. </a:t>
            </a:r>
          </a:p>
          <a:p>
            <a:endParaRPr/>
          </a:p>
          <a:p>
            <a:endParaRPr/>
          </a:p>
          <a:p>
            <a:endParaRPr/>
          </a:p>
          <a:p>
            <a:r>
              <a:t>Fuentes: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Positive least squares [nnls]</a:t>
            </a:r>
          </a:p>
          <a:p>
            <a:r>
              <a:t>Uso: Referencia positiva sin suavizado; diagnóstico del residuo mínimo.</a:t>
            </a:r>
          </a:p>
          <a:p>
            <a:r>
              <a:t>Límites: No elige suavidad, soporte ni número de especies.</a:t>
            </a:r>
          </a:p>
          <a:p>
            <a:r>
              <a:t>Disponibilidad: Selector ILT de Prime</a:t>
            </a:r>
          </a:p>
          <a:p>
            <a:r>
              <a:t>Objetivo: `0.5 ‖AC-Y‖F², C&gt;=0`.</a:t>
            </a:r>
          </a:p>
          <a:p>
            <a:r>
              <a:t>Fuente: [local-source: METHOD_REFERENCE.es.md#nnls]</a:t>
            </a:r>
          </a:p>
          <a:p>
            <a:endParaRPr/>
          </a:p>
          <a:p>
            <a:r>
              <a:t>Positive Tikhonov [tikhonov]</a:t>
            </a:r>
          </a:p>
          <a:p>
            <a:r>
              <a:t>Uso: Distribuciones continuas con suavidad controlada; polímeros/polidispersidad.</a:t>
            </a:r>
          </a:p>
          <a:p>
            <a:r>
              <a:t>Límites: Diferencias en índices, no derivadas físicas adaptadas al espaciado de D. Sin selección automática de lambda.</a:t>
            </a:r>
          </a:p>
          <a:p>
            <a:r>
              <a:t>Disponibilidad: Selector ILT de Prime</a:t>
            </a:r>
          </a:p>
          <a:p>
            <a:r>
              <a:t>Objetivo: `0.5 ‖AC-Y‖F² + lambda/2 ‖RC‖F², C&gt;=0`.</a:t>
            </a:r>
          </a:p>
          <a:p>
            <a:r>
              <a:t>Fuente: [local-source: METHOD_REFERENCE.es.md#tikhonov]</a:t>
            </a:r>
          </a:p>
          <a:p>
            <a:endParaRPr/>
          </a:p>
          <a:p>
            <a:r>
              <a:t>FLINT quadratic objective [flint]</a:t>
            </a:r>
          </a:p>
          <a:p>
            <a:r>
              <a:t>Uso: Objetivo L2 positivo para inversión estable; motor NNLS de esta biblioteca.</a:t>
            </a:r>
          </a:p>
          <a:p>
            <a:r>
              <a:t>Límites: Es un port del objetivo, no la iteración original. Para la iteración use flint_fista.</a:t>
            </a:r>
          </a:p>
          <a:p>
            <a:r>
              <a:t>Disponibilidad: Selector ILT de Prime</a:t>
            </a:r>
          </a:p>
          <a:p>
            <a:r>
              <a:t>Objetivo: `0.5 ‖AC-Y‖F² + lambda/2 ‖C‖F², C&gt;=0`.</a:t>
            </a:r>
          </a:p>
          <a:p>
            <a:r>
              <a:t>Fuente: [local-source: METHOD_REFERENCE.es.md#flint]</a:t>
            </a:r>
          </a:p>
          <a:p>
            <a:endParaRPr/>
          </a:p>
          <a:p>
            <a:r>
              <a:t>GNAT positive ILT branch [gnat_ilt_nnls]</a:t>
            </a:r>
          </a:p>
          <a:p>
            <a:r>
              <a:t>Uso: Comparar la rama ILT positiva de GNAT a λ manual.</a:t>
            </a:r>
          </a:p>
          <a:p>
            <a:r>
              <a:t>Límites: No incluye GCV, curva L, interfaz gráfica ni toda la aplicación GNAT.</a:t>
            </a:r>
          </a:p>
          <a:p>
            <a:r>
              <a:t>Disponibilidad: Selector ILT de Prime</a:t>
            </a:r>
          </a:p>
          <a:p>
            <a:r>
              <a:t>Objetivo: `0.5 ‖AC-Y‖F² + lambda²/2 ‖RC‖F², C&gt;=0`.</a:t>
            </a:r>
          </a:p>
          <a:p>
            <a:r>
              <a:t>Fuente: [local-source: METHOD_REFERENCE.es.md#gnat_ilt_nnls]</a:t>
            </a:r>
          </a:p>
          <a:p>
            <a:endParaRPr/>
          </a:p>
          <a:p>
            <a:r>
              <a:t>TRAIn-style trust region [train]</a:t>
            </a:r>
          </a:p>
          <a:p>
            <a:r>
              <a:t>Uso: Inversión positiva iterativa con región de confianza; controlar criterio de parada.</a:t>
            </a:r>
          </a:p>
          <a:p>
            <a:r>
              <a:t>Límites: En Prime, el selector TRAIn usa el motor compartido original: termFac × residuo NNLS. La ficha de biblioteca describe otra variante con radio de ruido explícito; no intercambiar los parámetros.</a:t>
            </a:r>
          </a:p>
          <a:p>
            <a:r>
              <a:t>Disponibilidad: Selector ILT de Prime</a:t>
            </a:r>
          </a:p>
          <a:p>
            <a:r>
              <a:t>Objetivo: `RSS(A*(eta elementwise squared),Y); discrepancy stopping`.</a:t>
            </a:r>
          </a:p>
          <a:p>
            <a:r>
              <a:t>Fuente: [local-source: METHOD_REFERENCE.es.md#train]</a:t>
            </a:r>
          </a:p>
          <a:p>
            <a:endParaRPr/>
          </a:p>
          <a:p>
            <a:r>
              <a:t>Fuentes: [ilt_catalog] Audited bilingual catalogue of local inversion methods and context families: [local-source: ilt_algorithm_catalog_bilingual.json]</a:t>
            </a:r>
          </a:p>
          <a:p>
            <a:r>
              <a:t>[catalog_nnls] Positive least squares: [local-source: METHOD_REFERENCE.es.md#nnls]</a:t>
            </a:r>
          </a:p>
          <a:p>
            <a:r>
              <a:t>[catalog_tikhonov] Positive Tikhonov: [local-source: METHOD_REFERENCE.es.md#tikhonov]</a:t>
            </a:r>
          </a:p>
          <a:p>
            <a:r>
              <a:t>[catalog_flint] FLINT quadratic objective: [local-source: METHOD_REFERENCE.es.md#flint]</a:t>
            </a:r>
          </a:p>
          <a:p>
            <a:r>
              <a:t>[catalog_gnat_ilt_nnls] GNAT positive ILT branch: [local-source: METHOD_REFERENCE.es.md#gnat_ilt_nnls]</a:t>
            </a:r>
          </a:p>
          <a:p>
            <a:r>
              <a:t>[catalog_train] TRAIn-style trust region: [local-source: METHOD_REFERENCE.es.md#train]</a:t>
            </a:r>
          </a:p>
          <a:p>
            <a:endParaRPr/>
          </a:p>
          <a:p>
            <a:r>
              <a:t>nnls — Positive least squares</a:t>
            </a:r>
          </a:p>
          <a:p>
            <a:r>
              <a:t>Selector ILT de Prime</a:t>
            </a:r>
          </a:p>
          <a:p>
            <a:r>
              <a:t>Referencia positiva sin suavizado; diagnóstico del residuo mínimo.</a:t>
            </a:r>
          </a:p>
          <a:p>
            <a:r>
              <a:t>No elige suavidad, soporte ni número de especies.</a:t>
            </a:r>
          </a:p>
          <a:p>
            <a:r>
              <a:t>`0.5 ‖AC-Y‖F², C&gt;=0`.</a:t>
            </a:r>
          </a:p>
          <a:p>
            <a:r>
              <a:t>[local-source: METHOD_REFERENCE.es.md#nnls]</a:t>
            </a:r>
          </a:p>
          <a:p>
            <a:endParaRPr/>
          </a:p>
          <a:p>
            <a:r>
              <a:t>tikhonov — Positive Tikhonov</a:t>
            </a:r>
          </a:p>
          <a:p>
            <a:r>
              <a:t>Selector ILT de Prime</a:t>
            </a:r>
          </a:p>
          <a:p>
            <a:r>
              <a:t>Distribuciones continuas con suavidad controlada; polímeros/polidispersidad.</a:t>
            </a:r>
          </a:p>
          <a:p>
            <a:r>
              <a:t>Diferencias en índices, no derivadas físicas adaptadas al espaciado de D. Sin selección automática de lambda.</a:t>
            </a:r>
          </a:p>
          <a:p>
            <a:r>
              <a:t>`0.5 ‖AC-Y‖F² + lambda/2 ‖RC‖F², C&gt;=0`.</a:t>
            </a:r>
          </a:p>
          <a:p>
            <a:r>
              <a:t>[local-source: METHOD_REFERENCE.es.md#tikhonov]</a:t>
            </a:r>
          </a:p>
          <a:p>
            <a:endParaRPr/>
          </a:p>
          <a:p>
            <a:r>
              <a:t>flint — FLINT quadratic objective</a:t>
            </a:r>
          </a:p>
          <a:p>
            <a:r>
              <a:t>Selector ILT de Prime</a:t>
            </a:r>
          </a:p>
          <a:p>
            <a:r>
              <a:t>Objetivo L2 positivo para inversión estable; motor NNLS de esta biblioteca.</a:t>
            </a:r>
          </a:p>
          <a:p>
            <a:r>
              <a:t>Es un port del objetivo, no la iteración original. Para la iteración use flint_fista.</a:t>
            </a:r>
          </a:p>
          <a:p>
            <a:r>
              <a:t>`0.5 ‖AC-Y‖F² + lambda/2 ‖C‖F², C&gt;=0`.</a:t>
            </a:r>
          </a:p>
          <a:p>
            <a:r>
              <a:t>[local-source: METHOD_REFERENCE.es.md#flint]</a:t>
            </a:r>
          </a:p>
          <a:p>
            <a:endParaRPr/>
          </a:p>
          <a:p>
            <a:r>
              <a:t>gnat_ilt_nnls — GNAT positive ILT branch</a:t>
            </a:r>
          </a:p>
          <a:p>
            <a:r>
              <a:t>Selector ILT de Prime</a:t>
            </a:r>
          </a:p>
          <a:p>
            <a:r>
              <a:t>Comparar la rama ILT positiva de GNAT a λ manual.</a:t>
            </a:r>
          </a:p>
          <a:p>
            <a:r>
              <a:t>No incluye GCV, curva L, interfaz gráfica ni toda la aplicación GNAT.</a:t>
            </a:r>
          </a:p>
          <a:p>
            <a:r>
              <a:t>`0.5 ‖AC-Y‖F² + lambda²/2 ‖RC‖F², C&gt;=0`.</a:t>
            </a:r>
          </a:p>
          <a:p>
            <a:r>
              <a:t>[local-source: METHOD_REFERENCE.es.md#gnat_ilt_nnls]</a:t>
            </a:r>
          </a:p>
          <a:p>
            <a:endParaRPr/>
          </a:p>
          <a:p>
            <a:r>
              <a:t>train — TRAIn-style trust region</a:t>
            </a:r>
          </a:p>
          <a:p>
            <a:r>
              <a:t>Selector ILT de Prime</a:t>
            </a:r>
          </a:p>
          <a:p>
            <a:r>
              <a:t>Inversión positiva iterativa con región de confianza; controlar criterio de parada.</a:t>
            </a:r>
          </a:p>
          <a:p>
            <a:r>
              <a:t>En Prime, el selector TRAIn usa el motor compartido original: termFac × residuo NNLS. La ficha de biblioteca describe otra variante con radio de ruido explícito; no intercambiar los parámetros.</a:t>
            </a:r>
          </a:p>
          <a:p>
            <a:r>
              <a:t>`RSS(A*(eta elementwise squared),Y); discrepancy stopping`.</a:t>
            </a:r>
          </a:p>
          <a:p>
            <a:r>
              <a:t>[local-source: METHOD_REFERENCE.es.md#train]</a:t>
            </a:r>
          </a:p>
          <a:p>
            <a:endParaRPr/>
          </a:p>
          <a:p>
            <a:r>
              <a:t>Fuentes:</a:t>
            </a:r>
          </a:p>
          <a:p>
            <a:r>
              <a:t>Audited bilingual catalogue of local inversion methods and context families</a:t>
            </a:r>
          </a:p>
          <a:p>
            <a:endParaRPr/>
          </a:p>
          <a:p>
            <a:r>
              <a:t>[local-source: ilt_algorithm_catalog_bilingual.json]</a:t>
            </a:r>
          </a:p>
          <a:p>
            <a:r>
              <a:t>Positive least squares</a:t>
            </a:r>
          </a:p>
          <a:p>
            <a:endParaRPr/>
          </a:p>
          <a:p>
            <a:r>
              <a:t>[local-source: METHOD_REFERENCE.es.md#nnls]</a:t>
            </a:r>
          </a:p>
          <a:p>
            <a:r>
              <a:t>Positive Tikhonov</a:t>
            </a:r>
          </a:p>
          <a:p>
            <a:endParaRPr/>
          </a:p>
          <a:p>
            <a:r>
              <a:t>[local-source: METHOD_REFERENCE.es.md#tikhonov]</a:t>
            </a:r>
          </a:p>
          <a:p>
            <a:r>
              <a:t>FLINT quadratic objective</a:t>
            </a:r>
          </a:p>
          <a:p>
            <a:endParaRPr/>
          </a:p>
          <a:p>
            <a:r>
              <a:t>[local-source: METHOD_REFERENCE.es.md#flint]</a:t>
            </a:r>
          </a:p>
          <a:p>
            <a:r>
              <a:t>GNAT positive ILT branch</a:t>
            </a:r>
          </a:p>
          <a:p>
            <a:endParaRPr/>
          </a:p>
          <a:p>
            <a:r>
              <a:t>[local-source: METHOD_REFERENCE.es.md#gnat_ilt_nnls]</a:t>
            </a:r>
          </a:p>
          <a:p>
            <a:r>
              <a:t>TRAIn-style trust region</a:t>
            </a:r>
          </a:p>
          <a:p>
            <a:endParaRPr/>
          </a:p>
          <a:p>
            <a:r>
              <a:t>[local-source: METHOD_REFERENCE.es.md#train]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ITAMeD positive FISTA [itamed]</a:t>
            </a:r>
          </a:p>
          <a:p>
            <a:r>
              <a:t>Uso: Distribuciones escasas con pocos máximos mediante L1 y FISTA.</a:t>
            </a:r>
          </a:p>
          <a:p>
            <a:r>
              <a:t>Límites: La malla permanece fija. El objetivo usa RSS sin factor 1/2; no copie lambda entre métodos sin comprobar escalas.</a:t>
            </a:r>
          </a:p>
          <a:p>
            <a:r>
              <a:t>Disponibilidad: Selector ILT de Prime</a:t>
            </a:r>
          </a:p>
          <a:p>
            <a:r>
              <a:t>Objetivo: `RSS + lambda sum(C), C&gt;=0`.</a:t>
            </a:r>
          </a:p>
          <a:p>
            <a:r>
              <a:t>Fuente: [local-source: METHOD_REFERENCE.es.md#itamed]</a:t>
            </a:r>
          </a:p>
          <a:p>
            <a:endParaRPr/>
          </a:p>
          <a:p>
            <a:r>
              <a:t>Positive smooth sparse inversion [elastic_net]</a:t>
            </a:r>
          </a:p>
          <a:p>
            <a:r>
              <a:t>Uso: Compromiso entre pocos máximos y suavidad.</a:t>
            </a:r>
          </a:p>
          <a:p>
            <a:r>
              <a:t>Límites: No es un alias de CONTIN ni selecciona sus pesos automáticamente.</a:t>
            </a:r>
          </a:p>
          <a:p>
            <a:r>
              <a:t>Disponibilidad: Selector ILT de Prime</a:t>
            </a:r>
          </a:p>
          <a:p>
            <a:r>
              <a:t>Objetivo: `0.5 ‖AC-Y‖F² + lambda/2 ‖RC‖F² + l1 sum(C), C&gt;=0`.</a:t>
            </a:r>
          </a:p>
          <a:p>
            <a:r>
              <a:t>Fuente: [local-source: METHOD_REFERENCE.es.md#elastic_net]</a:t>
            </a:r>
          </a:p>
          <a:p>
            <a:endParaRPr/>
          </a:p>
          <a:p>
            <a:r>
              <a:t>Positive maximum entropy [maxent]</a:t>
            </a:r>
          </a:p>
          <a:p>
            <a:r>
              <a:t>Uso: Distribuciones positivas regularizadas por entropía respecto a una referencia.</a:t>
            </a:r>
          </a:p>
          <a:p>
            <a:r>
              <a:t>Límites: El valor de referencia se fija a partir de los datos. Motores Python y MATLAB/C# distintos; comprobar gradiente proyectado.</a:t>
            </a:r>
          </a:p>
          <a:p>
            <a:r>
              <a:t>Disponibilidad: Selector ILT de Prime</a:t>
            </a:r>
          </a:p>
          <a:p>
            <a:r>
              <a:t>Objetivo: `0.5 ‖AC-Y‖F² + lambda sum(C log(C/ref)-C)`.</a:t>
            </a:r>
          </a:p>
          <a:p>
            <a:r>
              <a:t>Fuente: [local-source: METHOD_REFERENCE.es.md#maxent]</a:t>
            </a:r>
          </a:p>
          <a:p>
            <a:endParaRPr/>
          </a:p>
          <a:p>
            <a:r>
              <a:t>PALMA entropy/L1 PPXA+ [palma]</a:t>
            </a:r>
          </a:p>
          <a:p>
            <a:r>
              <a:t>Uso: Combinar picos y distribuciones anchas con entropía/L1 y radio de ruido.</a:t>
            </a:r>
          </a:p>
          <a:p>
            <a:r>
              <a:t>Límites: La primera observación debe ser positiva. Se excluye la variante con signo w=0. El presupuesto puede acabar sin factibilidad.</a:t>
            </a:r>
          </a:p>
          <a:p>
            <a:r>
              <a:t>Disponibilidad: Selector ILT de Prime</a:t>
            </a:r>
          </a:p>
          <a:p>
            <a:r>
              <a:t>Objetivo: `(1-w)‖x‖1 + w sum(x log x), ‖Ax-Y/scale‖2&lt;=eta/scale`.</a:t>
            </a:r>
          </a:p>
          <a:p>
            <a:r>
              <a:t>Fuente: [local-source: METHOD_REFERENCE.es.md#palma]</a:t>
            </a:r>
          </a:p>
          <a:p>
            <a:endParaRPr/>
          </a:p>
          <a:p>
            <a:r>
              <a:t>Local curvature reweighted Tikhonov [curvature_reweighted]</a:t>
            </a:r>
          </a:p>
          <a:p>
            <a:r>
              <a:t>Uso: Ajustar suavizado local según curvatura; comparar sensibilidad.</a:t>
            </a:r>
          </a:p>
          <a:p>
            <a:r>
              <a:t>Límites: Cambia pesos y objetivo. No es UPEN2D/MUPEN2D auténtico ni aporta certificado convexo fijo.</a:t>
            </a:r>
          </a:p>
          <a:p>
            <a:r>
              <a:t>Disponibilidad: Selector ILT de Prime</a:t>
            </a:r>
          </a:p>
          <a:p>
            <a:r>
              <a:t>Objetivo: `Sequence of positive quadratic fits with local curvature weights`.</a:t>
            </a:r>
          </a:p>
          <a:p>
            <a:r>
              <a:t>Fuente: [local-source: METHOD_REFERENCE.es.md#curvature_reweighted]</a:t>
            </a:r>
          </a:p>
          <a:p>
            <a:endParaRPr/>
          </a:p>
          <a:p>
            <a:r>
              <a:t>Fuentes: [ilt_catalog] Audited bilingual catalogue of local inversion methods and context families: [local-source: ilt_algorithm_catalog_bilingual.json]</a:t>
            </a:r>
          </a:p>
          <a:p>
            <a:r>
              <a:t>[catalog_itamed] ITAMeD positive FISTA: [local-source: METHOD_REFERENCE.es.md#itamed]</a:t>
            </a:r>
          </a:p>
          <a:p>
            <a:r>
              <a:t>[catalog_elastic_net] Positive smooth sparse inversion: [local-source: METHOD_REFERENCE.es.md#elastic_net]</a:t>
            </a:r>
          </a:p>
          <a:p>
            <a:r>
              <a:t>[catalog_maxent] Positive maximum entropy: [local-source: METHOD_REFERENCE.es.md#maxent]</a:t>
            </a:r>
          </a:p>
          <a:p>
            <a:r>
              <a:t>[catalog_palma] PALMA entropy/L1 PPXA+: [local-source: METHOD_REFERENCE.es.md#palma]</a:t>
            </a:r>
          </a:p>
          <a:p>
            <a:r>
              <a:t>[catalog_curvature_reweighted] Local curvature reweighted Tikhonov: [local-source: METHOD_REFERENCE.es.md#curvature_reweighted]</a:t>
            </a:r>
          </a:p>
          <a:p>
            <a:endParaRPr/>
          </a:p>
          <a:p>
            <a:r>
              <a:t>itamed — ITAMeD positive FISTA</a:t>
            </a:r>
          </a:p>
          <a:p>
            <a:r>
              <a:t>Selector ILT de Prime</a:t>
            </a:r>
          </a:p>
          <a:p>
            <a:r>
              <a:t>Distribuciones escasas con pocos máximos mediante L1 y FISTA.</a:t>
            </a:r>
          </a:p>
          <a:p>
            <a:r>
              <a:t>La malla permanece fija. El objetivo usa RSS sin factor 1/2; no copie lambda entre métodos sin comprobar escalas.</a:t>
            </a:r>
          </a:p>
          <a:p>
            <a:r>
              <a:t>`RSS + lambda sum(C), C&gt;=0`.</a:t>
            </a:r>
          </a:p>
          <a:p>
            <a:r>
              <a:t>[local-source: METHOD_REFERENCE.es.md#itamed]</a:t>
            </a:r>
          </a:p>
          <a:p>
            <a:endParaRPr/>
          </a:p>
          <a:p>
            <a:r>
              <a:t>elastic_net — Positive smooth sparse inversion</a:t>
            </a:r>
          </a:p>
          <a:p>
            <a:r>
              <a:t>Selector ILT de Prime</a:t>
            </a:r>
          </a:p>
          <a:p>
            <a:r>
              <a:t>Compromiso entre pocos máximos y suavidad.</a:t>
            </a:r>
          </a:p>
          <a:p>
            <a:r>
              <a:t>No es un alias de CONTIN ni selecciona sus pesos automáticamente.</a:t>
            </a:r>
          </a:p>
          <a:p>
            <a:r>
              <a:t>`0.5 ‖AC-Y‖F² + lambda/2 ‖RC‖F² + l1 sum(C), C&gt;=0`.</a:t>
            </a:r>
          </a:p>
          <a:p>
            <a:r>
              <a:t>[local-source: METHOD_REFERENCE.es.md#elastic_net]</a:t>
            </a:r>
          </a:p>
          <a:p>
            <a:endParaRPr/>
          </a:p>
          <a:p>
            <a:r>
              <a:t>maxent — Positive maximum entropy</a:t>
            </a:r>
          </a:p>
          <a:p>
            <a:r>
              <a:t>Selector ILT de Prime</a:t>
            </a:r>
          </a:p>
          <a:p>
            <a:r>
              <a:t>Distribuciones positivas regularizadas por entropía respecto a una referencia.</a:t>
            </a:r>
          </a:p>
          <a:p>
            <a:r>
              <a:t>El valor de referencia se fija a partir de los datos. Motores Python y MATLAB/C# distintos; comprobar gradiente proyectado.</a:t>
            </a:r>
          </a:p>
          <a:p>
            <a:r>
              <a:t>`0.5 ‖AC-Y‖F² + lambda sum(C log(C/ref)-C)`.</a:t>
            </a:r>
          </a:p>
          <a:p>
            <a:r>
              <a:t>[local-source: METHOD_REFERENCE.es.md#maxent]</a:t>
            </a:r>
          </a:p>
          <a:p>
            <a:endParaRPr/>
          </a:p>
          <a:p>
            <a:r>
              <a:t>palma — PALMA entropy/L1 PPXA+</a:t>
            </a:r>
          </a:p>
          <a:p>
            <a:r>
              <a:t>Selector ILT de Prime</a:t>
            </a:r>
          </a:p>
          <a:p>
            <a:r>
              <a:t>Combinar picos y distribuciones anchas con entropía/L1 y radio de ruido.</a:t>
            </a:r>
          </a:p>
          <a:p>
            <a:r>
              <a:t>La primera observación debe ser positiva. Se excluye la variante con signo w=0. El presupuesto puede acabar sin factibilidad.</a:t>
            </a:r>
          </a:p>
          <a:p>
            <a:r>
              <a:t>`(1-w)‖x‖1 + w sum(x log x), ‖Ax-Y/scale‖2&lt;=eta/scale`.</a:t>
            </a:r>
          </a:p>
          <a:p>
            <a:r>
              <a:t>[local-source: METHOD_REFERENCE.es.md#palma]</a:t>
            </a:r>
          </a:p>
          <a:p>
            <a:endParaRPr/>
          </a:p>
          <a:p>
            <a:r>
              <a:t>curvature_reweighted — Local curvature reweighted Tikhonov</a:t>
            </a:r>
          </a:p>
          <a:p>
            <a:r>
              <a:t>Selector ILT de Prime</a:t>
            </a:r>
          </a:p>
          <a:p>
            <a:r>
              <a:t>Ajustar suavizado local según curvatura; comparar sensibilidad.</a:t>
            </a:r>
          </a:p>
          <a:p>
            <a:r>
              <a:t>Cambia pesos y objetivo. No es UPEN2D/MUPEN2D auténtico ni aporta certificado convexo fijo.</a:t>
            </a:r>
          </a:p>
          <a:p>
            <a:r>
              <a:t>`Sequence of positive quadratic fits with local curvature weights`.</a:t>
            </a:r>
          </a:p>
          <a:p>
            <a:r>
              <a:t>[local-source: METHOD_REFERENCE.es.md#curvature_reweighted]</a:t>
            </a:r>
          </a:p>
          <a:p>
            <a:endParaRPr/>
          </a:p>
          <a:p>
            <a:r>
              <a:t>Fuentes:</a:t>
            </a:r>
          </a:p>
          <a:p>
            <a:r>
              <a:t>Audited bilingual catalogue of local inversion methods and context families</a:t>
            </a:r>
          </a:p>
          <a:p>
            <a:endParaRPr/>
          </a:p>
          <a:p>
            <a:r>
              <a:t>[local-source: ilt_algorithm_catalog_bilingual.json]</a:t>
            </a:r>
          </a:p>
          <a:p>
            <a:r>
              <a:t>ITAMeD positive FISTA</a:t>
            </a:r>
          </a:p>
          <a:p>
            <a:endParaRPr/>
          </a:p>
          <a:p>
            <a:r>
              <a:t>[local-source: METHOD_REFERENCE.es.md#itamed]</a:t>
            </a:r>
          </a:p>
          <a:p>
            <a:r>
              <a:t>Positive smooth sparse inversion</a:t>
            </a:r>
          </a:p>
          <a:p>
            <a:endParaRPr/>
          </a:p>
          <a:p>
            <a:r>
              <a:t>[local-source: METHOD_REFERENCE.es.md#elastic_net]</a:t>
            </a:r>
          </a:p>
          <a:p>
            <a:r>
              <a:t>Positive maximum entropy</a:t>
            </a:r>
          </a:p>
          <a:p>
            <a:endParaRPr/>
          </a:p>
          <a:p>
            <a:r>
              <a:t>[local-source: METHOD_REFERENCE.es.md#maxent]</a:t>
            </a:r>
          </a:p>
          <a:p>
            <a:r>
              <a:t>PALMA entropy/L1 PPXA+</a:t>
            </a:r>
          </a:p>
          <a:p>
            <a:endParaRPr/>
          </a:p>
          <a:p>
            <a:r>
              <a:t>[local-source: METHOD_REFERENCE.es.md#palma]</a:t>
            </a:r>
          </a:p>
          <a:p>
            <a:r>
              <a:t>Local curvature reweighted Tikhonov</a:t>
            </a:r>
          </a:p>
          <a:p>
            <a:endParaRPr/>
          </a:p>
          <a:p>
            <a:r>
              <a:t>[local-source: METHOD_REFERENCE.es.md#curvature_reweighted]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BRD dual positive L2 [brd]</a:t>
            </a:r>
          </a:p>
          <a:p>
            <a:r>
              <a:t>Uso: Resolver L2 positivo mediante formulación dual; λ explícito.</a:t>
            </a:r>
          </a:p>
          <a:p>
            <a:r>
              <a:t>Límites: Alpha fijo, sin selección automática ni compresión OSILAP. Inicialización externa no admitida en el adaptador.</a:t>
            </a:r>
          </a:p>
          <a:p>
            <a:r>
              <a:t>Disponibilidad: Selector ILT de Prime</a:t>
            </a:r>
          </a:p>
          <a:p>
            <a:r>
              <a:t>Objetivo: `0.5 ‖AC-Y‖F² + alpha/2 ‖C‖F², C&gt;=0, solved through dual`.</a:t>
            </a:r>
          </a:p>
          <a:p>
            <a:r>
              <a:t>Fuente: [local-source: METHOD_REFERENCE.es.md#brd]</a:t>
            </a:r>
          </a:p>
          <a:p>
            <a:endParaRPr/>
          </a:p>
          <a:p>
            <a:r>
              <a:t>Chambolle-Pock positive L1 [pdhg_l1]</a:t>
            </a:r>
          </a:p>
          <a:p>
            <a:r>
              <a:t>Uso: Resolver inversión escasa L1 mediante división primal-dual.</a:t>
            </a:r>
          </a:p>
          <a:p>
            <a:r>
              <a:t>Límites: No es la recurrencia PDHGM2 archivada. Inicialización cero; verificar residuo de gradiente proyectado.</a:t>
            </a:r>
          </a:p>
          <a:p>
            <a:r>
              <a:t>Disponibilidad: Selector ILT de Prime</a:t>
            </a:r>
          </a:p>
          <a:p>
            <a:r>
              <a:t>Objetivo: `0.5 ‖AC-Y‖F² + alpha sum(C), C&gt;=0`.</a:t>
            </a:r>
          </a:p>
          <a:p>
            <a:r>
              <a:t>Fuente: [local-source: METHOD_REFERENCE.es.md#pdhg_l1]</a:t>
            </a:r>
          </a:p>
          <a:p>
            <a:endParaRPr/>
          </a:p>
          <a:p>
            <a:r>
              <a:t>Regularized block Kaczmarz [kaczmarz]</a:t>
            </a:r>
          </a:p>
          <a:p>
            <a:r>
              <a:t>Uso: Resolver inversión regularizada mediante actualizaciones por filas/bloques.</a:t>
            </a:r>
          </a:p>
          <a:p>
            <a:r>
              <a:t>Límites: Generador de orden portable distinto del NumPy histórico. RowOrders permite comparar trayectorias explícitas; fallos de búsqueda se conservan. El adaptador de malla usa opciones internas: para semilla, bloques y órdenes explícitos use linear_fit / linearFit / LinearEngines.Fit.</a:t>
            </a:r>
          </a:p>
          <a:p>
            <a:r>
              <a:t>Disponibilidad: Selector ILT de Prime</a:t>
            </a:r>
          </a:p>
          <a:p>
            <a:r>
              <a:t>Objetivo: `0.5 ‖AC-Y‖F² + alpha/2 ‖C‖F², C&gt;=0`.</a:t>
            </a:r>
          </a:p>
          <a:p>
            <a:r>
              <a:t>Fuente: [local-source: METHOD_REFERENCE.es.md#kaczmarz]</a:t>
            </a:r>
          </a:p>
          <a:p>
            <a:endParaRPr/>
          </a:p>
          <a:p>
            <a:r>
              <a:t>Nonnegative L1 interior point [l1_ls_nonnegative]</a:t>
            </a:r>
          </a:p>
          <a:p>
            <a:r>
              <a:t>Uso: Solución positiva L1 por punto interior; referencia de optimización.</a:t>
            </a:r>
          </a:p>
          <a:p>
            <a:r>
              <a:t>Límites: Newton denso sustituye PCG original. Brecha absoluta-escalada cuando el objetivo es menor que uno.</a:t>
            </a:r>
          </a:p>
          <a:p>
            <a:r>
              <a:t>Disponibilidad: Selector ILT de Prime</a:t>
            </a:r>
          </a:p>
          <a:p>
            <a:r>
              <a:t>Objetivo: `RSS + alpha ‖C‖1, C&gt;=0`.</a:t>
            </a:r>
          </a:p>
          <a:p>
            <a:r>
              <a:t>Fuente: [local-source: METHOD_REFERENCE.es.md#l1_ls_nonnegative]</a:t>
            </a:r>
          </a:p>
          <a:p>
            <a:endParaRPr/>
          </a:p>
          <a:p>
            <a:r>
              <a:t>FLINT positive quadratic iterative core [flint_fista]</a:t>
            </a:r>
          </a:p>
          <a:p>
            <a:r>
              <a:t>Uso: Resolver iterativamente el objetivo cuadrático positivo FLINT.</a:t>
            </a:r>
          </a:p>
          <a:p>
            <a:r>
              <a:t>Límites: Paso espectral y parada por gradiente proyectado difieren de la potencia/estancamiento original.</a:t>
            </a:r>
          </a:p>
          <a:p>
            <a:r>
              <a:t>Disponibilidad: Selector ILT de Prime</a:t>
            </a:r>
          </a:p>
          <a:p>
            <a:r>
              <a:t>Objetivo: `RSS + alpha ‖C‖F², C&gt;=0`.</a:t>
            </a:r>
          </a:p>
          <a:p>
            <a:r>
              <a:t>Fuente: [local-source: METHOD_REFERENCE.es.md#flint_fista]</a:t>
            </a:r>
          </a:p>
          <a:p>
            <a:endParaRPr/>
          </a:p>
          <a:p>
            <a:r>
              <a:t>Fuentes: [ilt_catalog] Audited bilingual catalogue of local inversion methods and context families: [local-source: ilt_algorithm_catalog_bilingual.json]</a:t>
            </a:r>
          </a:p>
          <a:p>
            <a:r>
              <a:t>[catalog_brd] BRD dual positive L2: [local-source: METHOD_REFERENCE.es.md#brd]</a:t>
            </a:r>
          </a:p>
          <a:p>
            <a:r>
              <a:t>[catalog_pdhg_l1] Chambolle-Pock positive L1: [local-source: METHOD_REFERENCE.es.md#pdhg_l1]</a:t>
            </a:r>
          </a:p>
          <a:p>
            <a:r>
              <a:t>[catalog_kaczmarz] Regularized block Kaczmarz: [local-source: METHOD_REFERENCE.es.md#kaczmarz]</a:t>
            </a:r>
          </a:p>
          <a:p>
            <a:r>
              <a:t>[catalog_l1_ls_nonnegative] Nonnegative L1 interior point: [local-source: METHOD_REFERENCE.es.md#l1_ls_nonnegative]</a:t>
            </a:r>
          </a:p>
          <a:p>
            <a:r>
              <a:t>[catalog_flint_fista] FLINT positive quadratic iterative core: [local-source: METHOD_REFERENCE.es.md#flint_fista]</a:t>
            </a:r>
          </a:p>
          <a:p>
            <a:endParaRPr/>
          </a:p>
          <a:p>
            <a:r>
              <a:t>brd — BRD dual positive L2</a:t>
            </a:r>
          </a:p>
          <a:p>
            <a:r>
              <a:t>Selector ILT de Prime</a:t>
            </a:r>
          </a:p>
          <a:p>
            <a:r>
              <a:t>Resolver L2 positivo mediante formulación dual; λ explícito.</a:t>
            </a:r>
          </a:p>
          <a:p>
            <a:r>
              <a:t>Alpha fijo, sin selección automática ni compresión OSILAP. Inicialización externa no admitida en el adaptador.</a:t>
            </a:r>
          </a:p>
          <a:p>
            <a:r>
              <a:t>`0.5 ‖AC-Y‖F² + alpha/2 ‖C‖F², C&gt;=0, solved through dual`.</a:t>
            </a:r>
          </a:p>
          <a:p>
            <a:r>
              <a:t>[local-source: METHOD_REFERENCE.es.md#brd]</a:t>
            </a:r>
          </a:p>
          <a:p>
            <a:endParaRPr/>
          </a:p>
          <a:p>
            <a:r>
              <a:t>pdhg_l1 — Chambolle-Pock positive L1</a:t>
            </a:r>
          </a:p>
          <a:p>
            <a:r>
              <a:t>Selector ILT de Prime</a:t>
            </a:r>
          </a:p>
          <a:p>
            <a:r>
              <a:t>Resolver inversión escasa L1 mediante división primal-dual.</a:t>
            </a:r>
          </a:p>
          <a:p>
            <a:r>
              <a:t>No es la recurrencia PDHGM2 archivada. Inicialización cero; verificar residuo de gradiente proyectado.</a:t>
            </a:r>
          </a:p>
          <a:p>
            <a:r>
              <a:t>`0.5 ‖AC-Y‖F² + alpha sum(C), C&gt;=0`.</a:t>
            </a:r>
          </a:p>
          <a:p>
            <a:r>
              <a:t>[local-source: METHOD_REFERENCE.es.md#pdhg_l1]</a:t>
            </a:r>
          </a:p>
          <a:p>
            <a:endParaRPr/>
          </a:p>
          <a:p>
            <a:r>
              <a:t>kaczmarz — Regularized block Kaczmarz</a:t>
            </a:r>
          </a:p>
          <a:p>
            <a:r>
              <a:t>Selector ILT de Prime</a:t>
            </a:r>
          </a:p>
          <a:p>
            <a:r>
              <a:t>Resolver inversión regularizada mediante actualizaciones por filas/bloques.</a:t>
            </a:r>
          </a:p>
          <a:p>
            <a:r>
              <a:t>Generador de orden portable distinto del NumPy histórico. RowOrders permite comparar trayectorias explícitas; fallos de búsqueda se conservan. El adaptador de malla usa opciones internas: para semilla, bloques y órdenes explícitos use linear_fit / linearFit / LinearEngines.Fit.</a:t>
            </a:r>
          </a:p>
          <a:p>
            <a:r>
              <a:t>`0.5 ‖AC-Y‖F² + alpha/2 ‖C‖F², C&gt;=0`.</a:t>
            </a:r>
          </a:p>
          <a:p>
            <a:r>
              <a:t>[local-source: METHOD_REFERENCE.es.md#kaczmarz]</a:t>
            </a:r>
          </a:p>
          <a:p>
            <a:endParaRPr/>
          </a:p>
          <a:p>
            <a:r>
              <a:t>l1_ls_nonnegative — Nonnegative L1 interior point</a:t>
            </a:r>
          </a:p>
          <a:p>
            <a:r>
              <a:t>Selector ILT de Prime</a:t>
            </a:r>
          </a:p>
          <a:p>
            <a:r>
              <a:t>Solución positiva L1 por punto interior; referencia de optimización.</a:t>
            </a:r>
          </a:p>
          <a:p>
            <a:r>
              <a:t>Newton denso sustituye PCG original. Brecha absoluta-escalada cuando el objetivo es menor que uno.</a:t>
            </a:r>
          </a:p>
          <a:p>
            <a:r>
              <a:t>`RSS + alpha ‖C‖1, C&gt;=0`.</a:t>
            </a:r>
          </a:p>
          <a:p>
            <a:r>
              <a:t>[local-source: METHOD_REFERENCE.es.md#l1_ls_nonnegative]</a:t>
            </a:r>
          </a:p>
          <a:p>
            <a:endParaRPr/>
          </a:p>
          <a:p>
            <a:r>
              <a:t>flint_fista — FLINT positive quadratic iterative core</a:t>
            </a:r>
          </a:p>
          <a:p>
            <a:r>
              <a:t>Selector ILT de Prime</a:t>
            </a:r>
          </a:p>
          <a:p>
            <a:r>
              <a:t>Resolver iterativamente el objetivo cuadrático positivo FLINT.</a:t>
            </a:r>
          </a:p>
          <a:p>
            <a:r>
              <a:t>Paso espectral y parada por gradiente proyectado difieren de la potencia/estancamiento original.</a:t>
            </a:r>
          </a:p>
          <a:p>
            <a:r>
              <a:t>`RSS + alpha ‖C‖F², C&gt;=0`.</a:t>
            </a:r>
          </a:p>
          <a:p>
            <a:r>
              <a:t>[local-source: METHOD_REFERENCE.es.md#flint_fista]</a:t>
            </a:r>
          </a:p>
          <a:p>
            <a:endParaRPr/>
          </a:p>
          <a:p>
            <a:r>
              <a:t>Fuentes:</a:t>
            </a:r>
          </a:p>
          <a:p>
            <a:r>
              <a:t>Audited bilingual catalogue of local inversion methods and context families</a:t>
            </a:r>
          </a:p>
          <a:p>
            <a:endParaRPr/>
          </a:p>
          <a:p>
            <a:r>
              <a:t>[local-source: ilt_algorithm_catalog_bilingual.json]</a:t>
            </a:r>
          </a:p>
          <a:p>
            <a:r>
              <a:t>BRD dual positive L2</a:t>
            </a:r>
          </a:p>
          <a:p>
            <a:endParaRPr/>
          </a:p>
          <a:p>
            <a:r>
              <a:t>[local-source: METHOD_REFERENCE.es.md#brd]</a:t>
            </a:r>
          </a:p>
          <a:p>
            <a:r>
              <a:t>Chambolle-Pock positive L1</a:t>
            </a:r>
          </a:p>
          <a:p>
            <a:endParaRPr/>
          </a:p>
          <a:p>
            <a:r>
              <a:t>[local-source: METHOD_REFERENCE.es.md#pdhg_l1]</a:t>
            </a:r>
          </a:p>
          <a:p>
            <a:r>
              <a:t>Regularized block Kaczmarz</a:t>
            </a:r>
          </a:p>
          <a:p>
            <a:endParaRPr/>
          </a:p>
          <a:p>
            <a:r>
              <a:t>[local-source: METHOD_REFERENCE.es.md#kaczmarz]</a:t>
            </a:r>
          </a:p>
          <a:p>
            <a:r>
              <a:t>Nonnegative L1 interior point</a:t>
            </a:r>
          </a:p>
          <a:p>
            <a:endParaRPr/>
          </a:p>
          <a:p>
            <a:r>
              <a:t>[local-source: METHOD_REFERENCE.es.md#l1_ls_nonnegative]</a:t>
            </a:r>
          </a:p>
          <a:p>
            <a:r>
              <a:t>FLINT positive quadratic iterative core</a:t>
            </a:r>
          </a:p>
          <a:p>
            <a:endParaRPr/>
          </a:p>
          <a:p>
            <a:r>
              <a:t>[local-source: METHOD_REFERENCE.es.md#flint_fista]</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Positive row-group sparse inversion [group_sparse]</a:t>
            </a:r>
          </a:p>
          <a:p>
            <a:r>
              <a:t>Uso: Soporte D compartido entre varias frecuencias.</a:t>
            </a:r>
          </a:p>
          <a:p>
            <a:r>
              <a:t>Límites: Un soporte compartido favorecido por la penalización no identifica moléculas; con una columna se reduce a L1.</a:t>
            </a:r>
          </a:p>
          <a:p>
            <a:r>
              <a:t>Disponibilidad: Selector ILT de Prime</a:t>
            </a:r>
          </a:p>
          <a:p>
            <a:r>
              <a:t>Objetivo: `0.5 ‖AC-Y‖F² + lambda sum_k ‖C[k,:]‖2, C&gt;=0`.</a:t>
            </a:r>
          </a:p>
          <a:p>
            <a:r>
              <a:t>Fuente: [local-source: METHOD_REFERENCE.es.md#group_sparse]</a:t>
            </a:r>
          </a:p>
          <a:p>
            <a:endParaRPr/>
          </a:p>
          <a:p>
            <a:r>
              <a:t>Nonnegative sparse nuclear regularization [lowrank_sparse]</a:t>
            </a:r>
          </a:p>
          <a:p>
            <a:r>
              <a:t>Uso: Mapa conjunto con pocos perfiles y pocos coeficientes significativos.</a:t>
            </a:r>
          </a:p>
          <a:p>
            <a:r>
              <a:t>Límites: Comprobar residuo primal y dual. No sustituye la recurrencia ADSpLRU por llevar norma nuclear.</a:t>
            </a:r>
          </a:p>
          <a:p>
            <a:r>
              <a:t>Disponibilidad: Selector ILT de Prime</a:t>
            </a:r>
          </a:p>
          <a:p>
            <a:r>
              <a:t>Objetivo: `0.5 ‖AC-Y‖F² + l1 sum(C) + low_rank ‖C‖*, C&gt;=0`.</a:t>
            </a:r>
          </a:p>
          <a:p>
            <a:r>
              <a:t>Fuente: [local-source: METHOD_REFERENCE.es.md#lowrank_sparse]</a:t>
            </a:r>
          </a:p>
          <a:p>
            <a:endParaRPr/>
          </a:p>
          <a:p>
            <a:r>
              <a:t>Reweighted nuclear heuristic [reweighted_lowrank_sparse]</a:t>
            </a:r>
          </a:p>
          <a:p>
            <a:r>
              <a:t>Uso: Reforzar selección de rango/soporte mediante pesos adaptativos.</a:t>
            </a:r>
          </a:p>
          <a:p>
            <a:r>
              <a:t>Límites: El coste nuclear reportado es diagnóstico; no es un certificado del objetivo variable.</a:t>
            </a:r>
          </a:p>
          <a:p>
            <a:r>
              <a:t>Disponibilidad: Selector ILT de Prime</a:t>
            </a:r>
          </a:p>
          <a:p>
            <a:r>
              <a:t>Objetivo: `Adaptive singular-value thresholds inside ADMM`.</a:t>
            </a:r>
          </a:p>
          <a:p>
            <a:r>
              <a:t>Fuente: [local-source: METHOD_REFERENCE.es.md#reweighted_lowrank_sparse]</a:t>
            </a:r>
          </a:p>
          <a:p>
            <a:endParaRPr/>
          </a:p>
          <a:p>
            <a:r>
              <a:t>Orthogonal matching pursuit dictionary adapter [omp]</a:t>
            </a:r>
          </a:p>
          <a:p>
            <a:r>
              <a:t>Uso: Seleccionar pocos átomos D de un diccionario; límite de soporte explícito.</a:t>
            </a:r>
          </a:p>
          <a:p>
            <a:r>
              <a:t>Límites: No normaliza columnas. La escala afecta la selección; no se traslada el muestreo Fourier del original.</a:t>
            </a:r>
          </a:p>
          <a:p>
            <a:r>
              <a:t>Disponibilidad: Selector ILT de Prime</a:t>
            </a:r>
          </a:p>
          <a:p>
            <a:r>
              <a:t>Objetivo: `Greedy dictionary correlation + restricted LS/NNLS refit`.</a:t>
            </a:r>
          </a:p>
          <a:p>
            <a:r>
              <a:t>Fuente: [local-source: METHOD_REFERENCE.es.md#omp]</a:t>
            </a:r>
          </a:p>
          <a:p>
            <a:endParaRPr/>
          </a:p>
          <a:p>
            <a:r>
              <a:t>Fuentes: [ilt_catalog] Audited bilingual catalogue of local inversion methods and context families: [local-source: ilt_algorithm_catalog_bilingual.json]</a:t>
            </a:r>
          </a:p>
          <a:p>
            <a:r>
              <a:t>[catalog_group_sparse] Positive row-group sparse inversion: [local-source: METHOD_REFERENCE.es.md#group_sparse]</a:t>
            </a:r>
          </a:p>
          <a:p>
            <a:r>
              <a:t>[catalog_lowrank_sparse] Nonnegative sparse nuclear regularization: [local-source: METHOD_REFERENCE.es.md#lowrank_sparse]</a:t>
            </a:r>
          </a:p>
          <a:p>
            <a:r>
              <a:t>[catalog_reweighted_lowrank_sparse] Reweighted nuclear heuristic: [local-source: METHOD_REFERENCE.es.md#reweighted_lowrank_sparse]</a:t>
            </a:r>
          </a:p>
          <a:p>
            <a:r>
              <a:t>[catalog_omp] Orthogonal matching pursuit dictionary adapter: [local-source: METHOD_REFERENCE.es.md#omp]</a:t>
            </a:r>
          </a:p>
          <a:p>
            <a:endParaRPr/>
          </a:p>
          <a:p>
            <a:r>
              <a:t>group_sparse — Positive row-group sparse inversion</a:t>
            </a:r>
          </a:p>
          <a:p>
            <a:r>
              <a:t>Selector ILT de Prime</a:t>
            </a:r>
          </a:p>
          <a:p>
            <a:r>
              <a:t>Soporte D compartido entre varias frecuencias.</a:t>
            </a:r>
          </a:p>
          <a:p>
            <a:r>
              <a:t>Un soporte compartido favorecido por la penalización no identifica moléculas; con una columna se reduce a L1.</a:t>
            </a:r>
          </a:p>
          <a:p>
            <a:r>
              <a:t>`0.5 ‖AC-Y‖F² + lambda sum_k ‖C[k,:]‖2, C&gt;=0`.</a:t>
            </a:r>
          </a:p>
          <a:p>
            <a:r>
              <a:t>[local-source: METHOD_REFERENCE.es.md#group_sparse]</a:t>
            </a:r>
          </a:p>
          <a:p>
            <a:endParaRPr/>
          </a:p>
          <a:p>
            <a:r>
              <a:t>lowrank_sparse — Nonnegative sparse nuclear regularization</a:t>
            </a:r>
          </a:p>
          <a:p>
            <a:r>
              <a:t>Selector ILT de Prime</a:t>
            </a:r>
          </a:p>
          <a:p>
            <a:r>
              <a:t>Mapa conjunto con pocos perfiles y pocos coeficientes significativos.</a:t>
            </a:r>
          </a:p>
          <a:p>
            <a:r>
              <a:t>Comprobar residuo primal y dual. No sustituye la recurrencia ADSpLRU por llevar norma nuclear.</a:t>
            </a:r>
          </a:p>
          <a:p>
            <a:r>
              <a:t>`0.5 ‖AC-Y‖F² + l1 sum(C) + low_rank ‖C‖*, C&gt;=0`.</a:t>
            </a:r>
          </a:p>
          <a:p>
            <a:r>
              <a:t>[local-source: METHOD_REFERENCE.es.md#lowrank_sparse]</a:t>
            </a:r>
          </a:p>
          <a:p>
            <a:endParaRPr/>
          </a:p>
          <a:p>
            <a:r>
              <a:t>reweighted_lowrank_sparse — Reweighted nuclear heuristic</a:t>
            </a:r>
          </a:p>
          <a:p>
            <a:r>
              <a:t>Selector ILT de Prime</a:t>
            </a:r>
          </a:p>
          <a:p>
            <a:r>
              <a:t>Reforzar selección de rango/soporte mediante pesos adaptativos.</a:t>
            </a:r>
          </a:p>
          <a:p>
            <a:r>
              <a:t>El coste nuclear reportado es diagnóstico; no es un certificado del objetivo variable.</a:t>
            </a:r>
          </a:p>
          <a:p>
            <a:r>
              <a:t>`Adaptive singular-value thresholds inside ADMM`.</a:t>
            </a:r>
          </a:p>
          <a:p>
            <a:r>
              <a:t>[local-source: METHOD_REFERENCE.es.md#reweighted_lowrank_sparse]</a:t>
            </a:r>
          </a:p>
          <a:p>
            <a:endParaRPr/>
          </a:p>
          <a:p>
            <a:r>
              <a:t>omp — Orthogonal matching pursuit dictionary adapter</a:t>
            </a:r>
          </a:p>
          <a:p>
            <a:r>
              <a:t>Selector ILT de Prime</a:t>
            </a:r>
          </a:p>
          <a:p>
            <a:r>
              <a:t>Seleccionar pocos átomos D de un diccionario; límite de soporte explícito.</a:t>
            </a:r>
          </a:p>
          <a:p>
            <a:r>
              <a:t>No normaliza columnas. La escala afecta la selección; no se traslada el muestreo Fourier del original.</a:t>
            </a:r>
          </a:p>
          <a:p>
            <a:r>
              <a:t>`Greedy dictionary correlation + restricted LS/NNLS refit`.</a:t>
            </a:r>
          </a:p>
          <a:p>
            <a:r>
              <a:t>[local-source: METHOD_REFERENCE.es.md#omp]</a:t>
            </a:r>
          </a:p>
          <a:p>
            <a:endParaRPr/>
          </a:p>
          <a:p>
            <a:r>
              <a:t>Fuentes:</a:t>
            </a:r>
          </a:p>
          <a:p>
            <a:r>
              <a:t>Audited bilingual catalogue of local inversion methods and context families</a:t>
            </a:r>
          </a:p>
          <a:p>
            <a:endParaRPr/>
          </a:p>
          <a:p>
            <a:r>
              <a:t>[local-source: ilt_algorithm_catalog_bilingual.json]</a:t>
            </a:r>
          </a:p>
          <a:p>
            <a:r>
              <a:t>Positive row-group sparse inversion</a:t>
            </a:r>
          </a:p>
          <a:p>
            <a:endParaRPr/>
          </a:p>
          <a:p>
            <a:r>
              <a:t>[local-source: METHOD_REFERENCE.es.md#group_sparse]</a:t>
            </a:r>
          </a:p>
          <a:p>
            <a:r>
              <a:t>Nonnegative sparse nuclear regularization</a:t>
            </a:r>
          </a:p>
          <a:p>
            <a:endParaRPr/>
          </a:p>
          <a:p>
            <a:r>
              <a:t>[local-source: METHOD_REFERENCE.es.md#lowrank_sparse]</a:t>
            </a:r>
          </a:p>
          <a:p>
            <a:r>
              <a:t>Reweighted nuclear heuristic</a:t>
            </a:r>
          </a:p>
          <a:p>
            <a:endParaRPr/>
          </a:p>
          <a:p>
            <a:r>
              <a:t>[local-source: METHOD_REFERENCE.es.md#reweighted_lowrank_sparse]</a:t>
            </a:r>
          </a:p>
          <a:p>
            <a:r>
              <a:t>Orthogonal matching pursuit dictionary adapter</a:t>
            </a:r>
          </a:p>
          <a:p>
            <a:endParaRPr/>
          </a:p>
          <a:p>
            <a:r>
              <a:t>[local-source: METHOD_REFERENCE.es.md#omp]</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MF-NNLS256 [mf-nnls256]</a:t>
            </a:r>
          </a:p>
          <a:p>
            <a:r>
              <a:t>Uso: Mapa conjunto de distribuciones con factores compartidos.</a:t>
            </a:r>
          </a:p>
          <a:p>
            <a:r>
              <a:t>Límites: Rango predictivo ≠ moléculas; revisar λS, λA, límites y residuos.</a:t>
            </a:r>
          </a:p>
          <a:p>
            <a:r>
              <a:t>Disponibilidad: Ruta nativa Prime</a:t>
            </a:r>
          </a:p>
          <a:p>
            <a:r>
              <a:t>Fuente: [local-source: StudioWindows.Library.cs]</a:t>
            </a:r>
          </a:p>
          <a:p>
            <a:endParaRPr/>
          </a:p>
          <a:p>
            <a:r>
              <a:t>TRAIn-MF (protocolo revisado) [train-mf-historical]</a:t>
            </a:r>
          </a:p>
          <a:p>
            <a:r>
              <a:t>Uso: Modelo conjunto con atenuaciones con signo; reproducción legacy explícita.</a:t>
            </a:r>
          </a:p>
          <a:p>
            <a:r>
              <a:t>Límites: La etiqueta del identificador histórico no describe la ruta revisada. No equivaler a TRAIn por bin.</a:t>
            </a:r>
          </a:p>
          <a:p>
            <a:r>
              <a:t>Disponibilidad: Ruta nativa Prime</a:t>
            </a:r>
          </a:p>
          <a:p>
            <a:r>
              <a:t>Fuente: [local-source: StudioWindows.Library.cs]</a:t>
            </a:r>
          </a:p>
          <a:p>
            <a:endParaRPr/>
          </a:p>
          <a:p>
            <a:r>
              <a:t>TRAIn por bin / per bin [train-per-bin]</a:t>
            </a:r>
          </a:p>
          <a:p>
            <a:r>
              <a:t>Uso: Mismo ajuste local en todas las frecuencias de una región.</a:t>
            </a:r>
          </a:p>
          <a:p>
            <a:r>
              <a:t>Límites: No impone correlaciones ni factores compartidos entre frecuencias.</a:t>
            </a:r>
          </a:p>
          <a:p>
            <a:r>
              <a:t>Disponibilidad: Ruta nativa Prime</a:t>
            </a:r>
          </a:p>
          <a:p>
            <a:r>
              <a:t>Fuente: [local-source: StudioWindows.Library.cs]</a:t>
            </a:r>
          </a:p>
          <a:p>
            <a:endParaRPr/>
          </a:p>
          <a:p>
            <a:r>
              <a:t>RAI-S [rai-s]</a:t>
            </a:r>
          </a:p>
          <a:p>
            <a:r>
              <a:t>Uso: Pocos D discretos con selección de soporte en el espectro.</a:t>
            </a:r>
          </a:p>
          <a:p>
            <a:r>
              <a:t>Límites: No es RAI-Net ni una red entrenada; distribución ancha puede violar el modelo discreto.</a:t>
            </a:r>
          </a:p>
          <a:p>
            <a:r>
              <a:t>Disponibilidad: Ruta nativa Prime</a:t>
            </a:r>
          </a:p>
          <a:p>
            <a:r>
              <a:t>Fuente: [local-source: StudioWindows.Library.cs]</a:t>
            </a:r>
          </a:p>
          <a:p>
            <a:endParaRPr/>
          </a:p>
          <a:p>
            <a:r>
              <a:t>DOME-S [dome-s]</a:t>
            </a:r>
          </a:p>
          <a:p>
            <a:r>
              <a:t>Uso: Tasas discretas compartidas con revisión de cobertura y soporte.</a:t>
            </a:r>
          </a:p>
          <a:p>
            <a:r>
              <a:t>Límites: Comprobar límites, predicción reservada y número de componentes.</a:t>
            </a:r>
          </a:p>
          <a:p>
            <a:r>
              <a:t>Disponibilidad: Ruta nativa Prime</a:t>
            </a:r>
          </a:p>
          <a:p>
            <a:r>
              <a:t>Fuente: [local-source: StudioWindows.Library.cs]</a:t>
            </a:r>
          </a:p>
          <a:p>
            <a:endParaRPr/>
          </a:p>
          <a:p>
            <a:r>
              <a:t>Fuentes: [ilt_catalog] Audited bilingual catalogue of local inversion methods and context families: [local-source: ilt_algorithm_catalog_bilingual.json]</a:t>
            </a:r>
          </a:p>
          <a:p>
            <a:r>
              <a:t>[catalog_mf-nnls256] MF-NNLS256: [local-source: StudioWindows.Library.cs]</a:t>
            </a:r>
          </a:p>
          <a:p>
            <a:r>
              <a:t>[catalog_train-mf-historical] TRAIn-MF (protocolo revisado): [local-source: StudioWindows.Library.cs]</a:t>
            </a:r>
          </a:p>
          <a:p>
            <a:r>
              <a:t>[catalog_train-per-bin] TRAIn por bin / per bin: [local-source: StudioWindows.Library.cs]</a:t>
            </a:r>
          </a:p>
          <a:p>
            <a:r>
              <a:t>[catalog_rai-s] RAI-S: [local-source: StudioWindows.Library.cs]</a:t>
            </a:r>
          </a:p>
          <a:p>
            <a:r>
              <a:t>[catalog_dome-s] DOME-S: [local-source: StudioWindows.Library.cs]</a:t>
            </a:r>
          </a:p>
          <a:p>
            <a:endParaRPr/>
          </a:p>
          <a:p>
            <a:r>
              <a:t>mf-nnls256 — MF-NNLS256</a:t>
            </a:r>
          </a:p>
          <a:p>
            <a:r>
              <a:t>Ruta nativa Prime</a:t>
            </a:r>
          </a:p>
          <a:p>
            <a:r>
              <a:t>Mapa conjunto de distribuciones con factores compartidos.</a:t>
            </a:r>
          </a:p>
          <a:p>
            <a:r>
              <a:t>Rango predictivo ≠ moléculas; revisar λS, λA, límites y residuos.</a:t>
            </a:r>
          </a:p>
          <a:p>
            <a:endParaRPr/>
          </a:p>
          <a:p>
            <a:r>
              <a:t>[local-source: StudioWindows.Library.cs]</a:t>
            </a:r>
          </a:p>
          <a:p>
            <a:endParaRPr/>
          </a:p>
          <a:p>
            <a:r>
              <a:t>train-mf-historical — TRAIn-MF (protocolo revisado)</a:t>
            </a:r>
          </a:p>
          <a:p>
            <a:r>
              <a:t>Ruta nativa Prime</a:t>
            </a:r>
          </a:p>
          <a:p>
            <a:r>
              <a:t>Modelo conjunto con atenuaciones con signo; reproducción legacy explícita.</a:t>
            </a:r>
          </a:p>
          <a:p>
            <a:r>
              <a:t>La etiqueta del identificador histórico no describe la ruta revisada. No equivaler a TRAIn por bin.</a:t>
            </a:r>
          </a:p>
          <a:p>
            <a:endParaRPr/>
          </a:p>
          <a:p>
            <a:r>
              <a:t>[local-source: StudioWindows.Library.cs]</a:t>
            </a:r>
          </a:p>
          <a:p>
            <a:endParaRPr/>
          </a:p>
          <a:p>
            <a:r>
              <a:t>train-per-bin — TRAIn por bin / per bin</a:t>
            </a:r>
          </a:p>
          <a:p>
            <a:r>
              <a:t>Ruta nativa Prime</a:t>
            </a:r>
          </a:p>
          <a:p>
            <a:r>
              <a:t>Mismo ajuste local en todas las frecuencias de una región.</a:t>
            </a:r>
          </a:p>
          <a:p>
            <a:r>
              <a:t>No impone correlaciones ni factores compartidos entre frecuencias.</a:t>
            </a:r>
          </a:p>
          <a:p>
            <a:endParaRPr/>
          </a:p>
          <a:p>
            <a:r>
              <a:t>[local-source: StudioWindows.Library.cs]</a:t>
            </a:r>
          </a:p>
          <a:p>
            <a:endParaRPr/>
          </a:p>
          <a:p>
            <a:r>
              <a:t>rai-s — RAI-S</a:t>
            </a:r>
          </a:p>
          <a:p>
            <a:r>
              <a:t>Ruta nativa Prime</a:t>
            </a:r>
          </a:p>
          <a:p>
            <a:r>
              <a:t>Pocos D discretos con selección de soporte en el espectro.</a:t>
            </a:r>
          </a:p>
          <a:p>
            <a:r>
              <a:t>No es RAI-Net ni una red entrenada; distribución ancha puede violar el modelo discreto.</a:t>
            </a:r>
          </a:p>
          <a:p>
            <a:endParaRPr/>
          </a:p>
          <a:p>
            <a:r>
              <a:t>[local-source: StudioWindows.Library.cs]</a:t>
            </a:r>
          </a:p>
          <a:p>
            <a:endParaRPr/>
          </a:p>
          <a:p>
            <a:r>
              <a:t>dome-s — DOME-S</a:t>
            </a:r>
          </a:p>
          <a:p>
            <a:r>
              <a:t>Ruta nativa Prime</a:t>
            </a:r>
          </a:p>
          <a:p>
            <a:r>
              <a:t>Tasas discretas compartidas con revisión de cobertura y soporte.</a:t>
            </a:r>
          </a:p>
          <a:p>
            <a:r>
              <a:t>Comprobar límites, predicción reservada y número de componentes.</a:t>
            </a:r>
          </a:p>
          <a:p>
            <a:endParaRPr/>
          </a:p>
          <a:p>
            <a:r>
              <a:t>[local-source: StudioWindows.Library.cs]</a:t>
            </a:r>
          </a:p>
          <a:p>
            <a:endParaRPr/>
          </a:p>
          <a:p>
            <a:r>
              <a:t>Fuentes:</a:t>
            </a:r>
          </a:p>
          <a:p>
            <a:r>
              <a:t>Audited bilingual catalogue of local inversion methods and context families</a:t>
            </a:r>
          </a:p>
          <a:p>
            <a:endParaRPr/>
          </a:p>
          <a:p>
            <a:r>
              <a:t>[local-source: ilt_algorithm_catalog_bilingual.json]</a:t>
            </a:r>
          </a:p>
          <a:p>
            <a:r>
              <a:t>MF-NNLS256</a:t>
            </a:r>
          </a:p>
          <a:p>
            <a:endParaRPr/>
          </a:p>
          <a:p>
            <a:r>
              <a:t>[local-source: StudioWindows.Library.cs]</a:t>
            </a:r>
          </a:p>
          <a:p>
            <a:r>
              <a:t>TRAIn-MF (protocolo revisado)</a:t>
            </a:r>
          </a:p>
          <a:p>
            <a:endParaRPr/>
          </a:p>
          <a:p>
            <a:r>
              <a:t>[local-source: StudioWindows.Library.cs]</a:t>
            </a:r>
          </a:p>
          <a:p>
            <a:r>
              <a:t>TRAIn por bin / per bin</a:t>
            </a:r>
          </a:p>
          <a:p>
            <a:endParaRPr/>
          </a:p>
          <a:p>
            <a:r>
              <a:t>[local-source: StudioWindows.Library.cs]</a:t>
            </a:r>
          </a:p>
          <a:p>
            <a:r>
              <a:t>RAI-S</a:t>
            </a:r>
          </a:p>
          <a:p>
            <a:endParaRPr/>
          </a:p>
          <a:p>
            <a:r>
              <a:t>[local-source: StudioWindows.Library.cs]</a:t>
            </a:r>
          </a:p>
          <a:p>
            <a:r>
              <a:t>DOME-S</a:t>
            </a:r>
          </a:p>
          <a:p>
            <a:endParaRPr/>
          </a:p>
          <a:p>
            <a:r>
              <a:t>[local-source: StudioWindows.Library.cs]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SILT revisado / revised [silt-dosy]</a:t>
            </a:r>
          </a:p>
          <a:p>
            <a:r>
              <a:t>Uso: Mapa conjunto con penalizaciones escasas y de bajo rango.</a:t>
            </a:r>
          </a:p>
          <a:p>
            <a:r>
              <a:t>Límites: Reponderado no convexo; parada operacional ≠ óptimo global.</a:t>
            </a:r>
          </a:p>
          <a:p>
            <a:r>
              <a:t>Disponibilidad: Ruta nativa Prime</a:t>
            </a:r>
          </a:p>
          <a:p>
            <a:r>
              <a:t>Fuente: [local-source: StudioWindows.Library.cs]</a:t>
            </a:r>
          </a:p>
          <a:p>
            <a:endParaRPr/>
          </a:p>
          <a:p>
            <a:r>
              <a:t>SILT original / ADSpLRU [silt-original]</a:t>
            </a:r>
          </a:p>
          <a:p>
            <a:r>
              <a:t>Uso: Reproducir el núcleo original aportado con diagnósticos.</a:t>
            </a:r>
          </a:p>
          <a:p>
            <a:r>
              <a:t>Límites: Parada histórica ≠ certificado KKT; versión separada de SILT revisado.</a:t>
            </a:r>
          </a:p>
          <a:p>
            <a:r>
              <a:t>Disponibilidad: Ruta nativa Prime</a:t>
            </a:r>
          </a:p>
          <a:p>
            <a:r>
              <a:t>Fuente: [local-source: StudioWindows.Library.cs]</a:t>
            </a:r>
          </a:p>
          <a:p>
            <a:endParaRPr/>
          </a:p>
          <a:p>
            <a:r>
              <a:t>TRAIn2D (adaptación C#) [train2d_prime]</a:t>
            </a:r>
          </a:p>
          <a:p>
            <a:r>
              <a:t>Uso: Inversión separable D–T₂ u otros dos operadores.</a:t>
            </a:r>
          </a:p>
          <a:p>
            <a:r>
              <a:t>Límites: No usa λ; termFac y residuo NNLS. Kernel/perfil físico deben estar revisados.</a:t>
            </a:r>
          </a:p>
          <a:p>
            <a:r>
              <a:t>Disponibilidad: Ruta nativa Prime</a:t>
            </a:r>
          </a:p>
          <a:p>
            <a:r>
              <a:t>Fuente: [local-source: UfNotebookWindow.cs]</a:t>
            </a:r>
          </a:p>
          <a:p>
            <a:endParaRPr/>
          </a:p>
          <a:p>
            <a:r>
              <a:t>FISTA 2D (variante C# inspirada en ITAMeD) [fista2d_prime]</a:t>
            </a:r>
          </a:p>
          <a:p>
            <a:r>
              <a:t>Uso: Inversión 2D positiva L1 mediante operador separable.</a:t>
            </a:r>
          </a:p>
          <a:p>
            <a:r>
              <a:t>Límites: No es copia literal de ITAMeD; KKT no valida el modelo físico.</a:t>
            </a:r>
          </a:p>
          <a:p>
            <a:r>
              <a:t>Disponibilidad: Ruta nativa Prime</a:t>
            </a:r>
          </a:p>
          <a:p>
            <a:r>
              <a:t>Fuente: [local-source: UfNotebookWindow.cs]</a:t>
            </a:r>
          </a:p>
          <a:p>
            <a:endParaRPr/>
          </a:p>
          <a:p>
            <a:r>
              <a:t>Fuentes: [ilt_catalog] Audited bilingual catalogue of local inversion methods and context families: [local-source: ilt_algorithm_catalog_bilingual.json]</a:t>
            </a:r>
          </a:p>
          <a:p>
            <a:r>
              <a:t>[catalog_silt-dosy] SILT revisado / revised: [local-source: StudioWindows.Library.cs]</a:t>
            </a:r>
          </a:p>
          <a:p>
            <a:r>
              <a:t>[catalog_silt-original] SILT original / ADSpLRU: [local-source: StudioWindows.Library.cs]</a:t>
            </a:r>
          </a:p>
          <a:p>
            <a:r>
              <a:t>[catalog_train2d_prime] TRAIn2D (adaptación C#): [local-source: UfNotebookWindow.cs]</a:t>
            </a:r>
          </a:p>
          <a:p>
            <a:r>
              <a:t>[catalog_fista2d_prime] FISTA 2D (variante C# inspirada en ITAMeD): [local-source: UfNotebookWindow.cs]</a:t>
            </a:r>
          </a:p>
          <a:p>
            <a:endParaRPr/>
          </a:p>
          <a:p>
            <a:r>
              <a:t>silt-dosy — SILT revisado / revised</a:t>
            </a:r>
          </a:p>
          <a:p>
            <a:r>
              <a:t>Ruta nativa Prime</a:t>
            </a:r>
          </a:p>
          <a:p>
            <a:r>
              <a:t>Mapa conjunto con penalizaciones escasas y de bajo rango.</a:t>
            </a:r>
          </a:p>
          <a:p>
            <a:r>
              <a:t>Reponderado no convexo; parada operacional ≠ óptimo global.</a:t>
            </a:r>
          </a:p>
          <a:p>
            <a:endParaRPr/>
          </a:p>
          <a:p>
            <a:r>
              <a:t>[local-source: StudioWindows.Library.cs]</a:t>
            </a:r>
          </a:p>
          <a:p>
            <a:endParaRPr/>
          </a:p>
          <a:p>
            <a:r>
              <a:t>silt-original — SILT original / ADSpLRU</a:t>
            </a:r>
          </a:p>
          <a:p>
            <a:r>
              <a:t>Ruta nativa Prime</a:t>
            </a:r>
          </a:p>
          <a:p>
            <a:r>
              <a:t>Reproducir el núcleo original aportado con diagnósticos.</a:t>
            </a:r>
          </a:p>
          <a:p>
            <a:r>
              <a:t>Parada histórica ≠ certificado KKT; versión separada de SILT revisado.</a:t>
            </a:r>
          </a:p>
          <a:p>
            <a:endParaRPr/>
          </a:p>
          <a:p>
            <a:r>
              <a:t>[local-source: StudioWindows.Library.cs]</a:t>
            </a:r>
          </a:p>
          <a:p>
            <a:endParaRPr/>
          </a:p>
          <a:p>
            <a:r>
              <a:t>train2d_prime — TRAIn2D (adaptación C#)</a:t>
            </a:r>
          </a:p>
          <a:p>
            <a:r>
              <a:t>Ruta nativa Prime</a:t>
            </a:r>
          </a:p>
          <a:p>
            <a:r>
              <a:t>Inversión separable D–T₂ u otros dos operadores.</a:t>
            </a:r>
          </a:p>
          <a:p>
            <a:r>
              <a:t>No usa λ; termFac y residuo NNLS. Kernel/perfil físico deben estar revisados.</a:t>
            </a:r>
          </a:p>
          <a:p>
            <a:endParaRPr/>
          </a:p>
          <a:p>
            <a:r>
              <a:t>[local-source: UfNotebookWindow.cs]</a:t>
            </a:r>
          </a:p>
          <a:p>
            <a:endParaRPr/>
          </a:p>
          <a:p>
            <a:r>
              <a:t>fista2d_prime — FISTA 2D (variante C# inspirada en ITAMeD)</a:t>
            </a:r>
          </a:p>
          <a:p>
            <a:r>
              <a:t>Ruta nativa Prime</a:t>
            </a:r>
          </a:p>
          <a:p>
            <a:r>
              <a:t>Inversión 2D positiva L1 mediante operador separable.</a:t>
            </a:r>
          </a:p>
          <a:p>
            <a:r>
              <a:t>No es copia literal de ITAMeD; KKT no valida el modelo físico.</a:t>
            </a:r>
          </a:p>
          <a:p>
            <a:endParaRPr/>
          </a:p>
          <a:p>
            <a:r>
              <a:t>[local-source: UfNotebookWindow.cs]</a:t>
            </a:r>
          </a:p>
          <a:p>
            <a:endParaRPr/>
          </a:p>
          <a:p>
            <a:r>
              <a:t>Fuentes:</a:t>
            </a:r>
          </a:p>
          <a:p>
            <a:r>
              <a:t>Audited bilingual catalogue of local inversion methods and context families</a:t>
            </a:r>
          </a:p>
          <a:p>
            <a:endParaRPr/>
          </a:p>
          <a:p>
            <a:r>
              <a:t>[local-source: ilt_algorithm_catalog_bilingual.json]</a:t>
            </a:r>
          </a:p>
          <a:p>
            <a:r>
              <a:t>SILT revisado / revised</a:t>
            </a:r>
          </a:p>
          <a:p>
            <a:endParaRPr/>
          </a:p>
          <a:p>
            <a:r>
              <a:t>[local-source: StudioWindows.Library.cs]</a:t>
            </a:r>
          </a:p>
          <a:p>
            <a:r>
              <a:t>SILT original / ADSpLRU</a:t>
            </a:r>
          </a:p>
          <a:p>
            <a:endParaRPr/>
          </a:p>
          <a:p>
            <a:r>
              <a:t>[local-source: StudioWindows.Library.cs]</a:t>
            </a:r>
          </a:p>
          <a:p>
            <a:r>
              <a:t>TRAIn2D (adaptación C#)</a:t>
            </a:r>
          </a:p>
          <a:p>
            <a:endParaRPr/>
          </a:p>
          <a:p>
            <a:r>
              <a:t>[local-source: UfNotebookWindow.cs]</a:t>
            </a:r>
          </a:p>
          <a:p>
            <a:r>
              <a:t>FISTA 2D (variante C# inspirada en ITAMeD)</a:t>
            </a:r>
          </a:p>
          <a:p>
            <a:endParaRPr/>
          </a:p>
          <a:p>
            <a:r>
              <a:t>[local-source: UfNotebookWindow.cs]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Positive variable projection [vp]</a:t>
            </a:r>
          </a:p>
          <a:p>
            <a:r>
              <a:t>Uso: Ajustar un número fijado de componentes exponenciales sin malla D.</a:t>
            </a:r>
          </a:p>
          <a:p>
            <a:r>
              <a:t>Límites: Rango fijado por el usuario, mínimos locales; motores distintos entre lenguajes. Ninguna garantía universal de identificación.</a:t>
            </a:r>
          </a:p>
          <a:p>
            <a:r>
              <a:t>Disponibilidad: API especializada; no en selector ILT de Prime</a:t>
            </a:r>
          </a:p>
          <a:p>
            <a:r>
              <a:t>Objetivo: `min over log(D): 0.5 ‖A(D) C*(D)-Y‖F², C*(D)&gt;=0`.</a:t>
            </a:r>
          </a:p>
          <a:p>
            <a:r>
              <a:t>Fuente: [local-source: METHOD_REFERENCE.es.md#vp]</a:t>
            </a:r>
          </a:p>
          <a:p>
            <a:endParaRPr/>
          </a:p>
          <a:p>
            <a:r>
              <a:t>SCORE [score]</a:t>
            </a:r>
          </a:p>
          <a:p>
            <a:r>
              <a:t>Uso: Separar espectros de componentes compartiendo D en el conjunto de frecuencias.</a:t>
            </a:r>
          </a:p>
          <a:p>
            <a:r>
              <a:t>Límites: El valor por defecto genérico de VP es positivo: declare false si desea amplitudes con signo de SCORE.</a:t>
            </a:r>
          </a:p>
          <a:p>
            <a:r>
              <a:t>Disponibilidad: API especializada; no en selector ILT de Prime</a:t>
            </a:r>
          </a:p>
          <a:p>
            <a:r>
              <a:t>Objetivo: `Variable projection with signed linear amplitudes when Positive=false`.</a:t>
            </a:r>
          </a:p>
          <a:p>
            <a:r>
              <a:t>Fuente: [local-source: METHOD_REFERENCE.es.md#score]</a:t>
            </a:r>
          </a:p>
          <a:p>
            <a:endParaRPr/>
          </a:p>
          <a:p>
            <a:r>
              <a:t>OUTSCORE [outscore]</a:t>
            </a:r>
          </a:p>
          <a:p>
            <a:r>
              <a:t>Uso: Desmezcla que penaliza solapamiento entre espectros de componentes.</a:t>
            </a:r>
          </a:p>
          <a:p>
            <a:r>
              <a:t>Límites: Menor solapamiento algebraico no garantiza componentes físicas. No es un objetivo de mínimo residuo.</a:t>
            </a:r>
          </a:p>
          <a:p>
            <a:r>
              <a:t>Disponibilidad: API especializada; no en selector ILT de Prime</a:t>
            </a:r>
          </a:p>
          <a:p>
            <a:r>
              <a:t>Objetivo: `GNAT constant + pairwise overlap of absolute area-normalized spectra`.</a:t>
            </a:r>
          </a:p>
          <a:p>
            <a:r>
              <a:t>Fuente: [local-source: METHOD_REFERENCE.es.md#outscore]</a:t>
            </a:r>
          </a:p>
          <a:p>
            <a:endParaRPr/>
          </a:p>
          <a:p>
            <a:r>
              <a:t>HYSCORE [hyscore]</a:t>
            </a:r>
          </a:p>
          <a:p>
            <a:r>
              <a:t>Uso: Equilibrar reconstrucción y separación espectral en un modelo discreto.</a:t>
            </a:r>
          </a:p>
          <a:p>
            <a:r>
              <a:t>Límites: Los términos tienen escalas distintas. Mantener peso, normalización y ruido explícitos.</a:t>
            </a:r>
          </a:p>
          <a:p>
            <a:r>
              <a:t>Disponibilidad: API especializada; no en selector ILT de Prime</a:t>
            </a:r>
          </a:p>
          <a:p>
            <a:r>
              <a:t>Objetivo: `hybrid_weight * RSS + (1-hybrid_weight) * OUTSCORE`.</a:t>
            </a:r>
          </a:p>
          <a:p>
            <a:r>
              <a:t>Fuente: [local-source: METHOD_REFERENCE.es.md#hyscore]</a:t>
            </a:r>
          </a:p>
          <a:p>
            <a:endParaRPr/>
          </a:p>
          <a:p>
            <a:r>
              <a:t>AIC/BIC selection over VP [discrete_selection]</a:t>
            </a:r>
          </a:p>
          <a:p>
            <a:r>
              <a:t>Uso: Elegir orden entre modelos de proyección variable con AIC/BIC.</a:t>
            </a:r>
          </a:p>
          <a:p>
            <a:r>
              <a:t>Límites: No incluye K=0. No es DISCRETE ni SPLMOD original; el ruido debe estar especificado.</a:t>
            </a:r>
          </a:p>
          <a:p>
            <a:r>
              <a:t>Disponibilidad: API especializada; no en selector ILT de Prime</a:t>
            </a:r>
          </a:p>
          <a:p>
            <a:r>
              <a:t>Objetivo: `Known-noise RSS plus AIC/BIC/AICc model penalty over K&gt;=1`.</a:t>
            </a:r>
          </a:p>
          <a:p>
            <a:r>
              <a:t>Fuente: [local-source: METHOD_REFERENCE.es.md#discrete_selection]</a:t>
            </a:r>
          </a:p>
          <a:p>
            <a:endParaRPr/>
          </a:p>
          <a:p>
            <a:r>
              <a:t>Fuentes: [ilt_catalog] Audited bilingual catalogue of local inversion methods and context families: [local-source: ilt_algorithm_catalog_bilingual.json]</a:t>
            </a:r>
          </a:p>
          <a:p>
            <a:r>
              <a:t>[catalog_vp] Positive variable projection: [local-source: METHOD_REFERENCE.es.md#vp]</a:t>
            </a:r>
          </a:p>
          <a:p>
            <a:r>
              <a:t>[catalog_score] SCORE: [local-source: METHOD_REFERENCE.es.md#score]</a:t>
            </a:r>
          </a:p>
          <a:p>
            <a:r>
              <a:t>[catalog_outscore] OUTSCORE: [local-source: METHOD_REFERENCE.es.md#outscore]</a:t>
            </a:r>
          </a:p>
          <a:p>
            <a:r>
              <a:t>[catalog_hyscore] HYSCORE: [local-source: METHOD_REFERENCE.es.md#hyscore]</a:t>
            </a:r>
          </a:p>
          <a:p>
            <a:r>
              <a:t>[catalog_discrete_selection] AIC/BIC selection over VP: [local-source: METHOD_REFERENCE.es.md#discrete_selection]</a:t>
            </a:r>
          </a:p>
          <a:p>
            <a:endParaRPr/>
          </a:p>
          <a:p>
            <a:r>
              <a:t>vp — Positive variable projection</a:t>
            </a:r>
          </a:p>
          <a:p>
            <a:r>
              <a:t>API especializada; no en selector ILT de Prime</a:t>
            </a:r>
          </a:p>
          <a:p>
            <a:r>
              <a:t>Ajustar un número fijado de componentes exponenciales sin malla D.</a:t>
            </a:r>
          </a:p>
          <a:p>
            <a:r>
              <a:t>Rango fijado por el usuario, mínimos locales; motores distintos entre lenguajes. Ninguna garantía universal de identificación.</a:t>
            </a:r>
          </a:p>
          <a:p>
            <a:r>
              <a:t>`min over log(D): 0.5 ‖A(D) C*(D)-Y‖F², C*(D)&gt;=0`.</a:t>
            </a:r>
          </a:p>
          <a:p>
            <a:r>
              <a:t>[local-source: METHOD_REFERENCE.es.md#vp]</a:t>
            </a:r>
          </a:p>
          <a:p>
            <a:endParaRPr/>
          </a:p>
          <a:p>
            <a:r>
              <a:t>score — SCORE</a:t>
            </a:r>
          </a:p>
          <a:p>
            <a:r>
              <a:t>API especializada; no en selector ILT de Prime</a:t>
            </a:r>
          </a:p>
          <a:p>
            <a:r>
              <a:t>Separar espectros de componentes compartiendo D en el conjunto de frecuencias.</a:t>
            </a:r>
          </a:p>
          <a:p>
            <a:r>
              <a:t>El valor por defecto genérico de VP es positivo: declare false si desea amplitudes con signo de SCORE.</a:t>
            </a:r>
          </a:p>
          <a:p>
            <a:r>
              <a:t>`Variable projection with signed linear amplitudes when Positive=false`.</a:t>
            </a:r>
          </a:p>
          <a:p>
            <a:r>
              <a:t>[local-source: METHOD_REFERENCE.es.md#score]</a:t>
            </a:r>
          </a:p>
          <a:p>
            <a:endParaRPr/>
          </a:p>
          <a:p>
            <a:r>
              <a:t>outscore — OUTSCORE</a:t>
            </a:r>
          </a:p>
          <a:p>
            <a:r>
              <a:t>API especializada; no en selector ILT de Prime</a:t>
            </a:r>
          </a:p>
          <a:p>
            <a:r>
              <a:t>Desmezcla que penaliza solapamiento entre espectros de componentes.</a:t>
            </a:r>
          </a:p>
          <a:p>
            <a:r>
              <a:t>Menor solapamiento algebraico no garantiza componentes físicas. No es un objetivo de mínimo residuo.</a:t>
            </a:r>
          </a:p>
          <a:p>
            <a:r>
              <a:t>`GNAT constant + pairwise overlap of absolute area-normalized spectra`.</a:t>
            </a:r>
          </a:p>
          <a:p>
            <a:r>
              <a:t>[local-source: METHOD_REFERENCE.es.md#outscore]</a:t>
            </a:r>
          </a:p>
          <a:p>
            <a:endParaRPr/>
          </a:p>
          <a:p>
            <a:r>
              <a:t>hyscore — HYSCORE</a:t>
            </a:r>
          </a:p>
          <a:p>
            <a:r>
              <a:t>API especializada; no en selector ILT de Prime</a:t>
            </a:r>
          </a:p>
          <a:p>
            <a:r>
              <a:t>Equilibrar reconstrucción y separación espectral en un modelo discreto.</a:t>
            </a:r>
          </a:p>
          <a:p>
            <a:r>
              <a:t>Los términos tienen escalas distintas. Mantener peso, normalización y ruido explícitos.</a:t>
            </a:r>
          </a:p>
          <a:p>
            <a:r>
              <a:t>`hybrid_weight * RSS + (1-hybrid_weight) * OUTSCORE`.</a:t>
            </a:r>
          </a:p>
          <a:p>
            <a:r>
              <a:t>[local-source: METHOD_REFERENCE.es.md#hyscore]</a:t>
            </a:r>
          </a:p>
          <a:p>
            <a:endParaRPr/>
          </a:p>
          <a:p>
            <a:r>
              <a:t>discrete_selection — AIC/BIC selection over VP</a:t>
            </a:r>
          </a:p>
          <a:p>
            <a:r>
              <a:t>API especializada; no en selector ILT de Prime</a:t>
            </a:r>
          </a:p>
          <a:p>
            <a:r>
              <a:t>Elegir orden entre modelos de proyección variable con AIC/BIC.</a:t>
            </a:r>
          </a:p>
          <a:p>
            <a:r>
              <a:t>No incluye K=0. No es DISCRETE ni SPLMOD original; el ruido debe estar especificado.</a:t>
            </a:r>
          </a:p>
          <a:p>
            <a:r>
              <a:t>`Known-noise RSS plus AIC/BIC/AICc model penalty over K&gt;=1`.</a:t>
            </a:r>
          </a:p>
          <a:p>
            <a:r>
              <a:t>[local-source: METHOD_REFERENCE.es.md#discrete_selection]</a:t>
            </a:r>
          </a:p>
          <a:p>
            <a:endParaRPr/>
          </a:p>
          <a:p>
            <a:r>
              <a:t>Fuentes:</a:t>
            </a:r>
          </a:p>
          <a:p>
            <a:r>
              <a:t>Audited bilingual catalogue of local inversion methods and context families</a:t>
            </a:r>
          </a:p>
          <a:p>
            <a:endParaRPr/>
          </a:p>
          <a:p>
            <a:r>
              <a:t>[local-source: ilt_algorithm_catalog_bilingual.json]</a:t>
            </a:r>
          </a:p>
          <a:p>
            <a:r>
              <a:t>Positive variable projection</a:t>
            </a:r>
          </a:p>
          <a:p>
            <a:endParaRPr/>
          </a:p>
          <a:p>
            <a:r>
              <a:t>[local-source: METHOD_REFERENCE.es.md#vp]</a:t>
            </a:r>
          </a:p>
          <a:p>
            <a:r>
              <a:t>SCORE</a:t>
            </a:r>
          </a:p>
          <a:p>
            <a:endParaRPr/>
          </a:p>
          <a:p>
            <a:r>
              <a:t>[local-source: METHOD_REFERENCE.es.md#score]</a:t>
            </a:r>
          </a:p>
          <a:p>
            <a:r>
              <a:t>OUTSCORE</a:t>
            </a:r>
          </a:p>
          <a:p>
            <a:endParaRPr/>
          </a:p>
          <a:p>
            <a:r>
              <a:t>[local-source: METHOD_REFERENCE.es.md#outscore]</a:t>
            </a:r>
          </a:p>
          <a:p>
            <a:r>
              <a:t>HYSCORE</a:t>
            </a:r>
          </a:p>
          <a:p>
            <a:endParaRPr/>
          </a:p>
          <a:p>
            <a:r>
              <a:t>[local-source: METHOD_REFERENCE.es.md#hyscore]</a:t>
            </a:r>
          </a:p>
          <a:p>
            <a:r>
              <a:t>AIC/BIC selection over VP</a:t>
            </a:r>
          </a:p>
          <a:p>
            <a:endParaRPr/>
          </a:p>
          <a:p>
            <a:r>
              <a:t>[local-source: METHOD_REFERENCE.es.md#discrete_selection]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DECRA [decra]</a:t>
            </a:r>
          </a:p>
          <a:p>
            <a:r>
              <a:t>Uso: Descomposición algebraica de componentes exponenciales con b uniforme.</a:t>
            </a:r>
          </a:p>
          <a:p>
            <a:r>
              <a:t>Límites: Requiere rango suficiente y pasos b uniformes. Autovalores no físicos producen fallo, no picos recortados.</a:t>
            </a:r>
          </a:p>
          <a:p>
            <a:r>
              <a:t>Disponibilidad: API especializada; no en selector ILT de Prime</a:t>
            </a:r>
          </a:p>
          <a:p>
            <a:r>
              <a:t>Objetivo: `SVD and eigenvalues of shifted equally spaced attenuation blocks`.</a:t>
            </a:r>
          </a:p>
          <a:p>
            <a:r>
              <a:t>Fuente: [local-source: METHOD_REFERENCE.es.md#decra]</a:t>
            </a:r>
          </a:p>
          <a:p>
            <a:endParaRPr/>
          </a:p>
          <a:p>
            <a:r>
              <a:t>Explicit-region local SCORE [local_score]</a:t>
            </a:r>
          </a:p>
          <a:p>
            <a:r>
              <a:t>Uso: Aplicar SCORE a regiones ppm elegidas explícitamente.</a:t>
            </a:r>
          </a:p>
          <a:p>
            <a:r>
              <a:t>Límites: Use regiones disjuntas para uso portable: MATLAB no comprueba el solapamiento entre regiones. No segmenta automáticamente.</a:t>
            </a:r>
          </a:p>
          <a:p>
            <a:r>
              <a:t>Disponibilidad: API especializada; no en selector ILT de Prime</a:t>
            </a:r>
          </a:p>
          <a:p>
            <a:r>
              <a:t>Objetivo: `SCORE independently on explicit column-index regions`.</a:t>
            </a:r>
          </a:p>
          <a:p>
            <a:r>
              <a:t>Fuente: [local-source: METHOD_REFERENCE.es.md#local_score]</a:t>
            </a:r>
          </a:p>
          <a:p>
            <a:endParaRPr/>
          </a:p>
          <a:p>
            <a:r>
              <a:t>Automatic LOCODOSY local inversion [locodosy_auto]</a:t>
            </a:r>
          </a:p>
          <a:p>
            <a:r>
              <a:t>Uso: Segmentar regiones, estimar orden local y reducir componentes.</a:t>
            </a:r>
          </a:p>
          <a:p>
            <a:r>
              <a:t>Límites: SVD usa suma de valores singulares, no energía cuadrática. Intervalos de error/display no son incertidumbre calibrada.</a:t>
            </a:r>
          </a:p>
          <a:p>
            <a:r>
              <a:t>Disponibilidad: API especializada; no en selector ILT de Prime</a:t>
            </a:r>
          </a:p>
          <a:p>
            <a:r>
              <a:t>Objetivo: `Threshold segmentation, SVD order, local SCORE/OUTSCORE/DECRA, component reduction`.</a:t>
            </a:r>
          </a:p>
          <a:p>
            <a:r>
              <a:t>Fuente: [local-source: METHOD_REFERENCE.es.md#locodosy_auto]</a:t>
            </a:r>
          </a:p>
          <a:p>
            <a:endParaRPr/>
          </a:p>
          <a:p>
            <a:r>
              <a:t>ESPIRA-II AAA-selected Loewner pencil [espira2]</a:t>
            </a:r>
          </a:p>
          <a:p>
            <a:r>
              <a:t>Uso: Identificar sumas de exponenciales mediante polos y rango fijo.</a:t>
            </a:r>
          </a:p>
          <a:p>
            <a:r>
              <a:t>Límites: Muestreo uniforme. Polos no físicos se conservan con máscara, no se recortan a picos de difusión; no incluye ESPIRA-I ni block-AAA general.</a:t>
            </a:r>
          </a:p>
          <a:p>
            <a:r>
              <a:t>Disponibilidad: API especializada; no en selector ILT de Prime</a:t>
            </a:r>
          </a:p>
          <a:p>
            <a:r>
              <a:t>Objetivo: `AAA-selected Loewner pencil + complex exponential amplitude fit`.</a:t>
            </a:r>
          </a:p>
          <a:p>
            <a:r>
              <a:t>Fuente: [local-source: METHOD_REFERENCE.es.md#espira2]</a:t>
            </a:r>
          </a:p>
          <a:p>
            <a:endParaRPr/>
          </a:p>
          <a:p>
            <a:r>
              <a:t>Fuentes: [ilt_catalog] Audited bilingual catalogue of local inversion methods and context families: [local-source: ilt_algorithm_catalog_bilingual.json]</a:t>
            </a:r>
          </a:p>
          <a:p>
            <a:r>
              <a:t>[catalog_decra] DECRA: [local-source: METHOD_REFERENCE.es.md#decra]</a:t>
            </a:r>
          </a:p>
          <a:p>
            <a:r>
              <a:t>[catalog_local_score] Explicit-region local SCORE: [local-source: METHOD_REFERENCE.es.md#local_score]</a:t>
            </a:r>
          </a:p>
          <a:p>
            <a:r>
              <a:t>[catalog_locodosy_auto] Automatic LOCODOSY local inversion: [local-source: METHOD_REFERENCE.es.md#locodosy_auto]</a:t>
            </a:r>
          </a:p>
          <a:p>
            <a:r>
              <a:t>[catalog_espira2] ESPIRA-II AAA-selected Loewner pencil: [local-source: METHOD_REFERENCE.es.md#espira2]</a:t>
            </a:r>
          </a:p>
          <a:p>
            <a:endParaRPr/>
          </a:p>
          <a:p>
            <a:r>
              <a:t>decra — DECRA</a:t>
            </a:r>
          </a:p>
          <a:p>
            <a:r>
              <a:t>API especializada; no en selector ILT de Prime</a:t>
            </a:r>
          </a:p>
          <a:p>
            <a:r>
              <a:t>Descomposición algebraica de componentes exponenciales con b uniforme.</a:t>
            </a:r>
          </a:p>
          <a:p>
            <a:r>
              <a:t>Requiere rango suficiente y pasos b uniformes. Autovalores no físicos producen fallo, no picos recortados.</a:t>
            </a:r>
          </a:p>
          <a:p>
            <a:r>
              <a:t>`SVD and eigenvalues of shifted equally spaced attenuation blocks`.</a:t>
            </a:r>
          </a:p>
          <a:p>
            <a:r>
              <a:t>[local-source: METHOD_REFERENCE.es.md#decra]</a:t>
            </a:r>
          </a:p>
          <a:p>
            <a:endParaRPr/>
          </a:p>
          <a:p>
            <a:r>
              <a:t>local_score — Explicit-region local SCORE</a:t>
            </a:r>
          </a:p>
          <a:p>
            <a:r>
              <a:t>API especializada; no en selector ILT de Prime</a:t>
            </a:r>
          </a:p>
          <a:p>
            <a:r>
              <a:t>Aplicar SCORE a regiones ppm elegidas explícitamente.</a:t>
            </a:r>
          </a:p>
          <a:p>
            <a:r>
              <a:t>Use regiones disjuntas para uso portable: MATLAB no comprueba el solapamiento entre regiones. No segmenta automáticamente.</a:t>
            </a:r>
          </a:p>
          <a:p>
            <a:r>
              <a:t>`SCORE independently on explicit column-index regions`.</a:t>
            </a:r>
          </a:p>
          <a:p>
            <a:r>
              <a:t>[local-source: METHOD_REFERENCE.es.md#local_score]</a:t>
            </a:r>
          </a:p>
          <a:p>
            <a:endParaRPr/>
          </a:p>
          <a:p>
            <a:r>
              <a:t>locodosy_auto — Automatic LOCODOSY local inversion</a:t>
            </a:r>
          </a:p>
          <a:p>
            <a:r>
              <a:t>API especializada; no en selector ILT de Prime</a:t>
            </a:r>
          </a:p>
          <a:p>
            <a:r>
              <a:t>Segmentar regiones, estimar orden local y reducir componentes.</a:t>
            </a:r>
          </a:p>
          <a:p>
            <a:r>
              <a:t>SVD usa suma de valores singulares, no energía cuadrática. Intervalos de error/display no son incertidumbre calibrada.</a:t>
            </a:r>
          </a:p>
          <a:p>
            <a:r>
              <a:t>`Threshold segmentation, SVD order, local SCORE/OUTSCORE/DECRA, component reduction`.</a:t>
            </a:r>
          </a:p>
          <a:p>
            <a:r>
              <a:t>[local-source: METHOD_REFERENCE.es.md#locodosy_auto]</a:t>
            </a:r>
          </a:p>
          <a:p>
            <a:endParaRPr/>
          </a:p>
          <a:p>
            <a:r>
              <a:t>espira2 — ESPIRA-II AAA-selected Loewner pencil</a:t>
            </a:r>
          </a:p>
          <a:p>
            <a:r>
              <a:t>API especializada; no en selector ILT de Prime</a:t>
            </a:r>
          </a:p>
          <a:p>
            <a:r>
              <a:t>Identificar sumas de exponenciales mediante polos y rango fijo.</a:t>
            </a:r>
          </a:p>
          <a:p>
            <a:r>
              <a:t>Muestreo uniforme. Polos no físicos se conservan con máscara, no se recortan a picos de difusión; no incluye ESPIRA-I ni block-AAA general.</a:t>
            </a:r>
          </a:p>
          <a:p>
            <a:r>
              <a:t>`AAA-selected Loewner pencil + complex exponential amplitude fit`.</a:t>
            </a:r>
          </a:p>
          <a:p>
            <a:r>
              <a:t>[local-source: METHOD_REFERENCE.es.md#espira2]</a:t>
            </a:r>
          </a:p>
          <a:p>
            <a:endParaRPr/>
          </a:p>
          <a:p>
            <a:r>
              <a:t>Fuentes:</a:t>
            </a:r>
          </a:p>
          <a:p>
            <a:r>
              <a:t>Audited bilingual catalogue of local inversion methods and context families</a:t>
            </a:r>
          </a:p>
          <a:p>
            <a:endParaRPr/>
          </a:p>
          <a:p>
            <a:r>
              <a:t>[local-source: ilt_algorithm_catalog_bilingual.json]</a:t>
            </a:r>
          </a:p>
          <a:p>
            <a:r>
              <a:t>DECRA</a:t>
            </a:r>
          </a:p>
          <a:p>
            <a:endParaRPr/>
          </a:p>
          <a:p>
            <a:r>
              <a:t>[local-source: METHOD_REFERENCE.es.md#decra]</a:t>
            </a:r>
          </a:p>
          <a:p>
            <a:r>
              <a:t>Explicit-region local SCORE</a:t>
            </a:r>
          </a:p>
          <a:p>
            <a:endParaRPr/>
          </a:p>
          <a:p>
            <a:r>
              <a:t>[local-source: METHOD_REFERENCE.es.md#local_score]</a:t>
            </a:r>
          </a:p>
          <a:p>
            <a:r>
              <a:t>Automatic LOCODOSY local inversion</a:t>
            </a:r>
          </a:p>
          <a:p>
            <a:endParaRPr/>
          </a:p>
          <a:p>
            <a:r>
              <a:t>[local-source: METHOD_REFERENCE.es.md#locodosy_auto]</a:t>
            </a:r>
          </a:p>
          <a:p>
            <a:r>
              <a:t>ESPIRA-II AAA-selected Loewner pencil</a:t>
            </a:r>
          </a:p>
          <a:p>
            <a:endParaRPr/>
          </a:p>
          <a:p>
            <a:r>
              <a:t>[local-source: METHOD_REFERENCE.es.md#espira2]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MCR-ALS [mcr_als]</a:t>
            </a:r>
          </a:p>
          <a:p>
            <a:r>
              <a:t>Uso: Descomposición multivariada con restricciones y posibles perfiles exponenciales.</a:t>
            </a:r>
          </a:p>
          <a:p>
            <a:r>
              <a:t>Límites: Conserva ambigüedad rotacional. Sin ajuste exponencial no se obtienen D automáticamente; requiere ruido isotrópico.</a:t>
            </a:r>
          </a:p>
          <a:p>
            <a:r>
              <a:t>Disponibilidad: API especializada; no en selector ILT de Prime</a:t>
            </a:r>
          </a:p>
          <a:p>
            <a:r>
              <a:t>Objetivo: `Alternating LS/NNLS of decay and spectral factors`.</a:t>
            </a:r>
          </a:p>
          <a:p>
            <a:r>
              <a:t>Fuente: [local-source: METHOD_REFERENCE.es.md#mcr_als]</a:t>
            </a:r>
          </a:p>
          <a:p>
            <a:endParaRPr/>
          </a:p>
          <a:p>
            <a:r>
              <a:t>Symmetric FastICA [fastica]</a:t>
            </a:r>
          </a:p>
          <a:p>
            <a:r>
              <a:t>Uso: Explorar factores estadísticamente independientes; ajustar D después si procede.</a:t>
            </a:r>
          </a:p>
          <a:p>
            <a:r>
              <a:t>Límites: No estima D ni constituye una asignación molecular. La independencia estadística no es especificidad química.</a:t>
            </a:r>
          </a:p>
          <a:p>
            <a:r>
              <a:t>Disponibilidad: API especializada; no en selector ILT de Prime</a:t>
            </a:r>
          </a:p>
          <a:p>
            <a:r>
              <a:t>Objetivo: `Whitening + symmetric tanh fixed-point iteration`.</a:t>
            </a:r>
          </a:p>
          <a:p>
            <a:r>
              <a:t>Fuente: [local-source: METHOD_REFERENCE.es.md#fastica]</a:t>
            </a:r>
          </a:p>
          <a:p>
            <a:endParaRPr/>
          </a:p>
          <a:p>
            <a:r>
              <a:t>Three-way CP-ALS [parafac]</a:t>
            </a:r>
          </a:p>
          <a:p>
            <a:r>
              <a:t>Uso: Datos de tres dimensiones con factores compartidos entre modos.</a:t>
            </a:r>
          </a:p>
          <a:p>
            <a:r>
              <a:t>Límites: Solución local; parada por estabilidad, no certificado de estacionariedad. No es un inversor DOSY por sí solo.</a:t>
            </a:r>
          </a:p>
          <a:p>
            <a:r>
              <a:t>Disponibilidad: API especializada; no en selector ILT de Prime</a:t>
            </a:r>
          </a:p>
          <a:p>
            <a:r>
              <a:t>Objetivo: `Three-way CP least squares by alternating LS/NNLS`.</a:t>
            </a:r>
          </a:p>
          <a:p>
            <a:r>
              <a:t>Fuente: [local-source: METHOD_REFERENCE.es.md#parafac]</a:t>
            </a:r>
          </a:p>
          <a:p>
            <a:endParaRPr/>
          </a:p>
          <a:p>
            <a:r>
              <a:t>GNAT Fourier RRT [rrt]</a:t>
            </a:r>
          </a:p>
          <a:p>
            <a:r>
              <a:t>Uso: Reconstrucción Fourier-Laplace a partir de FID complejo y b uniforme.</a:t>
            </a:r>
          </a:p>
          <a:p>
            <a:r>
              <a:t>Límites: FID se orienta tiempo directo × adquisiciones, al contrario que read_raw. Salida compleja de visualización, no masas.</a:t>
            </a:r>
          </a:p>
          <a:p>
            <a:r>
              <a:t>Disponibilidad: API especializada; no en selector ILT de Prime</a:t>
            </a:r>
          </a:p>
          <a:p>
            <a:r>
              <a:t>Objetivo: `Regularized resolvent of complex Fourier pencils`.</a:t>
            </a:r>
          </a:p>
          <a:p>
            <a:r>
              <a:t>Fuente: [local-source: METHOD_REFERENCE.es.md#rrt]</a:t>
            </a:r>
          </a:p>
          <a:p>
            <a:endParaRPr/>
          </a:p>
          <a:p>
            <a:r>
              <a:t>GNAT Fourier FDM [fdm]</a:t>
            </a:r>
          </a:p>
          <a:p>
            <a:r>
              <a:t>Uso: Resolver polos/frecuencias desde FID mediante diagonalización filtrada.</a:t>
            </a:r>
          </a:p>
          <a:p>
            <a:r>
              <a:t>Límites: La política legacy no pasó concordancia de representación entre lenguajes. Portable cambia convenciones numéricas; no certifica densidades.</a:t>
            </a:r>
          </a:p>
          <a:p>
            <a:r>
              <a:t>Disponibilidad: API especializada; no en selector ILT de Prime</a:t>
            </a:r>
          </a:p>
          <a:p>
            <a:r>
              <a:t>Objetivo: `Generalized-eigen Fourier filter diagonalization`.</a:t>
            </a:r>
          </a:p>
          <a:p>
            <a:r>
              <a:t>Fuente: [local-source: METHOD_REFERENCE.es.md#fdm]</a:t>
            </a:r>
          </a:p>
          <a:p>
            <a:endParaRPr/>
          </a:p>
          <a:p>
            <a:r>
              <a:t>Fuentes: [ilt_catalog] Audited bilingual catalogue of local inversion methods and context families: [local-source: ilt_algorithm_catalog_bilingual.json]</a:t>
            </a:r>
          </a:p>
          <a:p>
            <a:r>
              <a:t>[catalog_mcr_als] MCR-ALS: [local-source: METHOD_REFERENCE.es.md#mcr_als]</a:t>
            </a:r>
          </a:p>
          <a:p>
            <a:r>
              <a:t>[catalog_fastica] Symmetric FastICA: [local-source: METHOD_REFERENCE.es.md#fastica]</a:t>
            </a:r>
          </a:p>
          <a:p>
            <a:r>
              <a:t>[catalog_parafac] Three-way CP-ALS: [local-source: METHOD_REFERENCE.es.md#parafac]</a:t>
            </a:r>
          </a:p>
          <a:p>
            <a:r>
              <a:t>[catalog_rrt] GNAT Fourier RRT: [local-source: METHOD_REFERENCE.es.md#rrt]</a:t>
            </a:r>
          </a:p>
          <a:p>
            <a:r>
              <a:t>[catalog_fdm] GNAT Fourier FDM: [local-source: METHOD_REFERENCE.es.md#fdm]</a:t>
            </a:r>
          </a:p>
          <a:p>
            <a:endParaRPr/>
          </a:p>
          <a:p>
            <a:r>
              <a:t>mcr_als — MCR-ALS</a:t>
            </a:r>
          </a:p>
          <a:p>
            <a:r>
              <a:t>API especializada; no en selector ILT de Prime</a:t>
            </a:r>
          </a:p>
          <a:p>
            <a:r>
              <a:t>Descomposición multivariada con restricciones y posibles perfiles exponenciales.</a:t>
            </a:r>
          </a:p>
          <a:p>
            <a:r>
              <a:t>Conserva ambigüedad rotacional. Sin ajuste exponencial no se obtienen D automáticamente; requiere ruido isotrópico.</a:t>
            </a:r>
          </a:p>
          <a:p>
            <a:r>
              <a:t>`Alternating LS/NNLS of decay and spectral factors`.</a:t>
            </a:r>
          </a:p>
          <a:p>
            <a:r>
              <a:t>[local-source: METHOD_REFERENCE.es.md#mcr_als]</a:t>
            </a:r>
          </a:p>
          <a:p>
            <a:endParaRPr/>
          </a:p>
          <a:p>
            <a:r>
              <a:t>fastica — Symmetric FastICA</a:t>
            </a:r>
          </a:p>
          <a:p>
            <a:r>
              <a:t>API especializada; no en selector ILT de Prime</a:t>
            </a:r>
          </a:p>
          <a:p>
            <a:r>
              <a:t>Explorar factores estadísticamente independientes; ajustar D después si procede.</a:t>
            </a:r>
          </a:p>
          <a:p>
            <a:r>
              <a:t>No estima D ni constituye una asignación molecular. La independencia estadística no es especificidad química.</a:t>
            </a:r>
          </a:p>
          <a:p>
            <a:r>
              <a:t>`Whitening + symmetric tanh fixed-point iteration`.</a:t>
            </a:r>
          </a:p>
          <a:p>
            <a:r>
              <a:t>[local-source: METHOD_REFERENCE.es.md#fastica]</a:t>
            </a:r>
          </a:p>
          <a:p>
            <a:endParaRPr/>
          </a:p>
          <a:p>
            <a:r>
              <a:t>parafac — Three-way CP-ALS</a:t>
            </a:r>
          </a:p>
          <a:p>
            <a:r>
              <a:t>API especializada; no en selector ILT de Prime</a:t>
            </a:r>
          </a:p>
          <a:p>
            <a:r>
              <a:t>Datos de tres dimensiones con factores compartidos entre modos.</a:t>
            </a:r>
          </a:p>
          <a:p>
            <a:r>
              <a:t>Solución local; parada por estabilidad, no certificado de estacionariedad. No es un inversor DOSY por sí solo.</a:t>
            </a:r>
          </a:p>
          <a:p>
            <a:r>
              <a:t>`Three-way CP least squares by alternating LS/NNLS`.</a:t>
            </a:r>
          </a:p>
          <a:p>
            <a:r>
              <a:t>[local-source: METHOD_REFERENCE.es.md#parafac]</a:t>
            </a:r>
          </a:p>
          <a:p>
            <a:endParaRPr/>
          </a:p>
          <a:p>
            <a:r>
              <a:t>rrt — GNAT Fourier RRT</a:t>
            </a:r>
          </a:p>
          <a:p>
            <a:r>
              <a:t>API especializada; no en selector ILT de Prime</a:t>
            </a:r>
          </a:p>
          <a:p>
            <a:r>
              <a:t>Reconstrucción Fourier-Laplace a partir de FID complejo y b uniforme.</a:t>
            </a:r>
          </a:p>
          <a:p>
            <a:r>
              <a:t>FID se orienta tiempo directo × adquisiciones, al contrario que read_raw. Salida compleja de visualización, no masas.</a:t>
            </a:r>
          </a:p>
          <a:p>
            <a:r>
              <a:t>`Regularized resolvent of complex Fourier pencils`.</a:t>
            </a:r>
          </a:p>
          <a:p>
            <a:r>
              <a:t>[local-source: METHOD_REFERENCE.es.md#rrt]</a:t>
            </a:r>
          </a:p>
          <a:p>
            <a:endParaRPr/>
          </a:p>
          <a:p>
            <a:r>
              <a:t>fdm — GNAT Fourier FDM</a:t>
            </a:r>
          </a:p>
          <a:p>
            <a:r>
              <a:t>API especializada; no en selector ILT de Prime</a:t>
            </a:r>
          </a:p>
          <a:p>
            <a:r>
              <a:t>Resolver polos/frecuencias desde FID mediante diagonalización filtrada.</a:t>
            </a:r>
          </a:p>
          <a:p>
            <a:r>
              <a:t>La política legacy no pasó concordancia de representación entre lenguajes. Portable cambia convenciones numéricas; no certifica densidades.</a:t>
            </a:r>
          </a:p>
          <a:p>
            <a:r>
              <a:t>`Generalized-eigen Fourier filter diagonalization`.</a:t>
            </a:r>
          </a:p>
          <a:p>
            <a:r>
              <a:t>[local-source: METHOD_REFERENCE.es.md#fdm]</a:t>
            </a:r>
          </a:p>
          <a:p>
            <a:endParaRPr/>
          </a:p>
          <a:p>
            <a:r>
              <a:t>Fuentes:</a:t>
            </a:r>
          </a:p>
          <a:p>
            <a:r>
              <a:t>Audited bilingual catalogue of local inversion methods and context families</a:t>
            </a:r>
          </a:p>
          <a:p>
            <a:endParaRPr/>
          </a:p>
          <a:p>
            <a:r>
              <a:t>[local-source: ilt_algorithm_catalog_bilingual.json]</a:t>
            </a:r>
          </a:p>
          <a:p>
            <a:r>
              <a:t>MCR-ALS</a:t>
            </a:r>
          </a:p>
          <a:p>
            <a:endParaRPr/>
          </a:p>
          <a:p>
            <a:r>
              <a:t>[local-source: METHOD_REFERENCE.es.md#mcr_als]</a:t>
            </a:r>
          </a:p>
          <a:p>
            <a:r>
              <a:t>Symmetric FastICA</a:t>
            </a:r>
          </a:p>
          <a:p>
            <a:endParaRPr/>
          </a:p>
          <a:p>
            <a:r>
              <a:t>[local-source: METHOD_REFERENCE.es.md#fastica]</a:t>
            </a:r>
          </a:p>
          <a:p>
            <a:r>
              <a:t>Three-way CP-ALS</a:t>
            </a:r>
          </a:p>
          <a:p>
            <a:endParaRPr/>
          </a:p>
          <a:p>
            <a:r>
              <a:t>[local-source: METHOD_REFERENCE.es.md#parafac]</a:t>
            </a:r>
          </a:p>
          <a:p>
            <a:r>
              <a:t>GNAT Fourier RRT</a:t>
            </a:r>
          </a:p>
          <a:p>
            <a:endParaRPr/>
          </a:p>
          <a:p>
            <a:r>
              <a:t>[local-source: METHOD_REFERENCE.es.md#rrt]</a:t>
            </a:r>
          </a:p>
          <a:p>
            <a:r>
              <a:t>GNAT Fourier FDM</a:t>
            </a:r>
          </a:p>
          <a:p>
            <a:endParaRPr/>
          </a:p>
          <a:p>
            <a:r>
              <a:t>[local-source: METHOD_REFERENCE.es.md#fdm]</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Signed L1 interior point [l1_ls]</a:t>
            </a:r>
          </a:p>
          <a:p>
            <a:r>
              <a:t>Uso: Ajustes lineales escasos con signo; no distribución positiva automática.</a:t>
            </a:r>
          </a:p>
          <a:p>
            <a:r>
              <a:t>Límites: Los coeficientes negativos no son masas físicas. No es un motor matricial disperso de gran escala certificado.</a:t>
            </a:r>
          </a:p>
          <a:p>
            <a:r>
              <a:t>Disponibilidad: API especializada; no en selector ILT de Prime</a:t>
            </a:r>
          </a:p>
          <a:p>
            <a:r>
              <a:t>Objetivo: `RSS + alpha ‖C‖1, C signed`.</a:t>
            </a:r>
          </a:p>
          <a:p>
            <a:r>
              <a:t>Fuente: [local-source: METHOD_REFERENCE.es.md#l1_ls]</a:t>
            </a:r>
          </a:p>
          <a:p>
            <a:endParaRPr/>
          </a:p>
          <a:p>
            <a:r>
              <a:t>PLSS residual recursive solver [plss_r]</a:t>
            </a:r>
          </a:p>
          <a:p>
            <a:r>
              <a:t>Uso: Sistemas lineales compatibles; núcleo auxiliar sin regularización.</a:t>
            </a:r>
          </a:p>
          <a:p>
            <a:r>
              <a:t>Límites: Sistema consistente, salida con signo; breakdown preservado. No convierte un problema inverso mal condicionado en identificable.</a:t>
            </a:r>
          </a:p>
          <a:p>
            <a:r>
              <a:t>Disponibilidad: API especializada; no en selector ILT de Prime</a:t>
            </a:r>
          </a:p>
          <a:p>
            <a:r>
              <a:t>Objetivo: `Unregularized recursive residual sketches for A*C=Y`.</a:t>
            </a:r>
          </a:p>
          <a:p>
            <a:r>
              <a:t>Fuente: [local-source: METHOD_REFERENCE.es.md#plss_r]</a:t>
            </a:r>
          </a:p>
          <a:p>
            <a:endParaRPr/>
          </a:p>
          <a:p>
            <a:r>
              <a:t>Fixed-p smoothed IRLS dictionary adapter [irls]</a:t>
            </a:r>
          </a:p>
          <a:p>
            <a:r>
              <a:t>Uso: Explorar soluciones escasas mediante mínimos cuadrados reponderados.</a:t>
            </a:r>
          </a:p>
          <a:p>
            <a:r>
              <a:t>Límites: Salida con signo. Estabilidad no acredita óptimo global; el objective de salida es RSS diagnóstico, no todo el coste regularizado.</a:t>
            </a:r>
          </a:p>
          <a:p>
            <a:r>
              <a:t>Disponibilidad: API especializada; no en selector ILT de Prime</a:t>
            </a:r>
          </a:p>
          <a:p>
            <a:r>
              <a:t>Objetivo: `Fixed-p smoothed iteratively reweighted least squares`.</a:t>
            </a:r>
          </a:p>
          <a:p>
            <a:r>
              <a:t>Fuente: [local-source: METHOD_REFERENCE.es.md#irls]</a:t>
            </a:r>
          </a:p>
          <a:p>
            <a:endParaRPr/>
          </a:p>
          <a:p>
            <a:r>
              <a:t>Weighted PLSS recursive core [plss_rw2]</a:t>
            </a:r>
          </a:p>
          <a:p>
            <a:r>
              <a:t>Uso: Sistema lineal compatible ponderado; núcleo auxiliar.</a:t>
            </a:r>
          </a:p>
          <a:p>
            <a:r>
              <a:t>Límites: Sin regularización ni positividad; sólo sistemas compatibles. No incluye RW1/KZ.</a:t>
            </a:r>
          </a:p>
          <a:p>
            <a:r>
              <a:t>Disponibilidad: API especializada; no en selector ILT de Prime</a:t>
            </a:r>
          </a:p>
          <a:p>
            <a:r>
              <a:t>Objetivo: `Diagonal variable transform + guarded residual PLSS recursion`.</a:t>
            </a:r>
          </a:p>
          <a:p>
            <a:r>
              <a:t>Fuente: [local-source: METHOD_REFERENCE.es.md#plss_rw2]</a:t>
            </a:r>
          </a:p>
          <a:p>
            <a:endParaRPr/>
          </a:p>
          <a:p>
            <a:r>
              <a:t>Three/four-way CP-ALS [parafac_nd]</a:t>
            </a:r>
          </a:p>
          <a:p>
            <a:r>
              <a:t>Uso: Factorizar tensores de tres/cuatro modos; estudios multi-experimento.</a:t>
            </a:r>
          </a:p>
          <a:p>
            <a:r>
              <a:t>Límites: No incorpora todo el paquete N-way, sus restricciones ni incertidumbres.</a:t>
            </a:r>
          </a:p>
          <a:p>
            <a:r>
              <a:t>Disponibilidad: API especializada; no en selector ILT de Prime</a:t>
            </a:r>
          </a:p>
          <a:p>
            <a:r>
              <a:t>Objetivo: `Three/four-way CP alternating LS/NNLS`.</a:t>
            </a:r>
          </a:p>
          <a:p>
            <a:r>
              <a:t>Fuente: [local-source: METHOD_REFERENCE.es.md#parafac_nd]</a:t>
            </a:r>
          </a:p>
          <a:p>
            <a:endParaRPr/>
          </a:p>
          <a:p>
            <a:r>
              <a:t>Fuentes: [ilt_catalog] Audited bilingual catalogue of local inversion methods and context families: [local-source: ilt_algorithm_catalog_bilingual.json]</a:t>
            </a:r>
          </a:p>
          <a:p>
            <a:r>
              <a:t>[catalog_l1_ls] Signed L1 interior point: [local-source: METHOD_REFERENCE.es.md#l1_ls]</a:t>
            </a:r>
          </a:p>
          <a:p>
            <a:r>
              <a:t>[catalog_plss_r] PLSS residual recursive solver: [local-source: METHOD_REFERENCE.es.md#plss_r]</a:t>
            </a:r>
          </a:p>
          <a:p>
            <a:r>
              <a:t>[catalog_irls] Fixed-p smoothed IRLS dictionary adapter: [local-source: METHOD_REFERENCE.es.md#irls]</a:t>
            </a:r>
          </a:p>
          <a:p>
            <a:r>
              <a:t>[catalog_plss_rw2] Weighted PLSS recursive core: [local-source: METHOD_REFERENCE.es.md#plss_rw2]</a:t>
            </a:r>
          </a:p>
          <a:p>
            <a:r>
              <a:t>[catalog_parafac_nd] Three/four-way CP-ALS: [local-source: METHOD_REFERENCE.es.md#parafac_nd]</a:t>
            </a:r>
          </a:p>
          <a:p>
            <a:endParaRPr/>
          </a:p>
          <a:p>
            <a:r>
              <a:t>l1_ls — Signed L1 interior point</a:t>
            </a:r>
          </a:p>
          <a:p>
            <a:r>
              <a:t>API especializada; no en selector ILT de Prime</a:t>
            </a:r>
          </a:p>
          <a:p>
            <a:r>
              <a:t>Ajustes lineales escasos con signo; no distribución positiva automática.</a:t>
            </a:r>
          </a:p>
          <a:p>
            <a:r>
              <a:t>Los coeficientes negativos no son masas físicas. No es un motor matricial disperso de gran escala certificado.</a:t>
            </a:r>
          </a:p>
          <a:p>
            <a:r>
              <a:t>`RSS + alpha ‖C‖1, C signed`.</a:t>
            </a:r>
          </a:p>
          <a:p>
            <a:r>
              <a:t>[local-source: METHOD_REFERENCE.es.md#l1_ls]</a:t>
            </a:r>
          </a:p>
          <a:p>
            <a:endParaRPr/>
          </a:p>
          <a:p>
            <a:r>
              <a:t>plss_r — PLSS residual recursive solver</a:t>
            </a:r>
          </a:p>
          <a:p>
            <a:r>
              <a:t>API especializada; no en selector ILT de Prime</a:t>
            </a:r>
          </a:p>
          <a:p>
            <a:r>
              <a:t>Sistemas lineales compatibles; núcleo auxiliar sin regularización.</a:t>
            </a:r>
          </a:p>
          <a:p>
            <a:r>
              <a:t>Sistema consistente, salida con signo; breakdown preservado. No convierte un problema inverso mal condicionado en identificable.</a:t>
            </a:r>
          </a:p>
          <a:p>
            <a:r>
              <a:t>`Unregularized recursive residual sketches for A*C=Y`.</a:t>
            </a:r>
          </a:p>
          <a:p>
            <a:r>
              <a:t>[local-source: METHOD_REFERENCE.es.md#plss_r]</a:t>
            </a:r>
          </a:p>
          <a:p>
            <a:endParaRPr/>
          </a:p>
          <a:p>
            <a:r>
              <a:t>irls — Fixed-p smoothed IRLS dictionary adapter</a:t>
            </a:r>
          </a:p>
          <a:p>
            <a:r>
              <a:t>API especializada; no en selector ILT de Prime</a:t>
            </a:r>
          </a:p>
          <a:p>
            <a:r>
              <a:t>Explorar soluciones escasas mediante mínimos cuadrados reponderados.</a:t>
            </a:r>
          </a:p>
          <a:p>
            <a:r>
              <a:t>Salida con signo. Estabilidad no acredita óptimo global; el objective de salida es RSS diagnóstico, no todo el coste regularizado.</a:t>
            </a:r>
          </a:p>
          <a:p>
            <a:r>
              <a:t>`Fixed-p smoothed iteratively reweighted least squares`.</a:t>
            </a:r>
          </a:p>
          <a:p>
            <a:r>
              <a:t>[local-source: METHOD_REFERENCE.es.md#irls]</a:t>
            </a:r>
          </a:p>
          <a:p>
            <a:endParaRPr/>
          </a:p>
          <a:p>
            <a:r>
              <a:t>plss_rw2 — Weighted PLSS recursive core</a:t>
            </a:r>
          </a:p>
          <a:p>
            <a:r>
              <a:t>API especializada; no en selector ILT de Prime</a:t>
            </a:r>
          </a:p>
          <a:p>
            <a:r>
              <a:t>Sistema lineal compatible ponderado; núcleo auxiliar.</a:t>
            </a:r>
          </a:p>
          <a:p>
            <a:r>
              <a:t>Sin regularización ni positividad; sólo sistemas compatibles. No incluye RW1/KZ.</a:t>
            </a:r>
          </a:p>
          <a:p>
            <a:r>
              <a:t>`Diagonal variable transform + guarded residual PLSS recursion`.</a:t>
            </a:r>
          </a:p>
          <a:p>
            <a:r>
              <a:t>[local-source: METHOD_REFERENCE.es.md#plss_rw2]</a:t>
            </a:r>
          </a:p>
          <a:p>
            <a:endParaRPr/>
          </a:p>
          <a:p>
            <a:r>
              <a:t>parafac_nd — Three/four-way CP-ALS</a:t>
            </a:r>
          </a:p>
          <a:p>
            <a:r>
              <a:t>API especializada; no en selector ILT de Prime</a:t>
            </a:r>
          </a:p>
          <a:p>
            <a:r>
              <a:t>Factorizar tensores de tres/cuatro modos; estudios multi-experimento.</a:t>
            </a:r>
          </a:p>
          <a:p>
            <a:r>
              <a:t>No incorpora todo el paquete N-way, sus restricciones ni incertidumbres.</a:t>
            </a:r>
          </a:p>
          <a:p>
            <a:r>
              <a:t>`Three/four-way CP alternating LS/NNLS`.</a:t>
            </a:r>
          </a:p>
          <a:p>
            <a:r>
              <a:t>[local-source: METHOD_REFERENCE.es.md#parafac_nd]</a:t>
            </a:r>
          </a:p>
          <a:p>
            <a:endParaRPr/>
          </a:p>
          <a:p>
            <a:r>
              <a:t>Fuentes:</a:t>
            </a:r>
          </a:p>
          <a:p>
            <a:r>
              <a:t>Audited bilingual catalogue of local inversion methods and context families</a:t>
            </a:r>
          </a:p>
          <a:p>
            <a:endParaRPr/>
          </a:p>
          <a:p>
            <a:r>
              <a:t>[local-source: ilt_algorithm_catalog_bilingual.json]</a:t>
            </a:r>
          </a:p>
          <a:p>
            <a:r>
              <a:t>Signed L1 interior point</a:t>
            </a:r>
          </a:p>
          <a:p>
            <a:endParaRPr/>
          </a:p>
          <a:p>
            <a:r>
              <a:t>[local-source: METHOD_REFERENCE.es.md#l1_ls]</a:t>
            </a:r>
          </a:p>
          <a:p>
            <a:r>
              <a:t>PLSS residual recursive solver</a:t>
            </a:r>
          </a:p>
          <a:p>
            <a:endParaRPr/>
          </a:p>
          <a:p>
            <a:r>
              <a:t>[local-source: METHOD_REFERENCE.es.md#plss_r]</a:t>
            </a:r>
          </a:p>
          <a:p>
            <a:r>
              <a:t>Fixed-p smoothed IRLS dictionary adapter</a:t>
            </a:r>
          </a:p>
          <a:p>
            <a:endParaRPr/>
          </a:p>
          <a:p>
            <a:r>
              <a:t>[local-source: METHOD_REFERENCE.es.md#irls]</a:t>
            </a:r>
          </a:p>
          <a:p>
            <a:r>
              <a:t>Weighted PLSS recursive core</a:t>
            </a:r>
          </a:p>
          <a:p>
            <a:endParaRPr/>
          </a:p>
          <a:p>
            <a:r>
              <a:t>[local-source: METHOD_REFERENCE.es.md#plss_rw2]</a:t>
            </a:r>
          </a:p>
          <a:p>
            <a:r>
              <a:t>Three/four-way CP-ALS</a:t>
            </a:r>
          </a:p>
          <a:p>
            <a:endParaRPr/>
          </a:p>
          <a:p>
            <a:r>
              <a:t>[local-source: METHOD_REFERENCE.es.md#parafac_nd]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ADSpLRU archived reweighted ADMM [adsplru]</a:t>
            </a:r>
          </a:p>
          <a:p>
            <a:r>
              <a:t>Uso: Desmezcla conjunta escasa/de bajo rango con ADMM reponderado.</a:t>
            </a:r>
          </a:p>
          <a:p>
            <a:r>
              <a:t>Límites: Pesos cambiantes; parada legacy no certifica objetivo convexo fijo. Todas las columnas se devuelven.</a:t>
            </a:r>
          </a:p>
          <a:p>
            <a:r>
              <a:t>Disponibilidad: API especializada; no en selector ILT de Prime</a:t>
            </a:r>
          </a:p>
          <a:p>
            <a:r>
              <a:t>Objetivo: `RMS-scaled ADMM with adaptive singular-value and entry shrinkage`.</a:t>
            </a:r>
          </a:p>
          <a:p>
            <a:r>
              <a:t>Fuente: [local-source: METHOD_REFERENCE.es.md#adsplru]</a:t>
            </a:r>
          </a:p>
          <a:p>
            <a:endParaRPr/>
          </a:p>
          <a:p>
            <a:r>
              <a:t>IPSpLRU incremental proximal recurrence [ipsplru]</a:t>
            </a:r>
          </a:p>
          <a:p>
            <a:r>
              <a:t>Uso: Desmezcla conjunta con recurrencia proximal incremental.</a:t>
            </a:r>
          </a:p>
          <a:p>
            <a:r>
              <a:t>Límites: Presupuesto fijo, sin certificado de convergencia; no selecciona sólo el píxel central.</a:t>
            </a:r>
          </a:p>
          <a:p>
            <a:r>
              <a:t>Disponibilidad: API especializada; no en selector ILT de Prime</a:t>
            </a:r>
          </a:p>
          <a:p>
            <a:r>
              <a:t>Objetivo: `Quadratic prox -&gt; reweighted SVT -&gt; reweighted entry shrinkage -&gt; positivity`.</a:t>
            </a:r>
          </a:p>
          <a:p>
            <a:r>
              <a:t>Fuente: [local-source: METHOD_REFERENCE.es.md#ipsplru]</a:t>
            </a:r>
          </a:p>
          <a:p>
            <a:endParaRPr/>
          </a:p>
          <a:p>
            <a:r>
              <a:t>LRSpILT archived ADMM recurrence [lrspilt]</a:t>
            </a:r>
          </a:p>
          <a:p>
            <a:r>
              <a:t>Uso: Reconstrucción DOSY conjunta con estructura de bajo rango y escasez.</a:t>
            </a:r>
          </a:p>
          <a:p>
            <a:r>
              <a:t>Límites: Parada relativa legacy y pesos variables; no aporta una cota dual fija.</a:t>
            </a:r>
          </a:p>
          <a:p>
            <a:r>
              <a:t>Disponibilidad: API especializada; no en selector ILT de Prime</a:t>
            </a:r>
          </a:p>
          <a:p>
            <a:r>
              <a:t>Objetivo: `ADMM with adaptive singular thresholds and fixed L1 threshold`.</a:t>
            </a:r>
          </a:p>
          <a:p>
            <a:r>
              <a:t>Fuente: [local-source: METHOD_REFERENCE.es.md#lrspilt]</a:t>
            </a:r>
          </a:p>
          <a:p>
            <a:endParaRPr/>
          </a:p>
          <a:p>
            <a:r>
              <a:t>NMRInversions.jl PDHGM2 recurrence [pdhgm2]</a:t>
            </a:r>
          </a:p>
          <a:p>
            <a:r>
              <a:t>Uso: Reproducir recurrencia NMRInversions.jl y comprobar KKT por separado.</a:t>
            </a:r>
          </a:p>
          <a:p>
            <a:r>
              <a:t>Límites: Proyectar después del inverso cuadrático no garantiza resolver el objetivo positivo. Se reporta KKT real aparte; no confundir estabilidad y convergencia.</a:t>
            </a:r>
          </a:p>
          <a:p>
            <a:r>
              <a:t>Disponibilidad: API especializada; no en selector ILT de Prime</a:t>
            </a:r>
          </a:p>
          <a:p>
            <a:r>
              <a:t>Objetivo: `alpha/2 ‖AC-Y‖F² + sum(C), C&gt;=0 (checked target)`.</a:t>
            </a:r>
          </a:p>
          <a:p>
            <a:r>
              <a:t>Fuente: [local-source: METHOD_REFERENCE.es.md#pdhgm2]</a:t>
            </a:r>
          </a:p>
          <a:p>
            <a:endParaRPr/>
          </a:p>
          <a:p>
            <a:r>
              <a:t>ILT.jl positive ridge with signed baseline [ilt_julia]</a:t>
            </a:r>
          </a:p>
          <a:p>
            <a:r>
              <a:t>Uso: Inversión positiva con término de línea base con signo.</a:t>
            </a:r>
          </a:p>
          <a:p>
            <a:r>
              <a:t>Límites: Eliminación exacta y NNLS sustituyen Ipopt. Fondo y coeficientes se penalizan; no hay selección automática de alpha.</a:t>
            </a:r>
          </a:p>
          <a:p>
            <a:r>
              <a:t>Disponibilidad: API especializada; no en selector ILT de Prime</a:t>
            </a:r>
          </a:p>
          <a:p>
            <a:r>
              <a:t>Objetivo: `RSS(A C+z beta,Y) + alpha² (‖C‖F²+‖beta‖2²), C&gt;=0, beta signed`.</a:t>
            </a:r>
          </a:p>
          <a:p>
            <a:r>
              <a:t>Fuente: [local-source: METHOD_REFERENCE.es.md#ilt_julia]</a:t>
            </a:r>
          </a:p>
          <a:p>
            <a:endParaRPr/>
          </a:p>
          <a:p>
            <a:r>
              <a:t>Fuentes: [ilt_catalog] Audited bilingual catalogue of local inversion methods and context families: [local-source: ilt_algorithm_catalog_bilingual.json]</a:t>
            </a:r>
          </a:p>
          <a:p>
            <a:r>
              <a:t>[catalog_adsplru] ADSpLRU archived reweighted ADMM: [local-source: METHOD_REFERENCE.es.md#adsplru]</a:t>
            </a:r>
          </a:p>
          <a:p>
            <a:r>
              <a:t>[catalog_ipsplru] IPSpLRU incremental proximal recurrence: [local-source: METHOD_REFERENCE.es.md#ipsplru]</a:t>
            </a:r>
          </a:p>
          <a:p>
            <a:r>
              <a:t>[catalog_lrspilt] LRSpILT archived ADMM recurrence: [local-source: METHOD_REFERENCE.es.md#lrspilt]</a:t>
            </a:r>
          </a:p>
          <a:p>
            <a:r>
              <a:t>[catalog_pdhgm2] NMRInversions.jl PDHGM2 recurrence: [local-source: METHOD_REFERENCE.es.md#pdhgm2]</a:t>
            </a:r>
          </a:p>
          <a:p>
            <a:r>
              <a:t>[catalog_ilt_julia] ILT.jl positive ridge with signed baseline: [local-source: METHOD_REFERENCE.es.md#ilt_julia]</a:t>
            </a:r>
          </a:p>
          <a:p>
            <a:endParaRPr/>
          </a:p>
          <a:p>
            <a:r>
              <a:t>adsplru — ADSpLRU archived reweighted ADMM</a:t>
            </a:r>
          </a:p>
          <a:p>
            <a:r>
              <a:t>API especializada; no en selector ILT de Prime</a:t>
            </a:r>
          </a:p>
          <a:p>
            <a:r>
              <a:t>Desmezcla conjunta escasa/de bajo rango con ADMM reponderado.</a:t>
            </a:r>
          </a:p>
          <a:p>
            <a:r>
              <a:t>Pesos cambiantes; parada legacy no certifica objetivo convexo fijo. Todas las columnas se devuelven.</a:t>
            </a:r>
          </a:p>
          <a:p>
            <a:r>
              <a:t>`RMS-scaled ADMM with adaptive singular-value and entry shrinkage`.</a:t>
            </a:r>
          </a:p>
          <a:p>
            <a:r>
              <a:t>[local-source: METHOD_REFERENCE.es.md#adsplru]</a:t>
            </a:r>
          </a:p>
          <a:p>
            <a:endParaRPr/>
          </a:p>
          <a:p>
            <a:r>
              <a:t>ipsplru — IPSpLRU incremental proximal recurrence</a:t>
            </a:r>
          </a:p>
          <a:p>
            <a:r>
              <a:t>API especializada; no en selector ILT de Prime</a:t>
            </a:r>
          </a:p>
          <a:p>
            <a:r>
              <a:t>Desmezcla conjunta con recurrencia proximal incremental.</a:t>
            </a:r>
          </a:p>
          <a:p>
            <a:r>
              <a:t>Presupuesto fijo, sin certificado de convergencia; no selecciona sólo el píxel central.</a:t>
            </a:r>
          </a:p>
          <a:p>
            <a:r>
              <a:t>`Quadratic prox -&gt; reweighted SVT -&gt; reweighted entry shrinkage -&gt; positivity`.</a:t>
            </a:r>
          </a:p>
          <a:p>
            <a:r>
              <a:t>[local-source: METHOD_REFERENCE.es.md#ipsplru]</a:t>
            </a:r>
          </a:p>
          <a:p>
            <a:endParaRPr/>
          </a:p>
          <a:p>
            <a:r>
              <a:t>lrspilt — LRSpILT archived ADMM recurrence</a:t>
            </a:r>
          </a:p>
          <a:p>
            <a:r>
              <a:t>API especializada; no en selector ILT de Prime</a:t>
            </a:r>
          </a:p>
          <a:p>
            <a:r>
              <a:t>Reconstrucción DOSY conjunta con estructura de bajo rango y escasez.</a:t>
            </a:r>
          </a:p>
          <a:p>
            <a:r>
              <a:t>Parada relativa legacy y pesos variables; no aporta una cota dual fija.</a:t>
            </a:r>
          </a:p>
          <a:p>
            <a:r>
              <a:t>`ADMM with adaptive singular thresholds and fixed L1 threshold`.</a:t>
            </a:r>
          </a:p>
          <a:p>
            <a:r>
              <a:t>[local-source: METHOD_REFERENCE.es.md#lrspilt]</a:t>
            </a:r>
          </a:p>
          <a:p>
            <a:endParaRPr/>
          </a:p>
          <a:p>
            <a:r>
              <a:t>pdhgm2 — NMRInversions.jl PDHGM2 recurrence</a:t>
            </a:r>
          </a:p>
          <a:p>
            <a:r>
              <a:t>API especializada; no en selector ILT de Prime</a:t>
            </a:r>
          </a:p>
          <a:p>
            <a:r>
              <a:t>Reproducir recurrencia NMRInversions.jl y comprobar KKT por separado.</a:t>
            </a:r>
          </a:p>
          <a:p>
            <a:r>
              <a:t>Proyectar después del inverso cuadrático no garantiza resolver el objetivo positivo. Se reporta KKT real aparte; no confundir estabilidad y convergencia.</a:t>
            </a:r>
          </a:p>
          <a:p>
            <a:r>
              <a:t>`alpha/2 ‖AC-Y‖F² + sum(C), C&gt;=0 (checked target)`.</a:t>
            </a:r>
          </a:p>
          <a:p>
            <a:r>
              <a:t>[local-source: METHOD_REFERENCE.es.md#pdhgm2]</a:t>
            </a:r>
          </a:p>
          <a:p>
            <a:endParaRPr/>
          </a:p>
          <a:p>
            <a:r>
              <a:t>ilt_julia — ILT.jl positive ridge with signed baseline</a:t>
            </a:r>
          </a:p>
          <a:p>
            <a:r>
              <a:t>API especializada; no en selector ILT de Prime</a:t>
            </a:r>
          </a:p>
          <a:p>
            <a:r>
              <a:t>Inversión positiva con término de línea base con signo.</a:t>
            </a:r>
          </a:p>
          <a:p>
            <a:r>
              <a:t>Eliminación exacta y NNLS sustituyen Ipopt. Fondo y coeficientes se penalizan; no hay selección automática de alpha.</a:t>
            </a:r>
          </a:p>
          <a:p>
            <a:r>
              <a:t>`RSS(A C+z beta,Y) + alpha² (‖C‖F²+‖beta‖2²), C&gt;=0, beta signed`.</a:t>
            </a:r>
          </a:p>
          <a:p>
            <a:r>
              <a:t>[local-source: METHOD_REFERENCE.es.md#ilt_julia]</a:t>
            </a:r>
          </a:p>
          <a:p>
            <a:endParaRPr/>
          </a:p>
          <a:p>
            <a:r>
              <a:t>Fuentes:</a:t>
            </a:r>
          </a:p>
          <a:p>
            <a:r>
              <a:t>Audited bilingual catalogue of local inversion methods and context families</a:t>
            </a:r>
          </a:p>
          <a:p>
            <a:endParaRPr/>
          </a:p>
          <a:p>
            <a:r>
              <a:t>[local-source: ilt_algorithm_catalog_bilingual.json]</a:t>
            </a:r>
          </a:p>
          <a:p>
            <a:r>
              <a:t>ADSpLRU archived reweighted ADMM</a:t>
            </a:r>
          </a:p>
          <a:p>
            <a:endParaRPr/>
          </a:p>
          <a:p>
            <a:r>
              <a:t>[local-source: METHOD_REFERENCE.es.md#adsplru]</a:t>
            </a:r>
          </a:p>
          <a:p>
            <a:r>
              <a:t>IPSpLRU incremental proximal recurrence</a:t>
            </a:r>
          </a:p>
          <a:p>
            <a:endParaRPr/>
          </a:p>
          <a:p>
            <a:r>
              <a:t>[local-source: METHOD_REFERENCE.es.md#ipsplru]</a:t>
            </a:r>
          </a:p>
          <a:p>
            <a:r>
              <a:t>LRSpILT archived ADMM recurrence</a:t>
            </a:r>
          </a:p>
          <a:p>
            <a:endParaRPr/>
          </a:p>
          <a:p>
            <a:r>
              <a:t>[local-source: METHOD_REFERENCE.es.md#lrspilt]</a:t>
            </a:r>
          </a:p>
          <a:p>
            <a:r>
              <a:t>NMRInversions.jl PDHGM2 recurrence</a:t>
            </a:r>
          </a:p>
          <a:p>
            <a:endParaRPr/>
          </a:p>
          <a:p>
            <a:r>
              <a:t>[local-source: METHOD_REFERENCE.es.md#pdhgm2]</a:t>
            </a:r>
          </a:p>
          <a:p>
            <a:r>
              <a:t>ILT.jl positive ridge with signed baseline</a:t>
            </a:r>
          </a:p>
          <a:p>
            <a:endParaRPr/>
          </a:p>
          <a:p>
            <a:r>
              <a:t>[local-source: METHOD_REFERENCE.es.md#ilt_julia]</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TailoredNorm archived p sweep [tailored_norm]</a:t>
            </a:r>
          </a:p>
          <a:p>
            <a:r>
              <a:t>Uso: Explorar barrido de norma p; reproducir la política numérica archivada.</a:t>
            </a:r>
          </a:p>
          <a:p>
            <a:r>
              <a:t>Límites: El umbral original produce cero en la prueba archivada. Cambiarlo es otra política; no ocultar ese fallo. Distinto orden de ejes entre lenguajes.</a:t>
            </a:r>
          </a:p>
          <a:p>
            <a:r>
              <a:t>Disponibilidad: API especializada; no en selector ILT de Prime</a:t>
            </a:r>
          </a:p>
          <a:p>
            <a:r>
              <a:t>Objetivo: `Archived fixed p=1..2 recurrence and absolute pinv cutoff`.</a:t>
            </a:r>
          </a:p>
          <a:p>
            <a:r>
              <a:t>Fuente: [local-source: METHOD_REFERENCE.es.md#tailored_norm]</a:t>
            </a:r>
          </a:p>
          <a:p>
            <a:endParaRPr/>
          </a:p>
          <a:p>
            <a:r>
              <a:t>UPEN2D adaptive spatial penalties [upen2d]</a:t>
            </a:r>
          </a:p>
          <a:p>
            <a:r>
              <a:t>Uso: Distribuciones 2D con suavizado local adaptativo; dos operadores físicos.</a:t>
            </a:r>
          </a:p>
          <a:p>
            <a:r>
              <a:t>Límites: NNLS interno sustituye Newton-CG; sin compresión SVD. La segunda dimensión puede ser frecuencia sólo si Kr=I y se declara esa hipótesis.</a:t>
            </a:r>
          </a:p>
          <a:p>
            <a:r>
              <a:t>Disponibilidad: API especializada; no en selector ILT de Prime</a:t>
            </a:r>
          </a:p>
          <a:p>
            <a:r>
              <a:t>Objetivo: `‖Kc X Kr^T-Y‖F² + spatial quadratic penalties updated from residual/derivatives`.</a:t>
            </a:r>
          </a:p>
          <a:p>
            <a:r>
              <a:t>Fuente: [local-source: METHOD_REFERENCE.es.md#upen2d]</a:t>
            </a:r>
          </a:p>
          <a:p>
            <a:endParaRPr/>
          </a:p>
          <a:p>
            <a:r>
              <a:t>MUPEN2D spatial multi-penalty FISTA [mupen2d]</a:t>
            </a:r>
          </a:p>
          <a:p>
            <a:r>
              <a:t>Uso: Inversión 2D con múltiples penalizaciones adaptativas; salida con signo.</a:t>
            </a:r>
          </a:p>
          <a:p>
            <a:r>
              <a:t>Límites: AT legacy no es el adjunto correcto con pesos variables. Adjoint se etiqueta aparte. Peso L1 indefinido en inicialización cero con datos no nulos queda como fallo.</a:t>
            </a:r>
          </a:p>
          <a:p>
            <a:r>
              <a:t>Disponibilidad: API especializada; no en selector ILT de Prime</a:t>
            </a:r>
          </a:p>
          <a:p>
            <a:r>
              <a:t>Objetivo: `Adaptive quadratic spatial penalty + signed L1 FISTA; legacy or adjoint policy`.</a:t>
            </a:r>
          </a:p>
          <a:p>
            <a:r>
              <a:t>Fuente: [local-source: METHOD_REFERENCE.es.md#mupen2d]</a:t>
            </a:r>
          </a:p>
          <a:p>
            <a:endParaRPr/>
          </a:p>
          <a:p>
            <a:r>
              <a:t>SUnSAL unmixing ADMM [sunsal]</a:t>
            </a:r>
          </a:p>
          <a:p>
            <a:r>
              <a:t>Uso: Desmezcla escasa con diccionario explícito y restricciones opcionales.</a:t>
            </a:r>
          </a:p>
          <a:p>
            <a:r>
              <a:t>Límites: No imponga suma uno a señales DOSY sin normalización física justificada. En simplex positivo L1 es constante.</a:t>
            </a:r>
          </a:p>
          <a:p>
            <a:r>
              <a:t>Disponibilidad: API especializada; no en selector ILT de Prime</a:t>
            </a:r>
          </a:p>
          <a:p>
            <a:r>
              <a:t>Objetivo: `0.5 RSS + lambda ‖C‖1 with optional positivity/simplex`.</a:t>
            </a:r>
          </a:p>
          <a:p>
            <a:r>
              <a:t>Fuente: [local-source: METHOD_REFERENCE.es.md#sunsal]</a:t>
            </a:r>
          </a:p>
          <a:p>
            <a:endParaRPr/>
          </a:p>
          <a:p>
            <a:r>
              <a:t>CLSUnSAL collaborative unmixing [clsunsal]</a:t>
            </a:r>
          </a:p>
          <a:p>
            <a:r>
              <a:t>Uso: Desmezcla colaborativa que comparte soporte entre columnas.</a:t>
            </a:r>
          </a:p>
          <a:p>
            <a:r>
              <a:t>Límites: Conserva inicialización dual y cambio de mu sin reescalado dual originales. No incluye S2WSU ni MUA.</a:t>
            </a:r>
          </a:p>
          <a:p>
            <a:r>
              <a:t>Disponibilidad: API especializada; no en selector ILT de Prime</a:t>
            </a:r>
          </a:p>
          <a:p>
            <a:r>
              <a:t>Objetivo: `Collaborative row-L2 sparsity with archived ADMM policy`.</a:t>
            </a:r>
          </a:p>
          <a:p>
            <a:r>
              <a:t>Fuente: [local-source: METHOD_REFERENCE.es.md#clsunsal]</a:t>
            </a:r>
          </a:p>
          <a:p>
            <a:endParaRPr/>
          </a:p>
          <a:p>
            <a:r>
              <a:t>Fuentes: [ilt_catalog] Audited bilingual catalogue of local inversion methods and context families: [local-source: ilt_algorithm_catalog_bilingual.json]</a:t>
            </a:r>
          </a:p>
          <a:p>
            <a:r>
              <a:t>[catalog_tailored_norm] TailoredNorm archived p sweep: [local-source: METHOD_REFERENCE.es.md#tailored_norm]</a:t>
            </a:r>
          </a:p>
          <a:p>
            <a:r>
              <a:t>[catalog_upen2d] UPEN2D adaptive spatial penalties: [local-source: METHOD_REFERENCE.es.md#upen2d]</a:t>
            </a:r>
          </a:p>
          <a:p>
            <a:r>
              <a:t>[catalog_mupen2d] MUPEN2D spatial multi-penalty FISTA: [local-source: METHOD_REFERENCE.es.md#mupen2d]</a:t>
            </a:r>
          </a:p>
          <a:p>
            <a:r>
              <a:t>[catalog_sunsal] SUnSAL unmixing ADMM: [local-source: METHOD_REFERENCE.es.md#sunsal]</a:t>
            </a:r>
          </a:p>
          <a:p>
            <a:r>
              <a:t>[catalog_clsunsal] CLSUnSAL collaborative unmixing: [local-source: METHOD_REFERENCE.es.md#clsunsal]</a:t>
            </a:r>
          </a:p>
          <a:p>
            <a:endParaRPr/>
          </a:p>
          <a:p>
            <a:r>
              <a:t>tailored_norm — TailoredNorm archived p sweep</a:t>
            </a:r>
          </a:p>
          <a:p>
            <a:r>
              <a:t>API especializada; no en selector ILT de Prime</a:t>
            </a:r>
          </a:p>
          <a:p>
            <a:r>
              <a:t>Explorar barrido de norma p; reproducir la política numérica archivada.</a:t>
            </a:r>
          </a:p>
          <a:p>
            <a:r>
              <a:t>El umbral original produce cero en la prueba archivada. Cambiarlo es otra política; no ocultar ese fallo. Distinto orden de ejes entre lenguajes.</a:t>
            </a:r>
          </a:p>
          <a:p>
            <a:r>
              <a:t>`Archived fixed p=1..2 recurrence and absolute pinv cutoff`.</a:t>
            </a:r>
          </a:p>
          <a:p>
            <a:r>
              <a:t>[local-source: METHOD_REFERENCE.es.md#tailored_norm]</a:t>
            </a:r>
          </a:p>
          <a:p>
            <a:endParaRPr/>
          </a:p>
          <a:p>
            <a:r>
              <a:t>upen2d — UPEN2D adaptive spatial penalties</a:t>
            </a:r>
          </a:p>
          <a:p>
            <a:r>
              <a:t>API especializada; no en selector ILT de Prime</a:t>
            </a:r>
          </a:p>
          <a:p>
            <a:r>
              <a:t>Distribuciones 2D con suavizado local adaptativo; dos operadores físicos.</a:t>
            </a:r>
          </a:p>
          <a:p>
            <a:r>
              <a:t>NNLS interno sustituye Newton-CG; sin compresión SVD. La segunda dimensión puede ser frecuencia sólo si Kr=I y se declara esa hipótesis.</a:t>
            </a:r>
          </a:p>
          <a:p>
            <a:r>
              <a:t>`‖Kc X Kr^T-Y‖F² + spatial quadratic penalties updated from residual/derivatives`.</a:t>
            </a:r>
          </a:p>
          <a:p>
            <a:r>
              <a:t>[local-source: METHOD_REFERENCE.es.md#upen2d]</a:t>
            </a:r>
          </a:p>
          <a:p>
            <a:endParaRPr/>
          </a:p>
          <a:p>
            <a:r>
              <a:t>mupen2d — MUPEN2D spatial multi-penalty FISTA</a:t>
            </a:r>
          </a:p>
          <a:p>
            <a:r>
              <a:t>API especializada; no en selector ILT de Prime</a:t>
            </a:r>
          </a:p>
          <a:p>
            <a:r>
              <a:t>Inversión 2D con múltiples penalizaciones adaptativas; salida con signo.</a:t>
            </a:r>
          </a:p>
          <a:p>
            <a:r>
              <a:t>AT legacy no es el adjunto correcto con pesos variables. Adjoint se etiqueta aparte. Peso L1 indefinido en inicialización cero con datos no nulos queda como fallo.</a:t>
            </a:r>
          </a:p>
          <a:p>
            <a:r>
              <a:t>`Adaptive quadratic spatial penalty + signed L1 FISTA; legacy or adjoint policy`.</a:t>
            </a:r>
          </a:p>
          <a:p>
            <a:r>
              <a:t>[local-source: METHOD_REFERENCE.es.md#mupen2d]</a:t>
            </a:r>
          </a:p>
          <a:p>
            <a:endParaRPr/>
          </a:p>
          <a:p>
            <a:r>
              <a:t>sunsal — SUnSAL unmixing ADMM</a:t>
            </a:r>
          </a:p>
          <a:p>
            <a:r>
              <a:t>API especializada; no en selector ILT de Prime</a:t>
            </a:r>
          </a:p>
          <a:p>
            <a:r>
              <a:t>Desmezcla escasa con diccionario explícito y restricciones opcionales.</a:t>
            </a:r>
          </a:p>
          <a:p>
            <a:r>
              <a:t>No imponga suma uno a señales DOSY sin normalización física justificada. En simplex positivo L1 es constante.</a:t>
            </a:r>
          </a:p>
          <a:p>
            <a:r>
              <a:t>`0.5 RSS + lambda ‖C‖1 with optional positivity/simplex`.</a:t>
            </a:r>
          </a:p>
          <a:p>
            <a:r>
              <a:t>[local-source: METHOD_REFERENCE.es.md#sunsal]</a:t>
            </a:r>
          </a:p>
          <a:p>
            <a:endParaRPr/>
          </a:p>
          <a:p>
            <a:r>
              <a:t>clsunsal — CLSUnSAL collaborative unmixing</a:t>
            </a:r>
          </a:p>
          <a:p>
            <a:r>
              <a:t>API especializada; no en selector ILT de Prime</a:t>
            </a:r>
          </a:p>
          <a:p>
            <a:r>
              <a:t>Desmezcla colaborativa que comparte soporte entre columnas.</a:t>
            </a:r>
          </a:p>
          <a:p>
            <a:r>
              <a:t>Conserva inicialización dual y cambio de mu sin reescalado dual originales. No incluye S2WSU ni MUA.</a:t>
            </a:r>
          </a:p>
          <a:p>
            <a:r>
              <a:t>`Collaborative row-L2 sparsity with archived ADMM policy`.</a:t>
            </a:r>
          </a:p>
          <a:p>
            <a:r>
              <a:t>[local-source: METHOD_REFERENCE.es.md#clsunsal]</a:t>
            </a:r>
          </a:p>
          <a:p>
            <a:endParaRPr/>
          </a:p>
          <a:p>
            <a:r>
              <a:t>Fuentes:</a:t>
            </a:r>
          </a:p>
          <a:p>
            <a:r>
              <a:t>Audited bilingual catalogue of local inversion methods and context families</a:t>
            </a:r>
          </a:p>
          <a:p>
            <a:endParaRPr/>
          </a:p>
          <a:p>
            <a:r>
              <a:t>[local-source: ilt_algorithm_catalog_bilingual.json]</a:t>
            </a:r>
          </a:p>
          <a:p>
            <a:r>
              <a:t>TailoredNorm archived p sweep</a:t>
            </a:r>
          </a:p>
          <a:p>
            <a:endParaRPr/>
          </a:p>
          <a:p>
            <a:r>
              <a:t>[local-source: METHOD_REFERENCE.es.md#tailored_norm]</a:t>
            </a:r>
          </a:p>
          <a:p>
            <a:r>
              <a:t>UPEN2D adaptive spatial penalties</a:t>
            </a:r>
          </a:p>
          <a:p>
            <a:endParaRPr/>
          </a:p>
          <a:p>
            <a:r>
              <a:t>[local-source: METHOD_REFERENCE.es.md#upen2d]</a:t>
            </a:r>
          </a:p>
          <a:p>
            <a:r>
              <a:t>MUPEN2D spatial multi-penalty FISTA</a:t>
            </a:r>
          </a:p>
          <a:p>
            <a:endParaRPr/>
          </a:p>
          <a:p>
            <a:r>
              <a:t>[local-source: METHOD_REFERENCE.es.md#mupen2d]</a:t>
            </a:r>
          </a:p>
          <a:p>
            <a:r>
              <a:t>SUnSAL unmixing ADMM</a:t>
            </a:r>
          </a:p>
          <a:p>
            <a:endParaRPr/>
          </a:p>
          <a:p>
            <a:r>
              <a:t>[local-source: METHOD_REFERENCE.es.md#sunsal]</a:t>
            </a:r>
          </a:p>
          <a:p>
            <a:r>
              <a:t>CLSUnSAL collaborative unmixing</a:t>
            </a:r>
          </a:p>
          <a:p>
            <a:endParaRPr/>
          </a:p>
          <a:p>
            <a:r>
              <a:t>[local-source: METHOD_REFERENCE.es.md#clsunsal]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Fully constrained least squares [fcls]</a:t>
            </a:r>
          </a:p>
          <a:p>
            <a:r>
              <a:t>Uso: Desmezcla positiva con suma uno, sólo si la normalización lo justifica.</a:t>
            </a:r>
          </a:p>
          <a:p>
            <a:r>
              <a:t>Límites: Mismo objetivo, FISTA proyectado en lugar de cvxopt. Suma uno siempre: hipótesis fuerte para intensidades sin normalizar.</a:t>
            </a:r>
          </a:p>
          <a:p>
            <a:r>
              <a:t>Disponibilidad: API especializada; no en selector ILT de Prime</a:t>
            </a:r>
          </a:p>
          <a:p>
            <a:r>
              <a:t>Objetivo: `0.5 RSS, C&gt;=0, each column sums to 1`.</a:t>
            </a:r>
          </a:p>
          <a:p>
            <a:r>
              <a:t>Fuente: [local-source: METHOD_REFERENCE.es.md#fcls]</a:t>
            </a:r>
          </a:p>
          <a:p>
            <a:endParaRPr/>
          </a:p>
          <a:p>
            <a:r>
              <a:t>MRI mixture of Wisharts/tensors matrix core [mow]</a:t>
            </a:r>
          </a:p>
          <a:p>
            <a:r>
              <a:t>Uso: Difusión MRI direccional mediante mezclas Wishart/tensores.</a:t>
            </a:r>
          </a:p>
          <a:p>
            <a:r>
              <a:t>Límites: No es ILT escalar DOSY. Requiere codificación direccional; sin lector MRI ni estimación S0. Perfil de capa no normalizado.</a:t>
            </a:r>
          </a:p>
          <a:p>
            <a:r>
              <a:t>Disponibilidad: API especializada; no en selector ILT de Prime</a:t>
            </a:r>
          </a:p>
          <a:p>
            <a:r>
              <a:t>Objetivo: `Wishart kernel (1+tr(BD)/shape)^(-shape), or tensor exponential`.</a:t>
            </a:r>
          </a:p>
          <a:p>
            <a:r>
              <a:t>Fuente: [local-source: METHOD_REFERENCE.es.md#mow]</a:t>
            </a:r>
          </a:p>
          <a:p>
            <a:endParaRPr/>
          </a:p>
          <a:p>
            <a:r>
              <a:t>MRI Q-ball harmonic transform [qbi]</a:t>
            </a:r>
          </a:p>
          <a:p>
            <a:r>
              <a:t>Uso: Reconstrucción angular Q-ball MRI en base armónica suministrada.</a:t>
            </a:r>
          </a:p>
          <a:p>
            <a:r>
              <a:t>Límites: Convención archivada sin factor 2*pi. No genera base, no normaliza probabilidades ni identifica moléculas.</a:t>
            </a:r>
          </a:p>
          <a:p>
            <a:r>
              <a:t>Disponibilidad: API especializada; no en selector ILT de Prime</a:t>
            </a:r>
          </a:p>
          <a:p>
            <a:r>
              <a:t>Objetivo: `Least-squares real even-harmonic fit followed by P_l(0) multipliers`.</a:t>
            </a:r>
          </a:p>
          <a:p>
            <a:r>
              <a:t>Fuente: [local-source: METHOD_REFERENCE.es.md#qbi]</a:t>
            </a:r>
          </a:p>
          <a:p>
            <a:endParaRPr/>
          </a:p>
          <a:p>
            <a:r>
              <a:t>Fuentes: [ilt_catalog] Audited bilingual catalogue of local inversion methods and context families: [local-source: ilt_algorithm_catalog_bilingual.json]</a:t>
            </a:r>
          </a:p>
          <a:p>
            <a:r>
              <a:t>[catalog_fcls] Fully constrained least squares: [local-source: METHOD_REFERENCE.es.md#fcls]</a:t>
            </a:r>
          </a:p>
          <a:p>
            <a:r>
              <a:t>[catalog_mow] MRI mixture of Wisharts/tensors matrix core: [local-source: METHOD_REFERENCE.es.md#mow]</a:t>
            </a:r>
          </a:p>
          <a:p>
            <a:r>
              <a:t>[catalog_qbi] MRI Q-ball harmonic transform: [local-source: METHOD_REFERENCE.es.md#qbi]</a:t>
            </a:r>
          </a:p>
          <a:p>
            <a:endParaRPr/>
          </a:p>
          <a:p>
            <a:r>
              <a:t>fcls — Fully constrained least squares</a:t>
            </a:r>
          </a:p>
          <a:p>
            <a:r>
              <a:t>API especializada; no en selector ILT de Prime</a:t>
            </a:r>
          </a:p>
          <a:p>
            <a:r>
              <a:t>Desmezcla positiva con suma uno, sólo si la normalización lo justifica.</a:t>
            </a:r>
          </a:p>
          <a:p>
            <a:r>
              <a:t>Mismo objetivo, FISTA proyectado en lugar de cvxopt. Suma uno siempre: hipótesis fuerte para intensidades sin normalizar.</a:t>
            </a:r>
          </a:p>
          <a:p>
            <a:r>
              <a:t>`0.5 RSS, C&gt;=0, each column sums to 1`.</a:t>
            </a:r>
          </a:p>
          <a:p>
            <a:r>
              <a:t>[local-source: METHOD_REFERENCE.es.md#fcls]</a:t>
            </a:r>
          </a:p>
          <a:p>
            <a:endParaRPr/>
          </a:p>
          <a:p>
            <a:r>
              <a:t>mow — MRI mixture of Wisharts/tensors matrix core</a:t>
            </a:r>
          </a:p>
          <a:p>
            <a:r>
              <a:t>API especializada; no en selector ILT de Prime</a:t>
            </a:r>
          </a:p>
          <a:p>
            <a:r>
              <a:t>Difusión MRI direccional mediante mezclas Wishart/tensores.</a:t>
            </a:r>
          </a:p>
          <a:p>
            <a:r>
              <a:t>No es ILT escalar DOSY. Requiere codificación direccional; sin lector MRI ni estimación S0. Perfil de capa no normalizado.</a:t>
            </a:r>
          </a:p>
          <a:p>
            <a:r>
              <a:t>`Wishart kernel (1+tr(BD)/shape)^(-shape), or tensor exponential`.</a:t>
            </a:r>
          </a:p>
          <a:p>
            <a:r>
              <a:t>[local-source: METHOD_REFERENCE.es.md#mow]</a:t>
            </a:r>
          </a:p>
          <a:p>
            <a:endParaRPr/>
          </a:p>
          <a:p>
            <a:r>
              <a:t>qbi — MRI Q-ball harmonic transform</a:t>
            </a:r>
          </a:p>
          <a:p>
            <a:r>
              <a:t>API especializada; no en selector ILT de Prime</a:t>
            </a:r>
          </a:p>
          <a:p>
            <a:r>
              <a:t>Reconstrucción angular Q-ball MRI en base armónica suministrada.</a:t>
            </a:r>
          </a:p>
          <a:p>
            <a:r>
              <a:t>Convención archivada sin factor 2*pi. No genera base, no normaliza probabilidades ni identifica moléculas.</a:t>
            </a:r>
          </a:p>
          <a:p>
            <a:r>
              <a:t>`Least-squares real even-harmonic fit followed by P_l(0) multipliers`.</a:t>
            </a:r>
          </a:p>
          <a:p>
            <a:r>
              <a:t>[local-source: METHOD_REFERENCE.es.md#qbi]</a:t>
            </a:r>
          </a:p>
          <a:p>
            <a:endParaRPr/>
          </a:p>
          <a:p>
            <a:r>
              <a:t>Fuentes:</a:t>
            </a:r>
          </a:p>
          <a:p>
            <a:r>
              <a:t>Audited bilingual catalogue of local inversion methods and context families</a:t>
            </a:r>
          </a:p>
          <a:p>
            <a:endParaRPr/>
          </a:p>
          <a:p>
            <a:r>
              <a:t>[local-source: ilt_algorithm_catalog_bilingual.json]</a:t>
            </a:r>
          </a:p>
          <a:p>
            <a:r>
              <a:t>Fully constrained least squares</a:t>
            </a:r>
          </a:p>
          <a:p>
            <a:endParaRPr/>
          </a:p>
          <a:p>
            <a:r>
              <a:t>[local-source: METHOD_REFERENCE.es.md#fcls]</a:t>
            </a:r>
          </a:p>
          <a:p>
            <a:r>
              <a:t>MRI mixture of Wisharts/tensors matrix core</a:t>
            </a:r>
          </a:p>
          <a:p>
            <a:endParaRPr/>
          </a:p>
          <a:p>
            <a:r>
              <a:t>[local-source: METHOD_REFERENCE.es.md#mow]</a:t>
            </a:r>
          </a:p>
          <a:p>
            <a:r>
              <a:t>MRI Q-ball harmonic transform</a:t>
            </a:r>
          </a:p>
          <a:p>
            <a:endParaRPr/>
          </a:p>
          <a:p>
            <a:r>
              <a:t>[local-source: METHOD_REFERENCE.es.md#qbi]</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Mono / multi-exponential fitting [mono_fit]</a:t>
            </a:r>
          </a:p>
          <a:p>
            <a:r>
              <a:t>Uso: Pocos componentes conocidos; empezar por monoexponencial en señal aislada.</a:t>
            </a:r>
          </a:p>
          <a:p>
            <a:r>
              <a:t>Límites: El ajuste de k exponentes presupone k; dos D próximos son difíciles de resolver.</a:t>
            </a:r>
          </a:p>
          <a:p>
            <a:r>
              <a:t>Disponibilidad: Contexto bibliográfico; consultar implementación</a:t>
            </a:r>
          </a:p>
          <a:p>
            <a:r>
              <a:t>Fuente: https://nmr.chemistry.manchester.ac.uk/?q=node/430</a:t>
            </a:r>
          </a:p>
          <a:p>
            <a:endParaRPr/>
          </a:p>
          <a:p>
            <a:r>
              <a:t>CONTIN [contin_original]</a:t>
            </a:r>
          </a:p>
          <a:p>
            <a:r>
              <a:t>Uso: Distribución continua positiva con regularización y selección propia del parámetro.</a:t>
            </a:r>
          </a:p>
          <a:p>
            <a:r>
              <a:t>Límites: Tikhonov a λ fijo no es el programa CONTIN completo.</a:t>
            </a:r>
          </a:p>
          <a:p>
            <a:r>
              <a:t>Disponibilidad: Contexto bibliográfico; consultar implementación</a:t>
            </a:r>
          </a:p>
          <a:p>
            <a:r>
              <a:t>Fuente: https://doi.org/10.1016/0010-4655(82)90174-6</a:t>
            </a:r>
          </a:p>
          <a:p>
            <a:endParaRPr/>
          </a:p>
          <a:p>
            <a:r>
              <a:t>SVD / TSVD / compression [svd_tsvd]</a:t>
            </a:r>
          </a:p>
          <a:p>
            <a:r>
              <a:t>Uso: Diagnosticar rango informativo; comprimir el problema o truncar modos débiles.</a:t>
            </a:r>
          </a:p>
          <a:p>
            <a:r>
              <a:t>Límites: SVD sola no garantiza positividad; más bins no crean resolución.</a:t>
            </a:r>
          </a:p>
          <a:p>
            <a:r>
              <a:t>Disponibilidad: Contexto bibliográfico; consultar implementación</a:t>
            </a:r>
          </a:p>
          <a:p>
            <a:r>
              <a:t>Fuente: https://arxiv.org/abs/1609.00324</a:t>
            </a:r>
          </a:p>
          <a:p>
            <a:endParaRPr/>
          </a:p>
          <a:p>
            <a:r>
              <a:t>FISTA / proximal acceleration [fista_general]</a:t>
            </a:r>
          </a:p>
          <a:p>
            <a:r>
              <a:t>Uso: Motor numérico para objetivos L1 o L2 con proyección/proximales.</a:t>
            </a:r>
          </a:p>
          <a:p>
            <a:r>
              <a:t>Límites: El motor no define por sí mismo el prior ni el experimento.</a:t>
            </a:r>
          </a:p>
          <a:p>
            <a:r>
              <a:t>Disponibilidad: Contexto bibliográfico; consultar implementación</a:t>
            </a:r>
          </a:p>
          <a:p>
            <a:r>
              <a:t>Fuente: https://doi.org/10.1137/080716542</a:t>
            </a:r>
          </a:p>
          <a:p>
            <a:endParaRPr/>
          </a:p>
          <a:p>
            <a:r>
              <a:t>UPEN / 2DUPEN / MUPEN2D [upen_family]</a:t>
            </a:r>
          </a:p>
          <a:p>
            <a:r>
              <a:t>Uso: Suavizado local adaptativo para máximos estrechos y regiones anchas.</a:t>
            </a:r>
          </a:p>
          <a:p>
            <a:r>
              <a:t>Límites: Indicar versión, positividad y operadores; no equiparar a curvature_reweighted genérico.</a:t>
            </a:r>
          </a:p>
          <a:p>
            <a:r>
              <a:t>Disponibilidad: Contexto bibliográfico; consultar implementación</a:t>
            </a:r>
          </a:p>
          <a:p>
            <a:r>
              <a:t>Fuente: https://arxiv.org/abs/1609.00324</a:t>
            </a:r>
          </a:p>
          <a:p>
            <a:endParaRPr/>
          </a:p>
          <a:p>
            <a:r>
              <a:t>Fuentes: [ilt_catalog] Audited bilingual catalogue of local inversion methods and context families: [local-source: ilt_algorithm_catalog_bilingual.json]</a:t>
            </a:r>
          </a:p>
          <a:p>
            <a:r>
              <a:t>[catalog_mono_fit] Mono / multi-exponential fitting: https://nmr.chemistry.manchester.ac.uk/?q=node/430</a:t>
            </a:r>
          </a:p>
          <a:p>
            <a:r>
              <a:t>[catalog_contin_original] CONTIN: https://doi.org/10.1016/0010-4655(82)90174-6</a:t>
            </a:r>
          </a:p>
          <a:p>
            <a:r>
              <a:t>[catalog_svd_tsvd] SVD / TSVD / compression: https://arxiv.org/abs/1609.00324</a:t>
            </a:r>
          </a:p>
          <a:p>
            <a:r>
              <a:t>[catalog_fista_general] FISTA / proximal acceleration: https://doi.org/10.1137/080716542</a:t>
            </a:r>
          </a:p>
          <a:p>
            <a:r>
              <a:t>[catalog_upen_family] UPEN / 2DUPEN / MUPEN2D: https://arxiv.org/abs/1609.00324</a:t>
            </a:r>
          </a:p>
          <a:p>
            <a:endParaRPr/>
          </a:p>
          <a:p>
            <a:r>
              <a:t>mono_fit — Mono / multi-exponential fitting</a:t>
            </a:r>
          </a:p>
          <a:p>
            <a:r>
              <a:t>Contexto bibliográfico; consultar implementación</a:t>
            </a:r>
          </a:p>
          <a:p>
            <a:r>
              <a:t>Pocos componentes conocidos; empezar por monoexponencial en señal aislada.</a:t>
            </a:r>
          </a:p>
          <a:p>
            <a:r>
              <a:t>El ajuste de k exponentes presupone k; dos D próximos son difíciles de resolver.</a:t>
            </a:r>
          </a:p>
          <a:p>
            <a:endParaRPr/>
          </a:p>
          <a:p>
            <a:r>
              <a:t>https://nmr.chemistry.manchester.ac.uk/?q=node/430</a:t>
            </a:r>
          </a:p>
          <a:p>
            <a:endParaRPr/>
          </a:p>
          <a:p>
            <a:r>
              <a:t>contin_original — CONTIN</a:t>
            </a:r>
          </a:p>
          <a:p>
            <a:r>
              <a:t>Contexto bibliográfico; consultar implementación</a:t>
            </a:r>
          </a:p>
          <a:p>
            <a:r>
              <a:t>Distribución continua positiva con regularización y selección propia del parámetro.</a:t>
            </a:r>
          </a:p>
          <a:p>
            <a:r>
              <a:t>Tikhonov a λ fijo no es el programa CONTIN completo.</a:t>
            </a:r>
          </a:p>
          <a:p>
            <a:endParaRPr/>
          </a:p>
          <a:p>
            <a:r>
              <a:t>https://doi.org/10.1016/0010-4655(82)90174-6</a:t>
            </a:r>
          </a:p>
          <a:p>
            <a:endParaRPr/>
          </a:p>
          <a:p>
            <a:r>
              <a:t>svd_tsvd — SVD / TSVD / compression</a:t>
            </a:r>
          </a:p>
          <a:p>
            <a:r>
              <a:t>Contexto bibliográfico; consultar implementación</a:t>
            </a:r>
          </a:p>
          <a:p>
            <a:r>
              <a:t>Diagnosticar rango informativo; comprimir el problema o truncar modos débiles.</a:t>
            </a:r>
          </a:p>
          <a:p>
            <a:r>
              <a:t>SVD sola no garantiza positividad; más bins no crean resolución.</a:t>
            </a:r>
          </a:p>
          <a:p>
            <a:endParaRPr/>
          </a:p>
          <a:p>
            <a:r>
              <a:t>https://arxiv.org/abs/1609.00324</a:t>
            </a:r>
          </a:p>
          <a:p>
            <a:endParaRPr/>
          </a:p>
          <a:p>
            <a:r>
              <a:t>fista_general — FISTA / proximal acceleration</a:t>
            </a:r>
          </a:p>
          <a:p>
            <a:r>
              <a:t>Contexto bibliográfico; consultar implementación</a:t>
            </a:r>
          </a:p>
          <a:p>
            <a:r>
              <a:t>Motor numérico para objetivos L1 o L2 con proyección/proximales.</a:t>
            </a:r>
          </a:p>
          <a:p>
            <a:r>
              <a:t>El motor no define por sí mismo el prior ni el experimento.</a:t>
            </a:r>
          </a:p>
          <a:p>
            <a:endParaRPr/>
          </a:p>
          <a:p>
            <a:r>
              <a:t>https://doi.org/10.1137/080716542</a:t>
            </a:r>
          </a:p>
          <a:p>
            <a:endParaRPr/>
          </a:p>
          <a:p>
            <a:r>
              <a:t>upen_family — UPEN / 2DUPEN / MUPEN2D</a:t>
            </a:r>
          </a:p>
          <a:p>
            <a:r>
              <a:t>Contexto bibliográfico; consultar implementación</a:t>
            </a:r>
          </a:p>
          <a:p>
            <a:r>
              <a:t>Suavizado local adaptativo para máximos estrechos y regiones anchas.</a:t>
            </a:r>
          </a:p>
          <a:p>
            <a:r>
              <a:t>Indicar versión, positividad y operadores; no equiparar a curvature_reweighted genérico.</a:t>
            </a:r>
          </a:p>
          <a:p>
            <a:endParaRPr/>
          </a:p>
          <a:p>
            <a:r>
              <a:t>https://arxiv.org/abs/1609.00324</a:t>
            </a:r>
          </a:p>
          <a:p>
            <a:endParaRPr/>
          </a:p>
          <a:p>
            <a:r>
              <a:t>Fuentes:</a:t>
            </a:r>
          </a:p>
          <a:p>
            <a:r>
              <a:t>Audited bilingual catalogue of local inversion methods and context families</a:t>
            </a:r>
          </a:p>
          <a:p>
            <a:endParaRPr/>
          </a:p>
          <a:p>
            <a:r>
              <a:t>[local-source: ilt_algorithm_catalog_bilingual.json]</a:t>
            </a:r>
          </a:p>
          <a:p>
            <a:r>
              <a:t>Mono / multi-exponential fitting</a:t>
            </a:r>
          </a:p>
          <a:p>
            <a:r>
              <a:t>https://nmr.chemistry.manchester.ac.uk/?q=node/430</a:t>
            </a:r>
          </a:p>
          <a:p>
            <a:endParaRPr/>
          </a:p>
          <a:p>
            <a:r>
              <a:t>CONTIN</a:t>
            </a:r>
          </a:p>
          <a:p>
            <a:r>
              <a:t>https://doi.org/10.1016/0010-4655(82)90174-6</a:t>
            </a:r>
          </a:p>
          <a:p>
            <a:endParaRPr/>
          </a:p>
          <a:p>
            <a:r>
              <a:t>SVD / TSVD / compression</a:t>
            </a:r>
          </a:p>
          <a:p>
            <a:r>
              <a:t>https://arxiv.org/abs/1609.00324</a:t>
            </a:r>
          </a:p>
          <a:p>
            <a:endParaRPr/>
          </a:p>
          <a:p>
            <a:r>
              <a:t>FISTA / proximal acceleration</a:t>
            </a:r>
          </a:p>
          <a:p>
            <a:r>
              <a:t>https://doi.org/10.1137/080716542</a:t>
            </a:r>
          </a:p>
          <a:p>
            <a:endParaRPr/>
          </a:p>
          <a:p>
            <a:r>
              <a:t>UPEN / 2DUPEN / MUPEN2D</a:t>
            </a:r>
          </a:p>
          <a:p>
            <a:r>
              <a:t>https://arxiv.org/abs/1609.00324</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EDMILT [edmilt]</a:t>
            </a:r>
          </a:p>
          <a:p>
            <a:r>
              <a:t>Uso: ILT multidimensional con regularización adaptada; correlaciones D–T₂/T₁–T₂.</a:t>
            </a:r>
          </a:p>
          <a:p>
            <a:r>
              <a:t>Límites: Requiere datos/operadores multidimensionales; no se asume implementado en el selector Prime.</a:t>
            </a:r>
          </a:p>
          <a:p>
            <a:r>
              <a:t>Disponibilidad: Contexto bibliográfico; consultar implementación</a:t>
            </a:r>
          </a:p>
          <a:p>
            <a:r>
              <a:t>Fuente: https://pmc.ncbi.nlm.nih.gov/articles/PMC8397344/</a:t>
            </a:r>
          </a:p>
          <a:p>
            <a:endParaRPr/>
          </a:p>
          <a:p>
            <a:r>
              <a:t>DRECT [drect]</a:t>
            </a:r>
          </a:p>
          <a:p>
            <a:r>
              <a:t>Uso: Reconstrucción aprendida de mapas Laplace a partir de entrenamiento sintético.</a:t>
            </a:r>
          </a:p>
          <a:p>
            <a:r>
              <a:t>Límites: Comprobar kernel, rango, SNR y fuera de distribución; checkpoint archivado no equivale a validación local.</a:t>
            </a:r>
          </a:p>
          <a:p>
            <a:r>
              <a:t>Disponibilidad: Contexto bibliográfico; consultar implementación</a:t>
            </a:r>
          </a:p>
          <a:p>
            <a:r>
              <a:t>Fuente: https://github.com/WryBin/DRECT</a:t>
            </a:r>
          </a:p>
          <a:p>
            <a:endParaRPr/>
          </a:p>
          <a:p>
            <a:r>
              <a:t>DREAM [dream]</a:t>
            </a:r>
          </a:p>
          <a:p>
            <a:r>
              <a:t>Uso: Reconstrucción aprendida con estimación de incertidumbre aleatoria.</a:t>
            </a:r>
          </a:p>
          <a:p>
            <a:r>
              <a:t>Límites: Incertidumbre de la red no certifica identidad ni cobertura fuera del entrenamiento.</a:t>
            </a:r>
          </a:p>
          <a:p>
            <a:r>
              <a:t>Disponibilidad: Contexto bibliográfico; consultar implementación</a:t>
            </a:r>
          </a:p>
          <a:p>
            <a:r>
              <a:t>Fuente: https://pmc.ncbi.nlm.nih.gov/articles/PMC12383262/</a:t>
            </a:r>
          </a:p>
          <a:p>
            <a:endParaRPr/>
          </a:p>
          <a:p>
            <a:r>
              <a:t>CoMeF / DOSY-Net / DLEMLR / DILT [neural_other]</a:t>
            </a:r>
          </a:p>
          <a:p>
            <a:r>
              <a:t>Uso: Otras arquitecturas aprendidas para ILT/DOSY/multidimensional.</a:t>
            </a:r>
          </a:p>
          <a:p>
            <a:r>
              <a:t>Límites: Familia heterogénea: revisar artículo, pesos y dominio de cada implementación. Código archivado ≠ disponible en Prime.</a:t>
            </a:r>
          </a:p>
          <a:p>
            <a:r>
              <a:t>Disponibilidad: Contexto bibliográfico; consultar implementación</a:t>
            </a:r>
          </a:p>
          <a:p>
            <a:r>
              <a:t>Fuente: https://github.com/chenbo-cyber/DLEMLR</a:t>
            </a:r>
          </a:p>
          <a:p>
            <a:endParaRPr/>
          </a:p>
          <a:p>
            <a:r>
              <a:t>Fuentes: [ilt_catalog] Audited bilingual catalogue of local inversion methods and context families: [local-source: ilt_algorithm_catalog_bilingual.json]</a:t>
            </a:r>
          </a:p>
          <a:p>
            <a:r>
              <a:t>[catalog_edmilt] EDMILT: https://pmc.ncbi.nlm.nih.gov/articles/PMC8397344/</a:t>
            </a:r>
          </a:p>
          <a:p>
            <a:r>
              <a:t>[catalog_drect] DRECT: https://github.com/WryBin/DRECT</a:t>
            </a:r>
          </a:p>
          <a:p>
            <a:r>
              <a:t>[catalog_dream] DREAM: https://pmc.ncbi.nlm.nih.gov/articles/PMC12383262/</a:t>
            </a:r>
          </a:p>
          <a:p>
            <a:r>
              <a:t>[catalog_neural_other] CoMeF / DOSY-Net / DLEMLR / DILT: https://github.com/chenbo-cyber/DLEMLR</a:t>
            </a:r>
          </a:p>
          <a:p>
            <a:endParaRPr/>
          </a:p>
          <a:p>
            <a:r>
              <a:t>edmilt — EDMILT</a:t>
            </a:r>
          </a:p>
          <a:p>
            <a:r>
              <a:t>Contexto bibliográfico; consultar implementación</a:t>
            </a:r>
          </a:p>
          <a:p>
            <a:r>
              <a:t>ILT multidimensional con regularización adaptada; correlaciones D–T₂/T₁–T₂.</a:t>
            </a:r>
          </a:p>
          <a:p>
            <a:r>
              <a:t>Requiere datos/operadores multidimensionales; no se asume implementado en el selector Prime.</a:t>
            </a:r>
          </a:p>
          <a:p>
            <a:endParaRPr/>
          </a:p>
          <a:p>
            <a:r>
              <a:t>https://pmc.ncbi.nlm.nih.gov/articles/PMC8397344/</a:t>
            </a:r>
          </a:p>
          <a:p>
            <a:endParaRPr/>
          </a:p>
          <a:p>
            <a:r>
              <a:t>drect — DRECT</a:t>
            </a:r>
          </a:p>
          <a:p>
            <a:r>
              <a:t>Contexto bibliográfico; consultar implementación</a:t>
            </a:r>
          </a:p>
          <a:p>
            <a:r>
              <a:t>Reconstrucción aprendida de mapas Laplace a partir de entrenamiento sintético.</a:t>
            </a:r>
          </a:p>
          <a:p>
            <a:r>
              <a:t>Comprobar kernel, rango, SNR y fuera de distribución; checkpoint archivado no equivale a validación local.</a:t>
            </a:r>
          </a:p>
          <a:p>
            <a:endParaRPr/>
          </a:p>
          <a:p>
            <a:r>
              <a:t>https://github.com/WryBin/DRECT</a:t>
            </a:r>
          </a:p>
          <a:p>
            <a:endParaRPr/>
          </a:p>
          <a:p>
            <a:r>
              <a:t>dream — DREAM</a:t>
            </a:r>
          </a:p>
          <a:p>
            <a:r>
              <a:t>Contexto bibliográfico; consultar implementación</a:t>
            </a:r>
          </a:p>
          <a:p>
            <a:r>
              <a:t>Reconstrucción aprendida con estimación de incertidumbre aleatoria.</a:t>
            </a:r>
          </a:p>
          <a:p>
            <a:r>
              <a:t>Incertidumbre de la red no certifica identidad ni cobertura fuera del entrenamiento.</a:t>
            </a:r>
          </a:p>
          <a:p>
            <a:endParaRPr/>
          </a:p>
          <a:p>
            <a:r>
              <a:t>https://pmc.ncbi.nlm.nih.gov/articles/PMC12383262/</a:t>
            </a:r>
          </a:p>
          <a:p>
            <a:endParaRPr/>
          </a:p>
          <a:p>
            <a:r>
              <a:t>neural_other — CoMeF / DOSY-Net / DLEMLR / DILT</a:t>
            </a:r>
          </a:p>
          <a:p>
            <a:r>
              <a:t>Contexto bibliográfico; consultar implementación</a:t>
            </a:r>
          </a:p>
          <a:p>
            <a:r>
              <a:t>Otras arquitecturas aprendidas para ILT/DOSY/multidimensional.</a:t>
            </a:r>
          </a:p>
          <a:p>
            <a:r>
              <a:t>Familia heterogénea: revisar artículo, pesos y dominio de cada implementación. Código archivado ≠ disponible en Prime.</a:t>
            </a:r>
          </a:p>
          <a:p>
            <a:endParaRPr/>
          </a:p>
          <a:p>
            <a:r>
              <a:t>https://github.com/chenbo-cyber/DLEMLR</a:t>
            </a:r>
          </a:p>
          <a:p>
            <a:endParaRPr/>
          </a:p>
          <a:p>
            <a:r>
              <a:t>Fuentes:</a:t>
            </a:r>
          </a:p>
          <a:p>
            <a:r>
              <a:t>Audited bilingual catalogue of local inversion methods and context families</a:t>
            </a:r>
          </a:p>
          <a:p>
            <a:endParaRPr/>
          </a:p>
          <a:p>
            <a:r>
              <a:t>[local-source: ilt_algorithm_catalog_bilingual.json]</a:t>
            </a:r>
          </a:p>
          <a:p>
            <a:r>
              <a:t>EDMILT</a:t>
            </a:r>
          </a:p>
          <a:p>
            <a:r>
              <a:t>https://pmc.ncbi.nlm.nih.gov/articles/PMC8397344/</a:t>
            </a:r>
          </a:p>
          <a:p>
            <a:endParaRPr/>
          </a:p>
          <a:p>
            <a:r>
              <a:t>DRECT</a:t>
            </a:r>
          </a:p>
          <a:p>
            <a:r>
              <a:t>https://github.com/WryBin/DRECT</a:t>
            </a:r>
          </a:p>
          <a:p>
            <a:endParaRPr/>
          </a:p>
          <a:p>
            <a:r>
              <a:t>DREAM</a:t>
            </a:r>
          </a:p>
          <a:p>
            <a:r>
              <a:t>https://pmc.ncbi.nlm.nih.gov/articles/PMC12383262/</a:t>
            </a:r>
          </a:p>
          <a:p>
            <a:endParaRPr/>
          </a:p>
          <a:p>
            <a:r>
              <a:t>CoMeF / DOSY-Net / DLEMLR / DILT</a:t>
            </a:r>
          </a:p>
          <a:p>
            <a:r>
              <a:t>https://github.com/chenbo-cyber/DLEMLR</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DISCRETE / SPLMOD / Prony / matrix pencil [discrete_original]</a:t>
            </a:r>
          </a:p>
          <a:p>
            <a:r>
              <a:t>Uso: Sumas de un número finito de exponenciales; polos y amplitudes.</a:t>
            </a:r>
          </a:p>
          <a:p>
            <a:r>
              <a:t>Límites: Hipótesis discreta, orden y muestreo importan; no son una distribución continua.</a:t>
            </a:r>
          </a:p>
          <a:p>
            <a:r>
              <a:t>Disponibilidad: Contexto bibliográfico; consultar implementación</a:t>
            </a:r>
          </a:p>
          <a:p>
            <a:r>
              <a:t>Fuente: https://nmr.chemistry.manchester.ac.uk/?q=node/430</a:t>
            </a:r>
          </a:p>
          <a:p>
            <a:endParaRPr/>
          </a:p>
          <a:p>
            <a:r>
              <a:t>Landweber / CG / LSQR / early stopping [iterative_general]</a:t>
            </a:r>
          </a:p>
          <a:p>
            <a:r>
              <a:t>Uso: Motores iterativos; parada temprana como regularización.</a:t>
            </a:r>
          </a:p>
          <a:p>
            <a:r>
              <a:t>Límites: Convergencia del residuo no prueba resolución de componentes.</a:t>
            </a:r>
          </a:p>
          <a:p>
            <a:r>
              <a:t>Disponibilidad: Contexto bibliográfico; consultar implementación</a:t>
            </a:r>
          </a:p>
          <a:p>
            <a:r>
              <a:t>Fuente: https://web.stanford.edu/group/SOL/software/lsqr/</a:t>
            </a:r>
          </a:p>
          <a:p>
            <a:endParaRPr/>
          </a:p>
          <a:p>
            <a:r>
              <a:t>Discrepancy / L-curve / GCV / held-out / bootstrap [parameter_selection]</a:t>
            </a:r>
          </a:p>
          <a:p>
            <a:r>
              <a:t>Uso: Elegir regularización o rango y estudiar estabilidad/incertidumbre.</a:t>
            </a:r>
          </a:p>
          <a:p>
            <a:r>
              <a:t>Límites: Son estrategias de selección/diagnóstico; no nuevos solvers ni verdad experimental.</a:t>
            </a:r>
          </a:p>
          <a:p>
            <a:r>
              <a:t>Disponibilidad: Contexto bibliográfico; consultar implementación</a:t>
            </a:r>
          </a:p>
          <a:p>
            <a:r>
              <a:t>Fuente: https://nmr.chemistry.manchester.ac.uk/?q=node/430</a:t>
            </a:r>
          </a:p>
          <a:p>
            <a:endParaRPr/>
          </a:p>
          <a:p>
            <a:r>
              <a:t>Fuentes: [ilt_catalog] Audited bilingual catalogue of local inversion methods and context families: [local-source: ilt_algorithm_catalog_bilingual.json]</a:t>
            </a:r>
          </a:p>
          <a:p>
            <a:r>
              <a:t>[catalog_discrete_original] DISCRETE / SPLMOD / Prony / matrix pencil: https://nmr.chemistry.manchester.ac.uk/?q=node/430</a:t>
            </a:r>
          </a:p>
          <a:p>
            <a:r>
              <a:t>[catalog_iterative_general] Landweber / CG / LSQR / early stopping: https://web.stanford.edu/group/SOL/software/lsqr/</a:t>
            </a:r>
          </a:p>
          <a:p>
            <a:r>
              <a:t>[catalog_parameter_selection] Discrepancy / L-curve / GCV / held-out / bootstrap: https://nmr.chemistry.manchester.ac.uk/?q=node/430</a:t>
            </a:r>
          </a:p>
          <a:p>
            <a:endParaRPr/>
          </a:p>
          <a:p>
            <a:r>
              <a:t>discrete_original — DISCRETE / SPLMOD / Prony / matrix pencil</a:t>
            </a:r>
          </a:p>
          <a:p>
            <a:r>
              <a:t>Contexto bibliográfico; consultar implementación</a:t>
            </a:r>
          </a:p>
          <a:p>
            <a:r>
              <a:t>Sumas de un número finito de exponenciales; polos y amplitudes.</a:t>
            </a:r>
          </a:p>
          <a:p>
            <a:r>
              <a:t>Hipótesis discreta, orden y muestreo importan; no son una distribución continua.</a:t>
            </a:r>
          </a:p>
          <a:p>
            <a:endParaRPr/>
          </a:p>
          <a:p>
            <a:r>
              <a:t>https://nmr.chemistry.manchester.ac.uk/?q=node/430</a:t>
            </a:r>
          </a:p>
          <a:p>
            <a:endParaRPr/>
          </a:p>
          <a:p>
            <a:r>
              <a:t>iterative_general — Landweber / CG / LSQR / early stopping</a:t>
            </a:r>
          </a:p>
          <a:p>
            <a:r>
              <a:t>Contexto bibliográfico; consultar implementación</a:t>
            </a:r>
          </a:p>
          <a:p>
            <a:r>
              <a:t>Motores iterativos; parada temprana como regularización.</a:t>
            </a:r>
          </a:p>
          <a:p>
            <a:r>
              <a:t>Convergencia del residuo no prueba resolución de componentes.</a:t>
            </a:r>
          </a:p>
          <a:p>
            <a:endParaRPr/>
          </a:p>
          <a:p>
            <a:r>
              <a:t>https://web.stanford.edu/group/SOL/software/lsqr/</a:t>
            </a:r>
          </a:p>
          <a:p>
            <a:endParaRPr/>
          </a:p>
          <a:p>
            <a:r>
              <a:t>parameter_selection — Discrepancy / L-curve / GCV / held-out / bootstrap</a:t>
            </a:r>
          </a:p>
          <a:p>
            <a:r>
              <a:t>Contexto bibliográfico; consultar implementación</a:t>
            </a:r>
          </a:p>
          <a:p>
            <a:r>
              <a:t>Elegir regularización o rango y estudiar estabilidad/incertidumbre.</a:t>
            </a:r>
          </a:p>
          <a:p>
            <a:r>
              <a:t>Son estrategias de selección/diagnóstico; no nuevos solvers ni verdad experimental.</a:t>
            </a:r>
          </a:p>
          <a:p>
            <a:endParaRPr/>
          </a:p>
          <a:p>
            <a:r>
              <a:t>https://nmr.chemistry.manchester.ac.uk/?q=node/430</a:t>
            </a:r>
          </a:p>
          <a:p>
            <a:endParaRPr/>
          </a:p>
          <a:p>
            <a:r>
              <a:t>Fuentes:</a:t>
            </a:r>
          </a:p>
          <a:p>
            <a:r>
              <a:t>Audited bilingual catalogue of local inversion methods and context families</a:t>
            </a:r>
          </a:p>
          <a:p>
            <a:endParaRPr/>
          </a:p>
          <a:p>
            <a:r>
              <a:t>[local-source: ilt_algorithm_catalog_bilingual.json]</a:t>
            </a:r>
          </a:p>
          <a:p>
            <a:r>
              <a:t>DISCRETE / SPLMOD / Prony / matrix pencil</a:t>
            </a:r>
          </a:p>
          <a:p>
            <a:r>
              <a:t>https://nmr.chemistry.manchester.ac.uk/?q=node/430</a:t>
            </a:r>
          </a:p>
          <a:p>
            <a:endParaRPr/>
          </a:p>
          <a:p>
            <a:r>
              <a:t>Landweber / CG / LSQR / early stopping</a:t>
            </a:r>
          </a:p>
          <a:p>
            <a:r>
              <a:t>https://web.stanford.edu/group/SOL/software/lsqr/</a:t>
            </a:r>
          </a:p>
          <a:p>
            <a:endParaRPr/>
          </a:p>
          <a:p>
            <a:r>
              <a:t>Discrepancy / L-curve / GCV / held-out / bootstrap</a:t>
            </a:r>
          </a:p>
          <a:p>
            <a:r>
              <a:t>https://nmr.chemistry.manchester.ac.uk/?q=node/430</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La relación I/I0=exp(-bD) resume la difusión libre gaussiana, pero b cambia con la secuencia. Esta tabla muestra únicamente pulsos rectangulares, adaptando la tabla 2 de Sinnaeve, página 58. En monopolar, PGSE o PGSTE, F=Delta-delta/3. Con un par bipolar equilibrado se resta la corrección tau/2 del intervalo interno. Con doble bipolar, para dos bloques iguales Delta/2, aparecen dos correcciones de duración y los intervalos tau1 y tau2. Aquí delta bipolar es la suma de las duraciones de los dos lóbulos, cada uno delta/2; no incluye el hueco entre ambos. Delta del doble experimento es el tiempo total según la definición de la tabla. No insertar nombres de parámetros Bruker en estas letras sin mirar el cronograma. Las formas sinusoidal, cuadrado de seno o rectangular suavizada cambian tanto el factor de área como la corrección temporal. Las secuencias one-shot añaden parámetros de desequilibrio; no reutilizar la columna bipolar equilibrada. Las fórmulas de la tabla no incluyen automáticamente gradientes adicionales, términos cruzados ni difusión restringida. En la práctica, abrir el pulseprogram adquirido y la forma GPNAM6, identificar la familia y usar su definición de b. Bipolar y compensado frente a convección no son sinónimos. No necesitamos derivar la tabla durante el workshop.</a:t>
            </a:r>
          </a:p>
          <a:p>
            <a:endParaRPr/>
          </a:p>
          <a:p>
            <a:r>
              <a:t>Fuentes: [sinnaeve_2012] D. Sinnaeve (2012), The Stejskal–Tanner Equation Generalized for Any Gradient Shape. Table 2, p.58; definitions pp.50–51: https://doi.org/10.1002/cmr.a.21223</a:t>
            </a:r>
          </a:p>
          <a:p>
            <a:r>
              <a:t>[calibration] Calibración DOSY según la sonda, secuencia, gradiente, temperatura y referencia interna: [local-source: CALIBRACION_SONDA_SECUENCIA_GRADIENTE.md]</a:t>
            </a:r>
          </a:p>
          <a:p>
            <a:r>
              <a:t>[parameters_audit] Read-only audit of pulse calibration and sequence-dependent timing parameters: [local-source: parameters_pulse_evidence.json]</a:t>
            </a:r>
          </a:p>
          <a:p>
            <a:endParaRPr/>
          </a:p>
          <a:p>
            <a:endParaRPr/>
          </a:p>
          <a:p>
            <a:endParaRPr/>
          </a:p>
          <a:p>
            <a:r>
              <a:t>Fuentes:</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r>
              <a:t>Calibración DOSY según la sonda, secuencia, gradiente, temperatura y referencia interna</a:t>
            </a:r>
          </a:p>
          <a:p>
            <a:endParaRPr/>
          </a:p>
          <a:p>
            <a:r>
              <a:t>[local-source: CALIBRACION_SONDA_SECUENCIA_GRADIENTE.md]</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Este es el modelo usado por el perfil TBO compartido para stebpgp1s1d con SMSQ10.100. El factor 0,81 corresponde a 0,90 al cuadrado: 0,90 es el factor de área de esta forma, no una propiedad universal de la sonda. El coeficiente temporal teórico del rectangular suavizado bipolar es (6344*pi^2-207)/(19440*pi^2), aproximadamente 0,3252585656; el perfil conserva 0,32525. P30=600 microsegundos por lóbulo da delta=1,20 milisegundos. P1 pertenece a radiofrecuencia y no sustituye a P30. En el cronograma de este experimento, tau incluye d16 y p2; el perfil aproxima tau por D16. Para los valores guardados, D16=1 ms y P2=31,6 microsegundos, el intervalo completo es 1,0316 ms. Esta aproximación se declara y no se modifica la calibración experimental guardada. Usar segundos, teslas por metro y gamma en radianes por segundo por tesla al calcular b en s/m². GPZ6/100 es una fracción de la amplitud máxima calibrada. Verificar la secuencia y el archivo de forma, no solo el nombre de la sonda. Si cambian Delta, delta o forma, recalcular b con el modelo correspondiente y comprobar el patrón; el b100 empírico pertenece a las condiciones en que se midió.</a:t>
            </a:r>
          </a:p>
          <a:p>
            <a:endParaRPr/>
          </a:p>
          <a:p>
            <a:r>
              <a:t>Fuentes: [sinnaeve_2012] D. Sinnaeve (2012), The Stejskal–Tanner Equation Generalized for Any Gradient Shape. Table 2, p.58; definitions pp.50–51: https://doi.org/10.1002/cmr.a.21223</a:t>
            </a:r>
          </a:p>
          <a:p>
            <a:r>
              <a:t>[calibration] Calibración DOSY según la sonda, secuencia, gradiente, temperatura y referencia interna: [local-source: CALIBRACION_SONDA_SECUENCIA_GRADIENTE.md]</a:t>
            </a:r>
          </a:p>
          <a:p>
            <a:r>
              <a:t>[equation_audit] Read-only comparison of the TBO software profile and acquired pulse program: [local-source: local_equation_audit.json]</a:t>
            </a:r>
          </a:p>
          <a:p>
            <a:r>
              <a:t>[tbo] TBO HDO experimental calibration, 4 September 2026: [local-source: TBO_HDO_20260904.json]</a:t>
            </a:r>
          </a:p>
          <a:p>
            <a:r>
              <a:t>[parameters_audit] Read-only audit of pulse calibration and sequence-dependent timing parameters: [local-source: parameters_pulse_evidence.json]</a:t>
            </a:r>
          </a:p>
          <a:p>
            <a:endParaRPr/>
          </a:p>
          <a:p>
            <a:endParaRPr/>
          </a:p>
          <a:p>
            <a:endParaRPr/>
          </a:p>
          <a:p>
            <a:r>
              <a:t>Fuentes:</a:t>
            </a:r>
          </a:p>
          <a:p>
            <a:r>
              <a:t>D. Sinnaeve (2012), The Stejskal–Tanner Equation Generalized for Any Gradient Shape. Table 2, p.58; definitions pp.50–51</a:t>
            </a:r>
          </a:p>
          <a:p>
            <a:r>
              <a:t>https://doi.org/10.1002/cmr.a.21223</a:t>
            </a:r>
          </a:p>
          <a:p>
            <a:r>
              <a:t>[local-source: Mendeley] Reference Manager\userfiles\35ec08f9-3640-0c4b-0bcc-fe3f454aba96.pdf</a:t>
            </a:r>
          </a:p>
          <a:p>
            <a:r>
              <a:t>Calibración DOSY según la sonda, secuencia, gradiente, temperatura y referencia interna</a:t>
            </a:r>
          </a:p>
          <a:p>
            <a:endParaRPr/>
          </a:p>
          <a:p>
            <a:r>
              <a:t>[local-source: CALIBRACION_SONDA_SECUENCIA_GRADIENTE.md]</a:t>
            </a:r>
          </a:p>
          <a:p>
            <a:r>
              <a:t>Read-only comparison of the TBO software profile and acquired pulse program</a:t>
            </a:r>
          </a:p>
          <a:p>
            <a:endParaRPr/>
          </a:p>
          <a:p>
            <a:r>
              <a:t>[local-source: local_equation_audit.json]</a:t>
            </a:r>
          </a:p>
          <a:p>
            <a:r>
              <a:t>TBO HDO experimental calibration, 4 September 2026</a:t>
            </a:r>
          </a:p>
          <a:p>
            <a:endParaRPr/>
          </a:p>
          <a:p>
            <a:r>
              <a:t>[local-source: TBO_HDO_20260904.json]</a:t>
            </a:r>
          </a:p>
          <a:p>
            <a:r>
              <a:t>Read-only audit of pulse calibration and sequence-dependent timing parameters</a:t>
            </a:r>
          </a:p>
          <a:p>
            <a:endParaRPr/>
          </a:p>
          <a:p>
            <a:r>
              <a:t>[local-source: parameters_pulse_evidence.json]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La explicación mínima del mal condicionamiento está en este núcleo: una matriz exponencial cuyas columnas son muy parecidas. Algunas combinaciones de pesos alteran muy poco la señal; al invertir, el ruido se amplifica en esas direcciones. En el ejemplo tenemos 25 medidas y 110 pesos, pero el problema no es solo contar incógnitas: los valores singulares decaen con rapidez. Aumentar la rejilla no añade información medida. Regularizar introduce una preferencia para escoger entre soluciones compatibles; ahora veremos qué coste tiene.</a:t>
            </a:r>
          </a:p>
          <a:p>
            <a:endParaRPr/>
          </a:p>
          <a:p>
            <a:endParaRPr/>
          </a:p>
          <a:p>
            <a:endParaRPr/>
          </a:p>
          <a:p>
            <a:r>
              <a:t>Fuentes:</a:t>
            </a:r>
          </a:p>
          <a:p>
            <a:r>
              <a:t>Reproducible v5 ILT ambiguity and regularization simulations</a:t>
            </a:r>
          </a:p>
          <a:p>
            <a:endParaRPr/>
          </a:p>
          <a:p>
            <a:r>
              <a:t>[local-source: ilt_simulations.json]</a:t>
            </a:r>
          </a:p>
          <a:p>
            <a:r>
              <a:t>ILT method-choice and appendix guidance</a:t>
            </a:r>
          </a:p>
          <a:p>
            <a:endParaRPr/>
          </a:p>
          <a:p>
            <a:r>
              <a:t>[local-source: ilt_teaching_guidance.json]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 consulta · 0 s</a:t>
            </a:r>
          </a:p>
          <a:p>
            <a:endParaRPr/>
          </a:p>
          <a:p>
            <a:r>
              <a:t>No elegimos por el nombre más moderno. Si esperamos una única difusión en una señal aislada, empezamos por el modelo monoexponencial. Si la pregunta es una distribución continua, métodos de suavizado, entropía o combinaciones como PALMA imponen preferencias distintas. Si esperamos pocas especies discretas, métodos dispersos o ajustes discretos piden justificar el número y la separación. Para relaciones entre frecuencias usamos rutas conjuntas. FISTA, ADMM y SVD son herramientas numéricas: no sustituyen por sí solas el modelo físico. El catálogo completo está en el apéndice para consultar cada uso y limitación. Sus registros incluyen métodos, rutas y componentes solapados; no son un conteo de algoritmos únicos ni una certificación experimental.</a:t>
            </a:r>
          </a:p>
          <a:p>
            <a:endParaRPr/>
          </a:p>
          <a:p>
            <a:endParaRPr/>
          </a:p>
          <a:p>
            <a:endParaRPr/>
          </a:p>
          <a:p>
            <a:r>
              <a:t>Fuentes:</a:t>
            </a:r>
          </a:p>
          <a:p>
            <a:r>
              <a:t>Audited bilingual catalogue of local inversion methods and context families</a:t>
            </a:r>
          </a:p>
          <a:p>
            <a:endParaRPr/>
          </a:p>
          <a:p>
            <a:r>
              <a:t>[local-source: ilt_algorithm_catalog_bilingual.json]</a:t>
            </a:r>
          </a:p>
          <a:p>
            <a:r>
              <a:t>ILT method-choice and appendix guidance</a:t>
            </a:r>
          </a:p>
          <a:p>
            <a:endParaRPr/>
          </a:p>
          <a:p>
            <a:r>
              <a:t>[local-source: ilt_teaching_guidance.json]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6AD12E9-5647-44F7-BEFB-904CB2012B9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E32971A-8EE9-4AF2-9DDD-915679FF981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9C2992B-59D0-4A80-8813-FCC3801EC62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DECFEF4-823C-441A-88FC-3A99B5AFAEF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ECF79232-4CF7-495F-B5AC-5841E415178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E3E86A4-B13A-40A1-9146-C3567D869B4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FB03A53-0E49-45A6-A9CB-55FD928DC1F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8B380759-490C-406B-9041-43A8EFDB178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298AB46-1E4B-43DA-A39B-455E2BE0E5C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1296BB3-D472-4368-9065-7658B66750A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6" name="cover_title">
            <a:extLst>
              <a:ext uri="{FF2B5EF4-FFF2-40B4-BE49-F238E27FC236}">
                <a16:creationId xmlns:a16="http://schemas.microsoft.com/office/drawing/2014/main" id="{025E697E-7727-429E-A8D4-45150C5DA304}"/>
              </a:ext>
            </a:extLst>
          </p:cNvPr>
          <p:cNvSpPr>
            <a:spLocks noGrp="1"/>
          </p:cNvSpPr>
          <p:nvPr/>
        </p:nvSpPr>
        <p:spPr>
          <a:xfrm>
            <a:off x="561975" y="581025"/>
            <a:ext cx="11001375" cy="1438275"/>
          </a:xfrm>
          <a:prstGeom prst="rect">
            <a:avLst/>
          </a:prstGeom>
          <a:noFill/>
          <a:ln w="0">
            <a:noFill/>
          </a:ln>
        </p:spPr>
        <p:txBody>
          <a:bodyPr lIns="0" tIns="0" rIns="0" bIns="0">
            <a:noAutofit/>
          </a:bodyPr>
          <a:lstStyle>
            <a:defPPr>
              <a:defRPr sz="9300" b="1">
                <a:solidFill>
                  <a:srgbClr val="123447"/>
                </a:solidFill>
                <a:latin typeface="Segoe UI"/>
                <a:ea typeface="Segoe UI"/>
                <a:cs typeface="Segoe UI"/>
              </a:defRPr>
            </a:defPPr>
          </a:lstStyle>
          <a:p>
            <a:pPr>
              <a:defRPr sz="9300" b="1">
                <a:solidFill>
                  <a:srgbClr val="123447"/>
                </a:solidFill>
                <a:latin typeface="Segoe UI"/>
                <a:ea typeface="Segoe UI"/>
                <a:cs typeface="Segoe UI"/>
              </a:defRPr>
            </a:pPr>
            <a:r>
              <a:rPr sz="9300" b="1">
                <a:solidFill>
                  <a:srgbClr val="123447"/>
                </a:solidFill>
                <a:latin typeface="Segoe UI"/>
                <a:ea typeface="Segoe UI"/>
                <a:cs typeface="Segoe UI"/>
              </a:rPr>
              <a:t>DOSY</a:t>
            </a:r>
          </a:p>
        </p:txBody>
      </p:sp>
      <p:sp>
        <p:nvSpPr>
          <p:cNvPr id="2" name="cover_subtitle">
            <a:extLst>
              <a:ext uri="{FF2B5EF4-FFF2-40B4-BE49-F238E27FC236}">
                <a16:creationId xmlns:a16="http://schemas.microsoft.com/office/drawing/2014/main" id="{93342D4C-9E01-4185-94A2-46C3930352D1}"/>
              </a:ext>
            </a:extLst>
          </p:cNvPr>
          <p:cNvSpPr>
            <a:spLocks noGrp="1"/>
          </p:cNvSpPr>
          <p:nvPr/>
        </p:nvSpPr>
        <p:spPr>
          <a:xfrm>
            <a:off x="619125" y="2352675"/>
            <a:ext cx="10991850" cy="2057400"/>
          </a:xfrm>
          <a:prstGeom prst="rect">
            <a:avLst/>
          </a:prstGeom>
          <a:noFill/>
          <a:ln w="0">
            <a:noFill/>
          </a:ln>
        </p:spPr>
        <p:txBody>
          <a:bodyPr lIns="0" tIns="0" rIns="0" bIns="0">
            <a:noAutofit/>
          </a:bodyPr>
          <a:lstStyle>
            <a:defPPr>
              <a:defRPr sz="5250" b="1">
                <a:solidFill>
                  <a:srgbClr val="BE4038"/>
                </a:solidFill>
                <a:latin typeface="Segoe UI"/>
                <a:ea typeface="Segoe UI"/>
                <a:cs typeface="Segoe UI"/>
              </a:defRPr>
            </a:defPPr>
          </a:lstStyle>
          <a:p>
            <a:pPr>
              <a:defRPr sz="5250" b="1">
                <a:solidFill>
                  <a:srgbClr val="BE4038"/>
                </a:solidFill>
                <a:latin typeface="Segoe UI"/>
                <a:ea typeface="Segoe UI"/>
                <a:cs typeface="Segoe UI"/>
              </a:defRPr>
            </a:pPr>
            <a:r>
              <a:rPr sz="5250" b="1">
                <a:solidFill>
                  <a:srgbClr val="BE4038"/>
                </a:solidFill>
                <a:latin typeface="Segoe UI"/>
                <a:ea typeface="Segoe UI"/>
                <a:cs typeface="Segoe UI"/>
              </a:rPr>
              <a:t>Cómo resolver</a:t>
            </a:r>
          </a:p>
          <a:p>
            <a:pPr>
              <a:defRPr sz="5250" b="1">
                <a:solidFill>
                  <a:srgbClr val="BE4038"/>
                </a:solidFill>
                <a:latin typeface="Segoe UI"/>
                <a:ea typeface="Segoe UI"/>
                <a:cs typeface="Segoe UI"/>
              </a:defRPr>
            </a:pPr>
            <a:r>
              <a:rPr sz="5250" b="1">
                <a:solidFill>
                  <a:srgbClr val="BE4038"/>
                </a:solidFill>
                <a:latin typeface="Segoe UI"/>
                <a:ea typeface="Segoe UI"/>
                <a:cs typeface="Segoe UI"/>
              </a:rPr>
              <a:t>sus dificultades</a:t>
            </a:r>
          </a:p>
        </p:txBody>
      </p:sp>
      <p:sp>
        <p:nvSpPr>
          <p:cNvPr id="3" name="text_1">
            <a:extLst>
              <a:ext uri="{FF2B5EF4-FFF2-40B4-BE49-F238E27FC236}">
                <a16:creationId xmlns:a16="http://schemas.microsoft.com/office/drawing/2014/main" id="{674FDBED-E9F5-4A11-AA94-E097526854ED}"/>
              </a:ext>
            </a:extLst>
          </p:cNvPr>
          <p:cNvSpPr>
            <a:spLocks noGrp="1"/>
          </p:cNvSpPr>
          <p:nvPr/>
        </p:nvSpPr>
        <p:spPr>
          <a:xfrm>
            <a:off x="647700" y="4552950"/>
            <a:ext cx="10820400" cy="466725"/>
          </a:xfrm>
          <a:prstGeom prst="rect">
            <a:avLst/>
          </a:prstGeom>
          <a:noFill/>
          <a:ln w="0">
            <a:noFill/>
          </a:ln>
        </p:spPr>
        <p:txBody>
          <a:bodyPr lIns="0" tIns="0" rIns="0" bIns="0">
            <a:noAutofit/>
          </a:bodyPr>
          <a:lstStyle>
            <a:defPPr>
              <a:defRPr sz="2250" b="0">
                <a:solidFill>
                  <a:srgbClr val="617580"/>
                </a:solidFill>
                <a:latin typeface="Segoe UI"/>
                <a:ea typeface="Segoe UI"/>
                <a:cs typeface="Segoe UI"/>
              </a:defRPr>
            </a:defPPr>
          </a:lstStyle>
          <a:p>
            <a:pPr>
              <a:defRPr sz="2250" b="0">
                <a:solidFill>
                  <a:srgbClr val="617580"/>
                </a:solidFill>
                <a:latin typeface="Segoe UI"/>
                <a:ea typeface="Segoe UI"/>
                <a:cs typeface="Segoe UI"/>
              </a:defRPr>
            </a:pPr>
            <a:r>
              <a:rPr sz="2250" b="0">
                <a:solidFill>
                  <a:srgbClr val="617580"/>
                </a:solidFill>
                <a:latin typeface="Segoe UI"/>
                <a:ea typeface="Segoe UI"/>
                <a:cs typeface="Segoe UI"/>
              </a:rPr>
              <a:t>Un recorrido práctico · 20 minutos</a:t>
            </a:r>
          </a:p>
        </p:txBody>
      </p:sp>
      <p:sp>
        <p:nvSpPr>
          <p:cNvPr id="4" name="text_2">
            <a:extLst>
              <a:ext uri="{FF2B5EF4-FFF2-40B4-BE49-F238E27FC236}">
                <a16:creationId xmlns:a16="http://schemas.microsoft.com/office/drawing/2014/main" id="{446900E0-B06F-475B-87E1-8DEA01E08BCF}"/>
              </a:ext>
            </a:extLst>
          </p:cNvPr>
          <p:cNvSpPr>
            <a:spLocks noGrp="1"/>
          </p:cNvSpPr>
          <p:nvPr/>
        </p:nvSpPr>
        <p:spPr>
          <a:xfrm>
            <a:off x="647700" y="5353050"/>
            <a:ext cx="10001250" cy="752475"/>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Ignacio Fernández</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Francisco Manuel Arrabal-Campos</a:t>
            </a:r>
          </a:p>
        </p:txBody>
      </p:sp>
      <p:sp>
        <p:nvSpPr>
          <p:cNvPr id="5" name="text_3">
            <a:extLst>
              <a:ext uri="{FF2B5EF4-FFF2-40B4-BE49-F238E27FC236}">
                <a16:creationId xmlns:a16="http://schemas.microsoft.com/office/drawing/2014/main" id="{B5911758-C724-4E39-9BA2-1AD474B24ADF}"/>
              </a:ext>
            </a:extLst>
          </p:cNvPr>
          <p:cNvSpPr>
            <a:spLocks noGrp="1"/>
          </p:cNvSpPr>
          <p:nvPr/>
        </p:nvSpPr>
        <p:spPr>
          <a:xfrm>
            <a:off x="647700" y="6324600"/>
            <a:ext cx="10477500" cy="304800"/>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Universidad de Almería · CIAIMBITAL / CIMEDES</a:t>
            </a:r>
          </a:p>
        </p:txBody>
      </p:sp>
    </p:spTree>
    <p:extLst>
      <p:ext uri="{BB962C8B-B14F-4D97-AF65-F5344CB8AC3E}">
        <p14:creationId xmlns:p14="http://schemas.microsoft.com/office/powerpoint/2010/main" val="206266740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15" name="slide_number">
            <a:extLst>
              <a:ext uri="{FF2B5EF4-FFF2-40B4-BE49-F238E27FC236}">
                <a16:creationId xmlns:a16="http://schemas.microsoft.com/office/drawing/2014/main" id="{6DDD485B-BEFA-4EB7-B293-6765D9BFD2D1}"/>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02</a:t>
            </a:r>
          </a:p>
        </p:txBody>
      </p:sp>
      <p:sp>
        <p:nvSpPr>
          <p:cNvPr id="2" name="slide_title">
            <a:extLst>
              <a:ext uri="{FF2B5EF4-FFF2-40B4-BE49-F238E27FC236}">
                <a16:creationId xmlns:a16="http://schemas.microsoft.com/office/drawing/2014/main" id="{63B1508C-1A87-4FFA-9A80-D340298B6B63}"/>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675" b="1">
                <a:solidFill>
                  <a:srgbClr val="EAF3F4"/>
                </a:solidFill>
                <a:latin typeface="Segoe UI"/>
                <a:ea typeface="Segoe UI"/>
                <a:cs typeface="Segoe UI"/>
              </a:defRPr>
            </a:defPPr>
          </a:lstStyle>
          <a:p>
            <a:pPr>
              <a:defRPr sz="3675" b="1">
                <a:solidFill>
                  <a:srgbClr val="EAF3F4"/>
                </a:solidFill>
                <a:latin typeface="Segoe UI"/>
                <a:ea typeface="Segoe UI"/>
                <a:cs typeface="Segoe UI"/>
              </a:defRPr>
            </a:pPr>
            <a:r>
              <a:rPr sz="3675" b="1">
                <a:solidFill>
                  <a:srgbClr val="EAF3F4"/>
                </a:solidFill>
                <a:latin typeface="Segoe UI"/>
                <a:ea typeface="Segoe UI"/>
                <a:cs typeface="Segoe UI"/>
              </a:rPr>
              <a:t>Medir, procesar y comprobar un DOSY</a:t>
            </a:r>
          </a:p>
        </p:txBody>
      </p:sp>
      <p:sp>
        <p:nvSpPr>
          <p:cNvPr id="3" name="text_4">
            <a:extLst>
              <a:ext uri="{FF2B5EF4-FFF2-40B4-BE49-F238E27FC236}">
                <a16:creationId xmlns:a16="http://schemas.microsoft.com/office/drawing/2014/main" id="{D08D1A7A-EFF7-4A70-BB65-1A8743D23D91}"/>
              </a:ext>
            </a:extLst>
          </p:cNvPr>
          <p:cNvSpPr>
            <a:spLocks noGrp="1"/>
          </p:cNvSpPr>
          <p:nvPr/>
        </p:nvSpPr>
        <p:spPr>
          <a:xfrm>
            <a:off x="581025" y="1866900"/>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01</a:t>
            </a:r>
          </a:p>
        </p:txBody>
      </p:sp>
      <p:sp>
        <p:nvSpPr>
          <p:cNvPr id="4" name="text_5">
            <a:extLst>
              <a:ext uri="{FF2B5EF4-FFF2-40B4-BE49-F238E27FC236}">
                <a16:creationId xmlns:a16="http://schemas.microsoft.com/office/drawing/2014/main" id="{375ECC12-4E0E-4E27-A16A-5701DF17EE7A}"/>
              </a:ext>
            </a:extLst>
          </p:cNvPr>
          <p:cNvSpPr>
            <a:spLocks noGrp="1"/>
          </p:cNvSpPr>
          <p:nvPr/>
        </p:nvSpPr>
        <p:spPr>
          <a:xfrm>
            <a:off x="1571625" y="1914525"/>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PREPARAR LA MEDIDA</a:t>
            </a:r>
          </a:p>
        </p:txBody>
      </p:sp>
      <p:sp>
        <p:nvSpPr>
          <p:cNvPr id="5" name="text_6">
            <a:extLst>
              <a:ext uri="{FF2B5EF4-FFF2-40B4-BE49-F238E27FC236}">
                <a16:creationId xmlns:a16="http://schemas.microsoft.com/office/drawing/2014/main" id="{F01CB741-8D20-4197-B8CE-DEB5BCB912E6}"/>
              </a:ext>
            </a:extLst>
          </p:cNvPr>
          <p:cNvSpPr>
            <a:spLocks noGrp="1"/>
          </p:cNvSpPr>
          <p:nvPr/>
        </p:nvSpPr>
        <p:spPr>
          <a:xfrm>
            <a:off x="5219700" y="1905000"/>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Calibración y elección de parámetros</a:t>
            </a:r>
          </a:p>
        </p:txBody>
      </p:sp>
      <p:sp>
        <p:nvSpPr>
          <p:cNvPr id="6" name="text_7">
            <a:extLst>
              <a:ext uri="{FF2B5EF4-FFF2-40B4-BE49-F238E27FC236}">
                <a16:creationId xmlns:a16="http://schemas.microsoft.com/office/drawing/2014/main" id="{155CF67E-C071-412A-9987-7C1A4DB97DA9}"/>
              </a:ext>
            </a:extLst>
          </p:cNvPr>
          <p:cNvSpPr>
            <a:spLocks noGrp="1"/>
          </p:cNvSpPr>
          <p:nvPr/>
        </p:nvSpPr>
        <p:spPr>
          <a:xfrm>
            <a:off x="581025" y="2886075"/>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02</a:t>
            </a:r>
          </a:p>
        </p:txBody>
      </p:sp>
      <p:sp>
        <p:nvSpPr>
          <p:cNvPr id="7" name="text_8">
            <a:extLst>
              <a:ext uri="{FF2B5EF4-FFF2-40B4-BE49-F238E27FC236}">
                <a16:creationId xmlns:a16="http://schemas.microsoft.com/office/drawing/2014/main" id="{02885B7F-9258-41E4-B9E3-5A2DE5C3C7D0}"/>
              </a:ext>
            </a:extLst>
          </p:cNvPr>
          <p:cNvSpPr>
            <a:spLocks noGrp="1"/>
          </p:cNvSpPr>
          <p:nvPr/>
        </p:nvSpPr>
        <p:spPr>
          <a:xfrm>
            <a:off x="1571625" y="2933700"/>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ENTENDER LOS DATOS</a:t>
            </a:r>
          </a:p>
        </p:txBody>
      </p:sp>
      <p:sp>
        <p:nvSpPr>
          <p:cNvPr id="8" name="text_9">
            <a:extLst>
              <a:ext uri="{FF2B5EF4-FFF2-40B4-BE49-F238E27FC236}">
                <a16:creationId xmlns:a16="http://schemas.microsoft.com/office/drawing/2014/main" id="{ED8F6B06-6526-4977-9B0A-2E2A9465B60D}"/>
              </a:ext>
            </a:extLst>
          </p:cNvPr>
          <p:cNvSpPr>
            <a:spLocks noGrp="1"/>
          </p:cNvSpPr>
          <p:nvPr/>
        </p:nvSpPr>
        <p:spPr>
          <a:xfrm>
            <a:off x="5219700" y="2924175"/>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Procesado e inversión que pueden engañar</a:t>
            </a:r>
          </a:p>
        </p:txBody>
      </p:sp>
      <p:sp>
        <p:nvSpPr>
          <p:cNvPr id="9" name="text_10">
            <a:extLst>
              <a:ext uri="{FF2B5EF4-FFF2-40B4-BE49-F238E27FC236}">
                <a16:creationId xmlns:a16="http://schemas.microsoft.com/office/drawing/2014/main" id="{B11F36AD-107E-4DB1-A4B1-6F05E16CC8D5}"/>
              </a:ext>
            </a:extLst>
          </p:cNvPr>
          <p:cNvSpPr>
            <a:spLocks noGrp="1"/>
          </p:cNvSpPr>
          <p:nvPr/>
        </p:nvSpPr>
        <p:spPr>
          <a:xfrm>
            <a:off x="581025" y="3905250"/>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03</a:t>
            </a:r>
          </a:p>
        </p:txBody>
      </p:sp>
      <p:sp>
        <p:nvSpPr>
          <p:cNvPr id="10" name="text_11">
            <a:extLst>
              <a:ext uri="{FF2B5EF4-FFF2-40B4-BE49-F238E27FC236}">
                <a16:creationId xmlns:a16="http://schemas.microsoft.com/office/drawing/2014/main" id="{B657422F-E8DB-4B69-B47B-7736985FB4C0}"/>
              </a:ext>
            </a:extLst>
          </p:cNvPr>
          <p:cNvSpPr>
            <a:spLocks noGrp="1"/>
          </p:cNvSpPr>
          <p:nvPr/>
        </p:nvSpPr>
        <p:spPr>
          <a:xfrm>
            <a:off x="1571625" y="3952875"/>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USAR LAS HERRAMIENTAS</a:t>
            </a:r>
          </a:p>
        </p:txBody>
      </p:sp>
      <p:sp>
        <p:nvSpPr>
          <p:cNvPr id="11" name="text_12">
            <a:extLst>
              <a:ext uri="{FF2B5EF4-FFF2-40B4-BE49-F238E27FC236}">
                <a16:creationId xmlns:a16="http://schemas.microsoft.com/office/drawing/2014/main" id="{46AA54D8-9CA7-4032-A0E8-0B4A40E9DCC8}"/>
              </a:ext>
            </a:extLst>
          </p:cNvPr>
          <p:cNvSpPr>
            <a:spLocks noGrp="1"/>
          </p:cNvSpPr>
          <p:nvPr/>
        </p:nvSpPr>
        <p:spPr>
          <a:xfrm>
            <a:off x="5219700" y="3943350"/>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Programas propios y casos prácticos</a:t>
            </a:r>
          </a:p>
        </p:txBody>
      </p:sp>
      <p:sp>
        <p:nvSpPr>
          <p:cNvPr id="12" name="text_13">
            <a:extLst>
              <a:ext uri="{FF2B5EF4-FFF2-40B4-BE49-F238E27FC236}">
                <a16:creationId xmlns:a16="http://schemas.microsoft.com/office/drawing/2014/main" id="{FD4EC534-0F5D-4E80-A9E7-226CA8917E87}"/>
              </a:ext>
            </a:extLst>
          </p:cNvPr>
          <p:cNvSpPr>
            <a:spLocks noGrp="1"/>
          </p:cNvSpPr>
          <p:nvPr/>
        </p:nvSpPr>
        <p:spPr>
          <a:xfrm>
            <a:off x="581025" y="4924425"/>
            <a:ext cx="809625" cy="523875"/>
          </a:xfrm>
          <a:prstGeom prst="rect">
            <a:avLst/>
          </a:prstGeom>
          <a:noFill/>
          <a:ln w="0">
            <a:noFill/>
          </a:ln>
        </p:spPr>
        <p:txBody>
          <a:bodyPr lIns="0" tIns="0" rIns="0" bIns="0">
            <a:noAutofit/>
          </a:bodyPr>
          <a:lstStyle>
            <a:defPPr>
              <a:defRPr sz="3000" b="1">
                <a:solidFill>
                  <a:srgbClr val="FF817B"/>
                </a:solidFill>
                <a:latin typeface="Segoe UI"/>
                <a:ea typeface="Segoe UI"/>
                <a:cs typeface="Segoe UI"/>
              </a:defRPr>
            </a:defPPr>
          </a:lstStyle>
          <a:p>
            <a:pPr>
              <a:defRPr sz="3000" b="1">
                <a:solidFill>
                  <a:srgbClr val="FF817B"/>
                </a:solidFill>
                <a:latin typeface="Segoe UI"/>
                <a:ea typeface="Segoe UI"/>
                <a:cs typeface="Segoe UI"/>
              </a:defRPr>
            </a:pPr>
            <a:r>
              <a:rPr sz="3000" b="1">
                <a:solidFill>
                  <a:srgbClr val="FF817B"/>
                </a:solidFill>
                <a:latin typeface="Segoe UI"/>
                <a:ea typeface="Segoe UI"/>
                <a:cs typeface="Segoe UI"/>
              </a:rPr>
              <a:t>04</a:t>
            </a:r>
          </a:p>
        </p:txBody>
      </p:sp>
      <p:sp>
        <p:nvSpPr>
          <p:cNvPr id="13" name="text_14">
            <a:extLst>
              <a:ext uri="{FF2B5EF4-FFF2-40B4-BE49-F238E27FC236}">
                <a16:creationId xmlns:a16="http://schemas.microsoft.com/office/drawing/2014/main" id="{1833B098-9698-49E7-8F15-2151B8BE9E18}"/>
              </a:ext>
            </a:extLst>
          </p:cNvPr>
          <p:cNvSpPr>
            <a:spLocks noGrp="1"/>
          </p:cNvSpPr>
          <p:nvPr/>
        </p:nvSpPr>
        <p:spPr>
          <a:xfrm>
            <a:off x="1571625" y="4972050"/>
            <a:ext cx="3438525" cy="609600"/>
          </a:xfrm>
          <a:prstGeom prst="rect">
            <a:avLst/>
          </a:prstGeom>
          <a:noFill/>
          <a:ln w="0">
            <a:noFill/>
          </a:ln>
        </p:spPr>
        <p:txBody>
          <a:bodyPr lIns="0" tIns="0" rIns="0" bIns="0">
            <a:noAutofit/>
          </a:bodyPr>
          <a:lstStyle>
            <a:defPPr>
              <a:defRPr sz="1950" b="1">
                <a:solidFill>
                  <a:srgbClr val="EAF3F4"/>
                </a:solidFill>
                <a:latin typeface="Segoe UI"/>
                <a:ea typeface="Segoe UI"/>
                <a:cs typeface="Segoe UI"/>
              </a:defRPr>
            </a:defPPr>
          </a:lstStyle>
          <a:p>
            <a:pPr>
              <a:defRPr sz="1950" b="1">
                <a:solidFill>
                  <a:srgbClr val="EAF3F4"/>
                </a:solidFill>
                <a:latin typeface="Segoe UI"/>
                <a:ea typeface="Segoe UI"/>
                <a:cs typeface="Segoe UI"/>
              </a:defRPr>
            </a:pPr>
            <a:r>
              <a:rPr sz="1950" b="1">
                <a:solidFill>
                  <a:srgbClr val="EAF3F4"/>
                </a:solidFill>
                <a:latin typeface="Segoe UI"/>
                <a:ea typeface="Segoe UI"/>
                <a:cs typeface="Segoe UI"/>
              </a:rPr>
              <a:t>COMPROBAR EL RESULTADO</a:t>
            </a:r>
          </a:p>
        </p:txBody>
      </p:sp>
      <p:sp>
        <p:nvSpPr>
          <p:cNvPr id="14" name="text_15">
            <a:extLst>
              <a:ext uri="{FF2B5EF4-FFF2-40B4-BE49-F238E27FC236}">
                <a16:creationId xmlns:a16="http://schemas.microsoft.com/office/drawing/2014/main" id="{8E2EE7B2-3F36-446E-8966-29998DDE6429}"/>
              </a:ext>
            </a:extLst>
          </p:cNvPr>
          <p:cNvSpPr>
            <a:spLocks noGrp="1"/>
          </p:cNvSpPr>
          <p:nvPr/>
        </p:nvSpPr>
        <p:spPr>
          <a:xfrm>
            <a:off x="5219700" y="4962525"/>
            <a:ext cx="6410325" cy="800100"/>
          </a:xfrm>
          <a:prstGeom prst="rect">
            <a:avLst/>
          </a:prstGeom>
          <a:noFill/>
          <a:ln w="0">
            <a:noFill/>
          </a:ln>
        </p:spPr>
        <p:txBody>
          <a:bodyPr lIns="0" tIns="0" rIns="0" bIns="0">
            <a:noAutofit/>
          </a:bodyPr>
          <a:lstStyle>
            <a:defPPr>
              <a:defRPr sz="2175" b="0">
                <a:solidFill>
                  <a:srgbClr val="A9C0CC"/>
                </a:solidFill>
                <a:latin typeface="Segoe UI"/>
                <a:ea typeface="Segoe UI"/>
                <a:cs typeface="Segoe UI"/>
              </a:defRPr>
            </a:defPPr>
          </a:lstStyle>
          <a:p>
            <a:pPr>
              <a:defRPr sz="2175" b="0">
                <a:solidFill>
                  <a:srgbClr val="A9C0CC"/>
                </a:solidFill>
                <a:latin typeface="Segoe UI"/>
                <a:ea typeface="Segoe UI"/>
                <a:cs typeface="Segoe UI"/>
              </a:defRPr>
            </a:pPr>
            <a:r>
              <a:rPr sz="2175" b="0">
                <a:solidFill>
                  <a:srgbClr val="A9C0CC"/>
                </a:solidFill>
                <a:latin typeface="Segoe UI"/>
                <a:ea typeface="Segoe UI"/>
                <a:cs typeface="Segoe UI"/>
              </a:rPr>
              <a:t>Éxitos documentados y siguiente paso ultrafast</a:t>
            </a:r>
          </a:p>
        </p:txBody>
      </p:sp>
    </p:spTree>
    <p:extLst>
      <p:ext uri="{BB962C8B-B14F-4D97-AF65-F5344CB8AC3E}">
        <p14:creationId xmlns:p14="http://schemas.microsoft.com/office/powerpoint/2010/main" val="113151226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B0E06444-B860-4E36-9820-56D26345E41F}"/>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03</a:t>
            </a:r>
          </a:p>
        </p:txBody>
      </p:sp>
      <p:sp>
        <p:nvSpPr>
          <p:cNvPr id="2" name="slide_title">
            <a:extLst>
              <a:ext uri="{FF2B5EF4-FFF2-40B4-BE49-F238E27FC236}">
                <a16:creationId xmlns:a16="http://schemas.microsoft.com/office/drawing/2014/main" id="{A38830B4-ABFA-4C94-B9CE-FE48ED097D13}"/>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525" b="1">
                <a:solidFill>
                  <a:srgbClr val="123447"/>
                </a:solidFill>
                <a:latin typeface="Segoe UI"/>
                <a:ea typeface="Segoe UI"/>
                <a:cs typeface="Segoe UI"/>
              </a:defRPr>
            </a:defPPr>
          </a:lstStyle>
          <a:p>
            <a:pPr>
              <a:defRPr sz="3525" b="1">
                <a:solidFill>
                  <a:srgbClr val="123447"/>
                </a:solidFill>
                <a:latin typeface="Segoe UI"/>
                <a:ea typeface="Segoe UI"/>
                <a:cs typeface="Segoe UI"/>
              </a:defRPr>
            </a:pPr>
            <a:r>
              <a:rPr sz="3525" b="1">
                <a:solidFill>
                  <a:srgbClr val="123447"/>
                </a:solidFill>
                <a:latin typeface="Segoe UI"/>
                <a:ea typeface="Segoe UI"/>
                <a:cs typeface="Segoe UI"/>
              </a:rPr>
              <a:t>Primera dificultad: ¿es de verdad un pulso de 90°?</a:t>
            </a:r>
          </a:p>
        </p:txBody>
      </p:sp>
      <p:graphicFrame>
        <p:nvGraphicFramePr>
          <p:cNvPr id="3" name="Chart">
            <a:extLst>
              <a:ext uri="{FF2B5EF4-FFF2-40B4-BE49-F238E27FC236}">
                <a16:creationId xmlns:a16="http://schemas.microsoft.com/office/drawing/2014/main" id="{4FC01FF2-F5C9-4489-9E5F-7D0D09233DDC}"/>
              </a:ext>
            </a:extLst>
          </p:cNvPr>
          <p:cNvGraphicFramePr/>
          <p:nvPr/>
        </p:nvGraphicFramePr>
        <p:xfrm>
          <a:off x="257175" y="1714500"/>
          <a:ext cx="6200775" cy="352425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n 3">
            <a:extLst>
              <a:ext uri="{FF2B5EF4-FFF2-40B4-BE49-F238E27FC236}">
                <a16:creationId xmlns:a16="http://schemas.microsoft.com/office/drawing/2014/main" id="{35A41F70-3236-46AA-9709-727B1E3D2B8E}"/>
              </a:ext>
            </a:extLst>
          </p:cNvPr>
          <p:cNvPicPr>
            <a:picLocks noChangeAspect="1"/>
          </p:cNvPicPr>
          <p:nvPr/>
        </p:nvPicPr>
        <p:blipFill>
          <a:blip r:embed="rId4"/>
          <a:stretch/>
        </p:blipFill>
        <p:spPr>
          <a:xfrm>
            <a:off x="6833953" y="2076450"/>
            <a:ext cx="4896319" cy="2524125"/>
          </a:xfrm>
          <a:prstGeom prst="rect">
            <a:avLst/>
          </a:prstGeom>
        </p:spPr>
      </p:pic>
      <p:sp>
        <p:nvSpPr>
          <p:cNvPr id="5" name="text_16">
            <a:extLst>
              <a:ext uri="{FF2B5EF4-FFF2-40B4-BE49-F238E27FC236}">
                <a16:creationId xmlns:a16="http://schemas.microsoft.com/office/drawing/2014/main" id="{1766C5EE-0737-4139-9519-3947F920D5D6}"/>
              </a:ext>
            </a:extLst>
          </p:cNvPr>
          <p:cNvSpPr>
            <a:spLocks noGrp="1"/>
          </p:cNvSpPr>
          <p:nvPr/>
        </p:nvSpPr>
        <p:spPr>
          <a:xfrm>
            <a:off x="6838950" y="4895850"/>
            <a:ext cx="4772025" cy="485775"/>
          </a:xfrm>
          <a:prstGeom prst="rect">
            <a:avLst/>
          </a:prstGeom>
          <a:noFill/>
          <a:ln w="0">
            <a:noFill/>
          </a:ln>
        </p:spPr>
        <p:txBody>
          <a:bodyPr lIns="0" tIns="0" rIns="0" bIns="0">
            <a:noAutofit/>
          </a:bodyPr>
          <a:lstStyle>
            <a:defPPr>
              <a:defRPr sz="2100" b="1">
                <a:solidFill>
                  <a:srgbClr val="123447"/>
                </a:solidFill>
                <a:latin typeface="Segoe UI"/>
                <a:ea typeface="Segoe UI"/>
                <a:cs typeface="Segoe UI"/>
              </a:defRPr>
            </a:defPPr>
          </a:lstStyle>
          <a:p>
            <a:pPr>
              <a:defRPr sz="2100" b="1">
                <a:solidFill>
                  <a:srgbClr val="123447"/>
                </a:solidFill>
                <a:latin typeface="Segoe UI"/>
                <a:ea typeface="Segoe UI"/>
                <a:cs typeface="Segoe UI"/>
              </a:defRPr>
            </a:pPr>
            <a:r>
              <a:rPr sz="2100" b="1">
                <a:solidFill>
                  <a:srgbClr val="123447"/>
                </a:solidFill>
                <a:latin typeface="Segoe UI"/>
                <a:ea typeface="Segoe UI"/>
                <a:cs typeface="Segoe UI"/>
              </a:rPr>
              <a:t>Fase fija y potencia fija</a:t>
            </a:r>
          </a:p>
        </p:txBody>
      </p:sp>
      <p:sp>
        <p:nvSpPr>
          <p:cNvPr id="6" name="reveal_17">
            <a:extLst>
              <a:ext uri="{FF2B5EF4-FFF2-40B4-BE49-F238E27FC236}">
                <a16:creationId xmlns:a16="http://schemas.microsoft.com/office/drawing/2014/main" id="{AE166571-D625-4053-A28F-621B51F9D7B8}"/>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p1 → zg → efp · fase fija · primer nulo → P1 / 2 → verificar</a:t>
            </a:r>
          </a:p>
        </p:txBody>
      </p:sp>
      <p:sp>
        <p:nvSpPr>
          <p:cNvPr id="7" name="text_18">
            <a:extLst>
              <a:ext uri="{FF2B5EF4-FFF2-40B4-BE49-F238E27FC236}">
                <a16:creationId xmlns:a16="http://schemas.microsoft.com/office/drawing/2014/main" id="{424908FC-5A98-450F-B7C3-B7F0ADEAC2F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617580"/>
                </a:solidFill>
                <a:latin typeface="Segoe UI"/>
                <a:ea typeface="Segoe UI"/>
                <a:cs typeface="Segoe UI"/>
              </a:defRPr>
            </a:defPPr>
          </a:lstStyle>
          <a:p>
            <a:pPr>
              <a:defRPr sz="1725" b="0">
                <a:solidFill>
                  <a:srgbClr val="617580"/>
                </a:solidFill>
                <a:latin typeface="Segoe UI"/>
                <a:ea typeface="Segoe UI"/>
                <a:cs typeface="Segoe UI"/>
              </a:defRPr>
            </a:pPr>
            <a:r>
              <a:rPr sz="1725" b="0">
                <a:solidFill>
                  <a:srgbClr val="617580"/>
                </a:solidFill>
                <a:latin typeface="Segoe UI"/>
                <a:ea typeface="Segoe UI"/>
                <a:cs typeface="Segoe UI"/>
              </a:rPr>
              <a:t>Confundir 180° con 360° cambia P90. Mantener D1 suficiente y RG fijo; revisar artefactos y coherencias.</a:t>
            </a:r>
          </a:p>
        </p:txBody>
      </p:sp>
    </p:spTree>
    <p:extLst>
      <p:ext uri="{BB962C8B-B14F-4D97-AF65-F5344CB8AC3E}">
        <p14:creationId xmlns:p14="http://schemas.microsoft.com/office/powerpoint/2010/main" val="139128008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00DA5465-16C3-4501-88AB-C926551191F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04</a:t>
            </a:r>
          </a:p>
        </p:txBody>
      </p:sp>
      <p:sp>
        <p:nvSpPr>
          <p:cNvPr id="2" name="slide_title">
            <a:extLst>
              <a:ext uri="{FF2B5EF4-FFF2-40B4-BE49-F238E27FC236}">
                <a16:creationId xmlns:a16="http://schemas.microsoft.com/office/drawing/2014/main" id="{A16CF697-CDFE-4A0A-AED0-32C7CBDFD4E7}"/>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525" b="1">
                <a:solidFill>
                  <a:srgbClr val="123447"/>
                </a:solidFill>
                <a:latin typeface="Segoe UI"/>
                <a:ea typeface="Segoe UI"/>
                <a:cs typeface="Segoe UI"/>
              </a:defRPr>
            </a:defPPr>
          </a:lstStyle>
          <a:p>
            <a:pPr>
              <a:defRPr sz="3525" b="1">
                <a:solidFill>
                  <a:srgbClr val="123447"/>
                </a:solidFill>
                <a:latin typeface="Segoe UI"/>
                <a:ea typeface="Segoe UI"/>
                <a:cs typeface="Segoe UI"/>
              </a:defRPr>
            </a:pPr>
            <a:r>
              <a:rPr sz="3525" b="1">
                <a:solidFill>
                  <a:srgbClr val="123447"/>
                </a:solidFill>
                <a:latin typeface="Segoe UI"/>
                <a:ea typeface="Segoe UI"/>
                <a:cs typeface="Segoe UI"/>
              </a:rPr>
              <a:t>Caso 1 · de 22 µs a P90 = 11 µs</a:t>
            </a:r>
          </a:p>
        </p:txBody>
      </p:sp>
      <p:pic>
        <p:nvPicPr>
          <p:cNvPr id="3" name="Imagen 2">
            <a:extLst>
              <a:ext uri="{FF2B5EF4-FFF2-40B4-BE49-F238E27FC236}">
                <a16:creationId xmlns:a16="http://schemas.microsoft.com/office/drawing/2014/main" id="{0D7CF3B3-BE24-4630-B7C9-73E7A13B5521}"/>
              </a:ext>
            </a:extLst>
          </p:cNvPr>
          <p:cNvPicPr>
            <a:picLocks noChangeAspect="1"/>
          </p:cNvPicPr>
          <p:nvPr/>
        </p:nvPicPr>
        <p:blipFill>
          <a:blip r:embed="rId3"/>
          <a:stretch/>
        </p:blipFill>
        <p:spPr>
          <a:xfrm>
            <a:off x="409575" y="1728653"/>
            <a:ext cx="8286750" cy="4248418"/>
          </a:xfrm>
          <a:prstGeom prst="rect">
            <a:avLst/>
          </a:prstGeom>
        </p:spPr>
      </p:pic>
      <p:sp>
        <p:nvSpPr>
          <p:cNvPr id="4" name="text_19">
            <a:extLst>
              <a:ext uri="{FF2B5EF4-FFF2-40B4-BE49-F238E27FC236}">
                <a16:creationId xmlns:a16="http://schemas.microsoft.com/office/drawing/2014/main" id="{F0E032FC-B998-4574-A3F4-95FF0EE6D5C9}"/>
              </a:ext>
            </a:extLst>
          </p:cNvPr>
          <p:cNvSpPr>
            <a:spLocks noGrp="1"/>
          </p:cNvSpPr>
          <p:nvPr/>
        </p:nvSpPr>
        <p:spPr>
          <a:xfrm>
            <a:off x="8924925" y="1743075"/>
            <a:ext cx="2809875" cy="609600"/>
          </a:xfrm>
          <a:prstGeom prst="rect">
            <a:avLst/>
          </a:prstGeom>
          <a:noFill/>
          <a:ln w="0">
            <a:noFill/>
          </a:ln>
        </p:spPr>
        <p:txBody>
          <a:bodyPr lIns="0" tIns="0" rIns="0" bIns="0">
            <a:noAutofit/>
          </a:bodyPr>
          <a:lstStyle>
            <a:defPPr>
              <a:defRPr sz="1950" b="1">
                <a:solidFill>
                  <a:srgbClr val="BE4038"/>
                </a:solidFill>
                <a:latin typeface="Segoe UI"/>
                <a:ea typeface="Segoe UI"/>
                <a:cs typeface="Segoe UI"/>
              </a:defRPr>
            </a:defPPr>
          </a:lstStyle>
          <a:p>
            <a:pPr>
              <a:defRPr sz="1950" b="1">
                <a:solidFill>
                  <a:srgbClr val="BE4038"/>
                </a:solidFill>
                <a:latin typeface="Segoe UI"/>
                <a:ea typeface="Segoe UI"/>
                <a:cs typeface="Segoe UI"/>
              </a:defRPr>
            </a:pPr>
            <a:r>
              <a:rPr sz="1950" b="1">
                <a:solidFill>
                  <a:srgbClr val="BE4038"/>
                </a:solidFill>
                <a:latin typeface="Segoe UI"/>
                <a:ea typeface="Segoe UI"/>
                <a:cs typeface="Segoe UI"/>
              </a:rPr>
              <a:t>EXPNO 1000 · zg</a:t>
            </a:r>
          </a:p>
        </p:txBody>
      </p:sp>
      <p:sp>
        <p:nvSpPr>
          <p:cNvPr id="5" name="text_20">
            <a:extLst>
              <a:ext uri="{FF2B5EF4-FFF2-40B4-BE49-F238E27FC236}">
                <a16:creationId xmlns:a16="http://schemas.microsoft.com/office/drawing/2014/main" id="{077CD47B-989B-4C7D-906B-DF87D1017DAF}"/>
              </a:ext>
            </a:extLst>
          </p:cNvPr>
          <p:cNvSpPr>
            <a:spLocks noGrp="1"/>
          </p:cNvSpPr>
          <p:nvPr/>
        </p:nvSpPr>
        <p:spPr>
          <a:xfrm>
            <a:off x="8934450" y="2495550"/>
            <a:ext cx="2828925" cy="809625"/>
          </a:xfrm>
          <a:prstGeom prst="rect">
            <a:avLst/>
          </a:prstGeom>
          <a:noFill/>
          <a:ln w="0">
            <a:noFill/>
          </a:ln>
        </p:spPr>
        <p:txBody>
          <a:bodyPr lIns="0" tIns="0" rIns="0" bIns="0">
            <a:noAutofit/>
          </a:bodyPr>
          <a:lstStyle>
            <a:defPPr>
              <a:defRPr sz="4425" b="1">
                <a:solidFill>
                  <a:srgbClr val="123447"/>
                </a:solidFill>
                <a:latin typeface="Segoe UI"/>
                <a:ea typeface="Segoe UI"/>
                <a:cs typeface="Segoe UI"/>
              </a:defRPr>
            </a:defPPr>
          </a:lstStyle>
          <a:p>
            <a:pPr>
              <a:defRPr sz="4425" b="1">
                <a:solidFill>
                  <a:srgbClr val="123447"/>
                </a:solidFill>
                <a:latin typeface="Segoe UI"/>
                <a:ea typeface="Segoe UI"/>
                <a:cs typeface="Segoe UI"/>
              </a:defRPr>
            </a:pPr>
            <a:r>
              <a:rPr sz="4425" b="1">
                <a:solidFill>
                  <a:srgbClr val="123447"/>
                </a:solidFill>
                <a:latin typeface="Segoe UI"/>
                <a:ea typeface="Segoe UI"/>
                <a:cs typeface="Segoe UI"/>
              </a:rPr>
              <a:t>22 µs</a:t>
            </a:r>
          </a:p>
        </p:txBody>
      </p:sp>
      <p:sp>
        <p:nvSpPr>
          <p:cNvPr id="6" name="text_21">
            <a:extLst>
              <a:ext uri="{FF2B5EF4-FFF2-40B4-BE49-F238E27FC236}">
                <a16:creationId xmlns:a16="http://schemas.microsoft.com/office/drawing/2014/main" id="{26F18940-9474-49F6-B1C9-0BF8CFF1882B}"/>
              </a:ext>
            </a:extLst>
          </p:cNvPr>
          <p:cNvSpPr>
            <a:spLocks noGrp="1"/>
          </p:cNvSpPr>
          <p:nvPr/>
        </p:nvSpPr>
        <p:spPr>
          <a:xfrm>
            <a:off x="8982075" y="3543300"/>
            <a:ext cx="2695575" cy="600075"/>
          </a:xfrm>
          <a:prstGeom prst="rect">
            <a:avLst/>
          </a:prstGeom>
          <a:noFill/>
          <a:ln w="0">
            <a:noFill/>
          </a:ln>
        </p:spPr>
        <p:txBody>
          <a:bodyPr lIns="0" tIns="0" rIns="0" bIns="0">
            <a:noAutofit/>
          </a:bodyPr>
          <a:lstStyle>
            <a:defPPr>
              <a:defRPr sz="3375" b="0">
                <a:solidFill>
                  <a:srgbClr val="617580"/>
                </a:solidFill>
                <a:latin typeface="Segoe UI"/>
                <a:ea typeface="Segoe UI"/>
                <a:cs typeface="Segoe UI"/>
              </a:defRPr>
            </a:defPPr>
          </a:lstStyle>
          <a:p>
            <a:pPr>
              <a:defRPr sz="3375" b="0">
                <a:solidFill>
                  <a:srgbClr val="617580"/>
                </a:solidFill>
                <a:latin typeface="Segoe UI"/>
                <a:ea typeface="Segoe UI"/>
                <a:cs typeface="Segoe UI"/>
              </a:defRPr>
            </a:pPr>
            <a:r>
              <a:rPr sz="3375" b="0">
                <a:solidFill>
                  <a:srgbClr val="617580"/>
                </a:solidFill>
                <a:latin typeface="Segoe UI"/>
                <a:ea typeface="Segoe UI"/>
                <a:cs typeface="Segoe UI"/>
              </a:rPr>
              <a:t>÷ 2</a:t>
            </a:r>
          </a:p>
        </p:txBody>
      </p:sp>
      <p:sp>
        <p:nvSpPr>
          <p:cNvPr id="7" name="reveal_22">
            <a:extLst>
              <a:ext uri="{FF2B5EF4-FFF2-40B4-BE49-F238E27FC236}">
                <a16:creationId xmlns:a16="http://schemas.microsoft.com/office/drawing/2014/main" id="{4F6AAF97-FB86-48A3-B75C-540CFAA2FB4A}"/>
              </a:ext>
            </a:extLst>
          </p:cNvPr>
          <p:cNvSpPr>
            <a:spLocks noGrp="1"/>
          </p:cNvSpPr>
          <p:nvPr/>
        </p:nvSpPr>
        <p:spPr>
          <a:xfrm>
            <a:off x="8858250" y="4591050"/>
            <a:ext cx="2914650" cy="733425"/>
          </a:xfrm>
          <a:prstGeom prst="rect">
            <a:avLst/>
          </a:prstGeom>
          <a:noFill/>
          <a:ln w="0">
            <a:noFill/>
          </a:ln>
        </p:spPr>
        <p:txBody>
          <a:bodyPr lIns="0" tIns="0" rIns="0" bIns="0">
            <a:noAutofit/>
          </a:bodyPr>
          <a:lstStyle>
            <a:defPPr>
              <a:defRPr sz="3000" b="1">
                <a:solidFill>
                  <a:srgbClr val="087E98"/>
                </a:solidFill>
                <a:latin typeface="Segoe UI"/>
                <a:ea typeface="Segoe UI"/>
                <a:cs typeface="Segoe UI"/>
              </a:defRPr>
            </a:defPPr>
          </a:lstStyle>
          <a:p>
            <a:pPr>
              <a:defRPr sz="3000" b="1">
                <a:solidFill>
                  <a:srgbClr val="087E98"/>
                </a:solidFill>
                <a:latin typeface="Segoe UI"/>
                <a:ea typeface="Segoe UI"/>
                <a:cs typeface="Segoe UI"/>
              </a:defRPr>
            </a:pPr>
            <a:r>
              <a:rPr sz="3000" b="1">
                <a:solidFill>
                  <a:srgbClr val="087E98"/>
                </a:solidFill>
                <a:latin typeface="Segoe UI"/>
                <a:ea typeface="Segoe UI"/>
                <a:cs typeface="Segoe UI"/>
              </a:rPr>
              <a:t>P90 = 11 µs</a:t>
            </a:r>
          </a:p>
        </p:txBody>
      </p:sp>
      <p:sp>
        <p:nvSpPr>
          <p:cNvPr id="8" name="text_23">
            <a:extLst>
              <a:ext uri="{FF2B5EF4-FFF2-40B4-BE49-F238E27FC236}">
                <a16:creationId xmlns:a16="http://schemas.microsoft.com/office/drawing/2014/main" id="{E172D435-B13C-4F6C-BB4C-C3B6BFB1F1C4}"/>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Nulo de 180° identificado por el usuario. Azul: 90°. Capturas con RG/NS distintos: comparación cualitativa.</a:t>
            </a:r>
          </a:p>
        </p:txBody>
      </p:sp>
    </p:spTree>
    <p:extLst>
      <p:ext uri="{BB962C8B-B14F-4D97-AF65-F5344CB8AC3E}">
        <p14:creationId xmlns:p14="http://schemas.microsoft.com/office/powerpoint/2010/main" val="114032605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10" name="slide_number">
            <a:extLst>
              <a:ext uri="{FF2B5EF4-FFF2-40B4-BE49-F238E27FC236}">
                <a16:creationId xmlns:a16="http://schemas.microsoft.com/office/drawing/2014/main" id="{D02F76DE-D280-4093-A439-C04E13785BF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05</a:t>
            </a:r>
          </a:p>
        </p:txBody>
      </p:sp>
      <p:sp>
        <p:nvSpPr>
          <p:cNvPr id="2" name="slide_title">
            <a:extLst>
              <a:ext uri="{FF2B5EF4-FFF2-40B4-BE49-F238E27FC236}">
                <a16:creationId xmlns:a16="http://schemas.microsoft.com/office/drawing/2014/main" id="{B6F544AE-8DC1-40FF-918C-893CF0118CEC}"/>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525" b="1">
                <a:solidFill>
                  <a:srgbClr val="123447"/>
                </a:solidFill>
                <a:latin typeface="Segoe UI"/>
                <a:ea typeface="Segoe UI"/>
                <a:cs typeface="Segoe UI"/>
              </a:defRPr>
            </a:defPPr>
          </a:lstStyle>
          <a:p>
            <a:pPr>
              <a:defRPr sz="3525" b="1">
                <a:solidFill>
                  <a:srgbClr val="123447"/>
                </a:solidFill>
                <a:latin typeface="Segoe UI"/>
                <a:ea typeface="Segoe UI"/>
                <a:cs typeface="Segoe UI"/>
              </a:defRPr>
            </a:pPr>
            <a:r>
              <a:rPr sz="3525" b="1">
                <a:solidFill>
                  <a:srgbClr val="123447"/>
                </a:solidFill>
                <a:latin typeface="Segoe UI"/>
                <a:ea typeface="Segoe UI"/>
                <a:cs typeface="Segoe UI"/>
              </a:rPr>
              <a:t>El gradiente: calibrar una escala que entra al cuadrado</a:t>
            </a:r>
          </a:p>
        </p:txBody>
      </p:sp>
      <p:graphicFrame>
        <p:nvGraphicFramePr>
          <p:cNvPr id="3" name="Chart">
            <a:extLst>
              <a:ext uri="{FF2B5EF4-FFF2-40B4-BE49-F238E27FC236}">
                <a16:creationId xmlns:a16="http://schemas.microsoft.com/office/drawing/2014/main" id="{C5D608D7-54A6-4661-8FA2-BF92056800E6}"/>
              </a:ext>
            </a:extLst>
          </p:cNvPr>
          <p:cNvGraphicFramePr/>
          <p:nvPr/>
        </p:nvGraphicFramePr>
        <p:xfrm>
          <a:off x="238125" y="1809750"/>
          <a:ext cx="7286625" cy="340995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24">
            <a:extLst>
              <a:ext uri="{FF2B5EF4-FFF2-40B4-BE49-F238E27FC236}">
                <a16:creationId xmlns:a16="http://schemas.microsoft.com/office/drawing/2014/main" id="{8108713F-C6BD-4553-8623-5D3A10E3E2AA}"/>
              </a:ext>
            </a:extLst>
          </p:cNvPr>
          <p:cNvSpPr>
            <a:spLocks noGrp="1"/>
          </p:cNvSpPr>
          <p:nvPr/>
        </p:nvSpPr>
        <p:spPr>
          <a:xfrm>
            <a:off x="7924800" y="1733550"/>
            <a:ext cx="3771900" cy="523875"/>
          </a:xfrm>
          <a:prstGeom prst="rect">
            <a:avLst/>
          </a:prstGeom>
          <a:noFill/>
          <a:ln w="0">
            <a:noFill/>
          </a:ln>
        </p:spPr>
        <p:txBody>
          <a:bodyPr lIns="0" tIns="0" rIns="0" bIns="0">
            <a:noAutofit/>
          </a:bodyPr>
          <a:lstStyle>
            <a:defPPr>
              <a:defRPr sz="1500" b="1">
                <a:solidFill>
                  <a:srgbClr val="617580"/>
                </a:solidFill>
                <a:latin typeface="Segoe UI"/>
                <a:ea typeface="Segoe UI"/>
                <a:cs typeface="Segoe UI"/>
              </a:defRPr>
            </a:defPPr>
          </a:lstStyle>
          <a:p>
            <a:pPr>
              <a:defRPr sz="1500" b="1">
                <a:solidFill>
                  <a:srgbClr val="617580"/>
                </a:solidFill>
                <a:latin typeface="Segoe UI"/>
                <a:ea typeface="Segoe UI"/>
                <a:cs typeface="Segoe UI"/>
              </a:defRPr>
            </a:pPr>
            <a:r>
              <a:rPr sz="1500" b="1">
                <a:solidFill>
                  <a:srgbClr val="617580"/>
                </a:solidFill>
                <a:latin typeface="Segoe UI"/>
                <a:ea typeface="Segoe UI"/>
                <a:cs typeface="Segoe UI"/>
              </a:rPr>
              <a:t>EJEMPLO HIPOTÉTICO DE ERROR</a:t>
            </a:r>
          </a:p>
        </p:txBody>
      </p:sp>
      <p:sp>
        <p:nvSpPr>
          <p:cNvPr id="5" name="text_25">
            <a:extLst>
              <a:ext uri="{FF2B5EF4-FFF2-40B4-BE49-F238E27FC236}">
                <a16:creationId xmlns:a16="http://schemas.microsoft.com/office/drawing/2014/main" id="{74D4D5BC-E57C-4857-B078-ADD422202312}"/>
              </a:ext>
            </a:extLst>
          </p:cNvPr>
          <p:cNvSpPr>
            <a:spLocks noGrp="1"/>
          </p:cNvSpPr>
          <p:nvPr/>
        </p:nvSpPr>
        <p:spPr>
          <a:xfrm>
            <a:off x="7924800" y="2352675"/>
            <a:ext cx="3771900" cy="676275"/>
          </a:xfrm>
          <a:prstGeom prst="rect">
            <a:avLst/>
          </a:prstGeom>
          <a:noFill/>
          <a:ln w="0">
            <a:noFill/>
          </a:ln>
        </p:spPr>
        <p:txBody>
          <a:bodyPr lIns="0" tIns="0" rIns="0" bIns="0">
            <a:noAutofit/>
          </a:bodyPr>
          <a:lstStyle>
            <a:defPPr>
              <a:defRPr sz="2175" b="1">
                <a:solidFill>
                  <a:srgbClr val="BE4038"/>
                </a:solidFill>
                <a:latin typeface="Segoe UI"/>
                <a:ea typeface="Segoe UI"/>
                <a:cs typeface="Segoe UI"/>
              </a:defRPr>
            </a:defPPr>
          </a:lstStyle>
          <a:p>
            <a:pPr>
              <a:defRPr sz="2175" b="1">
                <a:solidFill>
                  <a:srgbClr val="BE4038"/>
                </a:solidFill>
                <a:latin typeface="Segoe UI"/>
                <a:ea typeface="Segoe UI"/>
                <a:cs typeface="Segoe UI"/>
              </a:defRPr>
            </a:pPr>
            <a:r>
              <a:rPr sz="2175" b="1">
                <a:solidFill>
                  <a:srgbClr val="BE4038"/>
                </a:solidFill>
                <a:latin typeface="Segoe UI"/>
                <a:ea typeface="Segoe UI"/>
                <a:cs typeface="Segoe UI"/>
              </a:rPr>
              <a:t>G real = 1.10 G usado</a:t>
            </a:r>
          </a:p>
        </p:txBody>
      </p:sp>
      <p:sp>
        <p:nvSpPr>
          <p:cNvPr id="6" name="reveal_26">
            <a:extLst>
              <a:ext uri="{FF2B5EF4-FFF2-40B4-BE49-F238E27FC236}">
                <a16:creationId xmlns:a16="http://schemas.microsoft.com/office/drawing/2014/main" id="{FF5BE09E-1EA2-4EC0-A9CE-1DCB30942586}"/>
              </a:ext>
            </a:extLst>
          </p:cNvPr>
          <p:cNvSpPr>
            <a:spLocks noGrp="1"/>
          </p:cNvSpPr>
          <p:nvPr/>
        </p:nvSpPr>
        <p:spPr>
          <a:xfrm>
            <a:off x="7924800" y="3162300"/>
            <a:ext cx="3752850" cy="771525"/>
          </a:xfrm>
          <a:prstGeom prst="rect">
            <a:avLst/>
          </a:prstGeom>
          <a:noFill/>
          <a:ln w="0">
            <a:noFill/>
          </a:ln>
        </p:spPr>
        <p:txBody>
          <a:bodyPr lIns="0" tIns="0" rIns="0" bIns="0">
            <a:noAutofit/>
          </a:bodyPr>
          <a:lstStyle>
            <a:defPPr>
              <a:defRPr sz="2625" b="1">
                <a:solidFill>
                  <a:srgbClr val="BE4038"/>
                </a:solidFill>
                <a:latin typeface="Segoe UI"/>
                <a:ea typeface="Segoe UI"/>
                <a:cs typeface="Segoe UI"/>
              </a:defRPr>
            </a:defPPr>
          </a:lstStyle>
          <a:p>
            <a:pPr>
              <a:defRPr sz="2625" b="1">
                <a:solidFill>
                  <a:srgbClr val="BE4038"/>
                </a:solidFill>
                <a:latin typeface="Segoe UI"/>
                <a:ea typeface="Segoe UI"/>
                <a:cs typeface="Segoe UI"/>
              </a:defRPr>
            </a:pPr>
            <a:r>
              <a:rPr sz="2625" b="1">
                <a:solidFill>
                  <a:srgbClr val="BE4038"/>
                </a:solidFill>
                <a:latin typeface="Segoe UI"/>
                <a:ea typeface="Segoe UI"/>
                <a:cs typeface="Segoe UI"/>
              </a:rPr>
              <a:t>D aparente = 1.21 D</a:t>
            </a:r>
          </a:p>
        </p:txBody>
      </p:sp>
      <p:sp>
        <p:nvSpPr>
          <p:cNvPr id="7" name="text_27">
            <a:extLst>
              <a:ext uri="{FF2B5EF4-FFF2-40B4-BE49-F238E27FC236}">
                <a16:creationId xmlns:a16="http://schemas.microsoft.com/office/drawing/2014/main" id="{D7E13740-668A-49DB-8331-F23895DEDDC2}"/>
              </a:ext>
            </a:extLst>
          </p:cNvPr>
          <p:cNvSpPr>
            <a:spLocks noGrp="1"/>
          </p:cNvSpPr>
          <p:nvPr/>
        </p:nvSpPr>
        <p:spPr>
          <a:xfrm>
            <a:off x="7943850" y="4314825"/>
            <a:ext cx="3743325" cy="819150"/>
          </a:xfrm>
          <a:prstGeom prst="rect">
            <a:avLst/>
          </a:prstGeom>
          <a:noFill/>
          <a:ln w="0">
            <a:noFill/>
          </a:ln>
        </p:spPr>
        <p:txBody>
          <a:bodyPr lIns="0" tIns="0" rIns="0" bIns="0">
            <a:noAutofit/>
          </a:bodyPr>
          <a:lstStyle>
            <a:defPPr>
              <a:defRPr sz="1950" b="0">
                <a:solidFill>
                  <a:srgbClr val="123447"/>
                </a:solidFill>
                <a:latin typeface="Segoe UI"/>
                <a:ea typeface="Segoe UI"/>
                <a:cs typeface="Segoe UI"/>
              </a:defRPr>
            </a:defPPr>
          </a:lstStyle>
          <a:p>
            <a:pPr>
              <a:defRPr sz="1950" b="0">
                <a:solidFill>
                  <a:srgbClr val="123447"/>
                </a:solidFill>
                <a:latin typeface="Segoe UI"/>
                <a:ea typeface="Segoe UI"/>
                <a:cs typeface="Segoe UI"/>
              </a:defRPr>
            </a:pPr>
            <a:r>
              <a:rPr sz="1950" b="0">
                <a:solidFill>
                  <a:srgbClr val="123447"/>
                </a:solidFill>
                <a:latin typeface="Segoe UI"/>
                <a:ea typeface="Segoe UI"/>
                <a:cs typeface="Segoe UI"/>
              </a:rPr>
              <a:t>HDO / TBO</a:t>
            </a:r>
          </a:p>
          <a:p>
            <a:pPr>
              <a:defRPr sz="1950" b="0">
                <a:solidFill>
                  <a:srgbClr val="123447"/>
                </a:solidFill>
                <a:latin typeface="Segoe UI"/>
                <a:ea typeface="Segoe UI"/>
                <a:cs typeface="Segoe UI"/>
              </a:defRPr>
            </a:pPr>
            <a:r>
              <a:rPr sz="1950" b="0">
                <a:solidFill>
                  <a:srgbClr val="123447"/>
                </a:solidFill>
                <a:latin typeface="Segoe UI"/>
                <a:ea typeface="Segoe UI"/>
                <a:cs typeface="Segoe UI"/>
              </a:rPr>
              <a:t>|pendiente| = 1.58627</a:t>
            </a:r>
          </a:p>
        </p:txBody>
      </p:sp>
      <p:sp>
        <p:nvSpPr>
          <p:cNvPr id="8" name="reveal_28">
            <a:extLst>
              <a:ext uri="{FF2B5EF4-FFF2-40B4-BE49-F238E27FC236}">
                <a16:creationId xmlns:a16="http://schemas.microsoft.com/office/drawing/2014/main" id="{B4A97800-4160-45CD-9B3F-C3B7CF0CEBD4}"/>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Patrón a T real · región fija · residuos · comprobar una segunda rampa</a:t>
            </a:r>
          </a:p>
        </p:txBody>
      </p:sp>
      <p:sp>
        <p:nvSpPr>
          <p:cNvPr id="9" name="text_29">
            <a:extLst>
              <a:ext uri="{FF2B5EF4-FFF2-40B4-BE49-F238E27FC236}">
                <a16:creationId xmlns:a16="http://schemas.microsoft.com/office/drawing/2014/main" id="{70EC65E5-A38A-47A8-8B3D-DBB594E56D34}"/>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G nueva = G previa √(D medida / Dref). Perfil TBO: Δ = 50 ms, δ = 1.20 ms, SMSQ10.100.</a:t>
            </a:r>
          </a:p>
        </p:txBody>
      </p:sp>
    </p:spTree>
    <p:extLst>
      <p:ext uri="{BB962C8B-B14F-4D97-AF65-F5344CB8AC3E}">
        <p14:creationId xmlns:p14="http://schemas.microsoft.com/office/powerpoint/2010/main" val="187877222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500"/>
                            </p:stCondLst>
                            <p:childTnLst>
                              <p:par>
                                <p:cTn id="9" presetID="10"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10" name="slide_number">
            <a:extLst>
              <a:ext uri="{FF2B5EF4-FFF2-40B4-BE49-F238E27FC236}">
                <a16:creationId xmlns:a16="http://schemas.microsoft.com/office/drawing/2014/main" id="{2037AD9A-8BBA-4F77-8488-1A87F726902A}"/>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06</a:t>
            </a:r>
          </a:p>
        </p:txBody>
      </p:sp>
      <p:sp>
        <p:nvSpPr>
          <p:cNvPr id="2" name="slide_title">
            <a:extLst>
              <a:ext uri="{FF2B5EF4-FFF2-40B4-BE49-F238E27FC236}">
                <a16:creationId xmlns:a16="http://schemas.microsoft.com/office/drawing/2014/main" id="{75E9F120-B307-4263-8EBF-1A4CA5C0D39D}"/>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123447"/>
                </a:solidFill>
                <a:latin typeface="Segoe UI"/>
                <a:ea typeface="Segoe UI"/>
                <a:cs typeface="Segoe UI"/>
              </a:defRPr>
            </a:defPPr>
          </a:lstStyle>
          <a:p>
            <a:pPr>
              <a:defRPr sz="3375" b="1">
                <a:solidFill>
                  <a:srgbClr val="123447"/>
                </a:solidFill>
                <a:latin typeface="Segoe UI"/>
                <a:ea typeface="Segoe UI"/>
                <a:cs typeface="Segoe UI"/>
              </a:defRPr>
            </a:pPr>
            <a:r>
              <a:rPr sz="3375" b="1">
                <a:solidFill>
                  <a:srgbClr val="123447"/>
                </a:solidFill>
                <a:latin typeface="Segoe UI"/>
                <a:ea typeface="Segoe UI"/>
                <a:cs typeface="Segoe UI"/>
              </a:rPr>
              <a:t>La secuencia decide qué significa b</a:t>
            </a:r>
          </a:p>
        </p:txBody>
      </p:sp>
      <p:graphicFrame>
        <p:nvGraphicFramePr>
          <p:cNvPr id="3" name="Chart">
            <a:extLst>
              <a:ext uri="{FF2B5EF4-FFF2-40B4-BE49-F238E27FC236}">
                <a16:creationId xmlns:a16="http://schemas.microsoft.com/office/drawing/2014/main" id="{6C1AAFDC-9409-4204-B675-8FF1F6766F79}"/>
              </a:ext>
            </a:extLst>
          </p:cNvPr>
          <p:cNvGraphicFramePr/>
          <p:nvPr/>
        </p:nvGraphicFramePr>
        <p:xfrm>
          <a:off x="238125" y="1695450"/>
          <a:ext cx="7296150" cy="34004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30">
            <a:extLst>
              <a:ext uri="{FF2B5EF4-FFF2-40B4-BE49-F238E27FC236}">
                <a16:creationId xmlns:a16="http://schemas.microsoft.com/office/drawing/2014/main" id="{67BFC897-5BFA-4F5D-8089-85315E461549}"/>
              </a:ext>
            </a:extLst>
          </p:cNvPr>
          <p:cNvSpPr>
            <a:spLocks noGrp="1"/>
          </p:cNvSpPr>
          <p:nvPr/>
        </p:nvSpPr>
        <p:spPr>
          <a:xfrm>
            <a:off x="8096250" y="1704975"/>
            <a:ext cx="3476625" cy="666750"/>
          </a:xfrm>
          <a:prstGeom prst="rect">
            <a:avLst/>
          </a:prstGeom>
          <a:noFill/>
          <a:ln w="0">
            <a:noFill/>
          </a:ln>
        </p:spPr>
        <p:txBody>
          <a:bodyPr lIns="0" tIns="0" rIns="0" bIns="0">
            <a:noAutofit/>
          </a:bodyPr>
          <a:lstStyle>
            <a:defPPr>
              <a:defRPr sz="3225" b="1">
                <a:solidFill>
                  <a:srgbClr val="617580"/>
                </a:solidFill>
                <a:latin typeface="Segoe UI"/>
                <a:ea typeface="Segoe UI"/>
                <a:cs typeface="Segoe UI"/>
              </a:defRPr>
            </a:defPPr>
          </a:lstStyle>
          <a:p>
            <a:pPr>
              <a:defRPr sz="3225" b="1">
                <a:solidFill>
                  <a:srgbClr val="617580"/>
                </a:solidFill>
                <a:latin typeface="Segoe UI"/>
                <a:ea typeface="Segoe UI"/>
                <a:cs typeface="Segoe UI"/>
              </a:defRPr>
            </a:pPr>
            <a:r>
              <a:rPr sz="3225" b="1">
                <a:solidFill>
                  <a:srgbClr val="617580"/>
                </a:solidFill>
                <a:latin typeface="Segoe UI"/>
                <a:ea typeface="Segoe UI"/>
                <a:cs typeface="Segoe UI"/>
              </a:rPr>
              <a:t>R² = 1</a:t>
            </a:r>
          </a:p>
        </p:txBody>
      </p:sp>
      <p:sp>
        <p:nvSpPr>
          <p:cNvPr id="5" name="text_31">
            <a:extLst>
              <a:ext uri="{FF2B5EF4-FFF2-40B4-BE49-F238E27FC236}">
                <a16:creationId xmlns:a16="http://schemas.microsoft.com/office/drawing/2014/main" id="{38A33777-15E9-4727-AAC9-AA588ACB7581}"/>
              </a:ext>
            </a:extLst>
          </p:cNvPr>
          <p:cNvSpPr>
            <a:spLocks noGrp="1"/>
          </p:cNvSpPr>
          <p:nvPr/>
        </p:nvSpPr>
        <p:spPr>
          <a:xfrm>
            <a:off x="8115300" y="2562225"/>
            <a:ext cx="3486150" cy="476250"/>
          </a:xfrm>
          <a:prstGeom prst="rect">
            <a:avLst/>
          </a:prstGeom>
          <a:noFill/>
          <a:ln w="0">
            <a:noFill/>
          </a:ln>
        </p:spPr>
        <p:txBody>
          <a:bodyPr lIns="0" tIns="0" rIns="0" bIns="0">
            <a:noAutofit/>
          </a:bodyPr>
          <a:lstStyle>
            <a:defPPr>
              <a:defRPr sz="1950" b="0">
                <a:solidFill>
                  <a:srgbClr val="617580"/>
                </a:solidFill>
                <a:latin typeface="Segoe UI"/>
                <a:ea typeface="Segoe UI"/>
                <a:cs typeface="Segoe UI"/>
              </a:defRPr>
            </a:defPPr>
          </a:lstStyle>
          <a:p>
            <a:pPr>
              <a:defRPr sz="1950" b="0">
                <a:solidFill>
                  <a:srgbClr val="617580"/>
                </a:solidFill>
                <a:latin typeface="Segoe UI"/>
                <a:ea typeface="Segoe UI"/>
                <a:cs typeface="Segoe UI"/>
              </a:defRPr>
            </a:pPr>
            <a:r>
              <a:rPr sz="1950" b="0">
                <a:solidFill>
                  <a:srgbClr val="617580"/>
                </a:solidFill>
                <a:latin typeface="Segoe UI"/>
                <a:ea typeface="Segoe UI"/>
                <a:cs typeface="Segoe UI"/>
              </a:rPr>
              <a:t>D / 10⁻⁹ m² s⁻¹</a:t>
            </a:r>
          </a:p>
        </p:txBody>
      </p:sp>
      <p:sp>
        <p:nvSpPr>
          <p:cNvPr id="6" name="text_32">
            <a:extLst>
              <a:ext uri="{FF2B5EF4-FFF2-40B4-BE49-F238E27FC236}">
                <a16:creationId xmlns:a16="http://schemas.microsoft.com/office/drawing/2014/main" id="{06F48938-3162-4563-B0BD-8251B52D8807}"/>
              </a:ext>
            </a:extLst>
          </p:cNvPr>
          <p:cNvSpPr>
            <a:spLocks noGrp="1"/>
          </p:cNvSpPr>
          <p:nvPr/>
        </p:nvSpPr>
        <p:spPr>
          <a:xfrm>
            <a:off x="7820025" y="3257550"/>
            <a:ext cx="3876675" cy="561975"/>
          </a:xfrm>
          <a:prstGeom prst="rect">
            <a:avLst/>
          </a:prstGeom>
          <a:noFill/>
          <a:ln w="0">
            <a:noFill/>
          </a:ln>
        </p:spPr>
        <p:txBody>
          <a:bodyPr lIns="0" tIns="0" rIns="0" bIns="0">
            <a:noAutofit/>
          </a:bodyPr>
          <a:lstStyle>
            <a:defPPr>
              <a:defRPr sz="2325" b="1">
                <a:solidFill>
                  <a:srgbClr val="087E98"/>
                </a:solidFill>
                <a:latin typeface="Segoe UI"/>
                <a:ea typeface="Segoe UI"/>
                <a:cs typeface="Segoe UI"/>
              </a:defRPr>
            </a:defPPr>
          </a:lstStyle>
          <a:p>
            <a:pPr>
              <a:defRPr sz="2325" b="1">
                <a:solidFill>
                  <a:srgbClr val="087E98"/>
                </a:solidFill>
                <a:latin typeface="Segoe UI"/>
                <a:ea typeface="Segoe UI"/>
                <a:cs typeface="Segoe UI"/>
              </a:defRPr>
            </a:pPr>
            <a:r>
              <a:rPr sz="2325" b="1">
                <a:solidFill>
                  <a:srgbClr val="087E98"/>
                </a:solidFill>
                <a:latin typeface="Segoe UI"/>
                <a:ea typeface="Segoe UI"/>
                <a:cs typeface="Segoe UI"/>
              </a:rPr>
              <a:t>SMSQ / bipolar: 1.000</a:t>
            </a:r>
          </a:p>
        </p:txBody>
      </p:sp>
      <p:sp>
        <p:nvSpPr>
          <p:cNvPr id="7" name="reveal_33">
            <a:extLst>
              <a:ext uri="{FF2B5EF4-FFF2-40B4-BE49-F238E27FC236}">
                <a16:creationId xmlns:a16="http://schemas.microsoft.com/office/drawing/2014/main" id="{EDCE4A3E-A97A-4C7D-9B14-E61F0FEEC1C9}"/>
              </a:ext>
            </a:extLst>
          </p:cNvPr>
          <p:cNvSpPr>
            <a:spLocks noGrp="1"/>
          </p:cNvSpPr>
          <p:nvPr/>
        </p:nvSpPr>
        <p:spPr>
          <a:xfrm>
            <a:off x="7820025" y="4048125"/>
            <a:ext cx="3876675" cy="600075"/>
          </a:xfrm>
          <a:prstGeom prst="rect">
            <a:avLst/>
          </a:prstGeom>
          <a:noFill/>
          <a:ln w="0">
            <a:noFill/>
          </a:ln>
        </p:spPr>
        <p:txBody>
          <a:bodyPr lIns="0" tIns="0" rIns="0" bIns="0">
            <a:noAutofit/>
          </a:bodyPr>
          <a:lstStyle>
            <a:defPPr>
              <a:defRPr sz="3000" b="1">
                <a:solidFill>
                  <a:srgbClr val="BE4038"/>
                </a:solidFill>
                <a:latin typeface="Segoe UI"/>
                <a:ea typeface="Segoe UI"/>
                <a:cs typeface="Segoe UI"/>
              </a:defRPr>
            </a:defPPr>
          </a:lstStyle>
          <a:p>
            <a:pPr>
              <a:defRPr sz="3000" b="1">
                <a:solidFill>
                  <a:srgbClr val="BE4038"/>
                </a:solidFill>
                <a:latin typeface="Segoe UI"/>
                <a:ea typeface="Segoe UI"/>
                <a:cs typeface="Segoe UI"/>
              </a:defRPr>
            </a:pPr>
            <a:r>
              <a:rPr sz="3000" b="1">
                <a:solidFill>
                  <a:srgbClr val="BE4038"/>
                </a:solidFill>
                <a:latin typeface="Segoe UI"/>
                <a:ea typeface="Segoe UI"/>
                <a:cs typeface="Segoe UI"/>
              </a:rPr>
              <a:t>PGSE: 0.802</a:t>
            </a:r>
          </a:p>
        </p:txBody>
      </p:sp>
      <p:sp>
        <p:nvSpPr>
          <p:cNvPr id="8" name="reveal_34">
            <a:extLst>
              <a:ext uri="{FF2B5EF4-FFF2-40B4-BE49-F238E27FC236}">
                <a16:creationId xmlns:a16="http://schemas.microsoft.com/office/drawing/2014/main" id="{6B4A0BB8-01D1-495C-90B2-F7C9F080DEDA}"/>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Revisar secuencia + forma + δ + intervalos RF antes de ajustar D</a:t>
            </a:r>
          </a:p>
        </p:txBody>
      </p:sp>
      <p:sp>
        <p:nvSpPr>
          <p:cNvPr id="9" name="text_35">
            <a:extLst>
              <a:ext uri="{FF2B5EF4-FFF2-40B4-BE49-F238E27FC236}">
                <a16:creationId xmlns:a16="http://schemas.microsoft.com/office/drawing/2014/main" id="{14822305-45CE-45BE-B5B5-649D351DA73D}"/>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617580"/>
                </a:solidFill>
                <a:latin typeface="Segoe UI"/>
                <a:ea typeface="Segoe UI"/>
                <a:cs typeface="Segoe UI"/>
              </a:defRPr>
            </a:defPPr>
          </a:lstStyle>
          <a:p>
            <a:pPr>
              <a:defRPr sz="1725" b="0">
                <a:solidFill>
                  <a:srgbClr val="617580"/>
                </a:solidFill>
                <a:latin typeface="Segoe UI"/>
                <a:ea typeface="Segoe UI"/>
                <a:cs typeface="Segoe UI"/>
              </a:defRPr>
            </a:pPr>
            <a:r>
              <a:rPr sz="1725" b="0">
                <a:solidFill>
                  <a:srgbClr val="617580"/>
                </a:solidFill>
                <a:latin typeface="Segoe UI"/>
                <a:ea typeface="Segoe UI"/>
                <a:cs typeface="Segoe UI"/>
              </a:rPr>
              <a:t>SIMULACIÓN sin ruido, G físico fijo y sin recalibrar. El ajuste verifica la curva, no la escala de b.</a:t>
            </a:r>
          </a:p>
        </p:txBody>
      </p:sp>
    </p:spTree>
    <p:extLst>
      <p:ext uri="{BB962C8B-B14F-4D97-AF65-F5344CB8AC3E}">
        <p14:creationId xmlns:p14="http://schemas.microsoft.com/office/powerpoint/2010/main" val="92205086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500"/>
                            </p:stCondLst>
                            <p:childTnLst>
                              <p:par>
                                <p:cTn id="9" presetID="10" presetClass="entr" presetSubtype="0" fill="hold" grpId="0" nodeType="after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7024CDD-5635-4179-98D2-8A5FF2BD6DD6}"/>
              </a:ext>
            </a:extLst>
          </p:cNvPr>
          <p:cNvPicPr>
            <a:picLocks noChangeAspect="1"/>
          </p:cNvPicPr>
          <p:nvPr/>
        </p:nvPicPr>
        <p:blipFill>
          <a:blip r:embed="rId5"/>
          <a:stretch/>
        </p:blipFill>
        <p:spPr>
          <a:xfrm>
            <a:off x="0" y="0"/>
            <a:ext cx="12192000" cy="6858000"/>
          </a:xfrm>
          <a:prstGeom prst="rect">
            <a:avLst/>
          </a:prstGeom>
        </p:spPr>
      </p:pic>
      <p:pic>
        <p:nvPicPr>
          <p:cNvPr id="3" name="DOSY_VIDEO_7" descr="Scientific teaching simulation / Simulación didáctica">
            <a:hlinkClick action="ppaction://media"/>
            <a:extLst>
              <a:ext uri="{FF2B5EF4-FFF2-40B4-BE49-F238E27FC236}">
                <a16:creationId xmlns:a16="http://schemas.microsoft.com/office/drawing/2014/main" id="{57614FEE-DCA2-4176-D51B-E90E49E8BE7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5707998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FB759C3-6935-4977-B812-FE76D067C7D9}"/>
              </a:ext>
            </a:extLst>
          </p:cNvPr>
          <p:cNvPicPr>
            <a:picLocks noChangeAspect="1"/>
          </p:cNvPicPr>
          <p:nvPr/>
        </p:nvPicPr>
        <p:blipFill>
          <a:blip r:embed="rId5"/>
          <a:stretch/>
        </p:blipFill>
        <p:spPr>
          <a:xfrm>
            <a:off x="0" y="0"/>
            <a:ext cx="12192000" cy="6858000"/>
          </a:xfrm>
          <a:prstGeom prst="rect">
            <a:avLst/>
          </a:prstGeom>
        </p:spPr>
      </p:pic>
      <p:pic>
        <p:nvPicPr>
          <p:cNvPr id="3" name="DOSY_VIDEO_8" descr="Scientific teaching simulation / Simulación didáctica">
            <a:hlinkClick action="ppaction://media"/>
            <a:extLst>
              <a:ext uri="{FF2B5EF4-FFF2-40B4-BE49-F238E27FC236}">
                <a16:creationId xmlns:a16="http://schemas.microsoft.com/office/drawing/2014/main" id="{67301128-A365-4B7D-F54D-45541102116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57734984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F7A6EFF2-DA07-4AB5-974E-2C27E38E1AF3}"/>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09</a:t>
            </a:r>
          </a:p>
        </p:txBody>
      </p:sp>
      <p:sp>
        <p:nvSpPr>
          <p:cNvPr id="2" name="slide_title">
            <a:extLst>
              <a:ext uri="{FF2B5EF4-FFF2-40B4-BE49-F238E27FC236}">
                <a16:creationId xmlns:a16="http://schemas.microsoft.com/office/drawing/2014/main" id="{63137C28-B4E9-405C-B0B0-41404510B4D8}"/>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225" b="1">
                <a:solidFill>
                  <a:srgbClr val="EAF3F4"/>
                </a:solidFill>
                <a:latin typeface="Segoe UI"/>
                <a:ea typeface="Segoe UI"/>
                <a:cs typeface="Segoe UI"/>
              </a:defRPr>
            </a:defPPr>
          </a:lstStyle>
          <a:p>
            <a:pPr>
              <a:defRPr sz="3225" b="1">
                <a:solidFill>
                  <a:srgbClr val="EAF3F4"/>
                </a:solidFill>
                <a:latin typeface="Segoe UI"/>
                <a:ea typeface="Segoe UI"/>
                <a:cs typeface="Segoe UI"/>
              </a:defRPr>
            </a:pPr>
            <a:r>
              <a:rPr sz="3225" b="1">
                <a:solidFill>
                  <a:srgbClr val="EAF3F4"/>
                </a:solidFill>
                <a:latin typeface="Segoe UI"/>
                <a:ea typeface="Segoe UI"/>
                <a:cs typeface="Segoe UI"/>
              </a:rPr>
              <a:t>LED y doble STE: recuperar señal sin copiar retardos</a:t>
            </a:r>
          </a:p>
        </p:txBody>
      </p:sp>
      <p:graphicFrame>
        <p:nvGraphicFramePr>
          <p:cNvPr id="3" name="Tabla 2">
            <a:extLst>
              <a:ext uri="{FF2B5EF4-FFF2-40B4-BE49-F238E27FC236}">
                <a16:creationId xmlns:a16="http://schemas.microsoft.com/office/drawing/2014/main" id="{73644E43-BB87-4B44-A719-074FEBC4B75D}"/>
              </a:ext>
            </a:extLst>
          </p:cNvPr>
          <p:cNvGraphicFramePr/>
          <p:nvPr/>
        </p:nvGraphicFramePr>
        <p:xfrm>
          <a:off x="523875" y="1847850"/>
          <a:ext cx="11163300" cy="2676525"/>
        </p:xfrm>
        <a:graphic>
          <a:graphicData uri="http://schemas.openxmlformats.org/drawingml/2006/table">
            <a:tbl>
              <a:tblPr/>
              <a:tblGrid>
                <a:gridCol w="3476625">
                  <a:extLst>
                    <a:ext uri="{9D8B030D-6E8A-4147-A177-3AD203B41FA5}">
                      <a16:colId xmlns:a16="http://schemas.microsoft.com/office/drawing/2014/main" val="20000"/>
                    </a:ext>
                  </a:extLst>
                </a:gridCol>
                <a:gridCol w="3219450">
                  <a:extLst>
                    <a:ext uri="{9D8B030D-6E8A-4147-A177-3AD203B41FA5}">
                      <a16:colId xmlns:a16="http://schemas.microsoft.com/office/drawing/2014/main" val="20001"/>
                    </a:ext>
                  </a:extLst>
                </a:gridCol>
                <a:gridCol w="4467225">
                  <a:extLst>
                    <a:ext uri="{9D8B030D-6E8A-4147-A177-3AD203B41FA5}">
                      <a16:colId xmlns:a16="http://schemas.microsoft.com/office/drawing/2014/main" val="20002"/>
                    </a:ext>
                  </a:extLst>
                </a:gridCol>
              </a:tblGrid>
              <a:tr h="669131">
                <a:tc>
                  <a:txBody>
                    <a:bodyPr/>
                    <a:lstStyle/>
                    <a:p>
                      <a:r>
                        <a:rPr sz="1875" b="1">
                          <a:solidFill>
                            <a:srgbClr val="EAF3F4"/>
                          </a:solidFill>
                          <a:latin typeface="Segoe UI"/>
                          <a:ea typeface="Segoe UI"/>
                          <a:cs typeface="Segoe UI"/>
                        </a:rPr>
                        <a:t>Secuencia</a:t>
                      </a:r>
                    </a:p>
                  </a:txBody>
                  <a:tcPr>
                    <a:solidFill>
                      <a:srgbClr val="1D3E50"/>
                    </a:solidFill>
                  </a:tcPr>
                </a:tc>
                <a:tc>
                  <a:txBody>
                    <a:bodyPr/>
                    <a:lstStyle/>
                    <a:p>
                      <a:r>
                        <a:rPr sz="1875" b="1">
                          <a:solidFill>
                            <a:srgbClr val="EAF3F4"/>
                          </a:solidFill>
                          <a:latin typeface="Segoe UI"/>
                          <a:ea typeface="Segoe UI"/>
                          <a:cs typeface="Segoe UI"/>
                        </a:rPr>
                        <a:t>Retardo relevante</a:t>
                      </a:r>
                    </a:p>
                  </a:txBody>
                  <a:tcPr>
                    <a:solidFill>
                      <a:srgbClr val="1D3E50"/>
                    </a:solidFill>
                  </a:tcPr>
                </a:tc>
                <a:tc>
                  <a:txBody>
                    <a:bodyPr/>
                    <a:lstStyle/>
                    <a:p>
                      <a:r>
                        <a:rPr sz="1875" b="1">
                          <a:solidFill>
                            <a:srgbClr val="EAF3F4"/>
                          </a:solidFill>
                          <a:latin typeface="Segoe UI"/>
                          <a:ea typeface="Segoe UI"/>
                          <a:cs typeface="Segoe UI"/>
                        </a:rPr>
                        <a:t>Problema a controlar</a:t>
                      </a:r>
                    </a:p>
                  </a:txBody>
                  <a:tcPr>
                    <a:solidFill>
                      <a:srgbClr val="1D3E50"/>
                    </a:solidFill>
                  </a:tcPr>
                </a:tc>
                <a:extLst>
                  <a:ext uri="{0D108BD9-81ED-4DB2-BD59-A6C34878D82A}">
                    <a16:rowId xmlns:a16="http://schemas.microsoft.com/office/drawing/2014/main" val="10000"/>
                  </a:ext>
                </a:extLst>
              </a:tr>
              <a:tr h="669131">
                <a:tc>
                  <a:txBody>
                    <a:bodyPr/>
                    <a:lstStyle/>
                    <a:p>
                      <a:r>
                        <a:rPr sz="1875" b="0">
                          <a:solidFill>
                            <a:srgbClr val="EAF3F4"/>
                          </a:solidFill>
                          <a:latin typeface="Segoe UI"/>
                          <a:ea typeface="Segoe UI"/>
                          <a:cs typeface="Segoe UI"/>
                        </a:rPr>
                        <a:t>ledbpgp2s / 1d</a:t>
                      </a:r>
                    </a:p>
                  </a:txBody>
                  <a:tcPr>
                    <a:solidFill>
                      <a:srgbClr val="081522"/>
                    </a:solidFill>
                  </a:tcPr>
                </a:tc>
                <a:tc>
                  <a:txBody>
                    <a:bodyPr/>
                    <a:lstStyle/>
                    <a:p>
                      <a:r>
                        <a:rPr sz="1875" b="0">
                          <a:solidFill>
                            <a:srgbClr val="EAF3F4"/>
                          </a:solidFill>
                          <a:latin typeface="Segoe UI"/>
                          <a:ea typeface="Segoe UI"/>
                          <a:cs typeface="Segoe UI"/>
                        </a:rPr>
                        <a:t>LED = D21</a:t>
                      </a:r>
                    </a:p>
                  </a:txBody>
                  <a:tcPr>
                    <a:solidFill>
                      <a:srgbClr val="081522"/>
                    </a:solidFill>
                  </a:tcPr>
                </a:tc>
                <a:tc>
                  <a:txBody>
                    <a:bodyPr/>
                    <a:lstStyle/>
                    <a:p>
                      <a:r>
                        <a:rPr sz="1875" b="0">
                          <a:solidFill>
                            <a:srgbClr val="EAF3F4"/>
                          </a:solidFill>
                          <a:latin typeface="Segoe UI"/>
                          <a:ea typeface="Segoe UI"/>
                          <a:cs typeface="Segoe UI"/>
                        </a:rPr>
                        <a:t>Recuperación de corrientes de Foucault</a:t>
                      </a:r>
                    </a:p>
                  </a:txBody>
                  <a:tcPr>
                    <a:solidFill>
                      <a:srgbClr val="081522"/>
                    </a:solidFill>
                  </a:tcPr>
                </a:tc>
                <a:extLst>
                  <a:ext uri="{0D108BD9-81ED-4DB2-BD59-A6C34878D82A}">
                    <a16:rowId xmlns:a16="http://schemas.microsoft.com/office/drawing/2014/main" val="10001"/>
                  </a:ext>
                </a:extLst>
              </a:tr>
              <a:tr h="669131">
                <a:tc>
                  <a:txBody>
                    <a:bodyPr/>
                    <a:lstStyle/>
                    <a:p>
                      <a:r>
                        <a:rPr sz="1875" b="0">
                          <a:solidFill>
                            <a:srgbClr val="EAF3F4"/>
                          </a:solidFill>
                          <a:latin typeface="Segoe UI"/>
                          <a:ea typeface="Segoe UI"/>
                          <a:cs typeface="Segoe UI"/>
                        </a:rPr>
                        <a:t>dstebpgp3s / 1d</a:t>
                      </a:r>
                    </a:p>
                  </a:txBody>
                  <a:tcPr>
                    <a:solidFill>
                      <a:srgbClr val="081522"/>
                    </a:solidFill>
                  </a:tcPr>
                </a:tc>
                <a:tc>
                  <a:txBody>
                    <a:bodyPr/>
                    <a:lstStyle/>
                    <a:p>
                      <a:r>
                        <a:rPr sz="1875" b="0">
                          <a:solidFill>
                            <a:srgbClr val="EAF3F4"/>
                          </a:solidFill>
                          <a:latin typeface="Segoe UI"/>
                          <a:ea typeface="Segoe UI"/>
                          <a:cs typeface="Segoe UI"/>
                        </a:rPr>
                        <a:t>D20 total · D21 LED</a:t>
                      </a:r>
                    </a:p>
                  </a:txBody>
                  <a:tcPr>
                    <a:solidFill>
                      <a:srgbClr val="081522"/>
                    </a:solidFill>
                  </a:tcPr>
                </a:tc>
                <a:tc>
                  <a:txBody>
                    <a:bodyPr/>
                    <a:lstStyle/>
                    <a:p>
                      <a:r>
                        <a:rPr sz="1875" b="0">
                          <a:solidFill>
                            <a:srgbClr val="EAF3F4"/>
                          </a:solidFill>
                          <a:latin typeface="Segoe UI"/>
                          <a:ea typeface="Segoe UI"/>
                          <a:cs typeface="Segoe UI"/>
                        </a:rPr>
                        <a:t>Convección / más RF / pérdida de sensibilidad</a:t>
                      </a:r>
                    </a:p>
                  </a:txBody>
                  <a:tcPr>
                    <a:solidFill>
                      <a:srgbClr val="081522"/>
                    </a:solidFill>
                  </a:tcPr>
                </a:tc>
                <a:extLst>
                  <a:ext uri="{0D108BD9-81ED-4DB2-BD59-A6C34878D82A}">
                    <a16:rowId xmlns:a16="http://schemas.microsoft.com/office/drawing/2014/main" val="10002"/>
                  </a:ext>
                </a:extLst>
              </a:tr>
              <a:tr h="669131">
                <a:tc>
                  <a:txBody>
                    <a:bodyPr/>
                    <a:lstStyle/>
                    <a:p>
                      <a:r>
                        <a:rPr sz="1875" b="0">
                          <a:solidFill>
                            <a:srgbClr val="EAF3F4"/>
                          </a:solidFill>
                          <a:latin typeface="Segoe UI"/>
                          <a:ea typeface="Segoe UI"/>
                          <a:cs typeface="Segoe UI"/>
                        </a:rPr>
                        <a:t>diffSteLED</a:t>
                      </a:r>
                    </a:p>
                  </a:txBody>
                  <a:tcPr>
                    <a:solidFill>
                      <a:srgbClr val="081522"/>
                    </a:solidFill>
                  </a:tcPr>
                </a:tc>
                <a:tc>
                  <a:txBody>
                    <a:bodyPr/>
                    <a:lstStyle/>
                    <a:p>
                      <a:r>
                        <a:rPr sz="1875" b="0">
                          <a:solidFill>
                            <a:srgbClr val="EAF3F4"/>
                          </a:solidFill>
                          <a:latin typeface="Segoe UI"/>
                          <a:ea typeface="Segoe UI"/>
                          <a:cs typeface="Segoe UI"/>
                        </a:rPr>
                        <a:t>D5 ≠ LED · LED = D19</a:t>
                      </a:r>
                    </a:p>
                  </a:txBody>
                  <a:tcPr>
                    <a:solidFill>
                      <a:srgbClr val="081522"/>
                    </a:solidFill>
                  </a:tcPr>
                </a:tc>
                <a:tc>
                  <a:txBody>
                    <a:bodyPr/>
                    <a:lstStyle/>
                    <a:p>
                      <a:r>
                        <a:rPr sz="1875" b="0">
                          <a:solidFill>
                            <a:srgbClr val="EAF3F4"/>
                          </a:solidFill>
                          <a:latin typeface="Segoe UI"/>
                          <a:ea typeface="Segoe UI"/>
                          <a:cs typeface="Segoe UI"/>
                        </a:rPr>
                        <a:t>D5: resto del intervalo de difusión</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36">
            <a:extLst>
              <a:ext uri="{FF2B5EF4-FFF2-40B4-BE49-F238E27FC236}">
                <a16:creationId xmlns:a16="http://schemas.microsoft.com/office/drawing/2014/main" id="{F7048EBC-3545-470E-A524-423A0F1C71B2}"/>
              </a:ext>
            </a:extLst>
          </p:cNvPr>
          <p:cNvSpPr>
            <a:spLocks noGrp="1"/>
          </p:cNvSpPr>
          <p:nvPr/>
        </p:nvSpPr>
        <p:spPr>
          <a:xfrm>
            <a:off x="561975" y="4886325"/>
            <a:ext cx="11049000" cy="523875"/>
          </a:xfrm>
          <a:prstGeom prst="rect">
            <a:avLst/>
          </a:prstGeom>
          <a:noFill/>
          <a:ln w="0">
            <a:noFill/>
          </a:ln>
        </p:spPr>
        <p:txBody>
          <a:bodyPr lIns="0" tIns="0" rIns="0" bIns="0">
            <a:noAutofit/>
          </a:bodyPr>
          <a:lstStyle>
            <a:defPPr>
              <a:defRPr sz="2325" b="1">
                <a:solidFill>
                  <a:srgbClr val="EAF3F4"/>
                </a:solidFill>
                <a:latin typeface="Segoe UI"/>
                <a:ea typeface="Segoe UI"/>
                <a:cs typeface="Segoe UI"/>
              </a:defRPr>
            </a:defPPr>
          </a:lstStyle>
          <a:p>
            <a:pPr>
              <a:defRPr sz="2325" b="1">
                <a:solidFill>
                  <a:srgbClr val="EAF3F4"/>
                </a:solidFill>
                <a:latin typeface="Segoe UI"/>
                <a:ea typeface="Segoe UI"/>
                <a:cs typeface="Segoe UI"/>
              </a:defRPr>
            </a:pPr>
            <a:r>
              <a:rPr sz="2325" b="1">
                <a:solidFill>
                  <a:srgbClr val="EAF3F4"/>
                </a:solidFill>
                <a:latin typeface="Segoe UI"/>
                <a:ea typeface="Segoe UI"/>
                <a:cs typeface="Segoe UI"/>
              </a:rPr>
              <a:t>Doble STE: δ = 2P30 · 8 lóbulos · NS = 16×n</a:t>
            </a:r>
          </a:p>
        </p:txBody>
      </p:sp>
      <p:sp>
        <p:nvSpPr>
          <p:cNvPr id="5" name="reveal_37">
            <a:extLst>
              <a:ext uri="{FF2B5EF4-FFF2-40B4-BE49-F238E27FC236}">
                <a16:creationId xmlns:a16="http://schemas.microsoft.com/office/drawing/2014/main" id="{6931AACE-B405-409F-85F8-D0A3978C480A}"/>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Leer el pulseprogram adquirido y sus límites antes de copiar parámetros</a:t>
            </a:r>
          </a:p>
        </p:txBody>
      </p:sp>
      <p:sp>
        <p:nvSpPr>
          <p:cNvPr id="6" name="text_38">
            <a:extLst>
              <a:ext uri="{FF2B5EF4-FFF2-40B4-BE49-F238E27FC236}">
                <a16:creationId xmlns:a16="http://schemas.microsoft.com/office/drawing/2014/main" id="{5F5F6D4E-3EAE-43C4-BD24-D6B8FA325FB8}"/>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Revisar D1, D16, P19 y DELTA1. La compensación de convección tiene alcance y coste de señal.</a:t>
            </a:r>
          </a:p>
        </p:txBody>
      </p:sp>
    </p:spTree>
    <p:extLst>
      <p:ext uri="{BB962C8B-B14F-4D97-AF65-F5344CB8AC3E}">
        <p14:creationId xmlns:p14="http://schemas.microsoft.com/office/powerpoint/2010/main" val="5975007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C4CBD614-C6DE-4B2A-8C7E-C156A34FA566}"/>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10</a:t>
            </a:r>
          </a:p>
        </p:txBody>
      </p:sp>
      <p:sp>
        <p:nvSpPr>
          <p:cNvPr id="2" name="slide_title">
            <a:extLst>
              <a:ext uri="{FF2B5EF4-FFF2-40B4-BE49-F238E27FC236}">
                <a16:creationId xmlns:a16="http://schemas.microsoft.com/office/drawing/2014/main" id="{49EC2A9A-A54D-42F6-9063-4B49FB3FC92E}"/>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123447"/>
                </a:solidFill>
                <a:latin typeface="Segoe UI"/>
                <a:ea typeface="Segoe UI"/>
                <a:cs typeface="Segoe UI"/>
              </a:defRPr>
            </a:defPPr>
          </a:lstStyle>
          <a:p>
            <a:pPr>
              <a:defRPr sz="3300" b="1">
                <a:solidFill>
                  <a:srgbClr val="123447"/>
                </a:solidFill>
                <a:latin typeface="Segoe UI"/>
                <a:ea typeface="Segoe UI"/>
                <a:cs typeface="Segoe UI"/>
              </a:defRPr>
            </a:pPr>
            <a:r>
              <a:rPr sz="3300" b="1">
                <a:solidFill>
                  <a:srgbClr val="123447"/>
                </a:solidFill>
                <a:latin typeface="Segoe UI"/>
                <a:ea typeface="Segoe UI"/>
                <a:cs typeface="Segoe UI"/>
              </a:rPr>
              <a:t>Cambiar Δ ayuda a descubrir que no estamos midiendo sólo difusión</a:t>
            </a:r>
          </a:p>
        </p:txBody>
      </p:sp>
      <p:graphicFrame>
        <p:nvGraphicFramePr>
          <p:cNvPr id="3" name="Chart">
            <a:extLst>
              <a:ext uri="{FF2B5EF4-FFF2-40B4-BE49-F238E27FC236}">
                <a16:creationId xmlns:a16="http://schemas.microsoft.com/office/drawing/2014/main" id="{23D22224-D89F-4578-9D0B-EB7E3FD048BD}"/>
              </a:ext>
            </a:extLst>
          </p:cNvPr>
          <p:cNvGraphicFramePr/>
          <p:nvPr/>
        </p:nvGraphicFramePr>
        <p:xfrm>
          <a:off x="276225" y="1847850"/>
          <a:ext cx="7277100" cy="337185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39">
            <a:extLst>
              <a:ext uri="{FF2B5EF4-FFF2-40B4-BE49-F238E27FC236}">
                <a16:creationId xmlns:a16="http://schemas.microsoft.com/office/drawing/2014/main" id="{EF479F81-2E59-4FEC-985C-A93EB2AE8706}"/>
              </a:ext>
            </a:extLst>
          </p:cNvPr>
          <p:cNvSpPr>
            <a:spLocks noGrp="1"/>
          </p:cNvSpPr>
          <p:nvPr/>
        </p:nvSpPr>
        <p:spPr>
          <a:xfrm>
            <a:off x="8077200" y="2000250"/>
            <a:ext cx="3524250" cy="1438275"/>
          </a:xfrm>
          <a:prstGeom prst="rect">
            <a:avLst/>
          </a:prstGeom>
          <a:noFill/>
          <a:ln w="0">
            <a:noFill/>
          </a:ln>
        </p:spPr>
        <p:txBody>
          <a:bodyPr lIns="0" tIns="0" rIns="0" bIns="0">
            <a:noAutofit/>
          </a:bodyPr>
          <a:lstStyle>
            <a:defPPr>
              <a:defRPr sz="3225" b="1">
                <a:solidFill>
                  <a:srgbClr val="BE4038"/>
                </a:solidFill>
                <a:latin typeface="Segoe UI"/>
                <a:ea typeface="Segoe UI"/>
                <a:cs typeface="Segoe UI"/>
              </a:defRPr>
            </a:defPPr>
          </a:lstStyle>
          <a:p>
            <a:pPr>
              <a:defRPr sz="3225" b="1">
                <a:solidFill>
                  <a:srgbClr val="BE4038"/>
                </a:solidFill>
                <a:latin typeface="Segoe UI"/>
                <a:ea typeface="Segoe UI"/>
                <a:cs typeface="Segoe UI"/>
              </a:defRPr>
            </a:pPr>
            <a:r>
              <a:rPr sz="3225" b="1">
                <a:solidFill>
                  <a:srgbClr val="BE4038"/>
                </a:solidFill>
                <a:latin typeface="Segoe UI"/>
                <a:ea typeface="Segoe UI"/>
                <a:cs typeface="Segoe UI"/>
              </a:rPr>
              <a:t>Δ ↑</a:t>
            </a:r>
          </a:p>
          <a:p>
            <a:pPr>
              <a:defRPr sz="3225" b="1">
                <a:solidFill>
                  <a:srgbClr val="BE4038"/>
                </a:solidFill>
                <a:latin typeface="Segoe UI"/>
                <a:ea typeface="Segoe UI"/>
                <a:cs typeface="Segoe UI"/>
              </a:defRPr>
            </a:pPr>
            <a:r>
              <a:rPr sz="3225" b="1">
                <a:solidFill>
                  <a:srgbClr val="BE4038"/>
                </a:solidFill>
                <a:latin typeface="Segoe UI"/>
                <a:ea typeface="Segoe UI"/>
                <a:cs typeface="Segoe UI"/>
              </a:rPr>
              <a:t>D aparente ↑</a:t>
            </a:r>
          </a:p>
        </p:txBody>
      </p:sp>
      <p:sp>
        <p:nvSpPr>
          <p:cNvPr id="5" name="text_40">
            <a:extLst>
              <a:ext uri="{FF2B5EF4-FFF2-40B4-BE49-F238E27FC236}">
                <a16:creationId xmlns:a16="http://schemas.microsoft.com/office/drawing/2014/main" id="{3924237D-E084-4BBE-854A-2BCB70853960}"/>
              </a:ext>
            </a:extLst>
          </p:cNvPr>
          <p:cNvSpPr>
            <a:spLocks noGrp="1"/>
          </p:cNvSpPr>
          <p:nvPr/>
        </p:nvSpPr>
        <p:spPr>
          <a:xfrm>
            <a:off x="8086725" y="3876675"/>
            <a:ext cx="3514725" cy="1200150"/>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Convección</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Intercambio</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Difusión restringida</a:t>
            </a:r>
          </a:p>
        </p:txBody>
      </p:sp>
      <p:sp>
        <p:nvSpPr>
          <p:cNvPr id="6" name="reveal_41">
            <a:extLst>
              <a:ext uri="{FF2B5EF4-FFF2-40B4-BE49-F238E27FC236}">
                <a16:creationId xmlns:a16="http://schemas.microsoft.com/office/drawing/2014/main" id="{45F21BD3-E504-439F-B752-3C7A89F5F543}"/>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Comparar tres Δ, T y amplitudes propias por rampa; revisar el patrón</a:t>
            </a:r>
          </a:p>
        </p:txBody>
      </p:sp>
      <p:sp>
        <p:nvSpPr>
          <p:cNvPr id="7" name="text_42">
            <a:extLst>
              <a:ext uri="{FF2B5EF4-FFF2-40B4-BE49-F238E27FC236}">
                <a16:creationId xmlns:a16="http://schemas.microsoft.com/office/drawing/2014/main" id="{C89896BB-0C2E-40E0-BBA6-D46536344065}"/>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SIMULACIÓN: velocidades gaussianas, σv = 100 µm/s, pulsos estrechos. La causa necesita otras pruebas.</a:t>
            </a:r>
          </a:p>
        </p:txBody>
      </p:sp>
    </p:spTree>
    <p:extLst>
      <p:ext uri="{BB962C8B-B14F-4D97-AF65-F5344CB8AC3E}">
        <p14:creationId xmlns:p14="http://schemas.microsoft.com/office/powerpoint/2010/main" val="184927549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4AB1DB4-5CC4-4819-ACC8-43B7765065EA}"/>
              </a:ext>
            </a:extLst>
          </p:cNvPr>
          <p:cNvPicPr>
            <a:picLocks noChangeAspect="1"/>
          </p:cNvPicPr>
          <p:nvPr/>
        </p:nvPicPr>
        <p:blipFill>
          <a:blip r:embed="rId5"/>
          <a:stretch/>
        </p:blipFill>
        <p:spPr>
          <a:xfrm>
            <a:off x="0" y="0"/>
            <a:ext cx="12192000" cy="6858000"/>
          </a:xfrm>
          <a:prstGeom prst="rect">
            <a:avLst/>
          </a:prstGeom>
        </p:spPr>
      </p:pic>
      <p:pic>
        <p:nvPicPr>
          <p:cNvPr id="3" name="DOSY_VIDEO_11" descr="Scientific teaching simulation / Simulación didáctica">
            <a:hlinkClick action="ppaction://media"/>
            <a:extLst>
              <a:ext uri="{FF2B5EF4-FFF2-40B4-BE49-F238E27FC236}">
                <a16:creationId xmlns:a16="http://schemas.microsoft.com/office/drawing/2014/main" id="{EAF8D92E-3E0A-C0D1-5074-86CFB93FDF3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00158071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1EEBBB7-E740-4386-8E40-07F86CF262BA}"/>
              </a:ext>
            </a:extLst>
          </p:cNvPr>
          <p:cNvPicPr>
            <a:picLocks noChangeAspect="1"/>
          </p:cNvPicPr>
          <p:nvPr/>
        </p:nvPicPr>
        <p:blipFill>
          <a:blip r:embed="rId5"/>
          <a:stretch/>
        </p:blipFill>
        <p:spPr>
          <a:xfrm>
            <a:off x="0" y="0"/>
            <a:ext cx="12192000" cy="6858000"/>
          </a:xfrm>
          <a:prstGeom prst="rect">
            <a:avLst/>
          </a:prstGeom>
        </p:spPr>
      </p:pic>
      <p:pic>
        <p:nvPicPr>
          <p:cNvPr id="3" name="DOSY_VIDEO_12" descr="Scientific teaching simulation / Simulación didáctica">
            <a:hlinkClick action="ppaction://media"/>
            <a:extLst>
              <a:ext uri="{FF2B5EF4-FFF2-40B4-BE49-F238E27FC236}">
                <a16:creationId xmlns:a16="http://schemas.microsoft.com/office/drawing/2014/main" id="{54E13601-818C-B5F2-91AB-8949818A5AF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73350333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72FC883-9766-4E8B-AA84-EC20830CA60D}"/>
              </a:ext>
            </a:extLst>
          </p:cNvPr>
          <p:cNvPicPr>
            <a:picLocks noChangeAspect="1"/>
          </p:cNvPicPr>
          <p:nvPr/>
        </p:nvPicPr>
        <p:blipFill>
          <a:blip r:embed="rId5"/>
          <a:stretch/>
        </p:blipFill>
        <p:spPr>
          <a:xfrm>
            <a:off x="0" y="0"/>
            <a:ext cx="12192000" cy="6858000"/>
          </a:xfrm>
          <a:prstGeom prst="rect">
            <a:avLst/>
          </a:prstGeom>
        </p:spPr>
      </p:pic>
      <p:pic>
        <p:nvPicPr>
          <p:cNvPr id="3" name="DOSY_VIDEO_13" descr="Scientific teaching simulation / Simulación didáctica">
            <a:hlinkClick action="ppaction://media"/>
            <a:extLst>
              <a:ext uri="{FF2B5EF4-FFF2-40B4-BE49-F238E27FC236}">
                <a16:creationId xmlns:a16="http://schemas.microsoft.com/office/drawing/2014/main" id="{00EFF378-4F40-48E5-AFD6-E3101A906104}"/>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161696191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A26BEFC-BE81-4285-9859-DDEC888F791D}"/>
              </a:ext>
            </a:extLst>
          </p:cNvPr>
          <p:cNvPicPr>
            <a:picLocks noChangeAspect="1"/>
          </p:cNvPicPr>
          <p:nvPr/>
        </p:nvPicPr>
        <p:blipFill>
          <a:blip r:embed="rId5"/>
          <a:stretch/>
        </p:blipFill>
        <p:spPr>
          <a:xfrm>
            <a:off x="0" y="0"/>
            <a:ext cx="12192000" cy="6858000"/>
          </a:xfrm>
          <a:prstGeom prst="rect">
            <a:avLst/>
          </a:prstGeom>
        </p:spPr>
      </p:pic>
      <p:pic>
        <p:nvPicPr>
          <p:cNvPr id="3" name="DOSY_VIDEO_14" descr="Scientific teaching simulation / Simulación didáctica">
            <a:hlinkClick action="ppaction://media"/>
            <a:extLst>
              <a:ext uri="{FF2B5EF4-FFF2-40B4-BE49-F238E27FC236}">
                <a16:creationId xmlns:a16="http://schemas.microsoft.com/office/drawing/2014/main" id="{8FBB421E-1D05-9FF0-64AB-177BF976BE87}"/>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70306236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4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4F8AF8B4-F673-4963-BED9-5AAA67408243}"/>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15</a:t>
            </a:r>
          </a:p>
        </p:txBody>
      </p:sp>
      <p:sp>
        <p:nvSpPr>
          <p:cNvPr id="2" name="slide_title">
            <a:extLst>
              <a:ext uri="{FF2B5EF4-FFF2-40B4-BE49-F238E27FC236}">
                <a16:creationId xmlns:a16="http://schemas.microsoft.com/office/drawing/2014/main" id="{DD71B190-5309-4B39-A209-70B0F67A6174}"/>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EAF3F4"/>
                </a:solidFill>
                <a:latin typeface="Segoe UI"/>
                <a:ea typeface="Segoe UI"/>
                <a:cs typeface="Segoe UI"/>
              </a:defRPr>
            </a:defPPr>
          </a:lstStyle>
          <a:p>
            <a:pPr>
              <a:defRPr sz="3450" b="1">
                <a:solidFill>
                  <a:srgbClr val="EAF3F4"/>
                </a:solidFill>
                <a:latin typeface="Segoe UI"/>
                <a:ea typeface="Segoe UI"/>
                <a:cs typeface="Segoe UI"/>
              </a:defRPr>
            </a:pPr>
            <a:r>
              <a:rPr sz="3450" b="1">
                <a:solidFill>
                  <a:srgbClr val="EAF3F4"/>
                </a:solidFill>
                <a:latin typeface="Segoe UI"/>
                <a:ea typeface="Segoe UI"/>
                <a:cs typeface="Segoe UI"/>
              </a:rPr>
              <a:t>El trabajo que nuestros programas ayudan a resolver</a:t>
            </a:r>
          </a:p>
        </p:txBody>
      </p:sp>
      <p:sp>
        <p:nvSpPr>
          <p:cNvPr id="3" name="text_43">
            <a:extLst>
              <a:ext uri="{FF2B5EF4-FFF2-40B4-BE49-F238E27FC236}">
                <a16:creationId xmlns:a16="http://schemas.microsoft.com/office/drawing/2014/main" id="{05EB0BF0-F930-4091-B89A-F5CF6892826D}"/>
              </a:ext>
            </a:extLst>
          </p:cNvPr>
          <p:cNvSpPr>
            <a:spLocks noGrp="1"/>
          </p:cNvSpPr>
          <p:nvPr/>
        </p:nvSpPr>
        <p:spPr>
          <a:xfrm>
            <a:off x="590550" y="1781175"/>
            <a:ext cx="11001375" cy="1771650"/>
          </a:xfrm>
          <a:prstGeom prst="rect">
            <a:avLst/>
          </a:prstGeom>
          <a:noFill/>
          <a:ln w="0">
            <a:noFill/>
          </a:ln>
        </p:spPr>
        <p:txBody>
          <a:bodyPr lIns="0" tIns="0" rIns="0" bIns="0">
            <a:noAutofit/>
          </a:bodyPr>
          <a:lstStyle>
            <a:defPPr>
              <a:defRPr sz="3150" b="1">
                <a:solidFill>
                  <a:srgbClr val="EAF3F4"/>
                </a:solidFill>
                <a:latin typeface="Segoe UI"/>
                <a:ea typeface="Segoe UI"/>
                <a:cs typeface="Segoe UI"/>
              </a:defRPr>
            </a:defPPr>
          </a:lstStyle>
          <a:p>
            <a:pPr>
              <a:defRPr sz="3150" b="1">
                <a:solidFill>
                  <a:srgbClr val="EAF3F4"/>
                </a:solidFill>
                <a:latin typeface="Segoe UI"/>
                <a:ea typeface="Segoe UI"/>
                <a:cs typeface="Segoe UI"/>
              </a:defRPr>
            </a:pPr>
            <a:r>
              <a:rPr sz="3150" b="1">
                <a:solidFill>
                  <a:srgbClr val="EAF3F4"/>
                </a:solidFill>
                <a:latin typeface="Segoe UI"/>
                <a:ea typeface="Segoe UI"/>
                <a:cs typeface="Segoe UI"/>
              </a:rPr>
              <a:t>Ya sabemos qué debemos revisar.</a:t>
            </a:r>
          </a:p>
          <a:p>
            <a:pPr>
              <a:defRPr sz="3150" b="1">
                <a:solidFill>
                  <a:srgbClr val="EAF3F4"/>
                </a:solidFill>
                <a:latin typeface="Segoe UI"/>
                <a:ea typeface="Segoe UI"/>
                <a:cs typeface="Segoe UI"/>
              </a:defRPr>
            </a:pPr>
            <a:r>
              <a:rPr sz="3150" b="1">
                <a:solidFill>
                  <a:srgbClr val="EAF3F4"/>
                </a:solidFill>
                <a:latin typeface="Segoe UI"/>
                <a:ea typeface="Segoe UI"/>
                <a:cs typeface="Segoe UI"/>
              </a:rPr>
              <a:t>Ahora lo hacemos con nuestros programas:</a:t>
            </a:r>
          </a:p>
          <a:p>
            <a:pPr>
              <a:defRPr sz="3150" b="1">
                <a:solidFill>
                  <a:srgbClr val="EAF3F4"/>
                </a:solidFill>
                <a:latin typeface="Segoe UI"/>
                <a:ea typeface="Segoe UI"/>
                <a:cs typeface="Segoe UI"/>
              </a:defRPr>
            </a:pPr>
            <a:r>
              <a:rPr sz="3150" b="1">
                <a:solidFill>
                  <a:srgbClr val="EAF3F4"/>
                </a:solidFill>
                <a:latin typeface="Segoe UI"/>
                <a:ea typeface="Segoe UI"/>
                <a:cs typeface="Segoe UI"/>
              </a:rPr>
              <a:t>preparar, analizar y conservar el resultado.</a:t>
            </a:r>
          </a:p>
        </p:txBody>
      </p:sp>
      <p:sp>
        <p:nvSpPr>
          <p:cNvPr id="4" name="text_44">
            <a:extLst>
              <a:ext uri="{FF2B5EF4-FFF2-40B4-BE49-F238E27FC236}">
                <a16:creationId xmlns:a16="http://schemas.microsoft.com/office/drawing/2014/main" id="{B8E380BB-887D-4586-A3BF-FCA2FF770E32}"/>
              </a:ext>
            </a:extLst>
          </p:cNvPr>
          <p:cNvSpPr>
            <a:spLocks noGrp="1"/>
          </p:cNvSpPr>
          <p:nvPr/>
        </p:nvSpPr>
        <p:spPr>
          <a:xfrm>
            <a:off x="619125" y="4114800"/>
            <a:ext cx="10401300" cy="438150"/>
          </a:xfrm>
          <a:prstGeom prst="rect">
            <a:avLst/>
          </a:prstGeom>
          <a:noFill/>
          <a:ln w="0">
            <a:noFill/>
          </a:ln>
        </p:spPr>
        <p:txBody>
          <a:bodyPr lIns="0" tIns="0" rIns="0" bIns="0">
            <a:noAutofit/>
          </a:bodyPr>
          <a:lstStyle>
            <a:defPPr>
              <a:defRPr sz="2325" b="0">
                <a:solidFill>
                  <a:srgbClr val="FF817B"/>
                </a:solidFill>
                <a:latin typeface="Segoe UI"/>
                <a:ea typeface="Segoe UI"/>
                <a:cs typeface="Segoe UI"/>
              </a:defRPr>
            </a:defPPr>
          </a:lstStyle>
          <a:p>
            <a:pPr>
              <a:defRPr sz="2325" b="0">
                <a:solidFill>
                  <a:srgbClr val="FF817B"/>
                </a:solidFill>
                <a:latin typeface="Segoe UI"/>
                <a:ea typeface="Segoe UI"/>
                <a:cs typeface="Segoe UI"/>
              </a:defRPr>
            </a:pPr>
            <a:r>
              <a:rPr sz="2325" b="0">
                <a:solidFill>
                  <a:srgbClr val="FF817B"/>
                </a:solidFill>
                <a:latin typeface="Segoe UI"/>
                <a:ea typeface="Segoe UI"/>
                <a:cs typeface="Segoe UI"/>
              </a:rPr>
              <a:t>Rampa y calibración</a:t>
            </a:r>
          </a:p>
        </p:txBody>
      </p:sp>
      <p:sp>
        <p:nvSpPr>
          <p:cNvPr id="5" name="text_45">
            <a:extLst>
              <a:ext uri="{FF2B5EF4-FFF2-40B4-BE49-F238E27FC236}">
                <a16:creationId xmlns:a16="http://schemas.microsoft.com/office/drawing/2014/main" id="{3E618AEF-273E-4D5B-B206-F3D81590D9D1}"/>
              </a:ext>
            </a:extLst>
          </p:cNvPr>
          <p:cNvSpPr>
            <a:spLocks noGrp="1"/>
          </p:cNvSpPr>
          <p:nvPr/>
        </p:nvSpPr>
        <p:spPr>
          <a:xfrm>
            <a:off x="619125" y="4657725"/>
            <a:ext cx="10401300" cy="438150"/>
          </a:xfrm>
          <a:prstGeom prst="rect">
            <a:avLst/>
          </a:prstGeom>
          <a:noFill/>
          <a:ln w="0">
            <a:noFill/>
          </a:ln>
        </p:spPr>
        <p:txBody>
          <a:bodyPr lIns="0" tIns="0" rIns="0" bIns="0">
            <a:noAutofit/>
          </a:bodyPr>
          <a:lstStyle>
            <a:defPPr>
              <a:defRPr sz="2325" b="0">
                <a:solidFill>
                  <a:srgbClr val="EAF3F4"/>
                </a:solidFill>
                <a:latin typeface="Segoe UI"/>
                <a:ea typeface="Segoe UI"/>
                <a:cs typeface="Segoe UI"/>
              </a:defRPr>
            </a:defPPr>
          </a:lstStyle>
          <a:p>
            <a:pPr>
              <a:defRPr sz="2325" b="0">
                <a:solidFill>
                  <a:srgbClr val="EAF3F4"/>
                </a:solidFill>
                <a:latin typeface="Segoe UI"/>
                <a:ea typeface="Segoe UI"/>
                <a:cs typeface="Segoe UI"/>
              </a:defRPr>
            </a:pPr>
            <a:r>
              <a:rPr sz="2325" b="0">
                <a:solidFill>
                  <a:srgbClr val="EAF3F4"/>
                </a:solidFill>
                <a:latin typeface="Segoe UI"/>
                <a:ea typeface="Segoe UI"/>
                <a:cs typeface="Segoe UI"/>
              </a:rPr>
              <a:t>Una señal y el espectro completo</a:t>
            </a:r>
          </a:p>
        </p:txBody>
      </p:sp>
      <p:sp>
        <p:nvSpPr>
          <p:cNvPr id="6" name="text_46">
            <a:extLst>
              <a:ext uri="{FF2B5EF4-FFF2-40B4-BE49-F238E27FC236}">
                <a16:creationId xmlns:a16="http://schemas.microsoft.com/office/drawing/2014/main" id="{2AACE432-94EB-4ADB-A7DD-645BE0B2CD0C}"/>
              </a:ext>
            </a:extLst>
          </p:cNvPr>
          <p:cNvSpPr>
            <a:spLocks noGrp="1"/>
          </p:cNvSpPr>
          <p:nvPr/>
        </p:nvSpPr>
        <p:spPr>
          <a:xfrm>
            <a:off x="619125" y="5200650"/>
            <a:ext cx="10401300" cy="438150"/>
          </a:xfrm>
          <a:prstGeom prst="rect">
            <a:avLst/>
          </a:prstGeom>
          <a:noFill/>
          <a:ln w="0">
            <a:noFill/>
          </a:ln>
        </p:spPr>
        <p:txBody>
          <a:bodyPr lIns="0" tIns="0" rIns="0" bIns="0">
            <a:noAutofit/>
          </a:bodyPr>
          <a:lstStyle>
            <a:defPPr>
              <a:defRPr sz="2325" b="0">
                <a:solidFill>
                  <a:srgbClr val="55DDE0"/>
                </a:solidFill>
                <a:latin typeface="Segoe UI"/>
                <a:ea typeface="Segoe UI"/>
                <a:cs typeface="Segoe UI"/>
              </a:defRPr>
            </a:defPPr>
          </a:lstStyle>
          <a:p>
            <a:pPr>
              <a:defRPr sz="2325" b="0">
                <a:solidFill>
                  <a:srgbClr val="55DDE0"/>
                </a:solidFill>
                <a:latin typeface="Segoe UI"/>
                <a:ea typeface="Segoe UI"/>
                <a:cs typeface="Segoe UI"/>
              </a:defRPr>
            </a:pPr>
            <a:r>
              <a:rPr sz="2325" b="0">
                <a:solidFill>
                  <a:srgbClr val="55DDE0"/>
                </a:solidFill>
                <a:latin typeface="Segoe UI"/>
                <a:ea typeface="Segoe UI"/>
                <a:cs typeface="Segoe UI"/>
              </a:rPr>
              <a:t>Series de muestras y controles</a:t>
            </a:r>
          </a:p>
        </p:txBody>
      </p:sp>
      <p:sp>
        <p:nvSpPr>
          <p:cNvPr id="7" name="text_47">
            <a:extLst>
              <a:ext uri="{FF2B5EF4-FFF2-40B4-BE49-F238E27FC236}">
                <a16:creationId xmlns:a16="http://schemas.microsoft.com/office/drawing/2014/main" id="{8ABE4527-86BC-46B3-AE3B-1619E6587F7B}"/>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800" b="0">
                <a:solidFill>
                  <a:srgbClr val="A9C0CC"/>
                </a:solidFill>
                <a:latin typeface="Segoe UI"/>
                <a:ea typeface="Segoe UI"/>
                <a:cs typeface="Segoe UI"/>
              </a:defRPr>
            </a:defPPr>
          </a:lstStyle>
          <a:p>
            <a:pPr>
              <a:defRPr sz="1800" b="0">
                <a:solidFill>
                  <a:srgbClr val="A9C0CC"/>
                </a:solidFill>
                <a:latin typeface="Segoe UI"/>
                <a:ea typeface="Segoe UI"/>
                <a:cs typeface="Segoe UI"/>
              </a:defRPr>
            </a:pPr>
            <a:r>
              <a:rPr sz="1800" b="0">
                <a:solidFill>
                  <a:srgbClr val="A9C0CC"/>
                </a:solidFill>
                <a:latin typeface="Segoe UI"/>
                <a:ea typeface="Segoe UI"/>
                <a:cs typeface="Segoe UI"/>
              </a:rPr>
              <a:t>Estos son los problemas para los que hemos desarrollado nuestras herramientas.</a:t>
            </a:r>
          </a:p>
        </p:txBody>
      </p:sp>
    </p:spTree>
    <p:extLst>
      <p:ext uri="{BB962C8B-B14F-4D97-AF65-F5344CB8AC3E}">
        <p14:creationId xmlns:p14="http://schemas.microsoft.com/office/powerpoint/2010/main" val="24287835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51EADE3D-16FE-4F2B-A41B-A900E152ABB0}"/>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16</a:t>
            </a:r>
          </a:p>
        </p:txBody>
      </p:sp>
      <p:sp>
        <p:nvSpPr>
          <p:cNvPr id="2" name="slide_title">
            <a:extLst>
              <a:ext uri="{FF2B5EF4-FFF2-40B4-BE49-F238E27FC236}">
                <a16:creationId xmlns:a16="http://schemas.microsoft.com/office/drawing/2014/main" id="{03AF18B8-731F-4927-9161-074ED1005FAA}"/>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EAF3F4"/>
                </a:solidFill>
                <a:latin typeface="Segoe UI"/>
                <a:ea typeface="Segoe UI"/>
                <a:cs typeface="Segoe UI"/>
              </a:defRPr>
            </a:defPPr>
          </a:lstStyle>
          <a:p>
            <a:pPr>
              <a:defRPr sz="3450" b="1">
                <a:solidFill>
                  <a:srgbClr val="EAF3F4"/>
                </a:solidFill>
                <a:latin typeface="Segoe UI"/>
                <a:ea typeface="Segoe UI"/>
                <a:cs typeface="Segoe UI"/>
              </a:defRPr>
            </a:pPr>
            <a:r>
              <a:rPr sz="3450" b="1">
                <a:solidFill>
                  <a:srgbClr val="EAF3F4"/>
                </a:solidFill>
                <a:latin typeface="Segoe UI"/>
                <a:ea typeface="Segoe UI"/>
                <a:cs typeface="Segoe UI"/>
              </a:rPr>
              <a:t>Nuestros programas y sus funciones</a:t>
            </a:r>
          </a:p>
        </p:txBody>
      </p:sp>
      <p:graphicFrame>
        <p:nvGraphicFramePr>
          <p:cNvPr id="3" name="Tabla 2">
            <a:extLst>
              <a:ext uri="{FF2B5EF4-FFF2-40B4-BE49-F238E27FC236}">
                <a16:creationId xmlns:a16="http://schemas.microsoft.com/office/drawing/2014/main" id="{A870F463-8F79-4732-9EE7-58B22E5D6D7C}"/>
              </a:ext>
            </a:extLst>
          </p:cNvPr>
          <p:cNvGraphicFramePr/>
          <p:nvPr/>
        </p:nvGraphicFramePr>
        <p:xfrm>
          <a:off x="523875" y="1752600"/>
          <a:ext cx="11144250" cy="3657600"/>
        </p:xfrm>
        <a:graphic>
          <a:graphicData uri="http://schemas.openxmlformats.org/drawingml/2006/table">
            <a:tbl>
              <a:tblPr/>
              <a:tblGrid>
                <a:gridCol w="328612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31520">
                <a:tc>
                  <a:txBody>
                    <a:bodyPr/>
                    <a:lstStyle/>
                    <a:p>
                      <a:r>
                        <a:rPr sz="1875" b="1">
                          <a:solidFill>
                            <a:srgbClr val="EAF3F4"/>
                          </a:solidFill>
                          <a:latin typeface="Segoe UI"/>
                          <a:ea typeface="Segoe UI"/>
                          <a:cs typeface="Segoe UI"/>
                        </a:rPr>
                        <a:t>Herramienta</a:t>
                      </a:r>
                    </a:p>
                  </a:txBody>
                  <a:tcPr>
                    <a:solidFill>
                      <a:srgbClr val="1D3E50"/>
                    </a:solidFill>
                  </a:tcPr>
                </a:tc>
                <a:tc>
                  <a:txBody>
                    <a:bodyPr/>
                    <a:lstStyle/>
                    <a:p>
                      <a:r>
                        <a:rPr sz="1875" b="1">
                          <a:solidFill>
                            <a:srgbClr val="EAF3F4"/>
                          </a:solidFill>
                          <a:latin typeface="Segoe UI"/>
                          <a:ea typeface="Segoe UI"/>
                          <a:cs typeface="Segoe UI"/>
                        </a:rPr>
                        <a:t>Entrada</a:t>
                      </a:r>
                    </a:p>
                  </a:txBody>
                  <a:tcPr>
                    <a:solidFill>
                      <a:srgbClr val="1D3E50"/>
                    </a:solidFill>
                  </a:tcPr>
                </a:tc>
                <a:tc>
                  <a:txBody>
                    <a:bodyPr/>
                    <a:lstStyle/>
                    <a:p>
                      <a:r>
                        <a:rPr sz="1875" b="1">
                          <a:solidFill>
                            <a:srgbClr val="EAF3F4"/>
                          </a:solidFill>
                          <a:latin typeface="Segoe UI"/>
                          <a:ea typeface="Segoe UI"/>
                          <a:cs typeface="Segoe UI"/>
                        </a:rPr>
                        <a:t>Qué aporta</a:t>
                      </a:r>
                    </a:p>
                  </a:txBody>
                  <a:tcPr>
                    <a:solidFill>
                      <a:srgbClr val="1D3E50"/>
                    </a:solidFill>
                  </a:tcPr>
                </a:tc>
                <a:extLst>
                  <a:ext uri="{0D108BD9-81ED-4DB2-BD59-A6C34878D82A}">
                    <a16:rowId xmlns:a16="http://schemas.microsoft.com/office/drawing/2014/main" val="10000"/>
                  </a:ext>
                </a:extLst>
              </a:tr>
              <a:tr h="731520">
                <a:tc>
                  <a:txBody>
                    <a:bodyPr/>
                    <a:lstStyle/>
                    <a:p>
                      <a:r>
                        <a:rPr sz="1875" b="0">
                          <a:solidFill>
                            <a:srgbClr val="EAF3F4"/>
                          </a:solidFill>
                          <a:latin typeface="Segoe UI"/>
                          <a:ea typeface="Segoe UI"/>
                          <a:cs typeface="Segoe UI"/>
                        </a:rPr>
                        <a:t>TopSpin · xpy</a:t>
                      </a:r>
                    </a:p>
                  </a:txBody>
                  <a:tcPr>
                    <a:solidFill>
                      <a:srgbClr val="081522"/>
                    </a:solidFill>
                  </a:tcPr>
                </a:tc>
                <a:tc>
                  <a:txBody>
                    <a:bodyPr/>
                    <a:lstStyle/>
                    <a:p>
                      <a:r>
                        <a:rPr sz="1875" b="0">
                          <a:solidFill>
                            <a:srgbClr val="EAF3F4"/>
                          </a:solidFill>
                          <a:latin typeface="Segoe UI"/>
                          <a:ea typeface="Segoe UI"/>
                          <a:cs typeface="Segoe UI"/>
                        </a:rPr>
                        <a:t>Plantilla y serie 1D</a:t>
                      </a:r>
                    </a:p>
                  </a:txBody>
                  <a:tcPr>
                    <a:solidFill>
                      <a:srgbClr val="081522"/>
                    </a:solidFill>
                  </a:tcPr>
                </a:tc>
                <a:tc>
                  <a:txBody>
                    <a:bodyPr/>
                    <a:lstStyle/>
                    <a:p>
                      <a:r>
                        <a:rPr sz="1875" b="0">
                          <a:solidFill>
                            <a:srgbClr val="EAF3F4"/>
                          </a:solidFill>
                          <a:latin typeface="Segoe UI"/>
                          <a:ea typeface="Segoe UI"/>
                          <a:cs typeface="Segoe UI"/>
                        </a:rPr>
                        <a:t>Preparar rampas e integrar el patrón</a:t>
                      </a:r>
                    </a:p>
                  </a:txBody>
                  <a:tcPr>
                    <a:solidFill>
                      <a:srgbClr val="081522"/>
                    </a:solidFill>
                  </a:tcPr>
                </a:tc>
                <a:extLst>
                  <a:ext uri="{0D108BD9-81ED-4DB2-BD59-A6C34878D82A}">
                    <a16:rowId xmlns:a16="http://schemas.microsoft.com/office/drawing/2014/main" val="10001"/>
                  </a:ext>
                </a:extLst>
              </a:tr>
              <a:tr h="731520">
                <a:tc>
                  <a:txBody>
                    <a:bodyPr/>
                    <a:lstStyle/>
                    <a:p>
                      <a:r>
                        <a:rPr sz="1875" b="0">
                          <a:solidFill>
                            <a:srgbClr val="EAF3F4"/>
                          </a:solidFill>
                          <a:latin typeface="Segoe UI"/>
                          <a:ea typeface="Segoe UI"/>
                          <a:cs typeface="Segoe UI"/>
                        </a:rPr>
                        <a:t>DiffAtOnce Prime</a:t>
                      </a:r>
                    </a:p>
                  </a:txBody>
                  <a:tcPr>
                    <a:solidFill>
                      <a:srgbClr val="081522"/>
                    </a:solidFill>
                  </a:tcPr>
                </a:tc>
                <a:tc>
                  <a:txBody>
                    <a:bodyPr/>
                    <a:lstStyle/>
                    <a:p>
                      <a:r>
                        <a:rPr sz="1875" b="0">
                          <a:solidFill>
                            <a:srgbClr val="EAF3F4"/>
                          </a:solidFill>
                          <a:latin typeface="Segoe UI"/>
                          <a:ea typeface="Segoe UI"/>
                          <a:cs typeface="Segoe UI"/>
                        </a:rPr>
                        <a:t>Serie Bruker procesada</a:t>
                      </a:r>
                    </a:p>
                  </a:txBody>
                  <a:tcPr>
                    <a:solidFill>
                      <a:srgbClr val="081522"/>
                    </a:solidFill>
                  </a:tcPr>
                </a:tc>
                <a:tc>
                  <a:txBody>
                    <a:bodyPr/>
                    <a:lstStyle/>
                    <a:p>
                      <a:r>
                        <a:rPr sz="1875" b="0">
                          <a:solidFill>
                            <a:srgbClr val="EAF3F4"/>
                          </a:solidFill>
                          <a:latin typeface="Segoe UI"/>
                          <a:ea typeface="Segoe UI"/>
                          <a:cs typeface="Segoe UI"/>
                        </a:rPr>
                        <a:t>Señal local, mapa y diagnóstico</a:t>
                      </a:r>
                    </a:p>
                  </a:txBody>
                  <a:tcPr>
                    <a:solidFill>
                      <a:srgbClr val="081522"/>
                    </a:solidFill>
                  </a:tcPr>
                </a:tc>
                <a:extLst>
                  <a:ext uri="{0D108BD9-81ED-4DB2-BD59-A6C34878D82A}">
                    <a16:rowId xmlns:a16="http://schemas.microsoft.com/office/drawing/2014/main" val="10002"/>
                  </a:ext>
                </a:extLst>
              </a:tr>
              <a:tr h="731520">
                <a:tc>
                  <a:txBody>
                    <a:bodyPr/>
                    <a:lstStyle/>
                    <a:p>
                      <a:r>
                        <a:rPr sz="1875" b="0">
                          <a:solidFill>
                            <a:srgbClr val="EAF3F4"/>
                          </a:solidFill>
                          <a:latin typeface="Segoe UI"/>
                          <a:ea typeface="Segoe UI"/>
                          <a:cs typeface="Segoe UI"/>
                        </a:rPr>
                        <a:t>ResinAtOnce</a:t>
                      </a:r>
                    </a:p>
                  </a:txBody>
                  <a:tcPr>
                    <a:solidFill>
                      <a:srgbClr val="081522"/>
                    </a:solidFill>
                  </a:tcPr>
                </a:tc>
                <a:tc>
                  <a:txBody>
                    <a:bodyPr/>
                    <a:lstStyle/>
                    <a:p>
                      <a:r>
                        <a:rPr sz="1875" b="0">
                          <a:solidFill>
                            <a:srgbClr val="EAF3F4"/>
                          </a:solidFill>
                          <a:latin typeface="Segoe UI"/>
                          <a:ea typeface="Segoe UI"/>
                          <a:cs typeface="Segoe UI"/>
                        </a:rPr>
                        <a:t>Serie de resina / polímero</a:t>
                      </a:r>
                    </a:p>
                  </a:txBody>
                  <a:tcPr>
                    <a:solidFill>
                      <a:srgbClr val="081522"/>
                    </a:solidFill>
                  </a:tcPr>
                </a:tc>
                <a:tc>
                  <a:txBody>
                    <a:bodyPr/>
                    <a:lstStyle/>
                    <a:p>
                      <a:r>
                        <a:rPr sz="1875" b="0">
                          <a:solidFill>
                            <a:srgbClr val="EAF3F4"/>
                          </a:solidFill>
                          <a:latin typeface="Segoe UI"/>
                          <a:ea typeface="Segoe UI"/>
                          <a:cs typeface="Segoe UI"/>
                        </a:rPr>
                        <a:t>Flujo guiado, referencias y exportación</a:t>
                      </a:r>
                    </a:p>
                  </a:txBody>
                  <a:tcPr>
                    <a:solidFill>
                      <a:srgbClr val="081522"/>
                    </a:solidFill>
                  </a:tcPr>
                </a:tc>
                <a:extLst>
                  <a:ext uri="{0D108BD9-81ED-4DB2-BD59-A6C34878D82A}">
                    <a16:rowId xmlns:a16="http://schemas.microsoft.com/office/drawing/2014/main" val="10003"/>
                  </a:ext>
                </a:extLst>
              </a:tr>
              <a:tr h="731520">
                <a:tc>
                  <a:txBody>
                    <a:bodyPr/>
                    <a:lstStyle/>
                    <a:p>
                      <a:r>
                        <a:rPr sz="1875" b="0">
                          <a:solidFill>
                            <a:srgbClr val="EAF3F4"/>
                          </a:solidFill>
                          <a:latin typeface="Segoe UI"/>
                          <a:ea typeface="Segoe UI"/>
                          <a:cs typeface="Segoe UI"/>
                        </a:rPr>
                        <a:t>DALTAIL · MATLAB</a:t>
                      </a:r>
                    </a:p>
                  </a:txBody>
                  <a:tcPr>
                    <a:solidFill>
                      <a:srgbClr val="081522"/>
                    </a:solidFill>
                  </a:tcPr>
                </a:tc>
                <a:tc>
                  <a:txBody>
                    <a:bodyPr/>
                    <a:lstStyle/>
                    <a:p>
                      <a:r>
                        <a:rPr sz="1875" b="0">
                          <a:solidFill>
                            <a:srgbClr val="EAF3F4"/>
                          </a:solidFill>
                          <a:latin typeface="Segoe UI"/>
                          <a:ea typeface="Segoe UI"/>
                          <a:cs typeface="Segoe UI"/>
                        </a:rPr>
                        <a:t>Datos y configuración guardada</a:t>
                      </a:r>
                    </a:p>
                  </a:txBody>
                  <a:tcPr>
                    <a:solidFill>
                      <a:srgbClr val="081522"/>
                    </a:solidFill>
                  </a:tcPr>
                </a:tc>
                <a:tc>
                  <a:txBody>
                    <a:bodyPr/>
                    <a:lstStyle/>
                    <a:p>
                      <a:r>
                        <a:rPr sz="1875" b="0">
                          <a:solidFill>
                            <a:srgbClr val="EAF3F4"/>
                          </a:solidFill>
                          <a:latin typeface="Segoe UI"/>
                          <a:ea typeface="Segoe UI"/>
                          <a:cs typeface="Segoe UI"/>
                        </a:rPr>
                        <a:t>Procesar lotes y reproducir tablas</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48">
            <a:extLst>
              <a:ext uri="{FF2B5EF4-FFF2-40B4-BE49-F238E27FC236}">
                <a16:creationId xmlns:a16="http://schemas.microsoft.com/office/drawing/2014/main" id="{30AAE89D-5D27-40A0-B57B-FEB287B2AAF7}"/>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875" b="0">
                <a:solidFill>
                  <a:srgbClr val="A9C0CC"/>
                </a:solidFill>
                <a:latin typeface="Segoe UI"/>
                <a:ea typeface="Segoe UI"/>
                <a:cs typeface="Segoe UI"/>
              </a:defRPr>
            </a:defPPr>
          </a:lstStyle>
          <a:p>
            <a:pPr>
              <a:defRPr sz="1875" b="0">
                <a:solidFill>
                  <a:srgbClr val="A9C0CC"/>
                </a:solidFill>
                <a:latin typeface="Segoe UI"/>
                <a:ea typeface="Segoe UI"/>
                <a:cs typeface="Segoe UI"/>
              </a:defRPr>
            </a:pPr>
            <a:r>
              <a:rPr sz="1875" b="0">
                <a:solidFill>
                  <a:srgbClr val="A9C0CC"/>
                </a:solidFill>
                <a:latin typeface="Segoe UI"/>
                <a:ea typeface="Segoe UI"/>
                <a:cs typeface="Segoe UI"/>
              </a:rPr>
              <a:t>En los siguientes casos veremos la entrada, las operaciones y el resultado.</a:t>
            </a:r>
          </a:p>
        </p:txBody>
      </p:sp>
    </p:spTree>
    <p:extLst>
      <p:ext uri="{BB962C8B-B14F-4D97-AF65-F5344CB8AC3E}">
        <p14:creationId xmlns:p14="http://schemas.microsoft.com/office/powerpoint/2010/main" val="140307433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11" name="slide_number">
            <a:extLst>
              <a:ext uri="{FF2B5EF4-FFF2-40B4-BE49-F238E27FC236}">
                <a16:creationId xmlns:a16="http://schemas.microsoft.com/office/drawing/2014/main" id="{8B3C844E-627F-4652-8FF0-50BFBD963635}"/>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17</a:t>
            </a:r>
          </a:p>
        </p:txBody>
      </p:sp>
      <p:sp>
        <p:nvSpPr>
          <p:cNvPr id="2" name="slide_title">
            <a:extLst>
              <a:ext uri="{FF2B5EF4-FFF2-40B4-BE49-F238E27FC236}">
                <a16:creationId xmlns:a16="http://schemas.microsoft.com/office/drawing/2014/main" id="{8175CF83-564A-4919-8D48-6E846B4BB9FA}"/>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123447"/>
                </a:solidFill>
                <a:latin typeface="Segoe UI"/>
                <a:ea typeface="Segoe UI"/>
                <a:cs typeface="Segoe UI"/>
              </a:defRPr>
            </a:defPPr>
          </a:lstStyle>
          <a:p>
            <a:pPr>
              <a:defRPr sz="3450" b="1">
                <a:solidFill>
                  <a:srgbClr val="123447"/>
                </a:solidFill>
                <a:latin typeface="Segoe UI"/>
                <a:ea typeface="Segoe UI"/>
                <a:cs typeface="Segoe UI"/>
              </a:defRPr>
            </a:pPr>
            <a:r>
              <a:rPr sz="3450" b="1">
                <a:solidFill>
                  <a:srgbClr val="123447"/>
                </a:solidFill>
                <a:latin typeface="Segoe UI"/>
                <a:ea typeface="Segoe UI"/>
                <a:cs typeface="Segoe UI"/>
              </a:rPr>
              <a:t>TopSpin: un informe de calibración HDO</a:t>
            </a:r>
          </a:p>
        </p:txBody>
      </p:sp>
      <p:sp>
        <p:nvSpPr>
          <p:cNvPr id="3" name="native_command">
            <a:extLst>
              <a:ext uri="{FF2B5EF4-FFF2-40B4-BE49-F238E27FC236}">
                <a16:creationId xmlns:a16="http://schemas.microsoft.com/office/drawing/2014/main" id="{C935488E-5E91-4E12-85CD-C01AA4A89A9B}"/>
              </a:ext>
            </a:extLst>
          </p:cNvPr>
          <p:cNvSpPr>
            <a:spLocks noGrp="1"/>
          </p:cNvSpPr>
          <p:nvPr/>
        </p:nvSpPr>
        <p:spPr>
          <a:xfrm>
            <a:off x="571500" y="1752600"/>
            <a:ext cx="11001375" cy="628650"/>
          </a:xfrm>
          <a:prstGeom prst="rect">
            <a:avLst/>
          </a:prstGeom>
          <a:noFill/>
          <a:ln w="0">
            <a:noFill/>
          </a:ln>
        </p:spPr>
        <p:txBody>
          <a:bodyPr lIns="0" tIns="0" rIns="0" bIns="0">
            <a:noAutofit/>
          </a:bodyPr>
          <a:lstStyle>
            <a:defPPr>
              <a:defRPr sz="3225" b="1">
                <a:solidFill>
                  <a:srgbClr val="087E98"/>
                </a:solidFill>
                <a:latin typeface="Consolas"/>
                <a:ea typeface="Consolas"/>
                <a:cs typeface="Consolas"/>
              </a:defRPr>
            </a:defPPr>
          </a:lstStyle>
          <a:p>
            <a:pPr>
              <a:defRPr sz="3225" b="1">
                <a:solidFill>
                  <a:srgbClr val="087E98"/>
                </a:solidFill>
                <a:latin typeface="Consolas"/>
                <a:ea typeface="Consolas"/>
                <a:cs typeface="Consolas"/>
              </a:defRPr>
            </a:pPr>
            <a:r>
              <a:rPr sz="3225" b="1">
                <a:solidFill>
                  <a:srgbClr val="087E98"/>
                </a:solidFill>
                <a:latin typeface="Consolas"/>
                <a:ea typeface="Consolas"/>
                <a:cs typeface="Consolas"/>
              </a:rPr>
              <a:t>xpy dosy_workshop.py</a:t>
            </a:r>
          </a:p>
        </p:txBody>
      </p:sp>
      <p:sp>
        <p:nvSpPr>
          <p:cNvPr id="4" name="text_49">
            <a:extLst>
              <a:ext uri="{FF2B5EF4-FFF2-40B4-BE49-F238E27FC236}">
                <a16:creationId xmlns:a16="http://schemas.microsoft.com/office/drawing/2014/main" id="{C04A7FC0-1361-4D4F-A8DB-EF282AF382AB}"/>
              </a:ext>
            </a:extLst>
          </p:cNvPr>
          <p:cNvSpPr>
            <a:spLocks noGrp="1"/>
          </p:cNvSpPr>
          <p:nvPr/>
        </p:nvSpPr>
        <p:spPr>
          <a:xfrm>
            <a:off x="581025" y="2809875"/>
            <a:ext cx="6905625" cy="2238375"/>
          </a:xfrm>
          <a:prstGeom prst="rect">
            <a:avLst/>
          </a:prstGeom>
          <a:noFill/>
          <a:ln w="0">
            <a:noFill/>
          </a:ln>
        </p:spPr>
        <p:txBody>
          <a:bodyPr lIns="0" tIns="0" rIns="0" bIns="0">
            <a:noAutofit/>
          </a:bodyPr>
          <a:lstStyle>
            <a:defPPr>
              <a:defRPr sz="2325" b="0">
                <a:solidFill>
                  <a:srgbClr val="123447"/>
                </a:solidFill>
                <a:latin typeface="Segoe UI"/>
                <a:ea typeface="Segoe UI"/>
                <a:cs typeface="Segoe UI"/>
              </a:defRPr>
            </a:defPPr>
          </a:lstStyle>
          <a:p>
            <a:pPr>
              <a:defRPr sz="2325" b="0">
                <a:solidFill>
                  <a:srgbClr val="123447"/>
                </a:solidFill>
                <a:latin typeface="Segoe UI"/>
                <a:ea typeface="Segoe UI"/>
                <a:cs typeface="Segoe UI"/>
              </a:defRPr>
            </a:pPr>
            <a:r>
              <a:rPr sz="2325" b="0">
                <a:solidFill>
                  <a:srgbClr val="123447"/>
                </a:solidFill>
                <a:latin typeface="Segoe UI"/>
                <a:ea typeface="Segoe UI"/>
                <a:cs typeface="Segoe UI"/>
              </a:rPr>
              <a:t>1  Seleccionar la serie y una región fija</a:t>
            </a:r>
          </a:p>
          <a:p>
            <a:pPr>
              <a:defRPr sz="2325" b="0">
                <a:solidFill>
                  <a:srgbClr val="123447"/>
                </a:solidFill>
                <a:latin typeface="Segoe UI"/>
                <a:ea typeface="Segoe UI"/>
                <a:cs typeface="Segoe UI"/>
              </a:defRPr>
            </a:pPr>
            <a:r>
              <a:rPr sz="2325" b="0">
                <a:solidFill>
                  <a:srgbClr val="123447"/>
                </a:solidFill>
                <a:latin typeface="Segoe UI"/>
                <a:ea typeface="Segoe UI"/>
                <a:cs typeface="Segoe UI"/>
              </a:rPr>
              <a:t>2  Integrar y aportar Dref(T)</a:t>
            </a:r>
          </a:p>
          <a:p>
            <a:pPr>
              <a:defRPr sz="2325" b="0">
                <a:solidFill>
                  <a:srgbClr val="123447"/>
                </a:solidFill>
                <a:latin typeface="Segoe UI"/>
                <a:ea typeface="Segoe UI"/>
                <a:cs typeface="Segoe UI"/>
              </a:defRPr>
            </a:pPr>
            <a:r>
              <a:rPr sz="2325" b="0">
                <a:solidFill>
                  <a:srgbClr val="123447"/>
                </a:solidFill>
                <a:latin typeface="Segoe UI"/>
                <a:ea typeface="Segoe UI"/>
                <a:cs typeface="Segoe UI"/>
              </a:rPr>
              <a:t>3  Revisar ajuste y guardar la propuesta</a:t>
            </a:r>
          </a:p>
        </p:txBody>
      </p:sp>
      <p:sp>
        <p:nvSpPr>
          <p:cNvPr id="5" name="text_50">
            <a:extLst>
              <a:ext uri="{FF2B5EF4-FFF2-40B4-BE49-F238E27FC236}">
                <a16:creationId xmlns:a16="http://schemas.microsoft.com/office/drawing/2014/main" id="{6CDA3EFE-2560-4A4D-A596-C86553F0D5AC}"/>
              </a:ext>
            </a:extLst>
          </p:cNvPr>
          <p:cNvSpPr>
            <a:spLocks noGrp="1"/>
          </p:cNvSpPr>
          <p:nvPr/>
        </p:nvSpPr>
        <p:spPr>
          <a:xfrm>
            <a:off x="8020050" y="2667000"/>
            <a:ext cx="3648075" cy="466725"/>
          </a:xfrm>
          <a:prstGeom prst="rect">
            <a:avLst/>
          </a:prstGeom>
          <a:noFill/>
          <a:ln w="0">
            <a:noFill/>
          </a:ln>
        </p:spPr>
        <p:txBody>
          <a:bodyPr lIns="0" tIns="0" rIns="0" bIns="0">
            <a:noAutofit/>
          </a:bodyPr>
          <a:lstStyle>
            <a:defPPr>
              <a:defRPr sz="1650" b="1">
                <a:solidFill>
                  <a:srgbClr val="617580"/>
                </a:solidFill>
                <a:latin typeface="Segoe UI"/>
                <a:ea typeface="Segoe UI"/>
                <a:cs typeface="Segoe UI"/>
              </a:defRPr>
            </a:defPPr>
          </a:lstStyle>
          <a:p>
            <a:pPr>
              <a:defRPr sz="1650" b="1">
                <a:solidFill>
                  <a:srgbClr val="617580"/>
                </a:solidFill>
                <a:latin typeface="Segoe UI"/>
                <a:ea typeface="Segoe UI"/>
                <a:cs typeface="Segoe UI"/>
              </a:defRPr>
            </a:pPr>
            <a:r>
              <a:rPr sz="1650" b="1">
                <a:solidFill>
                  <a:srgbClr val="617580"/>
                </a:solidFill>
                <a:latin typeface="Segoe UI"/>
                <a:ea typeface="Segoe UI"/>
                <a:cs typeface="Segoe UI"/>
              </a:rPr>
              <a:t>HDO REAL · REPLAY OFFLINE</a:t>
            </a:r>
          </a:p>
        </p:txBody>
      </p:sp>
      <p:sp>
        <p:nvSpPr>
          <p:cNvPr id="6" name="text_51">
            <a:extLst>
              <a:ext uri="{FF2B5EF4-FFF2-40B4-BE49-F238E27FC236}">
                <a16:creationId xmlns:a16="http://schemas.microsoft.com/office/drawing/2014/main" id="{AEA84620-1A0C-4914-9777-7D41F519FB26}"/>
              </a:ext>
            </a:extLst>
          </p:cNvPr>
          <p:cNvSpPr>
            <a:spLocks noGrp="1"/>
          </p:cNvSpPr>
          <p:nvPr/>
        </p:nvSpPr>
        <p:spPr>
          <a:xfrm>
            <a:off x="8020050" y="3324225"/>
            <a:ext cx="3648075" cy="590550"/>
          </a:xfrm>
          <a:prstGeom prst="rect">
            <a:avLst/>
          </a:prstGeom>
          <a:noFill/>
          <a:ln w="0">
            <a:noFill/>
          </a:ln>
        </p:spPr>
        <p:txBody>
          <a:bodyPr lIns="0" tIns="0" rIns="0" bIns="0">
            <a:noAutofit/>
          </a:bodyPr>
          <a:lstStyle>
            <a:defPPr>
              <a:defRPr sz="2625" b="1">
                <a:solidFill>
                  <a:srgbClr val="123447"/>
                </a:solidFill>
                <a:latin typeface="Segoe UI"/>
                <a:ea typeface="Segoe UI"/>
                <a:cs typeface="Segoe UI"/>
              </a:defRPr>
            </a:defPPr>
          </a:lstStyle>
          <a:p>
            <a:pPr>
              <a:defRPr sz="2625" b="1">
                <a:solidFill>
                  <a:srgbClr val="123447"/>
                </a:solidFill>
                <a:latin typeface="Segoe UI"/>
                <a:ea typeface="Segoe UI"/>
                <a:cs typeface="Segoe UI"/>
              </a:defRPr>
            </a:pPr>
            <a:r>
              <a:rPr sz="2625" b="1">
                <a:solidFill>
                  <a:srgbClr val="123447"/>
                </a:solidFill>
                <a:latin typeface="Segoe UI"/>
                <a:ea typeface="Segoe UI"/>
                <a:cs typeface="Segoe UI"/>
              </a:rPr>
              <a:t>R² = 0.999775</a:t>
            </a:r>
          </a:p>
        </p:txBody>
      </p:sp>
      <p:sp>
        <p:nvSpPr>
          <p:cNvPr id="7" name="text_52">
            <a:extLst>
              <a:ext uri="{FF2B5EF4-FFF2-40B4-BE49-F238E27FC236}">
                <a16:creationId xmlns:a16="http://schemas.microsoft.com/office/drawing/2014/main" id="{B7961E48-D53A-4363-9ADA-65A0A4D3964A}"/>
              </a:ext>
            </a:extLst>
          </p:cNvPr>
          <p:cNvSpPr>
            <a:spLocks noGrp="1"/>
          </p:cNvSpPr>
          <p:nvPr/>
        </p:nvSpPr>
        <p:spPr>
          <a:xfrm>
            <a:off x="8020050" y="4057650"/>
            <a:ext cx="3648075" cy="590550"/>
          </a:xfrm>
          <a:prstGeom prst="rect">
            <a:avLst/>
          </a:prstGeom>
          <a:noFill/>
          <a:ln w="0">
            <a:noFill/>
          </a:ln>
        </p:spPr>
        <p:txBody>
          <a:bodyPr lIns="0" tIns="0" rIns="0" bIns="0">
            <a:noAutofit/>
          </a:bodyPr>
          <a:lstStyle>
            <a:defPPr>
              <a:defRPr sz="2700" b="1">
                <a:solidFill>
                  <a:srgbClr val="BE4038"/>
                </a:solidFill>
                <a:latin typeface="Segoe UI"/>
                <a:ea typeface="Segoe UI"/>
                <a:cs typeface="Segoe UI"/>
              </a:defRPr>
            </a:defPPr>
          </a:lstStyle>
          <a:p>
            <a:pPr>
              <a:defRPr sz="2700" b="1">
                <a:solidFill>
                  <a:srgbClr val="BE4038"/>
                </a:solidFill>
                <a:latin typeface="Segoe UI"/>
                <a:ea typeface="Segoe UI"/>
                <a:cs typeface="Segoe UI"/>
              </a:defRPr>
            </a:pPr>
            <a:r>
              <a:rPr sz="2700" b="1">
                <a:solidFill>
                  <a:srgbClr val="BE4038"/>
                </a:solidFill>
                <a:latin typeface="Segoe UI"/>
                <a:ea typeface="Segoe UI"/>
                <a:cs typeface="Segoe UI"/>
              </a:rPr>
              <a:t>ΔTE = 0.77 K</a:t>
            </a:r>
          </a:p>
        </p:txBody>
      </p:sp>
      <p:sp>
        <p:nvSpPr>
          <p:cNvPr id="8" name="text_53">
            <a:extLst>
              <a:ext uri="{FF2B5EF4-FFF2-40B4-BE49-F238E27FC236}">
                <a16:creationId xmlns:a16="http://schemas.microsoft.com/office/drawing/2014/main" id="{1F63F779-8993-48EF-B62B-EAFC3DC18D13}"/>
              </a:ext>
            </a:extLst>
          </p:cNvPr>
          <p:cNvSpPr>
            <a:spLocks noGrp="1"/>
          </p:cNvSpPr>
          <p:nvPr/>
        </p:nvSpPr>
        <p:spPr>
          <a:xfrm>
            <a:off x="8020050" y="4876800"/>
            <a:ext cx="3648075" cy="447675"/>
          </a:xfrm>
          <a:prstGeom prst="rect">
            <a:avLst/>
          </a:prstGeom>
          <a:noFill/>
          <a:ln w="0">
            <a:noFill/>
          </a:ln>
        </p:spPr>
        <p:txBody>
          <a:bodyPr lIns="0" tIns="0" rIns="0" bIns="0">
            <a:noAutofit/>
          </a:bodyPr>
          <a:lstStyle>
            <a:defPPr>
              <a:defRPr sz="1725" b="0">
                <a:solidFill>
                  <a:srgbClr val="BE4038"/>
                </a:solidFill>
                <a:latin typeface="Segoe UI"/>
                <a:ea typeface="Segoe UI"/>
                <a:cs typeface="Segoe UI"/>
              </a:defRPr>
            </a:defPPr>
          </a:lstStyle>
          <a:p>
            <a:pPr>
              <a:defRPr sz="1725" b="0">
                <a:solidFill>
                  <a:srgbClr val="BE4038"/>
                </a:solidFill>
                <a:latin typeface="Segoe UI"/>
                <a:ea typeface="Segoe UI"/>
                <a:cs typeface="Segoe UI"/>
              </a:defRPr>
            </a:pPr>
            <a:r>
              <a:rPr sz="1725" b="0">
                <a:solidFill>
                  <a:srgbClr val="BE4038"/>
                </a:solidFill>
                <a:latin typeface="Segoe UI"/>
                <a:ea typeface="Segoe UI"/>
                <a:cs typeface="Segoe UI"/>
              </a:rPr>
              <a:t>Límite configurado: 0.50 K</a:t>
            </a:r>
          </a:p>
        </p:txBody>
      </p:sp>
      <p:sp>
        <p:nvSpPr>
          <p:cNvPr id="9" name="reveal_54">
            <a:extLst>
              <a:ext uri="{FF2B5EF4-FFF2-40B4-BE49-F238E27FC236}">
                <a16:creationId xmlns:a16="http://schemas.microsoft.com/office/drawing/2014/main" id="{AA54B010-7457-4877-9CA8-E109D190EEB5}"/>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El programa detecta la deriva: estabilizar y repetir antes de calibrar</a:t>
            </a:r>
          </a:p>
        </p:txBody>
      </p:sp>
      <p:sp>
        <p:nvSpPr>
          <p:cNvPr id="10" name="text_55">
            <a:extLst>
              <a:ext uri="{FF2B5EF4-FFF2-40B4-BE49-F238E27FC236}">
                <a16:creationId xmlns:a16="http://schemas.microsoft.com/office/drawing/2014/main" id="{28646F90-747D-47A9-A4CF-39A6F3AF3A77}"/>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Replay offline. Candidato ilustrativo a 0.80 K; el límite habitual de 0.50 K rechaza la serie.</a:t>
            </a:r>
          </a:p>
        </p:txBody>
      </p:sp>
    </p:spTree>
    <p:extLst>
      <p:ext uri="{BB962C8B-B14F-4D97-AF65-F5344CB8AC3E}">
        <p14:creationId xmlns:p14="http://schemas.microsoft.com/office/powerpoint/2010/main" val="135710803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EBA4BFAD-D8DC-4529-AACA-F3A2D94FD21C}"/>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18</a:t>
            </a:r>
          </a:p>
        </p:txBody>
      </p:sp>
      <p:sp>
        <p:nvSpPr>
          <p:cNvPr id="2" name="slide_title">
            <a:extLst>
              <a:ext uri="{FF2B5EF4-FFF2-40B4-BE49-F238E27FC236}">
                <a16:creationId xmlns:a16="http://schemas.microsoft.com/office/drawing/2014/main" id="{6A376AC5-9218-4F0E-8B15-5868175F468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TopSpin: tres rampas con Δ configurable</a:t>
            </a:r>
          </a:p>
        </p:txBody>
      </p:sp>
      <p:sp>
        <p:nvSpPr>
          <p:cNvPr id="3" name="console_command">
            <a:extLst>
              <a:ext uri="{FF2B5EF4-FFF2-40B4-BE49-F238E27FC236}">
                <a16:creationId xmlns:a16="http://schemas.microsoft.com/office/drawing/2014/main" id="{E6DA4B69-3B74-4AD2-B8DC-54C01D74AA42}"/>
              </a:ext>
            </a:extLst>
          </p:cNvPr>
          <p:cNvSpPr>
            <a:spLocks noGrp="1"/>
          </p:cNvSpPr>
          <p:nvPr/>
        </p:nvSpPr>
        <p:spPr>
          <a:xfrm>
            <a:off x="581025" y="1752600"/>
            <a:ext cx="10991850" cy="752475"/>
          </a:xfrm>
          <a:prstGeom prst="rect">
            <a:avLst/>
          </a:prstGeom>
          <a:noFill/>
          <a:ln w="0">
            <a:noFill/>
          </a:ln>
        </p:spPr>
        <p:txBody>
          <a:bodyPr lIns="0" tIns="0" rIns="0" bIns="0">
            <a:noAutofit/>
          </a:bodyPr>
          <a:lstStyle>
            <a:defPPr>
              <a:defRPr sz="3750" b="1">
                <a:solidFill>
                  <a:srgbClr val="55DDE0"/>
                </a:solidFill>
                <a:latin typeface="Consolas"/>
                <a:ea typeface="Consolas"/>
                <a:cs typeface="Consolas"/>
              </a:defRPr>
            </a:defPPr>
          </a:lstStyle>
          <a:p>
            <a:pPr>
              <a:defRPr sz="3750" b="1">
                <a:solidFill>
                  <a:srgbClr val="55DDE0"/>
                </a:solidFill>
                <a:latin typeface="Consolas"/>
                <a:ea typeface="Consolas"/>
                <a:cs typeface="Consolas"/>
              </a:defRPr>
            </a:pPr>
            <a:r>
              <a:rPr sz="3750" b="1">
                <a:solidFill>
                  <a:srgbClr val="55DDE0"/>
                </a:solidFill>
                <a:latin typeface="Consolas"/>
                <a:ea typeface="Consolas"/>
                <a:cs typeface="Consolas"/>
              </a:rPr>
              <a:t>xpy dosy_workshop.py</a:t>
            </a:r>
          </a:p>
        </p:txBody>
      </p:sp>
      <p:graphicFrame>
        <p:nvGraphicFramePr>
          <p:cNvPr id="4" name="Tabla 3">
            <a:extLst>
              <a:ext uri="{FF2B5EF4-FFF2-40B4-BE49-F238E27FC236}">
                <a16:creationId xmlns:a16="http://schemas.microsoft.com/office/drawing/2014/main" id="{69BD1C16-2D05-409B-9B9D-6E5B4F768C22}"/>
              </a:ext>
            </a:extLst>
          </p:cNvPr>
          <p:cNvGraphicFramePr/>
          <p:nvPr/>
        </p:nvGraphicFramePr>
        <p:xfrm>
          <a:off x="571500" y="2857500"/>
          <a:ext cx="11068050" cy="2381250"/>
        </p:xfrm>
        <a:graphic>
          <a:graphicData uri="http://schemas.openxmlformats.org/drawingml/2006/table">
            <a:tbl>
              <a:tblPr/>
              <a:tblGrid>
                <a:gridCol w="470535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95313">
                <a:tc>
                  <a:txBody>
                    <a:bodyPr/>
                    <a:lstStyle/>
                    <a:p>
                      <a:r>
                        <a:rPr sz="2175" b="1">
                          <a:solidFill>
                            <a:srgbClr val="EAF3F4"/>
                          </a:solidFill>
                          <a:latin typeface="Segoe UI"/>
                          <a:ea typeface="Segoe UI"/>
                          <a:cs typeface="Segoe UI"/>
                        </a:rPr>
                        <a:t>Ejemplo configurable</a:t>
                      </a:r>
                    </a:p>
                  </a:txBody>
                  <a:tcPr>
                    <a:solidFill>
                      <a:srgbClr val="1D3E50"/>
                    </a:solidFill>
                  </a:tcPr>
                </a:tc>
                <a:tc>
                  <a:txBody>
                    <a:bodyPr/>
                    <a:lstStyle/>
                    <a:p>
                      <a:r>
                        <a:rPr sz="2175" b="1">
                          <a:solidFill>
                            <a:srgbClr val="EAF3F4"/>
                          </a:solidFill>
                          <a:latin typeface="Segoe UI"/>
                          <a:ea typeface="Segoe UI"/>
                          <a:cs typeface="Segoe UI"/>
                        </a:rPr>
                        <a:t>D20 / s</a:t>
                      </a:r>
                    </a:p>
                  </a:txBody>
                  <a:tcPr>
                    <a:solidFill>
                      <a:srgbClr val="1D3E50"/>
                    </a:solidFill>
                  </a:tcPr>
                </a:tc>
                <a:tc>
                  <a:txBody>
                    <a:bodyPr/>
                    <a:lstStyle/>
                    <a:p>
                      <a:r>
                        <a:rPr sz="2175" b="1">
                          <a:solidFill>
                            <a:srgbClr val="EAF3F4"/>
                          </a:solidFill>
                          <a:latin typeface="Segoe UI"/>
                          <a:ea typeface="Segoe UI"/>
                          <a:cs typeface="Segoe UI"/>
                        </a:rPr>
                        <a:t>EXPNO</a:t>
                      </a:r>
                    </a:p>
                  </a:txBody>
                  <a:tcPr>
                    <a:solidFill>
                      <a:srgbClr val="1D3E50"/>
                    </a:solidFill>
                  </a:tcPr>
                </a:tc>
                <a:extLst>
                  <a:ext uri="{0D108BD9-81ED-4DB2-BD59-A6C34878D82A}">
                    <a16:rowId xmlns:a16="http://schemas.microsoft.com/office/drawing/2014/main" val="10000"/>
                  </a:ext>
                </a:extLst>
              </a:tr>
              <a:tr h="595313">
                <a:tc>
                  <a:txBody>
                    <a:bodyPr/>
                    <a:lstStyle/>
                    <a:p>
                      <a:r>
                        <a:rPr sz="2175" b="0">
                          <a:solidFill>
                            <a:srgbClr val="EAF3F4"/>
                          </a:solidFill>
                          <a:latin typeface="Segoe UI"/>
                          <a:ea typeface="Segoe UI"/>
                          <a:cs typeface="Segoe UI"/>
                        </a:rPr>
                        <a:t>Δ 50 ms</a:t>
                      </a:r>
                    </a:p>
                  </a:txBody>
                  <a:tcPr>
                    <a:solidFill>
                      <a:srgbClr val="081522"/>
                    </a:solidFill>
                  </a:tcPr>
                </a:tc>
                <a:tc>
                  <a:txBody>
                    <a:bodyPr/>
                    <a:lstStyle/>
                    <a:p>
                      <a:r>
                        <a:rPr sz="2175" b="0">
                          <a:solidFill>
                            <a:srgbClr val="EAF3F4"/>
                          </a:solidFill>
                          <a:latin typeface="Segoe UI"/>
                          <a:ea typeface="Segoe UI"/>
                          <a:cs typeface="Segoe UI"/>
                        </a:rPr>
                        <a:t>0.050</a:t>
                      </a:r>
                    </a:p>
                  </a:txBody>
                  <a:tcPr>
                    <a:solidFill>
                      <a:srgbClr val="081522"/>
                    </a:solidFill>
                  </a:tcPr>
                </a:tc>
                <a:tc>
                  <a:txBody>
                    <a:bodyPr/>
                    <a:lstStyle/>
                    <a:p>
                      <a:r>
                        <a:rPr sz="2175" b="0">
                          <a:solidFill>
                            <a:srgbClr val="EAF3F4"/>
                          </a:solidFill>
                          <a:latin typeface="Segoe UI"/>
                          <a:ea typeface="Segoe UI"/>
                          <a:cs typeface="Segoe UI"/>
                        </a:rPr>
                        <a:t>100–122</a:t>
                      </a:r>
                    </a:p>
                  </a:txBody>
                  <a:tcPr>
                    <a:solidFill>
                      <a:srgbClr val="081522"/>
                    </a:solidFill>
                  </a:tcPr>
                </a:tc>
                <a:extLst>
                  <a:ext uri="{0D108BD9-81ED-4DB2-BD59-A6C34878D82A}">
                    <a16:rowId xmlns:a16="http://schemas.microsoft.com/office/drawing/2014/main" val="10001"/>
                  </a:ext>
                </a:extLst>
              </a:tr>
              <a:tr h="595313">
                <a:tc>
                  <a:txBody>
                    <a:bodyPr/>
                    <a:lstStyle/>
                    <a:p>
                      <a:r>
                        <a:rPr sz="2175" b="0">
                          <a:solidFill>
                            <a:srgbClr val="EAF3F4"/>
                          </a:solidFill>
                          <a:latin typeface="Segoe UI"/>
                          <a:ea typeface="Segoe UI"/>
                          <a:cs typeface="Segoe UI"/>
                        </a:rPr>
                        <a:t>Δ 100 ms</a:t>
                      </a:r>
                    </a:p>
                  </a:txBody>
                  <a:tcPr>
                    <a:solidFill>
                      <a:srgbClr val="081522"/>
                    </a:solidFill>
                  </a:tcPr>
                </a:tc>
                <a:tc>
                  <a:txBody>
                    <a:bodyPr/>
                    <a:lstStyle/>
                    <a:p>
                      <a:r>
                        <a:rPr sz="2175" b="0">
                          <a:solidFill>
                            <a:srgbClr val="EAF3F4"/>
                          </a:solidFill>
                          <a:latin typeface="Segoe UI"/>
                          <a:ea typeface="Segoe UI"/>
                          <a:cs typeface="Segoe UI"/>
                        </a:rPr>
                        <a:t>0.100</a:t>
                      </a:r>
                    </a:p>
                  </a:txBody>
                  <a:tcPr>
                    <a:solidFill>
                      <a:srgbClr val="081522"/>
                    </a:solidFill>
                  </a:tcPr>
                </a:tc>
                <a:tc>
                  <a:txBody>
                    <a:bodyPr/>
                    <a:lstStyle/>
                    <a:p>
                      <a:r>
                        <a:rPr sz="2175" b="0">
                          <a:solidFill>
                            <a:srgbClr val="EAF3F4"/>
                          </a:solidFill>
                          <a:latin typeface="Segoe UI"/>
                          <a:ea typeface="Segoe UI"/>
                          <a:cs typeface="Segoe UI"/>
                        </a:rPr>
                        <a:t>200–222</a:t>
                      </a:r>
                    </a:p>
                  </a:txBody>
                  <a:tcPr>
                    <a:solidFill>
                      <a:srgbClr val="081522"/>
                    </a:solidFill>
                  </a:tcPr>
                </a:tc>
                <a:extLst>
                  <a:ext uri="{0D108BD9-81ED-4DB2-BD59-A6C34878D82A}">
                    <a16:rowId xmlns:a16="http://schemas.microsoft.com/office/drawing/2014/main" val="10002"/>
                  </a:ext>
                </a:extLst>
              </a:tr>
              <a:tr h="595313">
                <a:tc>
                  <a:txBody>
                    <a:bodyPr/>
                    <a:lstStyle/>
                    <a:p>
                      <a:r>
                        <a:rPr sz="2175" b="0">
                          <a:solidFill>
                            <a:srgbClr val="EAF3F4"/>
                          </a:solidFill>
                          <a:latin typeface="Segoe UI"/>
                          <a:ea typeface="Segoe UI"/>
                          <a:cs typeface="Segoe UI"/>
                        </a:rPr>
                        <a:t>Δ 150 ms</a:t>
                      </a:r>
                    </a:p>
                  </a:txBody>
                  <a:tcPr>
                    <a:solidFill>
                      <a:srgbClr val="081522"/>
                    </a:solidFill>
                  </a:tcPr>
                </a:tc>
                <a:tc>
                  <a:txBody>
                    <a:bodyPr/>
                    <a:lstStyle/>
                    <a:p>
                      <a:r>
                        <a:rPr sz="2175" b="0">
                          <a:solidFill>
                            <a:srgbClr val="EAF3F4"/>
                          </a:solidFill>
                          <a:latin typeface="Segoe UI"/>
                          <a:ea typeface="Segoe UI"/>
                          <a:cs typeface="Segoe UI"/>
                        </a:rPr>
                        <a:t>0.150</a:t>
                      </a:r>
                    </a:p>
                  </a:txBody>
                  <a:tcPr>
                    <a:solidFill>
                      <a:srgbClr val="081522"/>
                    </a:solidFill>
                  </a:tcPr>
                </a:tc>
                <a:tc>
                  <a:txBody>
                    <a:bodyPr/>
                    <a:lstStyle/>
                    <a:p>
                      <a:r>
                        <a:rPr sz="2175" b="0">
                          <a:solidFill>
                            <a:srgbClr val="EAF3F4"/>
                          </a:solidFill>
                          <a:latin typeface="Segoe UI"/>
                          <a:ea typeface="Segoe UI"/>
                          <a:cs typeface="Segoe UI"/>
                        </a:rPr>
                        <a:t>300–322</a:t>
                      </a:r>
                    </a:p>
                  </a:txBody>
                  <a:tcPr>
                    <a:solidFill>
                      <a:srgbClr val="081522"/>
                    </a:solidFill>
                  </a:tcPr>
                </a:tc>
                <a:extLst>
                  <a:ext uri="{0D108BD9-81ED-4DB2-BD59-A6C34878D82A}">
                    <a16:rowId xmlns:a16="http://schemas.microsoft.com/office/drawing/2014/main" val="10003"/>
                  </a:ext>
                </a:extLst>
              </a:tr>
            </a:tbl>
          </a:graphicData>
        </a:graphic>
      </p:graphicFrame>
      <p:sp>
        <p:nvSpPr>
          <p:cNvPr id="5" name="reveal_56">
            <a:extLst>
              <a:ext uri="{FF2B5EF4-FFF2-40B4-BE49-F238E27FC236}">
                <a16:creationId xmlns:a16="http://schemas.microsoft.com/office/drawing/2014/main" id="{64457A52-81ED-4A2A-BD97-EA1B82BFD2EC}"/>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Misma plantilla · P30 fijo · gradientes completos · integrar el patrón</a:t>
            </a:r>
          </a:p>
        </p:txBody>
      </p:sp>
      <p:sp>
        <p:nvSpPr>
          <p:cNvPr id="6" name="text_57">
            <a:extLst>
              <a:ext uri="{FF2B5EF4-FFF2-40B4-BE49-F238E27FC236}">
                <a16:creationId xmlns:a16="http://schemas.microsoft.com/office/drawing/2014/main" id="{C5111E5B-6491-4778-B6FA-F3178B3145F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El asistente prepara parámetros y calibra desde la serie 1D. Revisar destinos, unidades y límites antes de adquirir.</a:t>
            </a:r>
          </a:p>
        </p:txBody>
      </p:sp>
    </p:spTree>
    <p:extLst>
      <p:ext uri="{BB962C8B-B14F-4D97-AF65-F5344CB8AC3E}">
        <p14:creationId xmlns:p14="http://schemas.microsoft.com/office/powerpoint/2010/main" val="135329040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CFDC8184-0FB1-4D0B-BA54-ED9E3978A987}"/>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19</a:t>
            </a:r>
          </a:p>
        </p:txBody>
      </p:sp>
      <p:sp>
        <p:nvSpPr>
          <p:cNvPr id="2" name="slide_title">
            <a:extLst>
              <a:ext uri="{FF2B5EF4-FFF2-40B4-BE49-F238E27FC236}">
                <a16:creationId xmlns:a16="http://schemas.microsoft.com/office/drawing/2014/main" id="{B4671EE0-9947-40F8-BAE9-AC145637BEDF}"/>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450" b="1">
                <a:solidFill>
                  <a:srgbClr val="EAF3F4"/>
                </a:solidFill>
                <a:latin typeface="Segoe UI"/>
                <a:ea typeface="Segoe UI"/>
                <a:cs typeface="Segoe UI"/>
              </a:defRPr>
            </a:defPPr>
          </a:lstStyle>
          <a:p>
            <a:pPr>
              <a:defRPr sz="3450" b="1">
                <a:solidFill>
                  <a:srgbClr val="EAF3F4"/>
                </a:solidFill>
                <a:latin typeface="Segoe UI"/>
                <a:ea typeface="Segoe UI"/>
                <a:cs typeface="Segoe UI"/>
              </a:defRPr>
            </a:pPr>
            <a:r>
              <a:rPr sz="3450" b="1">
                <a:solidFill>
                  <a:srgbClr val="EAF3F4"/>
                </a:solidFill>
                <a:latin typeface="Segoe UI"/>
                <a:ea typeface="Segoe UI"/>
                <a:cs typeface="Segoe UI"/>
              </a:rPr>
              <a:t>Prime: ajustar una señal real antes del mapa</a:t>
            </a:r>
          </a:p>
        </p:txBody>
      </p:sp>
      <p:pic>
        <p:nvPicPr>
          <p:cNvPr id="3" name="Imagen 2">
            <a:extLst>
              <a:ext uri="{FF2B5EF4-FFF2-40B4-BE49-F238E27FC236}">
                <a16:creationId xmlns:a16="http://schemas.microsoft.com/office/drawing/2014/main" id="{693A77B7-14BC-48FB-BDAB-E16CD07F3CEF}"/>
              </a:ext>
            </a:extLst>
          </p:cNvPr>
          <p:cNvPicPr>
            <a:picLocks noChangeAspect="1"/>
          </p:cNvPicPr>
          <p:nvPr/>
        </p:nvPicPr>
        <p:blipFill>
          <a:blip r:embed="rId3"/>
          <a:srcRect l="25700" t="25000" r="3000" b="15000"/>
          <a:stretch/>
        </p:blipFill>
        <p:spPr>
          <a:xfrm>
            <a:off x="1473529" y="1666875"/>
            <a:ext cx="6301718" cy="3800475"/>
          </a:xfrm>
          <a:prstGeom prst="rect">
            <a:avLst/>
          </a:prstGeom>
        </p:spPr>
      </p:pic>
      <p:sp>
        <p:nvSpPr>
          <p:cNvPr id="4" name="text_58">
            <a:extLst>
              <a:ext uri="{FF2B5EF4-FFF2-40B4-BE49-F238E27FC236}">
                <a16:creationId xmlns:a16="http://schemas.microsoft.com/office/drawing/2014/main" id="{028E6722-7BC1-4A73-B9CE-CF28B96206BE}"/>
              </a:ext>
            </a:extLst>
          </p:cNvPr>
          <p:cNvSpPr>
            <a:spLocks noGrp="1"/>
          </p:cNvSpPr>
          <p:nvPr/>
        </p:nvSpPr>
        <p:spPr>
          <a:xfrm>
            <a:off x="9067800" y="1990725"/>
            <a:ext cx="2676525" cy="2990850"/>
          </a:xfrm>
          <a:prstGeom prst="rect">
            <a:avLst/>
          </a:prstGeom>
          <a:noFill/>
          <a:ln w="0">
            <a:noFill/>
          </a:ln>
        </p:spPr>
        <p:txBody>
          <a:bodyPr lIns="0" tIns="0" rIns="0" bIns="0">
            <a:noAutofit/>
          </a:bodyPr>
          <a:lstStyle>
            <a:defPPr>
              <a:defRPr sz="2025" b="1">
                <a:solidFill>
                  <a:srgbClr val="55DDE0"/>
                </a:solidFill>
                <a:latin typeface="Segoe UI"/>
                <a:ea typeface="Segoe UI"/>
                <a:cs typeface="Segoe UI"/>
              </a:defRPr>
            </a:defPPr>
          </a:lstStyle>
          <a:p>
            <a:pPr>
              <a:defRPr sz="2025" b="1">
                <a:solidFill>
                  <a:srgbClr val="55DDE0"/>
                </a:solidFill>
                <a:latin typeface="Segoe UI"/>
                <a:ea typeface="Segoe UI"/>
                <a:cs typeface="Segoe UI"/>
              </a:defRPr>
            </a:pPr>
            <a:r>
              <a:rPr sz="2025" b="1">
                <a:solidFill>
                  <a:srgbClr val="55DDE0"/>
                </a:solidFill>
                <a:latin typeface="Segoe UI"/>
                <a:ea typeface="Segoe UI"/>
                <a:cs typeface="Segoe UI"/>
              </a:rPr>
              <a:t>1  Abrir la serie</a:t>
            </a:r>
          </a:p>
          <a:p>
            <a:endParaRPr sz="2025" b="1">
              <a:solidFill>
                <a:srgbClr val="55DDE0"/>
              </a:solidFill>
              <a:latin typeface="Segoe UI"/>
              <a:ea typeface="Segoe UI"/>
              <a:cs typeface="Segoe UI"/>
            </a:endParaRPr>
          </a:p>
          <a:p>
            <a:pPr>
              <a:defRPr sz="2025" b="1">
                <a:solidFill>
                  <a:srgbClr val="55DDE0"/>
                </a:solidFill>
                <a:latin typeface="Segoe UI"/>
                <a:ea typeface="Segoe UI"/>
                <a:cs typeface="Segoe UI"/>
              </a:defRPr>
            </a:pPr>
            <a:r>
              <a:rPr sz="2025" b="1">
                <a:solidFill>
                  <a:srgbClr val="55DDE0"/>
                </a:solidFill>
                <a:latin typeface="Segoe UI"/>
                <a:ea typeface="Segoe UI"/>
                <a:cs typeface="Segoe UI"/>
              </a:rPr>
              <a:t>2  Fijar la región</a:t>
            </a:r>
          </a:p>
          <a:p>
            <a:endParaRPr sz="2025" b="1">
              <a:solidFill>
                <a:srgbClr val="55DDE0"/>
              </a:solidFill>
              <a:latin typeface="Segoe UI"/>
              <a:ea typeface="Segoe UI"/>
              <a:cs typeface="Segoe UI"/>
            </a:endParaRPr>
          </a:p>
          <a:p>
            <a:pPr>
              <a:defRPr sz="2025" b="1">
                <a:solidFill>
                  <a:srgbClr val="55DDE0"/>
                </a:solidFill>
                <a:latin typeface="Segoe UI"/>
                <a:ea typeface="Segoe UI"/>
                <a:cs typeface="Segoe UI"/>
              </a:defRPr>
            </a:pPr>
            <a:r>
              <a:rPr sz="2025" b="1">
                <a:solidFill>
                  <a:srgbClr val="55DDE0"/>
                </a:solidFill>
                <a:latin typeface="Segoe UI"/>
                <a:ea typeface="Segoe UI"/>
                <a:cs typeface="Segoe UI"/>
              </a:rPr>
              <a:t>3  Ajustar y revisar</a:t>
            </a:r>
          </a:p>
        </p:txBody>
      </p:sp>
      <p:sp>
        <p:nvSpPr>
          <p:cNvPr id="5" name="text_59">
            <a:extLst>
              <a:ext uri="{FF2B5EF4-FFF2-40B4-BE49-F238E27FC236}">
                <a16:creationId xmlns:a16="http://schemas.microsoft.com/office/drawing/2014/main" id="{501996D6-B318-4B12-8605-95DFD8741144}"/>
              </a:ext>
            </a:extLst>
          </p:cNvPr>
          <p:cNvSpPr>
            <a:spLocks noGrp="1"/>
          </p:cNvSpPr>
          <p:nvPr/>
        </p:nvSpPr>
        <p:spPr>
          <a:xfrm>
            <a:off x="9067800" y="5153025"/>
            <a:ext cx="2676525" cy="352425"/>
          </a:xfrm>
          <a:prstGeom prst="rect">
            <a:avLst/>
          </a:prstGeom>
          <a:noFill/>
          <a:ln w="0">
            <a:noFill/>
          </a:ln>
        </p:spPr>
        <p:txBody>
          <a:bodyPr lIns="0" tIns="0" rIns="0" bIns="0">
            <a:noAutofit/>
          </a:bodyPr>
          <a:lstStyle>
            <a:defPPr>
              <a:defRPr sz="1875" b="1">
                <a:solidFill>
                  <a:srgbClr val="EAF3F4"/>
                </a:solidFill>
                <a:latin typeface="Segoe UI"/>
                <a:ea typeface="Segoe UI"/>
                <a:cs typeface="Segoe UI"/>
              </a:defRPr>
            </a:defPPr>
          </a:lstStyle>
          <a:p>
            <a:pPr>
              <a:defRPr sz="1875" b="1">
                <a:solidFill>
                  <a:srgbClr val="EAF3F4"/>
                </a:solidFill>
                <a:latin typeface="Segoe UI"/>
                <a:ea typeface="Segoe UI"/>
                <a:cs typeface="Segoe UI"/>
              </a:defRPr>
            </a:pPr>
            <a:r>
              <a:rPr sz="1875" b="1">
                <a:solidFill>
                  <a:srgbClr val="EAF3F4"/>
                </a:solidFill>
                <a:latin typeface="Segoe UI"/>
                <a:ea typeface="Segoe UI"/>
                <a:cs typeface="Segoe UI"/>
              </a:rPr>
              <a:t>D final = 0.3267</a:t>
            </a:r>
          </a:p>
        </p:txBody>
      </p:sp>
      <p:sp>
        <p:nvSpPr>
          <p:cNvPr id="6" name="reveal_60">
            <a:extLst>
              <a:ext uri="{FF2B5EF4-FFF2-40B4-BE49-F238E27FC236}">
                <a16:creationId xmlns:a16="http://schemas.microsoft.com/office/drawing/2014/main" id="{CF1899B0-A56A-4B9F-9F29-499AC59338F8}"/>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Resultado guardado con sus puntos, calibración y correcciones</a:t>
            </a:r>
          </a:p>
        </p:txBody>
      </p:sp>
      <p:sp>
        <p:nvSpPr>
          <p:cNvPr id="7" name="text_61">
            <a:extLst>
              <a:ext uri="{FF2B5EF4-FFF2-40B4-BE49-F238E27FC236}">
                <a16:creationId xmlns:a16="http://schemas.microsoft.com/office/drawing/2014/main" id="{E0D739E4-BBC3-45A6-9A6E-2E7257A5A228}"/>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A9C0CC"/>
                </a:solidFill>
                <a:latin typeface="Segoe UI"/>
                <a:ea typeface="Segoe UI"/>
                <a:cs typeface="Segoe UI"/>
              </a:defRPr>
            </a:defPPr>
          </a:lstStyle>
          <a:p>
            <a:pPr>
              <a:defRPr sz="1650" b="0">
                <a:solidFill>
                  <a:srgbClr val="A9C0CC"/>
                </a:solidFill>
                <a:latin typeface="Segoe UI"/>
                <a:ea typeface="Segoe UI"/>
                <a:cs typeface="Segoe UI"/>
              </a:defRPr>
            </a:pPr>
            <a:r>
              <a:rPr sz="1650" b="0">
                <a:solidFill>
                  <a:srgbClr val="A9C0CC"/>
                </a:solidFill>
                <a:latin typeface="Segoe UI"/>
                <a:ea typeface="Segoe UI"/>
                <a:cs typeface="Segoe UI"/>
              </a:rPr>
              <a:t>TP194 · 4.4182 ± 0.04 ppm · 23 puntos, 0 excluidos · D / 10⁻⁹ m² s⁻¹, condicionada a calibración y modelo.</a:t>
            </a:r>
          </a:p>
        </p:txBody>
      </p:sp>
    </p:spTree>
    <p:extLst>
      <p:ext uri="{BB962C8B-B14F-4D97-AF65-F5344CB8AC3E}">
        <p14:creationId xmlns:p14="http://schemas.microsoft.com/office/powerpoint/2010/main" val="23692828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83758002-45B4-4A41-871C-C71B005EDF2A}"/>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20</a:t>
            </a:r>
          </a:p>
        </p:txBody>
      </p:sp>
      <p:sp>
        <p:nvSpPr>
          <p:cNvPr id="2" name="slide_title">
            <a:extLst>
              <a:ext uri="{FF2B5EF4-FFF2-40B4-BE49-F238E27FC236}">
                <a16:creationId xmlns:a16="http://schemas.microsoft.com/office/drawing/2014/main" id="{908E6572-A958-472D-9E45-04FE8004F744}"/>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y ResinAtOnce: coherencia entre señal y mapa</a:t>
            </a:r>
          </a:p>
        </p:txBody>
      </p:sp>
      <p:graphicFrame>
        <p:nvGraphicFramePr>
          <p:cNvPr id="3" name="Tabla 2">
            <a:extLst>
              <a:ext uri="{FF2B5EF4-FFF2-40B4-BE49-F238E27FC236}">
                <a16:creationId xmlns:a16="http://schemas.microsoft.com/office/drawing/2014/main" id="{254AF6FF-6F46-4966-AD90-F7F14F9E85FF}"/>
              </a:ext>
            </a:extLst>
          </p:cNvPr>
          <p:cNvGraphicFramePr/>
          <p:nvPr/>
        </p:nvGraphicFramePr>
        <p:xfrm>
          <a:off x="514350" y="1952625"/>
          <a:ext cx="11144250" cy="2657475"/>
        </p:xfrm>
        <a:graphic>
          <a:graphicData uri="http://schemas.openxmlformats.org/drawingml/2006/table">
            <a:tbl>
              <a:tblPr/>
              <a:tblGrid>
                <a:gridCol w="2819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3295650">
                  <a:extLst>
                    <a:ext uri="{9D8B030D-6E8A-4147-A177-3AD203B41FA5}">
                      <a16:colId xmlns:a16="http://schemas.microsoft.com/office/drawing/2014/main" val="20003"/>
                    </a:ext>
                  </a:extLst>
                </a:gridCol>
              </a:tblGrid>
              <a:tr h="664369">
                <a:tc>
                  <a:txBody>
                    <a:bodyPr/>
                    <a:lstStyle/>
                    <a:p>
                      <a:r>
                        <a:rPr sz="2175" b="1">
                          <a:solidFill>
                            <a:srgbClr val="EAF3F4"/>
                          </a:solidFill>
                          <a:latin typeface="Segoe UI"/>
                          <a:ea typeface="Segoe UI"/>
                          <a:cs typeface="Segoe UI"/>
                        </a:rPr>
                        <a:t>Rampa / EXPNO</a:t>
                      </a:r>
                    </a:p>
                  </a:txBody>
                  <a:tcPr>
                    <a:solidFill>
                      <a:srgbClr val="1D3E50"/>
                    </a:solidFill>
                  </a:tcPr>
                </a:tc>
                <a:tc>
                  <a:txBody>
                    <a:bodyPr/>
                    <a:lstStyle/>
                    <a:p>
                      <a:r>
                        <a:rPr sz="2175" b="1">
                          <a:solidFill>
                            <a:srgbClr val="EAF3F4"/>
                          </a:solidFill>
                          <a:latin typeface="Segoe UI"/>
                          <a:ea typeface="Segoe UI"/>
                          <a:cs typeface="Segoe UI"/>
                        </a:rPr>
                        <a:t>D pico local</a:t>
                      </a:r>
                    </a:p>
                  </a:txBody>
                  <a:tcPr>
                    <a:solidFill>
                      <a:srgbClr val="1D3E50"/>
                    </a:solidFill>
                  </a:tcPr>
                </a:tc>
                <a:tc>
                  <a:txBody>
                    <a:bodyPr/>
                    <a:lstStyle/>
                    <a:p>
                      <a:r>
                        <a:rPr sz="2175" b="1">
                          <a:solidFill>
                            <a:srgbClr val="EAF3F4"/>
                          </a:solidFill>
                          <a:latin typeface="Segoe UI"/>
                          <a:ea typeface="Segoe UI"/>
                          <a:cs typeface="Segoe UI"/>
                        </a:rPr>
                        <a:t>D pico mapa</a:t>
                      </a:r>
                    </a:p>
                  </a:txBody>
                  <a:tcPr>
                    <a:solidFill>
                      <a:srgbClr val="1D3E50"/>
                    </a:solidFill>
                  </a:tcPr>
                </a:tc>
                <a:tc>
                  <a:txBody>
                    <a:bodyPr/>
                    <a:lstStyle/>
                    <a:p>
                      <a:r>
                        <a:rPr sz="2175" b="1">
                          <a:solidFill>
                            <a:srgbClr val="EAF3F4"/>
                          </a:solidFill>
                          <a:latin typeface="Segoe UI"/>
                          <a:ea typeface="Segoe UI"/>
                          <a:cs typeface="Segoe UI"/>
                        </a:rPr>
                        <a:t>Diferencia de forma</a:t>
                      </a:r>
                    </a:p>
                  </a:txBody>
                  <a:tcPr>
                    <a:solidFill>
                      <a:srgbClr val="1D3E50"/>
                    </a:solidFill>
                  </a:tcPr>
                </a:tc>
                <a:extLst>
                  <a:ext uri="{0D108BD9-81ED-4DB2-BD59-A6C34878D82A}">
                    <a16:rowId xmlns:a16="http://schemas.microsoft.com/office/drawing/2014/main" val="10000"/>
                  </a:ext>
                </a:extLst>
              </a:tr>
              <a:tr h="664369">
                <a:tc>
                  <a:txBody>
                    <a:bodyPr/>
                    <a:lstStyle/>
                    <a:p>
                      <a:r>
                        <a:rPr sz="2175" b="0">
                          <a:solidFill>
                            <a:srgbClr val="EAF3F4"/>
                          </a:solidFill>
                          <a:latin typeface="Segoe UI"/>
                          <a:ea typeface="Segoe UI"/>
                          <a:cs typeface="Segoe UI"/>
                        </a:rPr>
                        <a:t>10:32</a:t>
                      </a:r>
                    </a:p>
                  </a:txBody>
                  <a:tcPr>
                    <a:solidFill>
                      <a:srgbClr val="081522"/>
                    </a:solidFill>
                  </a:tcPr>
                </a:tc>
                <a:tc>
                  <a:txBody>
                    <a:bodyPr/>
                    <a:lstStyle/>
                    <a:p>
                      <a:r>
                        <a:rPr sz="2175" b="0">
                          <a:solidFill>
                            <a:srgbClr val="EAF3F4"/>
                          </a:solidFill>
                          <a:latin typeface="Segoe UI"/>
                          <a:ea typeface="Segoe UI"/>
                          <a:cs typeface="Segoe UI"/>
                        </a:rPr>
                        <a:t>0.3270</a:t>
                      </a:r>
                    </a:p>
                  </a:txBody>
                  <a:tcPr>
                    <a:solidFill>
                      <a:srgbClr val="081522"/>
                    </a:solidFill>
                  </a:tcPr>
                </a:tc>
                <a:tc>
                  <a:txBody>
                    <a:bodyPr/>
                    <a:lstStyle/>
                    <a:p>
                      <a:r>
                        <a:rPr sz="2175" b="0">
                          <a:solidFill>
                            <a:srgbClr val="EAF3F4"/>
                          </a:solidFill>
                          <a:latin typeface="Segoe UI"/>
                          <a:ea typeface="Segoe UI"/>
                          <a:cs typeface="Segoe UI"/>
                        </a:rPr>
                        <a:t>0.3270</a:t>
                      </a:r>
                    </a:p>
                  </a:txBody>
                  <a:tcPr>
                    <a:solidFill>
                      <a:srgbClr val="081522"/>
                    </a:solidFill>
                  </a:tcPr>
                </a:tc>
                <a:tc>
                  <a:txBody>
                    <a:bodyPr/>
                    <a:lstStyle/>
                    <a:p>
                      <a:r>
                        <a:rPr sz="2175" b="0">
                          <a:solidFill>
                            <a:srgbClr val="EAF3F4"/>
                          </a:solidFill>
                          <a:latin typeface="Segoe UI"/>
                          <a:ea typeface="Segoe UI"/>
                          <a:cs typeface="Segoe UI"/>
                        </a:rPr>
                        <a:t>0.0 %</a:t>
                      </a:r>
                    </a:p>
                  </a:txBody>
                  <a:tcPr>
                    <a:solidFill>
                      <a:srgbClr val="081522"/>
                    </a:solidFill>
                  </a:tcPr>
                </a:tc>
                <a:extLst>
                  <a:ext uri="{0D108BD9-81ED-4DB2-BD59-A6C34878D82A}">
                    <a16:rowId xmlns:a16="http://schemas.microsoft.com/office/drawing/2014/main" val="10001"/>
                  </a:ext>
                </a:extLst>
              </a:tr>
              <a:tr h="664369">
                <a:tc>
                  <a:txBody>
                    <a:bodyPr/>
                    <a:lstStyle/>
                    <a:p>
                      <a:r>
                        <a:rPr sz="2175" b="0">
                          <a:solidFill>
                            <a:srgbClr val="EAF3F4"/>
                          </a:solidFill>
                          <a:latin typeface="Segoe UI"/>
                          <a:ea typeface="Segoe UI"/>
                          <a:cs typeface="Segoe UI"/>
                        </a:rPr>
                        <a:t>33:55</a:t>
                      </a:r>
                    </a:p>
                  </a:txBody>
                  <a:tcPr>
                    <a:solidFill>
                      <a:srgbClr val="081522"/>
                    </a:solidFill>
                  </a:tcPr>
                </a:tc>
                <a:tc>
                  <a:txBody>
                    <a:bodyPr/>
                    <a:lstStyle/>
                    <a:p>
                      <a:r>
                        <a:rPr sz="2175" b="0">
                          <a:solidFill>
                            <a:srgbClr val="EAF3F4"/>
                          </a:solidFill>
                          <a:latin typeface="Segoe UI"/>
                          <a:ea typeface="Segoe UI"/>
                          <a:cs typeface="Segoe UI"/>
                        </a:rPr>
                        <a:t>0.3426</a:t>
                      </a:r>
                    </a:p>
                  </a:txBody>
                  <a:tcPr>
                    <a:solidFill>
                      <a:srgbClr val="081522"/>
                    </a:solidFill>
                  </a:tcPr>
                </a:tc>
                <a:tc>
                  <a:txBody>
                    <a:bodyPr/>
                    <a:lstStyle/>
                    <a:p>
                      <a:r>
                        <a:rPr sz="2175" b="0">
                          <a:solidFill>
                            <a:srgbClr val="EAF3F4"/>
                          </a:solidFill>
                          <a:latin typeface="Segoe UI"/>
                          <a:ea typeface="Segoe UI"/>
                          <a:cs typeface="Segoe UI"/>
                        </a:rPr>
                        <a:t>0.3426</a:t>
                      </a:r>
                    </a:p>
                  </a:txBody>
                  <a:tcPr>
                    <a:solidFill>
                      <a:srgbClr val="081522"/>
                    </a:solidFill>
                  </a:tcPr>
                </a:tc>
                <a:tc>
                  <a:txBody>
                    <a:bodyPr/>
                    <a:lstStyle/>
                    <a:p>
                      <a:r>
                        <a:rPr sz="2175" b="0">
                          <a:solidFill>
                            <a:srgbClr val="EAF3F4"/>
                          </a:solidFill>
                          <a:latin typeface="Segoe UI"/>
                          <a:ea typeface="Segoe UI"/>
                          <a:cs typeface="Segoe UI"/>
                        </a:rPr>
                        <a:t>0.0 %</a:t>
                      </a:r>
                    </a:p>
                  </a:txBody>
                  <a:tcPr>
                    <a:solidFill>
                      <a:srgbClr val="081522"/>
                    </a:solidFill>
                  </a:tcPr>
                </a:tc>
                <a:extLst>
                  <a:ext uri="{0D108BD9-81ED-4DB2-BD59-A6C34878D82A}">
                    <a16:rowId xmlns:a16="http://schemas.microsoft.com/office/drawing/2014/main" val="10002"/>
                  </a:ext>
                </a:extLst>
              </a:tr>
              <a:tr h="664369">
                <a:tc>
                  <a:txBody>
                    <a:bodyPr/>
                    <a:lstStyle/>
                    <a:p>
                      <a:r>
                        <a:rPr sz="2175" b="0">
                          <a:solidFill>
                            <a:srgbClr val="EAF3F4"/>
                          </a:solidFill>
                          <a:latin typeface="Segoe UI"/>
                          <a:ea typeface="Segoe UI"/>
                          <a:cs typeface="Segoe UI"/>
                        </a:rPr>
                        <a:t>56:78</a:t>
                      </a:r>
                    </a:p>
                  </a:txBody>
                  <a:tcPr>
                    <a:solidFill>
                      <a:srgbClr val="081522"/>
                    </a:solidFill>
                  </a:tcPr>
                </a:tc>
                <a:tc>
                  <a:txBody>
                    <a:bodyPr/>
                    <a:lstStyle/>
                    <a:p>
                      <a:r>
                        <a:rPr sz="2175" b="0">
                          <a:solidFill>
                            <a:srgbClr val="EAF3F4"/>
                          </a:solidFill>
                          <a:latin typeface="Segoe UI"/>
                          <a:ea typeface="Segoe UI"/>
                          <a:cs typeface="Segoe UI"/>
                        </a:rPr>
                        <a:t>0.3806</a:t>
                      </a:r>
                    </a:p>
                  </a:txBody>
                  <a:tcPr>
                    <a:solidFill>
                      <a:srgbClr val="081522"/>
                    </a:solidFill>
                  </a:tcPr>
                </a:tc>
                <a:tc>
                  <a:txBody>
                    <a:bodyPr/>
                    <a:lstStyle/>
                    <a:p>
                      <a:r>
                        <a:rPr sz="2175" b="0">
                          <a:solidFill>
                            <a:srgbClr val="EAF3F4"/>
                          </a:solidFill>
                          <a:latin typeface="Segoe UI"/>
                          <a:ea typeface="Segoe UI"/>
                          <a:cs typeface="Segoe UI"/>
                        </a:rPr>
                        <a:t>0.3806</a:t>
                      </a:r>
                    </a:p>
                  </a:txBody>
                  <a:tcPr>
                    <a:solidFill>
                      <a:srgbClr val="081522"/>
                    </a:solidFill>
                  </a:tcPr>
                </a:tc>
                <a:tc>
                  <a:txBody>
                    <a:bodyPr/>
                    <a:lstStyle/>
                    <a:p>
                      <a:r>
                        <a:rPr sz="2175" b="0">
                          <a:solidFill>
                            <a:srgbClr val="EAF3F4"/>
                          </a:solidFill>
                          <a:latin typeface="Segoe UI"/>
                          <a:ea typeface="Segoe UI"/>
                          <a:cs typeface="Segoe UI"/>
                        </a:rPr>
                        <a:t>0.0 %</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62">
            <a:extLst>
              <a:ext uri="{FF2B5EF4-FFF2-40B4-BE49-F238E27FC236}">
                <a16:creationId xmlns:a16="http://schemas.microsoft.com/office/drawing/2014/main" id="{F0E287C6-7C33-487A-A32F-11CFE11FAD89}"/>
              </a:ext>
            </a:extLst>
          </p:cNvPr>
          <p:cNvSpPr>
            <a:spLocks noGrp="1"/>
          </p:cNvSpPr>
          <p:nvPr/>
        </p:nvSpPr>
        <p:spPr>
          <a:xfrm>
            <a:off x="581025" y="4800600"/>
            <a:ext cx="10953750" cy="381000"/>
          </a:xfrm>
          <a:prstGeom prst="rect">
            <a:avLst/>
          </a:prstGeom>
          <a:noFill/>
          <a:ln w="0">
            <a:noFill/>
          </a:ln>
        </p:spPr>
        <p:txBody>
          <a:bodyPr lIns="0" tIns="0" rIns="0" bIns="0">
            <a:noAutofit/>
          </a:bodyPr>
          <a:lstStyle>
            <a:defPPr>
              <a:defRPr sz="2175" b="0">
                <a:solidFill>
                  <a:srgbClr val="EAF3F4"/>
                </a:solidFill>
                <a:latin typeface="Segoe UI"/>
                <a:ea typeface="Segoe UI"/>
                <a:cs typeface="Segoe UI"/>
              </a:defRPr>
            </a:defPPr>
          </a:lstStyle>
          <a:p>
            <a:pPr>
              <a:defRPr sz="2175" b="0">
                <a:solidFill>
                  <a:srgbClr val="EAF3F4"/>
                </a:solidFill>
                <a:latin typeface="Segoe UI"/>
                <a:ea typeface="Segoe UI"/>
                <a:cs typeface="Segoe UI"/>
              </a:defRPr>
            </a:pPr>
            <a:r>
              <a:rPr sz="2175" b="0">
                <a:solidFill>
                  <a:srgbClr val="EAF3F4"/>
                </a:solidFill>
                <a:latin typeface="Segoe UI"/>
                <a:ea typeface="Segoe UI"/>
                <a:cs typeface="Segoe UI"/>
              </a:rPr>
              <a:t>TP194 · ≈7.736 ppm · rejilla de 2048 puntos D</a:t>
            </a:r>
          </a:p>
        </p:txBody>
      </p:sp>
      <p:sp>
        <p:nvSpPr>
          <p:cNvPr id="5" name="text_63">
            <a:extLst>
              <a:ext uri="{FF2B5EF4-FFF2-40B4-BE49-F238E27FC236}">
                <a16:creationId xmlns:a16="http://schemas.microsoft.com/office/drawing/2014/main" id="{B6F2EC25-D96F-45A6-87D2-FCAC0704F239}"/>
              </a:ext>
            </a:extLst>
          </p:cNvPr>
          <p:cNvSpPr>
            <a:spLocks noGrp="1"/>
          </p:cNvSpPr>
          <p:nvPr/>
        </p:nvSpPr>
        <p:spPr>
          <a:xfrm>
            <a:off x="581025" y="5267325"/>
            <a:ext cx="10953750" cy="333375"/>
          </a:xfrm>
          <a:prstGeom prst="rect">
            <a:avLst/>
          </a:prstGeom>
          <a:noFill/>
          <a:ln w="0">
            <a:noFill/>
          </a:ln>
        </p:spPr>
        <p:txBody>
          <a:bodyPr lIns="0" tIns="0" rIns="0" bIns="0">
            <a:noAutofit/>
          </a:bodyPr>
          <a:lstStyle>
            <a:defPPr>
              <a:defRPr sz="1650" b="0">
                <a:solidFill>
                  <a:srgbClr val="FF817B"/>
                </a:solidFill>
                <a:latin typeface="Segoe UI"/>
                <a:ea typeface="Segoe UI"/>
                <a:cs typeface="Segoe UI"/>
              </a:defRPr>
            </a:defPPr>
          </a:lstStyle>
          <a:p>
            <a:pPr>
              <a:defRPr sz="1650" b="0">
                <a:solidFill>
                  <a:srgbClr val="FF817B"/>
                </a:solidFill>
                <a:latin typeface="Segoe UI"/>
                <a:ea typeface="Segoe UI"/>
                <a:cs typeface="Segoe UI"/>
              </a:defRPr>
            </a:pPr>
            <a:r>
              <a:rPr sz="1650" b="0">
                <a:solidFill>
                  <a:srgbClr val="FF817B"/>
                </a:solidFill>
                <a:latin typeface="Segoe UI"/>
                <a:ea typeface="Segoe UI"/>
                <a:cs typeface="Segoe UI"/>
              </a:rPr>
              <a:t>Antes: 84.87 % de diferencia de forma entre la señal local TRAIn y el mapa MF</a:t>
            </a:r>
          </a:p>
        </p:txBody>
      </p:sp>
      <p:sp>
        <p:nvSpPr>
          <p:cNvPr id="6" name="reveal_64">
            <a:extLst>
              <a:ext uri="{FF2B5EF4-FFF2-40B4-BE49-F238E27FC236}">
                <a16:creationId xmlns:a16="http://schemas.microsoft.com/office/drawing/2014/main" id="{88820477-1E6D-425D-83F5-47B11EE19B5E}"/>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Misma extracción, rejilla, algoritmo y calibración en ambas rutas</a:t>
            </a:r>
          </a:p>
        </p:txBody>
      </p:sp>
      <p:sp>
        <p:nvSpPr>
          <p:cNvPr id="7" name="text_65">
            <a:extLst>
              <a:ext uri="{FF2B5EF4-FFF2-40B4-BE49-F238E27FC236}">
                <a16:creationId xmlns:a16="http://schemas.microsoft.com/office/drawing/2014/main" id="{536E5D1B-340E-45C1-9383-5476A00EFF8D}"/>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D / 10⁻⁹ m² s⁻¹ · comprobación interna sobre datos reales. La concordancia no identifica especies.</a:t>
            </a:r>
          </a:p>
        </p:txBody>
      </p:sp>
    </p:spTree>
    <p:extLst>
      <p:ext uri="{BB962C8B-B14F-4D97-AF65-F5344CB8AC3E}">
        <p14:creationId xmlns:p14="http://schemas.microsoft.com/office/powerpoint/2010/main" val="124471402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56B827B5-27FE-4582-83BC-365A6D3EB8C9}"/>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21</a:t>
            </a:r>
          </a:p>
        </p:txBody>
      </p:sp>
      <p:sp>
        <p:nvSpPr>
          <p:cNvPr id="2" name="slide_title">
            <a:extLst>
              <a:ext uri="{FF2B5EF4-FFF2-40B4-BE49-F238E27FC236}">
                <a16:creationId xmlns:a16="http://schemas.microsoft.com/office/drawing/2014/main" id="{9DDD57D9-5AAD-403D-AF33-2FB81BFB4573}"/>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123447"/>
                </a:solidFill>
                <a:latin typeface="Segoe UI"/>
                <a:ea typeface="Segoe UI"/>
                <a:cs typeface="Segoe UI"/>
              </a:defRPr>
            </a:defPPr>
          </a:lstStyle>
          <a:p>
            <a:pPr>
              <a:defRPr sz="3300" b="1">
                <a:solidFill>
                  <a:srgbClr val="123447"/>
                </a:solidFill>
                <a:latin typeface="Segoe UI"/>
                <a:ea typeface="Segoe UI"/>
                <a:cs typeface="Segoe UI"/>
              </a:defRPr>
            </a:pPr>
            <a:r>
              <a:rPr sz="3300" b="1">
                <a:solidFill>
                  <a:srgbClr val="123447"/>
                </a:solidFill>
                <a:latin typeface="Segoe UI"/>
                <a:ea typeface="Segoe UI"/>
                <a:cs typeface="Segoe UI"/>
              </a:rPr>
              <a:t>DALTAIL: un lote KK2 reproducible</a:t>
            </a:r>
          </a:p>
        </p:txBody>
      </p:sp>
      <p:graphicFrame>
        <p:nvGraphicFramePr>
          <p:cNvPr id="3" name="Chart">
            <a:extLst>
              <a:ext uri="{FF2B5EF4-FFF2-40B4-BE49-F238E27FC236}">
                <a16:creationId xmlns:a16="http://schemas.microsoft.com/office/drawing/2014/main" id="{3A9C5ED2-4C58-47CC-85FE-EEB83833206F}"/>
              </a:ext>
            </a:extLst>
          </p:cNvPr>
          <p:cNvGraphicFramePr/>
          <p:nvPr/>
        </p:nvGraphicFramePr>
        <p:xfrm>
          <a:off x="228600" y="1781175"/>
          <a:ext cx="7486650" cy="341947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_66">
            <a:extLst>
              <a:ext uri="{FF2B5EF4-FFF2-40B4-BE49-F238E27FC236}">
                <a16:creationId xmlns:a16="http://schemas.microsoft.com/office/drawing/2014/main" id="{99C68D46-F7B4-42CF-94D0-3EFBB91365E0}"/>
              </a:ext>
            </a:extLst>
          </p:cNvPr>
          <p:cNvSpPr>
            <a:spLocks noGrp="1"/>
          </p:cNvSpPr>
          <p:nvPr/>
        </p:nvSpPr>
        <p:spPr>
          <a:xfrm>
            <a:off x="8029575" y="2028825"/>
            <a:ext cx="3695700" cy="2533650"/>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1  Leer FID con parámetros</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2  Procesar igual cada bloque</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3  Extraer y exportar las curvas</a:t>
            </a:r>
          </a:p>
        </p:txBody>
      </p:sp>
      <p:sp>
        <p:nvSpPr>
          <p:cNvPr id="5" name="text_67">
            <a:extLst>
              <a:ext uri="{FF2B5EF4-FFF2-40B4-BE49-F238E27FC236}">
                <a16:creationId xmlns:a16="http://schemas.microsoft.com/office/drawing/2014/main" id="{C2871DDC-6EB6-4335-8B6B-B010685BBDAB}"/>
              </a:ext>
            </a:extLst>
          </p:cNvPr>
          <p:cNvSpPr>
            <a:spLocks noGrp="1"/>
          </p:cNvSpPr>
          <p:nvPr/>
        </p:nvSpPr>
        <p:spPr>
          <a:xfrm>
            <a:off x="8058150" y="4419600"/>
            <a:ext cx="3571875" cy="762000"/>
          </a:xfrm>
          <a:prstGeom prst="rect">
            <a:avLst/>
          </a:prstGeom>
          <a:noFill/>
          <a:ln w="0">
            <a:noFill/>
          </a:ln>
        </p:spPr>
        <p:txBody>
          <a:bodyPr lIns="0" tIns="0" rIns="0" bIns="0">
            <a:noAutofit/>
          </a:bodyPr>
          <a:lstStyle>
            <a:defPPr>
              <a:defRPr sz="2025" b="1">
                <a:solidFill>
                  <a:srgbClr val="087E98"/>
                </a:solidFill>
                <a:latin typeface="Segoe UI"/>
                <a:ea typeface="Segoe UI"/>
                <a:cs typeface="Segoe UI"/>
              </a:defRPr>
            </a:defPPr>
          </a:lstStyle>
          <a:p>
            <a:pPr>
              <a:defRPr sz="2025" b="1">
                <a:solidFill>
                  <a:srgbClr val="087E98"/>
                </a:solidFill>
                <a:latin typeface="Segoe UI"/>
                <a:ea typeface="Segoe UI"/>
                <a:cs typeface="Segoe UI"/>
              </a:defRPr>
            </a:pPr>
            <a:r>
              <a:rPr sz="2025" b="1">
                <a:solidFill>
                  <a:srgbClr val="087E98"/>
                </a:solidFill>
                <a:latin typeface="Segoe UI"/>
                <a:ea typeface="Segoe UI"/>
                <a:cs typeface="Segoe UI"/>
              </a:rPr>
              <a:t>KK2-50 · OCH₃</a:t>
            </a:r>
          </a:p>
          <a:p>
            <a:pPr>
              <a:defRPr sz="2025" b="1">
                <a:solidFill>
                  <a:srgbClr val="087E98"/>
                </a:solidFill>
                <a:latin typeface="Segoe UI"/>
                <a:ea typeface="Segoe UI"/>
                <a:cs typeface="Segoe UI"/>
              </a:defRPr>
            </a:pPr>
            <a:r>
              <a:rPr sz="2025" b="1">
                <a:solidFill>
                  <a:srgbClr val="087E98"/>
                </a:solidFill>
                <a:latin typeface="Segoe UI"/>
                <a:ea typeface="Segoe UI"/>
                <a:cs typeface="Segoe UI"/>
              </a:rPr>
              <a:t>3.45–3.70 ppm</a:t>
            </a:r>
          </a:p>
        </p:txBody>
      </p:sp>
      <p:sp>
        <p:nvSpPr>
          <p:cNvPr id="6" name="text_68">
            <a:extLst>
              <a:ext uri="{FF2B5EF4-FFF2-40B4-BE49-F238E27FC236}">
                <a16:creationId xmlns:a16="http://schemas.microsoft.com/office/drawing/2014/main" id="{CD976BB8-7B15-4598-9A89-9A040C2718DB}"/>
              </a:ext>
            </a:extLst>
          </p:cNvPr>
          <p:cNvSpPr>
            <a:spLocks noGrp="1"/>
          </p:cNvSpPr>
          <p:nvPr/>
        </p:nvSpPr>
        <p:spPr>
          <a:xfrm>
            <a:off x="8058150" y="5267325"/>
            <a:ext cx="3571875" cy="304800"/>
          </a:xfrm>
          <a:prstGeom prst="rect">
            <a:avLst/>
          </a:prstGeom>
          <a:noFill/>
          <a:ln w="0">
            <a:noFill/>
          </a:ln>
        </p:spPr>
        <p:txBody>
          <a:bodyPr lIns="0" tIns="0" rIns="0" bIns="0">
            <a:noAutofit/>
          </a:bodyPr>
          <a:lstStyle>
            <a:defPPr>
              <a:defRPr sz="1650" b="1">
                <a:solidFill>
                  <a:srgbClr val="617580"/>
                </a:solidFill>
                <a:latin typeface="Segoe UI"/>
                <a:ea typeface="Segoe UI"/>
                <a:cs typeface="Segoe UI"/>
              </a:defRPr>
            </a:defPPr>
          </a:lstStyle>
          <a:p>
            <a:pPr>
              <a:defRPr sz="1650" b="1">
                <a:solidFill>
                  <a:srgbClr val="617580"/>
                </a:solidFill>
                <a:latin typeface="Segoe UI"/>
                <a:ea typeface="Segoe UI"/>
                <a:cs typeface="Segoe UI"/>
              </a:defRPr>
            </a:pPr>
            <a:r>
              <a:rPr sz="1650" b="1">
                <a:solidFill>
                  <a:srgbClr val="617580"/>
                </a:solidFill>
                <a:latin typeface="Segoe UI"/>
                <a:ea typeface="Segoe UI"/>
                <a:cs typeface="Segoe UI"/>
              </a:rPr>
              <a:t>Lote: 230 espectros · 10 rampas</a:t>
            </a:r>
          </a:p>
        </p:txBody>
      </p:sp>
      <p:sp>
        <p:nvSpPr>
          <p:cNvPr id="7" name="reveal_69">
            <a:extLst>
              <a:ext uri="{FF2B5EF4-FFF2-40B4-BE49-F238E27FC236}">
                <a16:creationId xmlns:a16="http://schemas.microsoft.com/office/drawing/2014/main" id="{5A861CF3-E963-4425-B8C6-69AC859FB460}"/>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087E98"/>
                </a:solidFill>
                <a:latin typeface="Segoe UI"/>
                <a:ea typeface="Segoe UI"/>
                <a:cs typeface="Segoe UI"/>
              </a:defRPr>
            </a:defPPr>
          </a:lstStyle>
          <a:p>
            <a:pPr>
              <a:defRPr sz="2100" b="1">
                <a:solidFill>
                  <a:srgbClr val="087E98"/>
                </a:solidFill>
                <a:latin typeface="Segoe UI"/>
                <a:ea typeface="Segoe UI"/>
                <a:cs typeface="Segoe UI"/>
              </a:defRPr>
            </a:pPr>
            <a:r>
              <a:rPr sz="2100" b="1">
                <a:solidFill>
                  <a:srgbClr val="087E98"/>
                </a:solidFill>
                <a:latin typeface="Segoe UI"/>
                <a:ea typeface="Segoe UI"/>
                <a:cs typeface="Segoe UI"/>
              </a:rPr>
              <a:t>DALTAIL permite repetir el análisis desde una configuración guardada</a:t>
            </a:r>
          </a:p>
        </p:txBody>
      </p:sp>
      <p:sp>
        <p:nvSpPr>
          <p:cNvPr id="8" name="text_70">
            <a:extLst>
              <a:ext uri="{FF2B5EF4-FFF2-40B4-BE49-F238E27FC236}">
                <a16:creationId xmlns:a16="http://schemas.microsoft.com/office/drawing/2014/main" id="{402C166F-E98F-4BDF-A543-5278D3F5A009}"/>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617580"/>
                </a:solidFill>
                <a:latin typeface="Segoe UI"/>
                <a:ea typeface="Segoe UI"/>
                <a:cs typeface="Segoe UI"/>
              </a:defRPr>
            </a:defPPr>
          </a:lstStyle>
          <a:p>
            <a:pPr>
              <a:defRPr sz="1650" b="0">
                <a:solidFill>
                  <a:srgbClr val="617580"/>
                </a:solidFill>
                <a:latin typeface="Segoe UI"/>
                <a:ea typeface="Segoe UI"/>
                <a:cs typeface="Segoe UI"/>
              </a:defRPr>
            </a:pPr>
            <a:r>
              <a:rPr sz="1650" b="0">
                <a:solidFill>
                  <a:srgbClr val="617580"/>
                </a:solidFill>
                <a:latin typeface="Segoe UI"/>
                <a:ea typeface="Segoe UI"/>
                <a:cs typeface="Segoe UI"/>
              </a:rPr>
              <a:t>Atenuaciones archivadas. D principal incorpora TTMS y temperatura conjuntamente; masas aparentes condicionadas.</a:t>
            </a:r>
          </a:p>
        </p:txBody>
      </p:sp>
    </p:spTree>
    <p:extLst>
      <p:ext uri="{BB962C8B-B14F-4D97-AF65-F5344CB8AC3E}">
        <p14:creationId xmlns:p14="http://schemas.microsoft.com/office/powerpoint/2010/main" val="10568230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8" name="slide_number">
            <a:extLst>
              <a:ext uri="{FF2B5EF4-FFF2-40B4-BE49-F238E27FC236}">
                <a16:creationId xmlns:a16="http://schemas.microsoft.com/office/drawing/2014/main" id="{066684C9-76AB-41FB-A7F0-8038D3D6DED9}"/>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22</a:t>
            </a:r>
          </a:p>
        </p:txBody>
      </p:sp>
      <p:sp>
        <p:nvSpPr>
          <p:cNvPr id="2" name="slide_title">
            <a:extLst>
              <a:ext uri="{FF2B5EF4-FFF2-40B4-BE49-F238E27FC236}">
                <a16:creationId xmlns:a16="http://schemas.microsoft.com/office/drawing/2014/main" id="{28520C0A-4E39-477C-841B-77A612F5D730}"/>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Caso TP194 · dejar visible lo que el modelo no explica</a:t>
            </a:r>
          </a:p>
        </p:txBody>
      </p:sp>
      <p:pic>
        <p:nvPicPr>
          <p:cNvPr id="3" name="Imagen 2">
            <a:extLst>
              <a:ext uri="{FF2B5EF4-FFF2-40B4-BE49-F238E27FC236}">
                <a16:creationId xmlns:a16="http://schemas.microsoft.com/office/drawing/2014/main" id="{AD2634D8-7B49-4D07-BF9F-92463F2710A6}"/>
              </a:ext>
            </a:extLst>
          </p:cNvPr>
          <p:cNvPicPr>
            <a:picLocks noChangeAspect="1"/>
          </p:cNvPicPr>
          <p:nvPr/>
        </p:nvPicPr>
        <p:blipFill>
          <a:blip r:embed="rId3"/>
          <a:stretch/>
        </p:blipFill>
        <p:spPr>
          <a:xfrm>
            <a:off x="851958" y="1619250"/>
            <a:ext cx="7078133" cy="3981450"/>
          </a:xfrm>
          <a:prstGeom prst="rect">
            <a:avLst/>
          </a:prstGeom>
        </p:spPr>
      </p:pic>
      <p:sp>
        <p:nvSpPr>
          <p:cNvPr id="4" name="text_71">
            <a:extLst>
              <a:ext uri="{FF2B5EF4-FFF2-40B4-BE49-F238E27FC236}">
                <a16:creationId xmlns:a16="http://schemas.microsoft.com/office/drawing/2014/main" id="{AAFFCAD1-875F-4F8C-AAF1-4BDA5BB4F46D}"/>
              </a:ext>
            </a:extLst>
          </p:cNvPr>
          <p:cNvSpPr>
            <a:spLocks noGrp="1"/>
          </p:cNvSpPr>
          <p:nvPr/>
        </p:nvSpPr>
        <p:spPr>
          <a:xfrm>
            <a:off x="8972550" y="1962150"/>
            <a:ext cx="2762250" cy="1466850"/>
          </a:xfrm>
          <a:prstGeom prst="rect">
            <a:avLst/>
          </a:prstGeom>
          <a:noFill/>
          <a:ln w="0">
            <a:noFill/>
          </a:ln>
        </p:spPr>
        <p:txBody>
          <a:bodyPr lIns="0" tIns="0" rIns="0" bIns="0">
            <a:noAutofit/>
          </a:bodyPr>
          <a:lstStyle>
            <a:defPPr>
              <a:defRPr sz="3225" b="1">
                <a:solidFill>
                  <a:srgbClr val="55DDE0"/>
                </a:solidFill>
                <a:latin typeface="Segoe UI"/>
                <a:ea typeface="Segoe UI"/>
                <a:cs typeface="Segoe UI"/>
              </a:defRPr>
            </a:defPPr>
          </a:lstStyle>
          <a:p>
            <a:pPr>
              <a:defRPr sz="3225" b="1">
                <a:solidFill>
                  <a:srgbClr val="55DDE0"/>
                </a:solidFill>
                <a:latin typeface="Segoe UI"/>
                <a:ea typeface="Segoe UI"/>
                <a:cs typeface="Segoe UI"/>
              </a:defRPr>
            </a:pPr>
            <a:r>
              <a:rPr sz="3225" b="1">
                <a:solidFill>
                  <a:srgbClr val="55DDE0"/>
                </a:solidFill>
                <a:latin typeface="Segoe UI"/>
                <a:ea typeface="Segoe UI"/>
                <a:cs typeface="Segoe UI"/>
              </a:rPr>
              <a:t>≈6 %</a:t>
            </a:r>
          </a:p>
          <a:p>
            <a:pPr>
              <a:defRPr sz="3225" b="1">
                <a:solidFill>
                  <a:srgbClr val="55DDE0"/>
                </a:solidFill>
                <a:latin typeface="Segoe UI"/>
                <a:ea typeface="Segoe UI"/>
                <a:cs typeface="Segoe UI"/>
              </a:defRPr>
            </a:pPr>
            <a:r>
              <a:rPr sz="3225" b="1">
                <a:solidFill>
                  <a:srgbClr val="55DDE0"/>
                </a:solidFill>
                <a:latin typeface="Segoe UI"/>
                <a:ea typeface="Segoe UI"/>
                <a:cs typeface="Segoe UI"/>
              </a:rPr>
              <a:t>sin asignar</a:t>
            </a:r>
          </a:p>
        </p:txBody>
      </p:sp>
      <p:sp>
        <p:nvSpPr>
          <p:cNvPr id="5" name="text_72">
            <a:extLst>
              <a:ext uri="{FF2B5EF4-FFF2-40B4-BE49-F238E27FC236}">
                <a16:creationId xmlns:a16="http://schemas.microsoft.com/office/drawing/2014/main" id="{07D408AC-863E-4FD1-B553-533639B2C7A0}"/>
              </a:ext>
            </a:extLst>
          </p:cNvPr>
          <p:cNvSpPr>
            <a:spLocks noGrp="1"/>
          </p:cNvSpPr>
          <p:nvPr/>
        </p:nvSpPr>
        <p:spPr>
          <a:xfrm>
            <a:off x="8972550" y="3829050"/>
            <a:ext cx="2762250" cy="1485900"/>
          </a:xfrm>
          <a:prstGeom prst="rect">
            <a:avLst/>
          </a:prstGeom>
          <a:noFill/>
          <a:ln w="0">
            <a:noFill/>
          </a:ln>
        </p:spPr>
        <p:txBody>
          <a:bodyPr lIns="0" tIns="0" rIns="0" bIns="0">
            <a:noAutofit/>
          </a:bodyPr>
          <a:lstStyle>
            <a:defPPr>
              <a:defRPr sz="2100" b="0">
                <a:solidFill>
                  <a:srgbClr val="EAF3F4"/>
                </a:solidFill>
                <a:latin typeface="Segoe UI"/>
                <a:ea typeface="Segoe UI"/>
                <a:cs typeface="Segoe UI"/>
              </a:defRPr>
            </a:defPPr>
          </a:lstStyle>
          <a:p>
            <a:pPr>
              <a:defRPr sz="2100" b="0">
                <a:solidFill>
                  <a:srgbClr val="EAF3F4"/>
                </a:solidFill>
                <a:latin typeface="Segoe UI"/>
                <a:ea typeface="Segoe UI"/>
                <a:cs typeface="Segoe UI"/>
              </a:defRPr>
            </a:pPr>
            <a:r>
              <a:rPr sz="2100" b="0">
                <a:solidFill>
                  <a:srgbClr val="EAF3F4"/>
                </a:solidFill>
                <a:latin typeface="Segoe UI"/>
                <a:ea typeface="Segoe UI"/>
                <a:cs typeface="Segoe UI"/>
              </a:rPr>
              <a:t>Conservar la señal</a:t>
            </a:r>
          </a:p>
          <a:p>
            <a:pPr>
              <a:defRPr sz="2100" b="0">
                <a:solidFill>
                  <a:srgbClr val="EAF3F4"/>
                </a:solidFill>
                <a:latin typeface="Segoe UI"/>
                <a:ea typeface="Segoe UI"/>
                <a:cs typeface="Segoe UI"/>
              </a:defRPr>
            </a:pPr>
            <a:r>
              <a:rPr sz="2100" b="0">
                <a:solidFill>
                  <a:srgbClr val="EAF3F4"/>
                </a:solidFill>
                <a:latin typeface="Segoe UI"/>
                <a:ea typeface="Segoe UI"/>
                <a:cs typeface="Segoe UI"/>
              </a:rPr>
              <a:t>Comparar métodos</a:t>
            </a:r>
          </a:p>
          <a:p>
            <a:pPr>
              <a:defRPr sz="2100" b="0">
                <a:solidFill>
                  <a:srgbClr val="EAF3F4"/>
                </a:solidFill>
                <a:latin typeface="Segoe UI"/>
                <a:ea typeface="Segoe UI"/>
                <a:cs typeface="Segoe UI"/>
              </a:defRPr>
            </a:pPr>
            <a:r>
              <a:rPr sz="2100" b="0">
                <a:solidFill>
                  <a:srgbClr val="EAF3F4"/>
                </a:solidFill>
                <a:latin typeface="Segoe UI"/>
                <a:ea typeface="Segoe UI"/>
                <a:cs typeface="Segoe UI"/>
              </a:rPr>
              <a:t>Reservar gradientes</a:t>
            </a:r>
          </a:p>
        </p:txBody>
      </p:sp>
      <p:sp>
        <p:nvSpPr>
          <p:cNvPr id="6" name="reveal_73">
            <a:extLst>
              <a:ext uri="{FF2B5EF4-FFF2-40B4-BE49-F238E27FC236}">
                <a16:creationId xmlns:a16="http://schemas.microsoft.com/office/drawing/2014/main" id="{0CE099DA-781D-41EF-B245-2D3A0F77BBA0}"/>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Un mapa útil permite revisar lo ajustado y lo que queda pendiente</a:t>
            </a:r>
          </a:p>
        </p:txBody>
      </p:sp>
      <p:sp>
        <p:nvSpPr>
          <p:cNvPr id="7" name="text_74">
            <a:extLst>
              <a:ext uri="{FF2B5EF4-FFF2-40B4-BE49-F238E27FC236}">
                <a16:creationId xmlns:a16="http://schemas.microsoft.com/office/drawing/2014/main" id="{231429DB-D2F0-4CA1-802B-E3293483921B}"/>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575" b="0">
                <a:solidFill>
                  <a:srgbClr val="A9C0CC"/>
                </a:solidFill>
                <a:latin typeface="Segoe UI"/>
                <a:ea typeface="Segoe UI"/>
                <a:cs typeface="Segoe UI"/>
              </a:defRPr>
            </a:defPPr>
          </a:lstStyle>
          <a:p>
            <a:pPr>
              <a:defRPr sz="1575" b="0">
                <a:solidFill>
                  <a:srgbClr val="A9C0CC"/>
                </a:solidFill>
                <a:latin typeface="Segoe UI"/>
                <a:ea typeface="Segoe UI"/>
                <a:cs typeface="Segoe UI"/>
              </a:defRPr>
            </a:pPr>
            <a:r>
              <a:rPr sz="1575" b="0">
                <a:solidFill>
                  <a:srgbClr val="A9C0CC"/>
                </a:solidFill>
                <a:latin typeface="Segoe UI"/>
                <a:ea typeface="Segoe UI"/>
                <a:cs typeface="Segoe UI"/>
              </a:rPr>
              <a:t>TP194 real · caso de proyección archivado. Los controles predictivos son un paso posterior del Laboratorio científico.</a:t>
            </a:r>
          </a:p>
        </p:txBody>
      </p:sp>
    </p:spTree>
    <p:extLst>
      <p:ext uri="{BB962C8B-B14F-4D97-AF65-F5344CB8AC3E}">
        <p14:creationId xmlns:p14="http://schemas.microsoft.com/office/powerpoint/2010/main" val="78888032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E08BA1A-313E-4888-8844-A7257DD28184}"/>
              </a:ext>
            </a:extLst>
          </p:cNvPr>
          <p:cNvPicPr>
            <a:picLocks noChangeAspect="1"/>
          </p:cNvPicPr>
          <p:nvPr/>
        </p:nvPicPr>
        <p:blipFill>
          <a:blip r:embed="rId5"/>
          <a:stretch/>
        </p:blipFill>
        <p:spPr>
          <a:xfrm>
            <a:off x="0" y="0"/>
            <a:ext cx="12192000" cy="6858000"/>
          </a:xfrm>
          <a:prstGeom prst="rect">
            <a:avLst/>
          </a:prstGeom>
        </p:spPr>
      </p:pic>
      <p:pic>
        <p:nvPicPr>
          <p:cNvPr id="3" name="DOSY_VIDEO_23" descr="Scientific teaching simulation / Simulación didáctica">
            <a:hlinkClick action="ppaction://media"/>
            <a:extLst>
              <a:ext uri="{FF2B5EF4-FFF2-40B4-BE49-F238E27FC236}">
                <a16:creationId xmlns:a16="http://schemas.microsoft.com/office/drawing/2014/main" id="{393899CA-7B7A-4A8F-F640-5F1A417B1E0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0"/>
            <a:ext cx="12192000" cy="6858000"/>
          </a:xfrm>
          <a:prstGeom prst="rect">
            <a:avLst/>
          </a:prstGeom>
        </p:spPr>
      </p:pic>
    </p:spTree>
    <p:extLst>
      <p:ext uri="{BB962C8B-B14F-4D97-AF65-F5344CB8AC3E}">
        <p14:creationId xmlns:p14="http://schemas.microsoft.com/office/powerpoint/2010/main" val="82200376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10" name="slide_number">
            <a:extLst>
              <a:ext uri="{FF2B5EF4-FFF2-40B4-BE49-F238E27FC236}">
                <a16:creationId xmlns:a16="http://schemas.microsoft.com/office/drawing/2014/main" id="{013D0AD2-BDB3-4A4B-8AAB-FF4ECE98F908}"/>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24</a:t>
            </a:r>
          </a:p>
        </p:txBody>
      </p:sp>
      <p:sp>
        <p:nvSpPr>
          <p:cNvPr id="2" name="slide_title">
            <a:extLst>
              <a:ext uri="{FF2B5EF4-FFF2-40B4-BE49-F238E27FC236}">
                <a16:creationId xmlns:a16="http://schemas.microsoft.com/office/drawing/2014/main" id="{FAA147A6-B1C2-467D-81C9-580FE5C14E92}"/>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225" b="1">
                <a:solidFill>
                  <a:srgbClr val="EAF3F4"/>
                </a:solidFill>
                <a:latin typeface="Segoe UI"/>
                <a:ea typeface="Segoe UI"/>
                <a:cs typeface="Segoe UI"/>
              </a:defRPr>
            </a:defPPr>
          </a:lstStyle>
          <a:p>
            <a:pPr>
              <a:defRPr sz="3225" b="1">
                <a:solidFill>
                  <a:srgbClr val="EAF3F4"/>
                </a:solidFill>
                <a:latin typeface="Segoe UI"/>
                <a:ea typeface="Segoe UI"/>
                <a:cs typeface="Segoe UI"/>
              </a:defRPr>
            </a:pPr>
            <a:r>
              <a:rPr sz="3225" b="1">
                <a:solidFill>
                  <a:srgbClr val="EAF3F4"/>
                </a:solidFill>
                <a:latin typeface="Segoe UI"/>
                <a:ea typeface="Segoe UI"/>
                <a:cs typeface="Segoe UI"/>
              </a:rPr>
              <a:t>Ultrafast: difusión y relajación en un mapa</a:t>
            </a:r>
          </a:p>
        </p:txBody>
      </p:sp>
      <p:pic>
        <p:nvPicPr>
          <p:cNvPr id="3" name="Imagen 2">
            <a:extLst>
              <a:ext uri="{FF2B5EF4-FFF2-40B4-BE49-F238E27FC236}">
                <a16:creationId xmlns:a16="http://schemas.microsoft.com/office/drawing/2014/main" id="{D847EF78-9D87-47B3-BB79-B7BFD06FA12C}"/>
              </a:ext>
            </a:extLst>
          </p:cNvPr>
          <p:cNvPicPr>
            <a:picLocks noChangeAspect="1"/>
          </p:cNvPicPr>
          <p:nvPr/>
        </p:nvPicPr>
        <p:blipFill>
          <a:blip r:embed="rId3"/>
          <a:stretch/>
        </p:blipFill>
        <p:spPr>
          <a:xfrm>
            <a:off x="661536" y="1247775"/>
            <a:ext cx="7782829" cy="5095875"/>
          </a:xfrm>
          <a:prstGeom prst="rect">
            <a:avLst/>
          </a:prstGeom>
        </p:spPr>
      </p:pic>
      <p:sp>
        <p:nvSpPr>
          <p:cNvPr id="4" name="text_75">
            <a:extLst>
              <a:ext uri="{FF2B5EF4-FFF2-40B4-BE49-F238E27FC236}">
                <a16:creationId xmlns:a16="http://schemas.microsoft.com/office/drawing/2014/main" id="{56661514-BBE3-479A-9BCD-5BD86E1F769B}"/>
              </a:ext>
            </a:extLst>
          </p:cNvPr>
          <p:cNvSpPr>
            <a:spLocks noGrp="1"/>
          </p:cNvSpPr>
          <p:nvPr/>
        </p:nvSpPr>
        <p:spPr>
          <a:xfrm>
            <a:off x="9067800" y="1666875"/>
            <a:ext cx="2657475" cy="552450"/>
          </a:xfrm>
          <a:prstGeom prst="rect">
            <a:avLst/>
          </a:prstGeom>
          <a:noFill/>
          <a:ln w="0">
            <a:noFill/>
          </a:ln>
        </p:spPr>
        <p:txBody>
          <a:bodyPr lIns="0" tIns="0" rIns="0" bIns="0">
            <a:noAutofit/>
          </a:bodyPr>
          <a:lstStyle>
            <a:defPPr>
              <a:defRPr sz="2925" b="1">
                <a:solidFill>
                  <a:srgbClr val="55DDE0"/>
                </a:solidFill>
                <a:latin typeface="Segoe UI"/>
                <a:ea typeface="Segoe UI"/>
                <a:cs typeface="Segoe UI"/>
              </a:defRPr>
            </a:defPPr>
          </a:lstStyle>
          <a:p>
            <a:pPr>
              <a:defRPr sz="2925" b="1">
                <a:solidFill>
                  <a:srgbClr val="55DDE0"/>
                </a:solidFill>
                <a:latin typeface="Segoe UI"/>
                <a:ea typeface="Segoe UI"/>
                <a:cs typeface="Segoe UI"/>
              </a:defRPr>
            </a:pPr>
            <a:r>
              <a:rPr sz="2925" b="1">
                <a:solidFill>
                  <a:srgbClr val="55DDE0"/>
                </a:solidFill>
                <a:latin typeface="Segoe UI"/>
                <a:ea typeface="Segoe UI"/>
                <a:cs typeface="Segoe UI"/>
              </a:rPr>
              <a:t>UF D–T₂</a:t>
            </a:r>
          </a:p>
        </p:txBody>
      </p:sp>
      <p:sp>
        <p:nvSpPr>
          <p:cNvPr id="5" name="text_76">
            <a:extLst>
              <a:ext uri="{FF2B5EF4-FFF2-40B4-BE49-F238E27FC236}">
                <a16:creationId xmlns:a16="http://schemas.microsoft.com/office/drawing/2014/main" id="{92807C4C-3791-46F5-8D46-505628D68A28}"/>
              </a:ext>
            </a:extLst>
          </p:cNvPr>
          <p:cNvSpPr>
            <a:spLocks noGrp="1"/>
          </p:cNvSpPr>
          <p:nvPr/>
        </p:nvSpPr>
        <p:spPr>
          <a:xfrm>
            <a:off x="9067800" y="2409825"/>
            <a:ext cx="2657475" cy="1104900"/>
          </a:xfrm>
          <a:prstGeom prst="rect">
            <a:avLst/>
          </a:prstGeom>
          <a:noFill/>
          <a:ln w="0">
            <a:noFill/>
          </a:ln>
        </p:spPr>
        <p:txBody>
          <a:bodyPr lIns="0" tIns="0" rIns="0" bIns="0">
            <a:noAutofit/>
          </a:bodyPr>
          <a:lstStyle>
            <a:defPPr>
              <a:defRPr sz="2025" b="0">
                <a:solidFill>
                  <a:srgbClr val="EAF3F4"/>
                </a:solidFill>
                <a:latin typeface="Segoe UI"/>
                <a:ea typeface="Segoe UI"/>
                <a:cs typeface="Segoe UI"/>
              </a:defRPr>
            </a:defPPr>
          </a:lstStyle>
          <a:p>
            <a:pPr>
              <a:defRPr sz="2025" b="0">
                <a:solidFill>
                  <a:srgbClr val="EAF3F4"/>
                </a:solidFill>
                <a:latin typeface="Segoe UI"/>
                <a:ea typeface="Segoe UI"/>
                <a:cs typeface="Segoe UI"/>
              </a:defRPr>
            </a:pPr>
            <a:r>
              <a:rPr sz="2025" b="0">
                <a:solidFill>
                  <a:srgbClr val="EAF3F4"/>
                </a:solidFill>
                <a:latin typeface="Segoe UI"/>
                <a:ea typeface="Segoe UI"/>
                <a:cs typeface="Segoe UI"/>
              </a:rPr>
              <a:t>Experimento 10</a:t>
            </a:r>
          </a:p>
          <a:p>
            <a:pPr>
              <a:defRPr sz="2025" b="0">
                <a:solidFill>
                  <a:srgbClr val="EAF3F4"/>
                </a:solidFill>
                <a:latin typeface="Segoe UI"/>
                <a:ea typeface="Segoe UI"/>
                <a:cs typeface="Segoe UI"/>
              </a:defRPr>
            </a:pPr>
            <a:r>
              <a:rPr sz="2025" b="0">
                <a:solidFill>
                  <a:srgbClr val="EAF3F4"/>
                </a:solidFill>
                <a:latin typeface="Segoe UI"/>
                <a:ea typeface="Segoe UI"/>
                <a:cs typeface="Segoe UI"/>
              </a:rPr>
              <a:t>4 transitorios · 32 ecos</a:t>
            </a:r>
          </a:p>
          <a:p>
            <a:pPr>
              <a:defRPr sz="2025" b="0">
                <a:solidFill>
                  <a:srgbClr val="EAF3F4"/>
                </a:solidFill>
                <a:latin typeface="Segoe UI"/>
                <a:ea typeface="Segoe UI"/>
                <a:cs typeface="Segoe UI"/>
              </a:defRPr>
            </a:pPr>
            <a:r>
              <a:rPr sz="2025" b="0">
                <a:solidFill>
                  <a:srgbClr val="EAF3F4"/>
                </a:solidFill>
                <a:latin typeface="Segoe UI"/>
                <a:ea typeface="Segoe UI"/>
                <a:cs typeface="Segoe UI"/>
              </a:rPr>
              <a:t>≈28 segundos</a:t>
            </a:r>
          </a:p>
        </p:txBody>
      </p:sp>
      <p:sp>
        <p:nvSpPr>
          <p:cNvPr id="6" name="text_77">
            <a:extLst>
              <a:ext uri="{FF2B5EF4-FFF2-40B4-BE49-F238E27FC236}">
                <a16:creationId xmlns:a16="http://schemas.microsoft.com/office/drawing/2014/main" id="{4561AFEE-3673-4E60-BCA4-DCD4E06DE1DA}"/>
              </a:ext>
            </a:extLst>
          </p:cNvPr>
          <p:cNvSpPr>
            <a:spLocks noGrp="1"/>
          </p:cNvSpPr>
          <p:nvPr/>
        </p:nvSpPr>
        <p:spPr>
          <a:xfrm>
            <a:off x="9067800" y="3848100"/>
            <a:ext cx="2657475" cy="400050"/>
          </a:xfrm>
          <a:prstGeom prst="rect">
            <a:avLst/>
          </a:prstGeom>
          <a:noFill/>
          <a:ln w="0">
            <a:noFill/>
          </a:ln>
        </p:spPr>
        <p:txBody>
          <a:bodyPr lIns="0" tIns="0" rIns="0" bIns="0">
            <a:noAutofit/>
          </a:bodyPr>
          <a:lstStyle>
            <a:defPPr>
              <a:defRPr sz="1500" b="1">
                <a:solidFill>
                  <a:srgbClr val="A9C0CC"/>
                </a:solidFill>
                <a:latin typeface="Segoe UI"/>
                <a:ea typeface="Segoe UI"/>
                <a:cs typeface="Segoe UI"/>
              </a:defRPr>
            </a:defPPr>
          </a:lstStyle>
          <a:p>
            <a:pPr>
              <a:defRPr sz="1500" b="1">
                <a:solidFill>
                  <a:srgbClr val="A9C0CC"/>
                </a:solidFill>
                <a:latin typeface="Segoe UI"/>
                <a:ea typeface="Segoe UI"/>
                <a:cs typeface="Segoe UI"/>
              </a:defRPr>
            </a:pPr>
            <a:r>
              <a:rPr sz="1500" b="1">
                <a:solidFill>
                  <a:srgbClr val="A9C0CC"/>
                </a:solidFill>
                <a:latin typeface="Segoe UI"/>
                <a:ea typeface="Segoe UI"/>
                <a:cs typeface="Segoe UI"/>
              </a:rPr>
              <a:t>DESARROLLO ACTUAL</a:t>
            </a:r>
          </a:p>
        </p:txBody>
      </p:sp>
      <p:sp>
        <p:nvSpPr>
          <p:cNvPr id="7" name="text_78">
            <a:extLst>
              <a:ext uri="{FF2B5EF4-FFF2-40B4-BE49-F238E27FC236}">
                <a16:creationId xmlns:a16="http://schemas.microsoft.com/office/drawing/2014/main" id="{21B6CCD1-E685-47A7-96E4-2E66D7670086}"/>
              </a:ext>
            </a:extLst>
          </p:cNvPr>
          <p:cNvSpPr>
            <a:spLocks noGrp="1"/>
          </p:cNvSpPr>
          <p:nvPr/>
        </p:nvSpPr>
        <p:spPr>
          <a:xfrm>
            <a:off x="9067800" y="4343400"/>
            <a:ext cx="2657475" cy="914400"/>
          </a:xfrm>
          <a:prstGeom prst="rect">
            <a:avLst/>
          </a:prstGeom>
          <a:noFill/>
          <a:ln w="0">
            <a:noFill/>
          </a:ln>
        </p:spPr>
        <p:txBody>
          <a:bodyPr lIns="0" tIns="0" rIns="0" bIns="0">
            <a:noAutofit/>
          </a:bodyPr>
          <a:lstStyle>
            <a:defPPr>
              <a:defRPr sz="2175" b="1">
                <a:solidFill>
                  <a:srgbClr val="55DDE0"/>
                </a:solidFill>
                <a:latin typeface="Segoe UI"/>
                <a:ea typeface="Segoe UI"/>
                <a:cs typeface="Segoe UI"/>
              </a:defRPr>
            </a:defPPr>
          </a:lstStyle>
          <a:p>
            <a:pPr>
              <a:defRPr sz="2175" b="1">
                <a:solidFill>
                  <a:srgbClr val="55DDE0"/>
                </a:solidFill>
                <a:latin typeface="Segoe UI"/>
                <a:ea typeface="Segoe UI"/>
                <a:cs typeface="Segoe UI"/>
              </a:defRPr>
            </a:pPr>
            <a:r>
              <a:rPr sz="2175" b="1">
                <a:solidFill>
                  <a:srgbClr val="55DDE0"/>
                </a:solidFill>
                <a:latin typeface="Segoe UI"/>
                <a:ea typeface="Segoe UI"/>
                <a:cs typeface="Segoe UI"/>
              </a:rPr>
              <a:t>Gradiente z</a:t>
            </a:r>
          </a:p>
          <a:p>
            <a:pPr>
              <a:defRPr sz="2175" b="1">
                <a:solidFill>
                  <a:srgbClr val="55DDE0"/>
                </a:solidFill>
                <a:latin typeface="Segoe UI"/>
                <a:ea typeface="Segoe UI"/>
                <a:cs typeface="Segoe UI"/>
              </a:defRPr>
            </a:pPr>
            <a:r>
              <a:rPr sz="2175" b="1">
                <a:solidFill>
                  <a:srgbClr val="55DDE0"/>
                </a:solidFill>
                <a:latin typeface="Segoe UI"/>
                <a:ea typeface="Segoe UI"/>
                <a:cs typeface="Segoe UI"/>
              </a:rPr>
              <a:t>+ lectura EPSI</a:t>
            </a:r>
          </a:p>
        </p:txBody>
      </p:sp>
      <p:sp>
        <p:nvSpPr>
          <p:cNvPr id="8" name="reveal_79">
            <a:extLst>
              <a:ext uri="{FF2B5EF4-FFF2-40B4-BE49-F238E27FC236}">
                <a16:creationId xmlns:a16="http://schemas.microsoft.com/office/drawing/2014/main" id="{710517A8-CE6F-4716-89B1-1178211EE4A0}"/>
              </a:ext>
            </a:extLst>
          </p:cNvPr>
          <p:cNvSpPr>
            <a:spLocks noGrp="1"/>
          </p:cNvSpPr>
          <p:nvPr/>
        </p:nvSpPr>
        <p:spPr>
          <a:xfrm>
            <a:off x="9067800" y="5362575"/>
            <a:ext cx="2657475" cy="657225"/>
          </a:xfrm>
          <a:prstGeom prst="rect">
            <a:avLst/>
          </a:prstGeom>
          <a:noFill/>
          <a:ln w="0">
            <a:noFill/>
          </a:ln>
        </p:spPr>
        <p:txBody>
          <a:bodyPr lIns="0" tIns="0" rIns="0" bIns="0">
            <a:noAutofit/>
          </a:bodyPr>
          <a:lstStyle>
            <a:defPPr>
              <a:defRPr sz="1875" b="1">
                <a:solidFill>
                  <a:srgbClr val="F3AE6D"/>
                </a:solidFill>
                <a:latin typeface="Segoe UI"/>
                <a:ea typeface="Segoe UI"/>
                <a:cs typeface="Segoe UI"/>
              </a:defRPr>
            </a:defPPr>
          </a:lstStyle>
          <a:p>
            <a:pPr>
              <a:defRPr sz="1875" b="1">
                <a:solidFill>
                  <a:srgbClr val="F3AE6D"/>
                </a:solidFill>
                <a:latin typeface="Segoe UI"/>
                <a:ea typeface="Segoe UI"/>
                <a:cs typeface="Segoe UI"/>
              </a:defRPr>
            </a:pPr>
            <a:r>
              <a:rPr sz="1875" b="1">
                <a:solidFill>
                  <a:srgbClr val="F3AE6D"/>
                </a:solidFill>
                <a:latin typeface="Segoe UI"/>
                <a:ea typeface="Segoe UI"/>
                <a:cs typeface="Segoe UI"/>
              </a:rPr>
              <a:t>Validar b(z)</a:t>
            </a:r>
          </a:p>
          <a:p>
            <a:pPr>
              <a:defRPr sz="1875" b="1">
                <a:solidFill>
                  <a:srgbClr val="F3AE6D"/>
                </a:solidFill>
                <a:latin typeface="Segoe UI"/>
                <a:ea typeface="Segoe UI"/>
                <a:cs typeface="Segoe UI"/>
              </a:defRPr>
            </a:pPr>
            <a:r>
              <a:rPr sz="1875" b="1">
                <a:solidFill>
                  <a:srgbClr val="F3AE6D"/>
                </a:solidFill>
                <a:latin typeface="Segoe UI"/>
                <a:ea typeface="Segoe UI"/>
                <a:cs typeface="Segoe UI"/>
              </a:rPr>
              <a:t>y sensibilidad</a:t>
            </a:r>
          </a:p>
        </p:txBody>
      </p:sp>
      <p:sp>
        <p:nvSpPr>
          <p:cNvPr id="9" name="text_80">
            <a:extLst>
              <a:ext uri="{FF2B5EF4-FFF2-40B4-BE49-F238E27FC236}">
                <a16:creationId xmlns:a16="http://schemas.microsoft.com/office/drawing/2014/main" id="{50BF9997-4D8F-43A3-B89F-FAA47BBB2F93}"/>
              </a:ext>
            </a:extLst>
          </p:cNvPr>
          <p:cNvSpPr>
            <a:spLocks noGrp="1"/>
          </p:cNvSpPr>
          <p:nvPr/>
        </p:nvSpPr>
        <p:spPr>
          <a:xfrm>
            <a:off x="571500" y="6534150"/>
            <a:ext cx="10953750" cy="276225"/>
          </a:xfrm>
          <a:prstGeom prst="rect">
            <a:avLst/>
          </a:prstGeom>
          <a:noFill/>
          <a:ln w="0">
            <a:noFill/>
          </a:ln>
        </p:spPr>
        <p:txBody>
          <a:bodyPr lIns="0" tIns="0" rIns="0" bIns="0">
            <a:noAutofit/>
          </a:bodyPr>
          <a:lstStyle>
            <a:defPPr>
              <a:defRPr sz="1500" b="0">
                <a:solidFill>
                  <a:srgbClr val="A9C0CC"/>
                </a:solidFill>
                <a:latin typeface="Segoe UI"/>
                <a:ea typeface="Segoe UI"/>
                <a:cs typeface="Segoe UI"/>
              </a:defRPr>
            </a:defPPr>
          </a:lstStyle>
          <a:p>
            <a:pPr>
              <a:defRPr sz="1500" b="0">
                <a:solidFill>
                  <a:srgbClr val="A9C0CC"/>
                </a:solidFill>
                <a:latin typeface="Segoe UI"/>
                <a:ea typeface="Segoe UI"/>
                <a:cs typeface="Segoe UI"/>
              </a:defRPr>
            </a:pPr>
            <a:r>
              <a:rPr sz="1500" b="0">
                <a:solidFill>
                  <a:srgbClr val="A9C0CC"/>
                </a:solidFill>
                <a:latin typeface="Segoe UI"/>
                <a:ea typeface="Segoe UI"/>
                <a:cs typeface="Segoe UI"/>
              </a:rPr>
              <a:t>TRAIN2D · experimento de 2025, previo a EPSI v9.4 · exactitud de D y T₂ pendiente de validación</a:t>
            </a:r>
          </a:p>
        </p:txBody>
      </p:sp>
    </p:spTree>
    <p:extLst>
      <p:ext uri="{BB962C8B-B14F-4D97-AF65-F5344CB8AC3E}">
        <p14:creationId xmlns:p14="http://schemas.microsoft.com/office/powerpoint/2010/main" val="144605454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2E3A5CBB-B17E-407B-908E-0945C279DD34}"/>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25</a:t>
            </a:r>
          </a:p>
        </p:txBody>
      </p:sp>
      <p:sp>
        <p:nvSpPr>
          <p:cNvPr id="2" name="closing_message">
            <a:extLst>
              <a:ext uri="{FF2B5EF4-FFF2-40B4-BE49-F238E27FC236}">
                <a16:creationId xmlns:a16="http://schemas.microsoft.com/office/drawing/2014/main" id="{C1F3D32E-0D32-4EF7-8D74-2AA80DD60C32}"/>
              </a:ext>
            </a:extLst>
          </p:cNvPr>
          <p:cNvSpPr>
            <a:spLocks noGrp="1"/>
          </p:cNvSpPr>
          <p:nvPr/>
        </p:nvSpPr>
        <p:spPr>
          <a:xfrm>
            <a:off x="561975" y="942975"/>
            <a:ext cx="10972800" cy="2524125"/>
          </a:xfrm>
          <a:prstGeom prst="rect">
            <a:avLst/>
          </a:prstGeom>
          <a:noFill/>
          <a:ln w="0">
            <a:noFill/>
          </a:ln>
        </p:spPr>
        <p:txBody>
          <a:bodyPr lIns="0" tIns="0" rIns="0" bIns="0">
            <a:noAutofit/>
          </a:bodyPr>
          <a:lstStyle>
            <a:defPPr>
              <a:defRPr sz="4800" b="1">
                <a:solidFill>
                  <a:srgbClr val="EAF3F4"/>
                </a:solidFill>
                <a:latin typeface="Segoe UI"/>
                <a:ea typeface="Segoe UI"/>
                <a:cs typeface="Segoe UI"/>
              </a:defRPr>
            </a:defPPr>
          </a:lstStyle>
          <a:p>
            <a:pPr>
              <a:defRPr sz="4800" b="1">
                <a:solidFill>
                  <a:srgbClr val="EAF3F4"/>
                </a:solidFill>
                <a:latin typeface="Segoe UI"/>
                <a:ea typeface="Segoe UI"/>
                <a:cs typeface="Segoe UI"/>
              </a:defRPr>
            </a:pPr>
            <a:r>
              <a:rPr sz="4800" b="1">
                <a:solidFill>
                  <a:srgbClr val="EAF3F4"/>
                </a:solidFill>
                <a:latin typeface="Segoe UI"/>
                <a:ea typeface="Segoe UI"/>
                <a:cs typeface="Segoe UI"/>
              </a:rPr>
              <a:t>Una medida cuidada.</a:t>
            </a:r>
          </a:p>
          <a:p>
            <a:pPr>
              <a:defRPr sz="4800" b="1">
                <a:solidFill>
                  <a:srgbClr val="EAF3F4"/>
                </a:solidFill>
                <a:latin typeface="Segoe UI"/>
                <a:ea typeface="Segoe UI"/>
                <a:cs typeface="Segoe UI"/>
              </a:defRPr>
            </a:pPr>
            <a:r>
              <a:rPr sz="4800" b="1">
                <a:solidFill>
                  <a:srgbClr val="EAF3F4"/>
                </a:solidFill>
                <a:latin typeface="Segoe UI"/>
                <a:ea typeface="Segoe UI"/>
                <a:cs typeface="Segoe UI"/>
              </a:rPr>
              <a:t>Un análisis reproducible.</a:t>
            </a:r>
          </a:p>
          <a:p>
            <a:pPr>
              <a:defRPr sz="4800" b="1">
                <a:solidFill>
                  <a:srgbClr val="EAF3F4"/>
                </a:solidFill>
                <a:latin typeface="Segoe UI"/>
                <a:ea typeface="Segoe UI"/>
                <a:cs typeface="Segoe UI"/>
              </a:defRPr>
            </a:pPr>
            <a:r>
              <a:rPr sz="4800" b="1">
                <a:solidFill>
                  <a:srgbClr val="EAF3F4"/>
                </a:solidFill>
                <a:latin typeface="Segoe UI"/>
                <a:ea typeface="Segoe UI"/>
                <a:cs typeface="Segoe UI"/>
              </a:rPr>
              <a:t>Un resultado comprobable.</a:t>
            </a:r>
          </a:p>
        </p:txBody>
      </p:sp>
      <p:sp>
        <p:nvSpPr>
          <p:cNvPr id="3" name="text_81">
            <a:extLst>
              <a:ext uri="{FF2B5EF4-FFF2-40B4-BE49-F238E27FC236}">
                <a16:creationId xmlns:a16="http://schemas.microsoft.com/office/drawing/2014/main" id="{813ED5D0-7596-409B-91B8-3C7FE65AF29C}"/>
              </a:ext>
            </a:extLst>
          </p:cNvPr>
          <p:cNvSpPr>
            <a:spLocks noGrp="1"/>
          </p:cNvSpPr>
          <p:nvPr/>
        </p:nvSpPr>
        <p:spPr>
          <a:xfrm>
            <a:off x="590550" y="4029075"/>
            <a:ext cx="10953750" cy="504825"/>
          </a:xfrm>
          <a:prstGeom prst="rect">
            <a:avLst/>
          </a:prstGeom>
          <a:noFill/>
          <a:ln w="0">
            <a:noFill/>
          </a:ln>
        </p:spPr>
        <p:txBody>
          <a:bodyPr lIns="0" tIns="0" rIns="0" bIns="0">
            <a:noAutofit/>
          </a:bodyPr>
          <a:lstStyle>
            <a:defPPr>
              <a:defRPr sz="2550" b="1">
                <a:solidFill>
                  <a:srgbClr val="FF817B"/>
                </a:solidFill>
                <a:latin typeface="Segoe UI"/>
                <a:ea typeface="Segoe UI"/>
                <a:cs typeface="Segoe UI"/>
              </a:defRPr>
            </a:defPPr>
          </a:lstStyle>
          <a:p>
            <a:pPr>
              <a:defRPr sz="2550" b="1">
                <a:solidFill>
                  <a:srgbClr val="FF817B"/>
                </a:solidFill>
                <a:latin typeface="Segoe UI"/>
                <a:ea typeface="Segoe UI"/>
                <a:cs typeface="Segoe UI"/>
              </a:defRPr>
            </a:pPr>
            <a:r>
              <a:rPr sz="2550" b="1">
                <a:solidFill>
                  <a:srgbClr val="FF817B"/>
                </a:solidFill>
                <a:latin typeface="Segoe UI"/>
                <a:ea typeface="Segoe UI"/>
                <a:cs typeface="Segoe UI"/>
              </a:rPr>
              <a:t>Calibrar y conservar información útil</a:t>
            </a:r>
          </a:p>
        </p:txBody>
      </p:sp>
      <p:sp>
        <p:nvSpPr>
          <p:cNvPr id="4" name="text_82">
            <a:extLst>
              <a:ext uri="{FF2B5EF4-FFF2-40B4-BE49-F238E27FC236}">
                <a16:creationId xmlns:a16="http://schemas.microsoft.com/office/drawing/2014/main" id="{847CE71E-DD96-448E-8C8D-685D260BB0DC}"/>
              </a:ext>
            </a:extLst>
          </p:cNvPr>
          <p:cNvSpPr>
            <a:spLocks noGrp="1"/>
          </p:cNvSpPr>
          <p:nvPr/>
        </p:nvSpPr>
        <p:spPr>
          <a:xfrm>
            <a:off x="590550" y="4667250"/>
            <a:ext cx="10953750" cy="504825"/>
          </a:xfrm>
          <a:prstGeom prst="rect">
            <a:avLst/>
          </a:prstGeom>
          <a:noFill/>
          <a:ln w="0">
            <a:noFill/>
          </a:ln>
        </p:spPr>
        <p:txBody>
          <a:bodyPr lIns="0" tIns="0" rIns="0" bIns="0">
            <a:noAutofit/>
          </a:bodyPr>
          <a:lstStyle>
            <a:defPPr>
              <a:defRPr sz="2550" b="1">
                <a:solidFill>
                  <a:srgbClr val="EAF3F4"/>
                </a:solidFill>
                <a:latin typeface="Segoe UI"/>
                <a:ea typeface="Segoe UI"/>
                <a:cs typeface="Segoe UI"/>
              </a:defRPr>
            </a:defPPr>
          </a:lstStyle>
          <a:p>
            <a:pPr>
              <a:defRPr sz="2550" b="1">
                <a:solidFill>
                  <a:srgbClr val="EAF3F4"/>
                </a:solidFill>
                <a:latin typeface="Segoe UI"/>
                <a:ea typeface="Segoe UI"/>
                <a:cs typeface="Segoe UI"/>
              </a:defRPr>
            </a:pPr>
            <a:r>
              <a:rPr sz="2550" b="1">
                <a:solidFill>
                  <a:srgbClr val="EAF3F4"/>
                </a:solidFill>
                <a:latin typeface="Segoe UI"/>
                <a:ea typeface="Segoe UI"/>
                <a:cs typeface="Segoe UI"/>
              </a:rPr>
              <a:t>Automatizar los pasos repetitivos</a:t>
            </a:r>
          </a:p>
        </p:txBody>
      </p:sp>
      <p:sp>
        <p:nvSpPr>
          <p:cNvPr id="5" name="text_83">
            <a:extLst>
              <a:ext uri="{FF2B5EF4-FFF2-40B4-BE49-F238E27FC236}">
                <a16:creationId xmlns:a16="http://schemas.microsoft.com/office/drawing/2014/main" id="{AF2AA3DE-2C3F-48A2-A1BD-9E3E17893C2F}"/>
              </a:ext>
            </a:extLst>
          </p:cNvPr>
          <p:cNvSpPr>
            <a:spLocks noGrp="1"/>
          </p:cNvSpPr>
          <p:nvPr/>
        </p:nvSpPr>
        <p:spPr>
          <a:xfrm>
            <a:off x="590550" y="5305425"/>
            <a:ext cx="10953750" cy="600075"/>
          </a:xfrm>
          <a:prstGeom prst="rect">
            <a:avLst/>
          </a:prstGeom>
          <a:noFill/>
          <a:ln w="0">
            <a:noFill/>
          </a:ln>
        </p:spPr>
        <p:txBody>
          <a:bodyPr lIns="0" tIns="0" rIns="0" bIns="0">
            <a:noAutofit/>
          </a:bodyPr>
          <a:lstStyle>
            <a:defPPr>
              <a:defRPr sz="2550" b="1">
                <a:solidFill>
                  <a:srgbClr val="55DDE0"/>
                </a:solidFill>
                <a:latin typeface="Segoe UI"/>
                <a:ea typeface="Segoe UI"/>
                <a:cs typeface="Segoe UI"/>
              </a:defRPr>
            </a:defPPr>
          </a:lstStyle>
          <a:p>
            <a:pPr>
              <a:defRPr sz="2550" b="1">
                <a:solidFill>
                  <a:srgbClr val="55DDE0"/>
                </a:solidFill>
                <a:latin typeface="Segoe UI"/>
                <a:ea typeface="Segoe UI"/>
                <a:cs typeface="Segoe UI"/>
              </a:defRPr>
            </a:pPr>
            <a:r>
              <a:rPr sz="2550" b="1">
                <a:solidFill>
                  <a:srgbClr val="55DDE0"/>
                </a:solidFill>
                <a:latin typeface="Segoe UI"/>
                <a:ea typeface="Segoe UI"/>
                <a:cs typeface="Segoe UI"/>
              </a:rPr>
              <a:t>Revisar el resultado con ejemplos y controles</a:t>
            </a:r>
          </a:p>
        </p:txBody>
      </p:sp>
      <p:sp>
        <p:nvSpPr>
          <p:cNvPr id="6" name="text_84">
            <a:extLst>
              <a:ext uri="{FF2B5EF4-FFF2-40B4-BE49-F238E27FC236}">
                <a16:creationId xmlns:a16="http://schemas.microsoft.com/office/drawing/2014/main" id="{D5B30BA1-3BDA-49F9-891C-E9E5695C2DE7}"/>
              </a:ext>
            </a:extLst>
          </p:cNvPr>
          <p:cNvSpPr>
            <a:spLocks noGrp="1"/>
          </p:cNvSpPr>
          <p:nvPr/>
        </p:nvSpPr>
        <p:spPr>
          <a:xfrm>
            <a:off x="609600" y="6286500"/>
            <a:ext cx="10925175" cy="361950"/>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DiffAtOnce Prime · ifernan@ual.es · fmarrabal@ual.es</a:t>
            </a:r>
          </a:p>
        </p:txBody>
      </p:sp>
    </p:spTree>
    <p:extLst>
      <p:ext uri="{BB962C8B-B14F-4D97-AF65-F5344CB8AC3E}">
        <p14:creationId xmlns:p14="http://schemas.microsoft.com/office/powerpoint/2010/main" val="140102871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134E4521-9A45-485D-91AC-50A4A3B43B28}"/>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26</a:t>
            </a:r>
          </a:p>
        </p:txBody>
      </p:sp>
      <p:sp>
        <p:nvSpPr>
          <p:cNvPr id="2" name="slide_title">
            <a:extLst>
              <a:ext uri="{FF2B5EF4-FFF2-40B4-BE49-F238E27FC236}">
                <a16:creationId xmlns:a16="http://schemas.microsoft.com/office/drawing/2014/main" id="{808AF21D-5599-449C-8D94-1980BAAB1FE3}"/>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ILT local 1/4</a:t>
            </a:r>
          </a:p>
        </p:txBody>
      </p:sp>
      <p:graphicFrame>
        <p:nvGraphicFramePr>
          <p:cNvPr id="3" name="Tabla 2">
            <a:extLst>
              <a:ext uri="{FF2B5EF4-FFF2-40B4-BE49-F238E27FC236}">
                <a16:creationId xmlns:a16="http://schemas.microsoft.com/office/drawing/2014/main" id="{C5AD0045-2CE3-42FE-B3E2-8509BEDF77F8}"/>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NNLS</a:t>
                      </a:r>
                    </a:p>
                  </a:txBody>
                  <a:tcPr>
                    <a:solidFill>
                      <a:srgbClr val="081522"/>
                    </a:solidFill>
                  </a:tcPr>
                </a:tc>
                <a:tc>
                  <a:txBody>
                    <a:bodyPr/>
                    <a:lstStyle/>
                    <a:p>
                      <a:r>
                        <a:rPr sz="1575" b="0">
                          <a:solidFill>
                            <a:srgbClr val="EAF3F4"/>
                          </a:solidFill>
                          <a:latin typeface="Segoe UI"/>
                          <a:ea typeface="Segoe UI"/>
                          <a:cs typeface="Segoe UI"/>
                        </a:rPr>
                        <a:t>Referencia positiva sin suavizado; diagnóstico del residuo mínimo.</a:t>
                      </a:r>
                    </a:p>
                  </a:txBody>
                  <a:tcPr>
                    <a:solidFill>
                      <a:srgbClr val="081522"/>
                    </a:solidFill>
                  </a:tcPr>
                </a:tc>
                <a:tc>
                  <a:txBody>
                    <a:bodyPr/>
                    <a:lstStyle/>
                    <a:p>
                      <a:r>
                        <a:rPr sz="1575" b="0">
                          <a:solidFill>
                            <a:srgbClr val="EAF3F4"/>
                          </a:solidFill>
                          <a:latin typeface="Segoe UI"/>
                          <a:ea typeface="Segoe UI"/>
                          <a:cs typeface="Segoe UI"/>
                        </a:rPr>
                        <a:t>No elige suavidad, soporte ni número de especies.</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Tikhonov</a:t>
                      </a:r>
                    </a:p>
                  </a:txBody>
                  <a:tcPr>
                    <a:solidFill>
                      <a:srgbClr val="081522"/>
                    </a:solidFill>
                  </a:tcPr>
                </a:tc>
                <a:tc>
                  <a:txBody>
                    <a:bodyPr/>
                    <a:lstStyle/>
                    <a:p>
                      <a:r>
                        <a:rPr sz="1575" b="0">
                          <a:solidFill>
                            <a:srgbClr val="EAF3F4"/>
                          </a:solidFill>
                          <a:latin typeface="Segoe UI"/>
                          <a:ea typeface="Segoe UI"/>
                          <a:cs typeface="Segoe UI"/>
                        </a:rPr>
                        <a:t>Distribuciones continuas con suavidad controlada; polímeros/polidispersidad.</a:t>
                      </a:r>
                    </a:p>
                  </a:txBody>
                  <a:tcPr>
                    <a:solidFill>
                      <a:srgbClr val="081522"/>
                    </a:solidFill>
                  </a:tcPr>
                </a:tc>
                <a:tc>
                  <a:txBody>
                    <a:bodyPr/>
                    <a:lstStyle/>
                    <a:p>
                      <a:r>
                        <a:rPr sz="1575" b="0">
                          <a:solidFill>
                            <a:srgbClr val="EAF3F4"/>
                          </a:solidFill>
                          <a:latin typeface="Segoe UI"/>
                          <a:ea typeface="Segoe UI"/>
                          <a:cs typeface="Segoe UI"/>
                        </a:rPr>
                        <a:t>No selecciona λ; penaliza diferencias de índices, no derivadas físicas.</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FLINT quadratic objective</a:t>
                      </a:r>
                    </a:p>
                  </a:txBody>
                  <a:tcPr>
                    <a:solidFill>
                      <a:srgbClr val="081522"/>
                    </a:solidFill>
                  </a:tcPr>
                </a:tc>
                <a:tc>
                  <a:txBody>
                    <a:bodyPr/>
                    <a:lstStyle/>
                    <a:p>
                      <a:r>
                        <a:rPr sz="1575" b="0">
                          <a:solidFill>
                            <a:srgbClr val="EAF3F4"/>
                          </a:solidFill>
                          <a:latin typeface="Segoe UI"/>
                          <a:ea typeface="Segoe UI"/>
                          <a:cs typeface="Segoe UI"/>
                        </a:rPr>
                        <a:t>Objetivo L2 positivo para inversión estable; motor NNLS de esta biblioteca.</a:t>
                      </a:r>
                    </a:p>
                  </a:txBody>
                  <a:tcPr>
                    <a:solidFill>
                      <a:srgbClr val="081522"/>
                    </a:solidFill>
                  </a:tcPr>
                </a:tc>
                <a:tc>
                  <a:txBody>
                    <a:bodyPr/>
                    <a:lstStyle/>
                    <a:p>
                      <a:r>
                        <a:rPr sz="1575" b="0">
                          <a:solidFill>
                            <a:srgbClr val="EAF3F4"/>
                          </a:solidFill>
                          <a:latin typeface="Segoe UI"/>
                          <a:ea typeface="Segoe UI"/>
                          <a:cs typeface="Segoe UI"/>
                        </a:rPr>
                        <a:t>Es un port del objetivo, no la iteración original. Para la iteración use flint_fista.</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GNAT ILT NNLS</a:t>
                      </a:r>
                    </a:p>
                  </a:txBody>
                  <a:tcPr>
                    <a:solidFill>
                      <a:srgbClr val="081522"/>
                    </a:solidFill>
                  </a:tcPr>
                </a:tc>
                <a:tc>
                  <a:txBody>
                    <a:bodyPr/>
                    <a:lstStyle/>
                    <a:p>
                      <a:r>
                        <a:rPr sz="1575" b="0">
                          <a:solidFill>
                            <a:srgbClr val="EAF3F4"/>
                          </a:solidFill>
                          <a:latin typeface="Segoe UI"/>
                          <a:ea typeface="Segoe UI"/>
                          <a:cs typeface="Segoe UI"/>
                        </a:rPr>
                        <a:t>Comparar la rama ILT positiva de GNAT a λ manual.</a:t>
                      </a:r>
                    </a:p>
                  </a:txBody>
                  <a:tcPr>
                    <a:solidFill>
                      <a:srgbClr val="081522"/>
                    </a:solidFill>
                  </a:tcPr>
                </a:tc>
                <a:tc>
                  <a:txBody>
                    <a:bodyPr/>
                    <a:lstStyle/>
                    <a:p>
                      <a:r>
                        <a:rPr sz="1575" b="0">
                          <a:solidFill>
                            <a:srgbClr val="EAF3F4"/>
                          </a:solidFill>
                          <a:latin typeface="Segoe UI"/>
                          <a:ea typeface="Segoe UI"/>
                          <a:cs typeface="Segoe UI"/>
                        </a:rPr>
                        <a:t>No incluye GCV, curva L, interfaz gráfica ni toda la aplicación GNAT.</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TRAIn-style trust region</a:t>
                      </a:r>
                    </a:p>
                  </a:txBody>
                  <a:tcPr>
                    <a:solidFill>
                      <a:srgbClr val="081522"/>
                    </a:solidFill>
                  </a:tcPr>
                </a:tc>
                <a:tc>
                  <a:txBody>
                    <a:bodyPr/>
                    <a:lstStyle/>
                    <a:p>
                      <a:r>
                        <a:rPr sz="1575" b="0">
                          <a:solidFill>
                            <a:srgbClr val="EAF3F4"/>
                          </a:solidFill>
                          <a:latin typeface="Segoe UI"/>
                          <a:ea typeface="Segoe UI"/>
                          <a:cs typeface="Segoe UI"/>
                        </a:rPr>
                        <a:t>Inversión positiva iterativa con región de confianza; controlar criterio de parada.</a:t>
                      </a:r>
                    </a:p>
                  </a:txBody>
                  <a:tcPr>
                    <a:solidFill>
                      <a:srgbClr val="081522"/>
                    </a:solidFill>
                  </a:tcPr>
                </a:tc>
                <a:tc>
                  <a:txBody>
                    <a:bodyPr/>
                    <a:lstStyle/>
                    <a:p>
                      <a:r>
                        <a:rPr sz="1575" b="0">
                          <a:solidFill>
                            <a:srgbClr val="EAF3F4"/>
                          </a:solidFill>
                          <a:latin typeface="Segoe UI"/>
                          <a:ea typeface="Segoe UI"/>
                          <a:cs typeface="Segoe UI"/>
                        </a:rPr>
                        <a:t>Prime usa termFac × residuo NNLS; no intercambiar con radios de ruido.</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85">
            <a:extLst>
              <a:ext uri="{FF2B5EF4-FFF2-40B4-BE49-F238E27FC236}">
                <a16:creationId xmlns:a16="http://schemas.microsoft.com/office/drawing/2014/main" id="{03C29246-C921-4ABD-B79F-C86386F82C0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5998234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B0EA6D36-1568-4067-AC0F-1A8F0D473EAE}"/>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27</a:t>
            </a:r>
          </a:p>
        </p:txBody>
      </p:sp>
      <p:sp>
        <p:nvSpPr>
          <p:cNvPr id="2" name="slide_title">
            <a:extLst>
              <a:ext uri="{FF2B5EF4-FFF2-40B4-BE49-F238E27FC236}">
                <a16:creationId xmlns:a16="http://schemas.microsoft.com/office/drawing/2014/main" id="{4411991D-B735-45F2-AD82-ABE1AA60740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ILT local 2/4</a:t>
            </a:r>
          </a:p>
        </p:txBody>
      </p:sp>
      <p:graphicFrame>
        <p:nvGraphicFramePr>
          <p:cNvPr id="3" name="Tabla 2">
            <a:extLst>
              <a:ext uri="{FF2B5EF4-FFF2-40B4-BE49-F238E27FC236}">
                <a16:creationId xmlns:a16="http://schemas.microsoft.com/office/drawing/2014/main" id="{114D0A91-989A-435A-91DD-BEC46148C257}"/>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ITAMeD positive FISTA</a:t>
                      </a:r>
                    </a:p>
                  </a:txBody>
                  <a:tcPr>
                    <a:solidFill>
                      <a:srgbClr val="081522"/>
                    </a:solidFill>
                  </a:tcPr>
                </a:tc>
                <a:tc>
                  <a:txBody>
                    <a:bodyPr/>
                    <a:lstStyle/>
                    <a:p>
                      <a:r>
                        <a:rPr sz="1575" b="0">
                          <a:solidFill>
                            <a:srgbClr val="EAF3F4"/>
                          </a:solidFill>
                          <a:latin typeface="Segoe UI"/>
                          <a:ea typeface="Segoe UI"/>
                          <a:cs typeface="Segoe UI"/>
                        </a:rPr>
                        <a:t>Distribuciones escasas con pocos máximos mediante L1 y FISTA.</a:t>
                      </a:r>
                    </a:p>
                  </a:txBody>
                  <a:tcPr>
                    <a:solidFill>
                      <a:srgbClr val="081522"/>
                    </a:solidFill>
                  </a:tcPr>
                </a:tc>
                <a:tc>
                  <a:txBody>
                    <a:bodyPr/>
                    <a:lstStyle/>
                    <a:p>
                      <a:r>
                        <a:rPr sz="1575" b="0">
                          <a:solidFill>
                            <a:srgbClr val="EAF3F4"/>
                          </a:solidFill>
                          <a:latin typeface="Segoe UI"/>
                          <a:ea typeface="Segoe UI"/>
                          <a:cs typeface="Segoe UI"/>
                        </a:rPr>
                        <a:t>Malla fija; comprobar el escalado del objetivo antes de comparar λ.</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Positive smooth sparse inversion</a:t>
                      </a:r>
                    </a:p>
                  </a:txBody>
                  <a:tcPr>
                    <a:solidFill>
                      <a:srgbClr val="081522"/>
                    </a:solidFill>
                  </a:tcPr>
                </a:tc>
                <a:tc>
                  <a:txBody>
                    <a:bodyPr/>
                    <a:lstStyle/>
                    <a:p>
                      <a:r>
                        <a:rPr sz="1575" b="0">
                          <a:solidFill>
                            <a:srgbClr val="EAF3F4"/>
                          </a:solidFill>
                          <a:latin typeface="Segoe UI"/>
                          <a:ea typeface="Segoe UI"/>
                          <a:cs typeface="Segoe UI"/>
                        </a:rPr>
                        <a:t>Compromiso entre pocos máximos y suavidad.</a:t>
                      </a:r>
                    </a:p>
                  </a:txBody>
                  <a:tcPr>
                    <a:solidFill>
                      <a:srgbClr val="081522"/>
                    </a:solidFill>
                  </a:tcPr>
                </a:tc>
                <a:tc>
                  <a:txBody>
                    <a:bodyPr/>
                    <a:lstStyle/>
                    <a:p>
                      <a:r>
                        <a:rPr sz="1575" b="0">
                          <a:solidFill>
                            <a:srgbClr val="EAF3F4"/>
                          </a:solidFill>
                          <a:latin typeface="Segoe UI"/>
                          <a:ea typeface="Segoe UI"/>
                          <a:cs typeface="Segoe UI"/>
                        </a:rPr>
                        <a:t>No es un alias de CONTIN ni selecciona sus pesos automáticamente.</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Positive maximum entropy</a:t>
                      </a:r>
                    </a:p>
                  </a:txBody>
                  <a:tcPr>
                    <a:solidFill>
                      <a:srgbClr val="081522"/>
                    </a:solidFill>
                  </a:tcPr>
                </a:tc>
                <a:tc>
                  <a:txBody>
                    <a:bodyPr/>
                    <a:lstStyle/>
                    <a:p>
                      <a:r>
                        <a:rPr sz="1575" b="0">
                          <a:solidFill>
                            <a:srgbClr val="EAF3F4"/>
                          </a:solidFill>
                          <a:latin typeface="Segoe UI"/>
                          <a:ea typeface="Segoe UI"/>
                          <a:cs typeface="Segoe UI"/>
                        </a:rPr>
                        <a:t>Distribuciones positivas regularizadas por entropía respecto a una referencia.</a:t>
                      </a:r>
                    </a:p>
                  </a:txBody>
                  <a:tcPr>
                    <a:solidFill>
                      <a:srgbClr val="081522"/>
                    </a:solidFill>
                  </a:tcPr>
                </a:tc>
                <a:tc>
                  <a:txBody>
                    <a:bodyPr/>
                    <a:lstStyle/>
                    <a:p>
                      <a:r>
                        <a:rPr sz="1575" b="0">
                          <a:solidFill>
                            <a:srgbClr val="EAF3F4"/>
                          </a:solidFill>
                          <a:latin typeface="Segoe UI"/>
                          <a:ea typeface="Segoe UI"/>
                          <a:cs typeface="Segoe UI"/>
                        </a:rPr>
                        <a:t>La referencia depende de los datos; revisar convergencia y motor.</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PALMA entropy/L1 PPXA+</a:t>
                      </a:r>
                    </a:p>
                  </a:txBody>
                  <a:tcPr>
                    <a:solidFill>
                      <a:srgbClr val="081522"/>
                    </a:solidFill>
                  </a:tcPr>
                </a:tc>
                <a:tc>
                  <a:txBody>
                    <a:bodyPr/>
                    <a:lstStyle/>
                    <a:p>
                      <a:r>
                        <a:rPr sz="1575" b="0">
                          <a:solidFill>
                            <a:srgbClr val="EAF3F4"/>
                          </a:solidFill>
                          <a:latin typeface="Segoe UI"/>
                          <a:ea typeface="Segoe UI"/>
                          <a:cs typeface="Segoe UI"/>
                        </a:rPr>
                        <a:t>Combinar picos y distribuciones anchas con entropía/L1 y radio de ruido.</a:t>
                      </a:r>
                    </a:p>
                  </a:txBody>
                  <a:tcPr>
                    <a:solidFill>
                      <a:srgbClr val="081522"/>
                    </a:solidFill>
                  </a:tcPr>
                </a:tc>
                <a:tc>
                  <a:txBody>
                    <a:bodyPr/>
                    <a:lstStyle/>
                    <a:p>
                      <a:r>
                        <a:rPr sz="1575" b="0">
                          <a:solidFill>
                            <a:srgbClr val="EAF3F4"/>
                          </a:solidFill>
                          <a:latin typeface="Segoe UI"/>
                          <a:ea typeface="Segoe UI"/>
                          <a:cs typeface="Segoe UI"/>
                        </a:rPr>
                        <a:t>Primera observación positiva; comprobar factibilidad al terminar.</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Local curvature reweighted Tikhonov</a:t>
                      </a:r>
                    </a:p>
                  </a:txBody>
                  <a:tcPr>
                    <a:solidFill>
                      <a:srgbClr val="081522"/>
                    </a:solidFill>
                  </a:tcPr>
                </a:tc>
                <a:tc>
                  <a:txBody>
                    <a:bodyPr/>
                    <a:lstStyle/>
                    <a:p>
                      <a:r>
                        <a:rPr sz="1575" b="0">
                          <a:solidFill>
                            <a:srgbClr val="EAF3F4"/>
                          </a:solidFill>
                          <a:latin typeface="Segoe UI"/>
                          <a:ea typeface="Segoe UI"/>
                          <a:cs typeface="Segoe UI"/>
                        </a:rPr>
                        <a:t>Ajustar suavizado local según curvatura; comparar sensibilidad.</a:t>
                      </a:r>
                    </a:p>
                  </a:txBody>
                  <a:tcPr>
                    <a:solidFill>
                      <a:srgbClr val="081522"/>
                    </a:solidFill>
                  </a:tcPr>
                </a:tc>
                <a:tc>
                  <a:txBody>
                    <a:bodyPr/>
                    <a:lstStyle/>
                    <a:p>
                      <a:r>
                        <a:rPr sz="1575" b="0">
                          <a:solidFill>
                            <a:srgbClr val="EAF3F4"/>
                          </a:solidFill>
                          <a:latin typeface="Segoe UI"/>
                          <a:ea typeface="Segoe UI"/>
                          <a:cs typeface="Segoe UI"/>
                        </a:rPr>
                        <a:t>Cambia pesos y objetivo. No es UPEN2D/MUPEN2D auténtico ni aporta certificado convexo fijo.</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86">
            <a:extLst>
              <a:ext uri="{FF2B5EF4-FFF2-40B4-BE49-F238E27FC236}">
                <a16:creationId xmlns:a16="http://schemas.microsoft.com/office/drawing/2014/main" id="{19809973-5578-4A4C-BD36-BB493CFB8A72}"/>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45734913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A3A9D93F-9C7E-4C71-8437-DB437E8FA909}"/>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28</a:t>
            </a:r>
          </a:p>
        </p:txBody>
      </p:sp>
      <p:sp>
        <p:nvSpPr>
          <p:cNvPr id="2" name="slide_title">
            <a:extLst>
              <a:ext uri="{FF2B5EF4-FFF2-40B4-BE49-F238E27FC236}">
                <a16:creationId xmlns:a16="http://schemas.microsoft.com/office/drawing/2014/main" id="{FA021B60-0939-4D96-9DA8-97679D409DDB}"/>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ILT local 3/4</a:t>
            </a:r>
          </a:p>
        </p:txBody>
      </p:sp>
      <p:graphicFrame>
        <p:nvGraphicFramePr>
          <p:cNvPr id="3" name="Tabla 2">
            <a:extLst>
              <a:ext uri="{FF2B5EF4-FFF2-40B4-BE49-F238E27FC236}">
                <a16:creationId xmlns:a16="http://schemas.microsoft.com/office/drawing/2014/main" id="{DCD70811-6EDC-4269-B3F3-B6CF87B8D424}"/>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BRD dual positive L2</a:t>
                      </a:r>
                    </a:p>
                  </a:txBody>
                  <a:tcPr>
                    <a:solidFill>
                      <a:srgbClr val="081522"/>
                    </a:solidFill>
                  </a:tcPr>
                </a:tc>
                <a:tc>
                  <a:txBody>
                    <a:bodyPr/>
                    <a:lstStyle/>
                    <a:p>
                      <a:r>
                        <a:rPr sz="1575" b="0">
                          <a:solidFill>
                            <a:srgbClr val="EAF3F4"/>
                          </a:solidFill>
                          <a:latin typeface="Segoe UI"/>
                          <a:ea typeface="Segoe UI"/>
                          <a:cs typeface="Segoe UI"/>
                        </a:rPr>
                        <a:t>Resolver L2 positivo mediante formulación dual; λ explícito.</a:t>
                      </a:r>
                    </a:p>
                  </a:txBody>
                  <a:tcPr>
                    <a:solidFill>
                      <a:srgbClr val="081522"/>
                    </a:solidFill>
                  </a:tcPr>
                </a:tc>
                <a:tc>
                  <a:txBody>
                    <a:bodyPr/>
                    <a:lstStyle/>
                    <a:p>
                      <a:r>
                        <a:rPr sz="1575" b="0">
                          <a:solidFill>
                            <a:srgbClr val="EAF3F4"/>
                          </a:solidFill>
                          <a:latin typeface="Segoe UI"/>
                          <a:ea typeface="Segoe UI"/>
                          <a:cs typeface="Segoe UI"/>
                        </a:rPr>
                        <a:t>Alpha fijo; no incluye selección automática ni compresión OSILAP.</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Chambolle-Pock positive L1</a:t>
                      </a:r>
                    </a:p>
                  </a:txBody>
                  <a:tcPr>
                    <a:solidFill>
                      <a:srgbClr val="081522"/>
                    </a:solidFill>
                  </a:tcPr>
                </a:tc>
                <a:tc>
                  <a:txBody>
                    <a:bodyPr/>
                    <a:lstStyle/>
                    <a:p>
                      <a:r>
                        <a:rPr sz="1575" b="0">
                          <a:solidFill>
                            <a:srgbClr val="EAF3F4"/>
                          </a:solidFill>
                          <a:latin typeface="Segoe UI"/>
                          <a:ea typeface="Segoe UI"/>
                          <a:cs typeface="Segoe UI"/>
                        </a:rPr>
                        <a:t>Resolver inversión escasa L1 mediante división primal-dual.</a:t>
                      </a:r>
                    </a:p>
                  </a:txBody>
                  <a:tcPr>
                    <a:solidFill>
                      <a:srgbClr val="081522"/>
                    </a:solidFill>
                  </a:tcPr>
                </a:tc>
                <a:tc>
                  <a:txBody>
                    <a:bodyPr/>
                    <a:lstStyle/>
                    <a:p>
                      <a:r>
                        <a:rPr sz="1575" b="0">
                          <a:solidFill>
                            <a:srgbClr val="EAF3F4"/>
                          </a:solidFill>
                          <a:latin typeface="Segoe UI"/>
                          <a:ea typeface="Segoe UI"/>
                          <a:cs typeface="Segoe UI"/>
                        </a:rPr>
                        <a:t>No es PDHGM2; comprobar el residuo de gradiente proyectado.</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Regularized block Kaczmarz</a:t>
                      </a:r>
                    </a:p>
                  </a:txBody>
                  <a:tcPr>
                    <a:solidFill>
                      <a:srgbClr val="081522"/>
                    </a:solidFill>
                  </a:tcPr>
                </a:tc>
                <a:tc>
                  <a:txBody>
                    <a:bodyPr/>
                    <a:lstStyle/>
                    <a:p>
                      <a:r>
                        <a:rPr sz="1575" b="0">
                          <a:solidFill>
                            <a:srgbClr val="EAF3F4"/>
                          </a:solidFill>
                          <a:latin typeface="Segoe UI"/>
                          <a:ea typeface="Segoe UI"/>
                          <a:cs typeface="Segoe UI"/>
                        </a:rPr>
                        <a:t>Resolver inversión regularizada mediante actualizaciones por filas/bloques.</a:t>
                      </a:r>
                    </a:p>
                  </a:txBody>
                  <a:tcPr>
                    <a:solidFill>
                      <a:srgbClr val="081522"/>
                    </a:solidFill>
                  </a:tcPr>
                </a:tc>
                <a:tc>
                  <a:txBody>
                    <a:bodyPr/>
                    <a:lstStyle/>
                    <a:p>
                      <a:r>
                        <a:rPr sz="1575" b="0">
                          <a:solidFill>
                            <a:srgbClr val="EAF3F4"/>
                          </a:solidFill>
                          <a:latin typeface="Segoe UI"/>
                          <a:ea typeface="Segoe UI"/>
                          <a:cs typeface="Segoe UI"/>
                        </a:rPr>
                        <a:t>El orden de filas importa; el adaptador usa opciones internas.</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L1-LS positivo</a:t>
                      </a:r>
                    </a:p>
                  </a:txBody>
                  <a:tcPr>
                    <a:solidFill>
                      <a:srgbClr val="081522"/>
                    </a:solidFill>
                  </a:tcPr>
                </a:tc>
                <a:tc>
                  <a:txBody>
                    <a:bodyPr/>
                    <a:lstStyle/>
                    <a:p>
                      <a:r>
                        <a:rPr sz="1575" b="0">
                          <a:solidFill>
                            <a:srgbClr val="EAF3F4"/>
                          </a:solidFill>
                          <a:latin typeface="Segoe UI"/>
                          <a:ea typeface="Segoe UI"/>
                          <a:cs typeface="Segoe UI"/>
                        </a:rPr>
                        <a:t>Solución positiva L1 por punto interior; referencia de optimización.</a:t>
                      </a:r>
                    </a:p>
                  </a:txBody>
                  <a:tcPr>
                    <a:solidFill>
                      <a:srgbClr val="081522"/>
                    </a:solidFill>
                  </a:tcPr>
                </a:tc>
                <a:tc>
                  <a:txBody>
                    <a:bodyPr/>
                    <a:lstStyle/>
                    <a:p>
                      <a:r>
                        <a:rPr sz="1575" b="0">
                          <a:solidFill>
                            <a:srgbClr val="EAF3F4"/>
                          </a:solidFill>
                          <a:latin typeface="Segoe UI"/>
                          <a:ea typeface="Segoe UI"/>
                          <a:cs typeface="Segoe UI"/>
                        </a:rPr>
                        <a:t>λ fijo y Newton denso; no es el PCG original de gran escala.</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FLINT-FISTA</a:t>
                      </a:r>
                    </a:p>
                  </a:txBody>
                  <a:tcPr>
                    <a:solidFill>
                      <a:srgbClr val="081522"/>
                    </a:solidFill>
                  </a:tcPr>
                </a:tc>
                <a:tc>
                  <a:txBody>
                    <a:bodyPr/>
                    <a:lstStyle/>
                    <a:p>
                      <a:r>
                        <a:rPr sz="1575" b="0">
                          <a:solidFill>
                            <a:srgbClr val="EAF3F4"/>
                          </a:solidFill>
                          <a:latin typeface="Segoe UI"/>
                          <a:ea typeface="Segoe UI"/>
                          <a:cs typeface="Segoe UI"/>
                        </a:rPr>
                        <a:t>Resolver iterativamente el objetivo cuadrático positivo FLINT.</a:t>
                      </a:r>
                    </a:p>
                  </a:txBody>
                  <a:tcPr>
                    <a:solidFill>
                      <a:srgbClr val="081522"/>
                    </a:solidFill>
                  </a:tcPr>
                </a:tc>
                <a:tc>
                  <a:txBody>
                    <a:bodyPr/>
                    <a:lstStyle/>
                    <a:p>
                      <a:r>
                        <a:rPr sz="1575" b="0">
                          <a:solidFill>
                            <a:srgbClr val="EAF3F4"/>
                          </a:solidFill>
                          <a:latin typeface="Segoe UI"/>
                          <a:ea typeface="Segoe UI"/>
                          <a:cs typeface="Segoe UI"/>
                        </a:rPr>
                        <a:t>Paso y parada modificados respecto al original; revisar convergencia.</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87">
            <a:extLst>
              <a:ext uri="{FF2B5EF4-FFF2-40B4-BE49-F238E27FC236}">
                <a16:creationId xmlns:a16="http://schemas.microsoft.com/office/drawing/2014/main" id="{280B5244-3A9B-46CB-A63F-0A0724AD7F6C}"/>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82755544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789D9487-9542-4993-A569-B65A588D71C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29</a:t>
            </a:r>
          </a:p>
        </p:txBody>
      </p:sp>
      <p:sp>
        <p:nvSpPr>
          <p:cNvPr id="2" name="slide_title">
            <a:extLst>
              <a:ext uri="{FF2B5EF4-FFF2-40B4-BE49-F238E27FC236}">
                <a16:creationId xmlns:a16="http://schemas.microsoft.com/office/drawing/2014/main" id="{534673D3-20A2-4EA6-9151-845571CFEDC6}"/>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estructura compartida</a:t>
            </a:r>
          </a:p>
        </p:txBody>
      </p:sp>
      <p:graphicFrame>
        <p:nvGraphicFramePr>
          <p:cNvPr id="3" name="Tabla 2">
            <a:extLst>
              <a:ext uri="{FF2B5EF4-FFF2-40B4-BE49-F238E27FC236}">
                <a16:creationId xmlns:a16="http://schemas.microsoft.com/office/drawing/2014/main" id="{98B2EB0F-6E8E-497B-8FF2-BAC424474732}"/>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Positive row-group sparse inversion</a:t>
                      </a:r>
                    </a:p>
                  </a:txBody>
                  <a:tcPr>
                    <a:solidFill>
                      <a:srgbClr val="081522"/>
                    </a:solidFill>
                  </a:tcPr>
                </a:tc>
                <a:tc>
                  <a:txBody>
                    <a:bodyPr/>
                    <a:lstStyle/>
                    <a:p>
                      <a:r>
                        <a:rPr sz="1575" b="0">
                          <a:solidFill>
                            <a:srgbClr val="EAF3F4"/>
                          </a:solidFill>
                          <a:latin typeface="Segoe UI"/>
                          <a:ea typeface="Segoe UI"/>
                          <a:cs typeface="Segoe UI"/>
                        </a:rPr>
                        <a:t>Soporte D compartido entre varias frecuencias.</a:t>
                      </a:r>
                    </a:p>
                  </a:txBody>
                  <a:tcPr>
                    <a:solidFill>
                      <a:srgbClr val="081522"/>
                    </a:solidFill>
                  </a:tcPr>
                </a:tc>
                <a:tc>
                  <a:txBody>
                    <a:bodyPr/>
                    <a:lstStyle/>
                    <a:p>
                      <a:r>
                        <a:rPr sz="1575" b="0">
                          <a:solidFill>
                            <a:srgbClr val="EAF3F4"/>
                          </a:solidFill>
                          <a:latin typeface="Segoe UI"/>
                          <a:ea typeface="Segoe UI"/>
                          <a:cs typeface="Segoe UI"/>
                        </a:rPr>
                        <a:t>El soporte compartido no identifica moléculas; una columna equivale a L1.</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Nonnegative sparse nuclear regularization</a:t>
                      </a:r>
                    </a:p>
                  </a:txBody>
                  <a:tcPr>
                    <a:solidFill>
                      <a:srgbClr val="081522"/>
                    </a:solidFill>
                  </a:tcPr>
                </a:tc>
                <a:tc>
                  <a:txBody>
                    <a:bodyPr/>
                    <a:lstStyle/>
                    <a:p>
                      <a:r>
                        <a:rPr sz="1575" b="0">
                          <a:solidFill>
                            <a:srgbClr val="EAF3F4"/>
                          </a:solidFill>
                          <a:latin typeface="Segoe UI"/>
                          <a:ea typeface="Segoe UI"/>
                          <a:cs typeface="Segoe UI"/>
                        </a:rPr>
                        <a:t>Mapa conjunto con pocos perfiles y pocos coeficientes significativos.</a:t>
                      </a:r>
                    </a:p>
                  </a:txBody>
                  <a:tcPr>
                    <a:solidFill>
                      <a:srgbClr val="081522"/>
                    </a:solidFill>
                  </a:tcPr>
                </a:tc>
                <a:tc>
                  <a:txBody>
                    <a:bodyPr/>
                    <a:lstStyle/>
                    <a:p>
                      <a:r>
                        <a:rPr sz="1575" b="0">
                          <a:solidFill>
                            <a:srgbClr val="EAF3F4"/>
                          </a:solidFill>
                          <a:latin typeface="Segoe UI"/>
                          <a:ea typeface="Segoe UI"/>
                          <a:cs typeface="Segoe UI"/>
                        </a:rPr>
                        <a:t>Comprobar residuo primal y dual. No sustituye la recurrencia ADSpLRU por llevar norma nuclear.</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Reweighted nuclear heuristic</a:t>
                      </a:r>
                    </a:p>
                  </a:txBody>
                  <a:tcPr>
                    <a:solidFill>
                      <a:srgbClr val="081522"/>
                    </a:solidFill>
                  </a:tcPr>
                </a:tc>
                <a:tc>
                  <a:txBody>
                    <a:bodyPr/>
                    <a:lstStyle/>
                    <a:p>
                      <a:r>
                        <a:rPr sz="1575" b="0">
                          <a:solidFill>
                            <a:srgbClr val="EAF3F4"/>
                          </a:solidFill>
                          <a:latin typeface="Segoe UI"/>
                          <a:ea typeface="Segoe UI"/>
                          <a:cs typeface="Segoe UI"/>
                        </a:rPr>
                        <a:t>Reforzar selección de rango/soporte mediante pesos adaptativos.</a:t>
                      </a:r>
                    </a:p>
                  </a:txBody>
                  <a:tcPr>
                    <a:solidFill>
                      <a:srgbClr val="081522"/>
                    </a:solidFill>
                  </a:tcPr>
                </a:tc>
                <a:tc>
                  <a:txBody>
                    <a:bodyPr/>
                    <a:lstStyle/>
                    <a:p>
                      <a:r>
                        <a:rPr sz="1575" b="0">
                          <a:solidFill>
                            <a:srgbClr val="EAF3F4"/>
                          </a:solidFill>
                          <a:latin typeface="Segoe UI"/>
                          <a:ea typeface="Segoe UI"/>
                          <a:cs typeface="Segoe UI"/>
                        </a:rPr>
                        <a:t>El coste nuclear reportado es diagnóstico; no es un certificado del objetivo variable.</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Orthogonal matching pursuit dictionary adapter</a:t>
                      </a:r>
                    </a:p>
                  </a:txBody>
                  <a:tcPr>
                    <a:solidFill>
                      <a:srgbClr val="081522"/>
                    </a:solidFill>
                  </a:tcPr>
                </a:tc>
                <a:tc>
                  <a:txBody>
                    <a:bodyPr/>
                    <a:lstStyle/>
                    <a:p>
                      <a:r>
                        <a:rPr sz="1575" b="0">
                          <a:solidFill>
                            <a:srgbClr val="EAF3F4"/>
                          </a:solidFill>
                          <a:latin typeface="Segoe UI"/>
                          <a:ea typeface="Segoe UI"/>
                          <a:cs typeface="Segoe UI"/>
                        </a:rPr>
                        <a:t>Seleccionar pocos átomos D de un diccionario; límite de soporte explícito.</a:t>
                      </a:r>
                    </a:p>
                  </a:txBody>
                  <a:tcPr>
                    <a:solidFill>
                      <a:srgbClr val="081522"/>
                    </a:solidFill>
                  </a:tcPr>
                </a:tc>
                <a:tc>
                  <a:txBody>
                    <a:bodyPr/>
                    <a:lstStyle/>
                    <a:p>
                      <a:r>
                        <a:rPr sz="1575" b="0">
                          <a:solidFill>
                            <a:srgbClr val="EAF3F4"/>
                          </a:solidFill>
                          <a:latin typeface="Segoe UI"/>
                          <a:ea typeface="Segoe UI"/>
                          <a:cs typeface="Segoe UI"/>
                        </a:rPr>
                        <a:t>La escala de las columnas afecta la selección; no estima el ruido.</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88">
            <a:extLst>
              <a:ext uri="{FF2B5EF4-FFF2-40B4-BE49-F238E27FC236}">
                <a16:creationId xmlns:a16="http://schemas.microsoft.com/office/drawing/2014/main" id="{3F936B51-D1F8-4F16-8607-19892710D745}"/>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57181844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67E68D6F-FE62-4BB5-A94B-9F69483510CD}"/>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30</a:t>
            </a:r>
          </a:p>
        </p:txBody>
      </p:sp>
      <p:sp>
        <p:nvSpPr>
          <p:cNvPr id="2" name="slide_title">
            <a:extLst>
              <a:ext uri="{FF2B5EF4-FFF2-40B4-BE49-F238E27FC236}">
                <a16:creationId xmlns:a16="http://schemas.microsoft.com/office/drawing/2014/main" id="{BA94A9D0-345F-4FEC-ACD2-B2EB0DB30F5F}"/>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mapas conjuntos 1/2</a:t>
            </a:r>
          </a:p>
        </p:txBody>
      </p:sp>
      <p:graphicFrame>
        <p:nvGraphicFramePr>
          <p:cNvPr id="3" name="Tabla 2">
            <a:extLst>
              <a:ext uri="{FF2B5EF4-FFF2-40B4-BE49-F238E27FC236}">
                <a16:creationId xmlns:a16="http://schemas.microsoft.com/office/drawing/2014/main" id="{F12BD478-AC9B-4438-9C4F-B4BCD0FCE938}"/>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MF-NNLS</a:t>
                      </a:r>
                    </a:p>
                  </a:txBody>
                  <a:tcPr>
                    <a:solidFill>
                      <a:srgbClr val="081522"/>
                    </a:solidFill>
                  </a:tcPr>
                </a:tc>
                <a:tc>
                  <a:txBody>
                    <a:bodyPr/>
                    <a:lstStyle/>
                    <a:p>
                      <a:r>
                        <a:rPr sz="1575" b="0">
                          <a:solidFill>
                            <a:srgbClr val="EAF3F4"/>
                          </a:solidFill>
                          <a:latin typeface="Segoe UI"/>
                          <a:ea typeface="Segoe UI"/>
                          <a:cs typeface="Segoe UI"/>
                        </a:rPr>
                        <a:t>Mapa conjunto de distribuciones con factores compartidos.</a:t>
                      </a:r>
                    </a:p>
                  </a:txBody>
                  <a:tcPr>
                    <a:solidFill>
                      <a:srgbClr val="081522"/>
                    </a:solidFill>
                  </a:tcPr>
                </a:tc>
                <a:tc>
                  <a:txBody>
                    <a:bodyPr/>
                    <a:lstStyle/>
                    <a:p>
                      <a:r>
                        <a:rPr sz="1575" b="0">
                          <a:solidFill>
                            <a:srgbClr val="EAF3F4"/>
                          </a:solidFill>
                          <a:latin typeface="Segoe UI"/>
                          <a:ea typeface="Segoe UI"/>
                          <a:cs typeface="Segoe UI"/>
                        </a:rPr>
                        <a:t>Rango predictivo ≠ moléculas; revisar λS, λA, límites y residuos.</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TRAIn-MF</a:t>
                      </a:r>
                    </a:p>
                  </a:txBody>
                  <a:tcPr>
                    <a:solidFill>
                      <a:srgbClr val="081522"/>
                    </a:solidFill>
                  </a:tcPr>
                </a:tc>
                <a:tc>
                  <a:txBody>
                    <a:bodyPr/>
                    <a:lstStyle/>
                    <a:p>
                      <a:r>
                        <a:rPr sz="1575" b="0">
                          <a:solidFill>
                            <a:srgbClr val="EAF3F4"/>
                          </a:solidFill>
                          <a:latin typeface="Segoe UI"/>
                          <a:ea typeface="Segoe UI"/>
                          <a:cs typeface="Segoe UI"/>
                        </a:rPr>
                        <a:t>Modelo conjunto con atenuaciones con signo; reproducción legacy explícita.</a:t>
                      </a:r>
                    </a:p>
                  </a:txBody>
                  <a:tcPr>
                    <a:solidFill>
                      <a:srgbClr val="081522"/>
                    </a:solidFill>
                  </a:tcPr>
                </a:tc>
                <a:tc>
                  <a:txBody>
                    <a:bodyPr/>
                    <a:lstStyle/>
                    <a:p>
                      <a:r>
                        <a:rPr sz="1575" b="0">
                          <a:solidFill>
                            <a:srgbClr val="EAF3F4"/>
                          </a:solidFill>
                          <a:latin typeface="Segoe UI"/>
                          <a:ea typeface="Segoe UI"/>
                          <a:cs typeface="Segoe UI"/>
                        </a:rPr>
                        <a:t>La etiqueta del identificador histórico no describe la ruta revisada. No equivaler a TRAIn por bin.</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TRAIn por bin</a:t>
                      </a:r>
                    </a:p>
                  </a:txBody>
                  <a:tcPr>
                    <a:solidFill>
                      <a:srgbClr val="081522"/>
                    </a:solidFill>
                  </a:tcPr>
                </a:tc>
                <a:tc>
                  <a:txBody>
                    <a:bodyPr/>
                    <a:lstStyle/>
                    <a:p>
                      <a:r>
                        <a:rPr sz="1575" b="0">
                          <a:solidFill>
                            <a:srgbClr val="EAF3F4"/>
                          </a:solidFill>
                          <a:latin typeface="Segoe UI"/>
                          <a:ea typeface="Segoe UI"/>
                          <a:cs typeface="Segoe UI"/>
                        </a:rPr>
                        <a:t>Mismo ajuste local en todas las frecuencias de una región.</a:t>
                      </a:r>
                    </a:p>
                  </a:txBody>
                  <a:tcPr>
                    <a:solidFill>
                      <a:srgbClr val="081522"/>
                    </a:solidFill>
                  </a:tcPr>
                </a:tc>
                <a:tc>
                  <a:txBody>
                    <a:bodyPr/>
                    <a:lstStyle/>
                    <a:p>
                      <a:r>
                        <a:rPr sz="1575" b="0">
                          <a:solidFill>
                            <a:srgbClr val="EAF3F4"/>
                          </a:solidFill>
                          <a:latin typeface="Segoe UI"/>
                          <a:ea typeface="Segoe UI"/>
                          <a:cs typeface="Segoe UI"/>
                        </a:rPr>
                        <a:t>No impone correlaciones ni factores compartidos entre frecuencias.</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RAI-S</a:t>
                      </a:r>
                    </a:p>
                  </a:txBody>
                  <a:tcPr>
                    <a:solidFill>
                      <a:srgbClr val="081522"/>
                    </a:solidFill>
                  </a:tcPr>
                </a:tc>
                <a:tc>
                  <a:txBody>
                    <a:bodyPr/>
                    <a:lstStyle/>
                    <a:p>
                      <a:r>
                        <a:rPr sz="1575" b="0">
                          <a:solidFill>
                            <a:srgbClr val="EAF3F4"/>
                          </a:solidFill>
                          <a:latin typeface="Segoe UI"/>
                          <a:ea typeface="Segoe UI"/>
                          <a:cs typeface="Segoe UI"/>
                        </a:rPr>
                        <a:t>Pocos D discretos con selección de soporte en el espectro.</a:t>
                      </a:r>
                    </a:p>
                  </a:txBody>
                  <a:tcPr>
                    <a:solidFill>
                      <a:srgbClr val="081522"/>
                    </a:solidFill>
                  </a:tcPr>
                </a:tc>
                <a:tc>
                  <a:txBody>
                    <a:bodyPr/>
                    <a:lstStyle/>
                    <a:p>
                      <a:r>
                        <a:rPr sz="1575" b="0">
                          <a:solidFill>
                            <a:srgbClr val="EAF3F4"/>
                          </a:solidFill>
                          <a:latin typeface="Segoe UI"/>
                          <a:ea typeface="Segoe UI"/>
                          <a:cs typeface="Segoe UI"/>
                        </a:rPr>
                        <a:t>No es RAI-Net ni una red entrenada; distribución ancha puede violar el modelo discreto.</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DOME-S</a:t>
                      </a:r>
                    </a:p>
                  </a:txBody>
                  <a:tcPr>
                    <a:solidFill>
                      <a:srgbClr val="081522"/>
                    </a:solidFill>
                  </a:tcPr>
                </a:tc>
                <a:tc>
                  <a:txBody>
                    <a:bodyPr/>
                    <a:lstStyle/>
                    <a:p>
                      <a:r>
                        <a:rPr sz="1575" b="0">
                          <a:solidFill>
                            <a:srgbClr val="EAF3F4"/>
                          </a:solidFill>
                          <a:latin typeface="Segoe UI"/>
                          <a:ea typeface="Segoe UI"/>
                          <a:cs typeface="Segoe UI"/>
                        </a:rPr>
                        <a:t>Tasas discretas compartidas con revisión de cobertura y soporte.</a:t>
                      </a:r>
                    </a:p>
                  </a:txBody>
                  <a:tcPr>
                    <a:solidFill>
                      <a:srgbClr val="081522"/>
                    </a:solidFill>
                  </a:tcPr>
                </a:tc>
                <a:tc>
                  <a:txBody>
                    <a:bodyPr/>
                    <a:lstStyle/>
                    <a:p>
                      <a:r>
                        <a:rPr sz="1575" b="0">
                          <a:solidFill>
                            <a:srgbClr val="EAF3F4"/>
                          </a:solidFill>
                          <a:latin typeface="Segoe UI"/>
                          <a:ea typeface="Segoe UI"/>
                          <a:cs typeface="Segoe UI"/>
                        </a:rPr>
                        <a:t>Comprobar límites, predicción reservada y número de componentes.</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89">
            <a:extLst>
              <a:ext uri="{FF2B5EF4-FFF2-40B4-BE49-F238E27FC236}">
                <a16:creationId xmlns:a16="http://schemas.microsoft.com/office/drawing/2014/main" id="{9E5DF7DE-3AF6-4253-8A22-64315D9D9D98}"/>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92119988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430502BE-AFDA-4AF3-A1D9-E5D31DA8A5A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31</a:t>
            </a:r>
          </a:p>
        </p:txBody>
      </p:sp>
      <p:sp>
        <p:nvSpPr>
          <p:cNvPr id="2" name="slide_title">
            <a:extLst>
              <a:ext uri="{FF2B5EF4-FFF2-40B4-BE49-F238E27FC236}">
                <a16:creationId xmlns:a16="http://schemas.microsoft.com/office/drawing/2014/main" id="{CFDE6AF0-0ADF-4338-AF21-1181CF0F79D5}"/>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Prime · mapas conjuntos y 2D</a:t>
            </a:r>
          </a:p>
        </p:txBody>
      </p:sp>
      <p:graphicFrame>
        <p:nvGraphicFramePr>
          <p:cNvPr id="3" name="Tabla 2">
            <a:extLst>
              <a:ext uri="{FF2B5EF4-FFF2-40B4-BE49-F238E27FC236}">
                <a16:creationId xmlns:a16="http://schemas.microsoft.com/office/drawing/2014/main" id="{A84A2D4A-5A9B-4B80-B4F1-A5F168F68DEE}"/>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SILT-DOSY</a:t>
                      </a:r>
                    </a:p>
                  </a:txBody>
                  <a:tcPr>
                    <a:solidFill>
                      <a:srgbClr val="081522"/>
                    </a:solidFill>
                  </a:tcPr>
                </a:tc>
                <a:tc>
                  <a:txBody>
                    <a:bodyPr/>
                    <a:lstStyle/>
                    <a:p>
                      <a:r>
                        <a:rPr sz="1575" b="0">
                          <a:solidFill>
                            <a:srgbClr val="EAF3F4"/>
                          </a:solidFill>
                          <a:latin typeface="Segoe UI"/>
                          <a:ea typeface="Segoe UI"/>
                          <a:cs typeface="Segoe UI"/>
                        </a:rPr>
                        <a:t>Mapa conjunto con penalizaciones escasas y de bajo rango.</a:t>
                      </a:r>
                    </a:p>
                  </a:txBody>
                  <a:tcPr>
                    <a:solidFill>
                      <a:srgbClr val="081522"/>
                    </a:solidFill>
                  </a:tcPr>
                </a:tc>
                <a:tc>
                  <a:txBody>
                    <a:bodyPr/>
                    <a:lstStyle/>
                    <a:p>
                      <a:r>
                        <a:rPr sz="1575" b="0">
                          <a:solidFill>
                            <a:srgbClr val="EAF3F4"/>
                          </a:solidFill>
                          <a:latin typeface="Segoe UI"/>
                          <a:ea typeface="Segoe UI"/>
                          <a:cs typeface="Segoe UI"/>
                        </a:rPr>
                        <a:t>Reponderado no convexo; parada operacional ≠ óptimo global.</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SILT original</a:t>
                      </a:r>
                    </a:p>
                    <a:p>
                      <a:r>
                        <a:rPr sz="1575" b="0">
                          <a:solidFill>
                            <a:srgbClr val="EAF3F4"/>
                          </a:solidFill>
                          <a:latin typeface="Segoe UI"/>
                          <a:ea typeface="Segoe UI"/>
                          <a:cs typeface="Segoe UI"/>
                        </a:rPr>
                        <a:t>ADSpLRU</a:t>
                      </a:r>
                    </a:p>
                  </a:txBody>
                  <a:tcPr>
                    <a:solidFill>
                      <a:srgbClr val="081522"/>
                    </a:solidFill>
                  </a:tcPr>
                </a:tc>
                <a:tc>
                  <a:txBody>
                    <a:bodyPr/>
                    <a:lstStyle/>
                    <a:p>
                      <a:r>
                        <a:rPr sz="1575" b="0">
                          <a:solidFill>
                            <a:srgbClr val="EAF3F4"/>
                          </a:solidFill>
                          <a:latin typeface="Segoe UI"/>
                          <a:ea typeface="Segoe UI"/>
                          <a:cs typeface="Segoe UI"/>
                        </a:rPr>
                        <a:t>Reproducir el núcleo original aportado con diagnósticos.</a:t>
                      </a:r>
                    </a:p>
                  </a:txBody>
                  <a:tcPr>
                    <a:solidFill>
                      <a:srgbClr val="081522"/>
                    </a:solidFill>
                  </a:tcPr>
                </a:tc>
                <a:tc>
                  <a:txBody>
                    <a:bodyPr/>
                    <a:lstStyle/>
                    <a:p>
                      <a:r>
                        <a:rPr sz="1575" b="0">
                          <a:solidFill>
                            <a:srgbClr val="EAF3F4"/>
                          </a:solidFill>
                          <a:latin typeface="Segoe UI"/>
                          <a:ea typeface="Segoe UI"/>
                          <a:cs typeface="Segoe UI"/>
                        </a:rPr>
                        <a:t>Parada histórica ≠ certificado KKT; versión separada de SILT revisado.</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TRAIn2D · C#</a:t>
                      </a:r>
                    </a:p>
                  </a:txBody>
                  <a:tcPr>
                    <a:solidFill>
                      <a:srgbClr val="081522"/>
                    </a:solidFill>
                  </a:tcPr>
                </a:tc>
                <a:tc>
                  <a:txBody>
                    <a:bodyPr/>
                    <a:lstStyle/>
                    <a:p>
                      <a:r>
                        <a:rPr sz="1575" b="0">
                          <a:solidFill>
                            <a:srgbClr val="EAF3F4"/>
                          </a:solidFill>
                          <a:latin typeface="Segoe UI"/>
                          <a:ea typeface="Segoe UI"/>
                          <a:cs typeface="Segoe UI"/>
                        </a:rPr>
                        <a:t>Inversión separable D–T₂ u otros dos operadores.</a:t>
                      </a:r>
                    </a:p>
                  </a:txBody>
                  <a:tcPr>
                    <a:solidFill>
                      <a:srgbClr val="081522"/>
                    </a:solidFill>
                  </a:tcPr>
                </a:tc>
                <a:tc>
                  <a:txBody>
                    <a:bodyPr/>
                    <a:lstStyle/>
                    <a:p>
                      <a:r>
                        <a:rPr sz="1575" b="0">
                          <a:solidFill>
                            <a:srgbClr val="EAF3F4"/>
                          </a:solidFill>
                          <a:latin typeface="Segoe UI"/>
                          <a:ea typeface="Segoe UI"/>
                          <a:cs typeface="Segoe UI"/>
                        </a:rPr>
                        <a:t>No usa λ; termFac y residuo NNLS. Kernel/perfil físico deben estar revisados.</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FISTA 2D · C#</a:t>
                      </a:r>
                    </a:p>
                  </a:txBody>
                  <a:tcPr>
                    <a:solidFill>
                      <a:srgbClr val="081522"/>
                    </a:solidFill>
                  </a:tcPr>
                </a:tc>
                <a:tc>
                  <a:txBody>
                    <a:bodyPr/>
                    <a:lstStyle/>
                    <a:p>
                      <a:r>
                        <a:rPr sz="1575" b="0">
                          <a:solidFill>
                            <a:srgbClr val="EAF3F4"/>
                          </a:solidFill>
                          <a:latin typeface="Segoe UI"/>
                          <a:ea typeface="Segoe UI"/>
                          <a:cs typeface="Segoe UI"/>
                        </a:rPr>
                        <a:t>Inversión 2D positiva L1 mediante operador separable.</a:t>
                      </a:r>
                    </a:p>
                  </a:txBody>
                  <a:tcPr>
                    <a:solidFill>
                      <a:srgbClr val="081522"/>
                    </a:solidFill>
                  </a:tcPr>
                </a:tc>
                <a:tc>
                  <a:txBody>
                    <a:bodyPr/>
                    <a:lstStyle/>
                    <a:p>
                      <a:r>
                        <a:rPr sz="1575" b="0">
                          <a:solidFill>
                            <a:srgbClr val="EAF3F4"/>
                          </a:solidFill>
                          <a:latin typeface="Segoe UI"/>
                          <a:ea typeface="Segoe UI"/>
                          <a:cs typeface="Segoe UI"/>
                        </a:rPr>
                        <a:t>No es copia literal de ITAMeD; KKT no valida el modelo físico.</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90">
            <a:extLst>
              <a:ext uri="{FF2B5EF4-FFF2-40B4-BE49-F238E27FC236}">
                <a16:creationId xmlns:a16="http://schemas.microsoft.com/office/drawing/2014/main" id="{E2DB9E0E-CDB2-4604-A4AE-E047AAD3DECD}"/>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76050509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3541982C-CFC5-4F92-8BB7-48BC59DB1EF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32</a:t>
            </a:r>
          </a:p>
        </p:txBody>
      </p:sp>
      <p:sp>
        <p:nvSpPr>
          <p:cNvPr id="2" name="slide_title">
            <a:extLst>
              <a:ext uri="{FF2B5EF4-FFF2-40B4-BE49-F238E27FC236}">
                <a16:creationId xmlns:a16="http://schemas.microsoft.com/office/drawing/2014/main" id="{D9E15D81-3273-4C8C-A6CE-5B46640A74F7}"/>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Biblioteca · componentes discretos 1/2</a:t>
            </a:r>
          </a:p>
        </p:txBody>
      </p:sp>
      <p:graphicFrame>
        <p:nvGraphicFramePr>
          <p:cNvPr id="3" name="Tabla 2">
            <a:extLst>
              <a:ext uri="{FF2B5EF4-FFF2-40B4-BE49-F238E27FC236}">
                <a16:creationId xmlns:a16="http://schemas.microsoft.com/office/drawing/2014/main" id="{23583198-1B16-4A52-B854-DE83F0AA8C64}"/>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Positive variable projection</a:t>
                      </a:r>
                    </a:p>
                  </a:txBody>
                  <a:tcPr>
                    <a:solidFill>
                      <a:srgbClr val="081522"/>
                    </a:solidFill>
                  </a:tcPr>
                </a:tc>
                <a:tc>
                  <a:txBody>
                    <a:bodyPr/>
                    <a:lstStyle/>
                    <a:p>
                      <a:r>
                        <a:rPr sz="1575" b="0">
                          <a:solidFill>
                            <a:srgbClr val="EAF3F4"/>
                          </a:solidFill>
                          <a:latin typeface="Segoe UI"/>
                          <a:ea typeface="Segoe UI"/>
                          <a:cs typeface="Segoe UI"/>
                        </a:rPr>
                        <a:t>Ajustar un número fijado de componentes exponenciales sin malla D.</a:t>
                      </a:r>
                    </a:p>
                  </a:txBody>
                  <a:tcPr>
                    <a:solidFill>
                      <a:srgbClr val="081522"/>
                    </a:solidFill>
                  </a:tcPr>
                </a:tc>
                <a:tc>
                  <a:txBody>
                    <a:bodyPr/>
                    <a:lstStyle/>
                    <a:p>
                      <a:r>
                        <a:rPr sz="1575" b="0">
                          <a:solidFill>
                            <a:srgbClr val="EAF3F4"/>
                          </a:solidFill>
                          <a:latin typeface="Segoe UI"/>
                          <a:ea typeface="Segoe UI"/>
                          <a:cs typeface="Segoe UI"/>
                        </a:rPr>
                        <a:t>Rango fijado y mínimos locales; no garantiza identificación.</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SCORE</a:t>
                      </a:r>
                    </a:p>
                  </a:txBody>
                  <a:tcPr>
                    <a:solidFill>
                      <a:srgbClr val="081522"/>
                    </a:solidFill>
                  </a:tcPr>
                </a:tc>
                <a:tc>
                  <a:txBody>
                    <a:bodyPr/>
                    <a:lstStyle/>
                    <a:p>
                      <a:r>
                        <a:rPr sz="1575" b="0">
                          <a:solidFill>
                            <a:srgbClr val="EAF3F4"/>
                          </a:solidFill>
                          <a:latin typeface="Segoe UI"/>
                          <a:ea typeface="Segoe UI"/>
                          <a:cs typeface="Segoe UI"/>
                        </a:rPr>
                        <a:t>Separar espectros de componentes compartiendo D en el conjunto de frecuencias.</a:t>
                      </a:r>
                    </a:p>
                  </a:txBody>
                  <a:tcPr>
                    <a:solidFill>
                      <a:srgbClr val="081522"/>
                    </a:solidFill>
                  </a:tcPr>
                </a:tc>
                <a:tc>
                  <a:txBody>
                    <a:bodyPr/>
                    <a:lstStyle/>
                    <a:p>
                      <a:r>
                        <a:rPr sz="1575" b="0">
                          <a:solidFill>
                            <a:srgbClr val="EAF3F4"/>
                          </a:solidFill>
                          <a:latin typeface="Segoe UI"/>
                          <a:ea typeface="Segoe UI"/>
                          <a:cs typeface="Segoe UI"/>
                        </a:rPr>
                        <a:t>Declarar amplitudes con signo; el valor genérico de VP es positivo.</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OUTSCORE</a:t>
                      </a:r>
                    </a:p>
                  </a:txBody>
                  <a:tcPr>
                    <a:solidFill>
                      <a:srgbClr val="081522"/>
                    </a:solidFill>
                  </a:tcPr>
                </a:tc>
                <a:tc>
                  <a:txBody>
                    <a:bodyPr/>
                    <a:lstStyle/>
                    <a:p>
                      <a:r>
                        <a:rPr sz="1575" b="0">
                          <a:solidFill>
                            <a:srgbClr val="EAF3F4"/>
                          </a:solidFill>
                          <a:latin typeface="Segoe UI"/>
                          <a:ea typeface="Segoe UI"/>
                          <a:cs typeface="Segoe UI"/>
                        </a:rPr>
                        <a:t>Desmezcla que penaliza solapamiento entre espectros de componentes.</a:t>
                      </a:r>
                    </a:p>
                  </a:txBody>
                  <a:tcPr>
                    <a:solidFill>
                      <a:srgbClr val="081522"/>
                    </a:solidFill>
                  </a:tcPr>
                </a:tc>
                <a:tc>
                  <a:txBody>
                    <a:bodyPr/>
                    <a:lstStyle/>
                    <a:p>
                      <a:r>
                        <a:rPr sz="1575" b="0">
                          <a:solidFill>
                            <a:srgbClr val="EAF3F4"/>
                          </a:solidFill>
                          <a:latin typeface="Segoe UI"/>
                          <a:ea typeface="Segoe UI"/>
                          <a:cs typeface="Segoe UI"/>
                        </a:rPr>
                        <a:t>Menor solapamiento algebraico no garantiza componentes físicas. No es un objetivo de mínimo residuo.</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HYSCORE</a:t>
                      </a:r>
                    </a:p>
                  </a:txBody>
                  <a:tcPr>
                    <a:solidFill>
                      <a:srgbClr val="081522"/>
                    </a:solidFill>
                  </a:tcPr>
                </a:tc>
                <a:tc>
                  <a:txBody>
                    <a:bodyPr/>
                    <a:lstStyle/>
                    <a:p>
                      <a:r>
                        <a:rPr sz="1575" b="0">
                          <a:solidFill>
                            <a:srgbClr val="EAF3F4"/>
                          </a:solidFill>
                          <a:latin typeface="Segoe UI"/>
                          <a:ea typeface="Segoe UI"/>
                          <a:cs typeface="Segoe UI"/>
                        </a:rPr>
                        <a:t>Equilibrar reconstrucción y separación espectral en un modelo discreto.</a:t>
                      </a:r>
                    </a:p>
                  </a:txBody>
                  <a:tcPr>
                    <a:solidFill>
                      <a:srgbClr val="081522"/>
                    </a:solidFill>
                  </a:tcPr>
                </a:tc>
                <a:tc>
                  <a:txBody>
                    <a:bodyPr/>
                    <a:lstStyle/>
                    <a:p>
                      <a:r>
                        <a:rPr sz="1575" b="0">
                          <a:solidFill>
                            <a:srgbClr val="EAF3F4"/>
                          </a:solidFill>
                          <a:latin typeface="Segoe UI"/>
                          <a:ea typeface="Segoe UI"/>
                          <a:cs typeface="Segoe UI"/>
                        </a:rPr>
                        <a:t>Los términos tienen escalas distintas. Mantener peso, normalización y ruido explícitos.</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AIC/BIC selection over VP</a:t>
                      </a:r>
                    </a:p>
                  </a:txBody>
                  <a:tcPr>
                    <a:solidFill>
                      <a:srgbClr val="081522"/>
                    </a:solidFill>
                  </a:tcPr>
                </a:tc>
                <a:tc>
                  <a:txBody>
                    <a:bodyPr/>
                    <a:lstStyle/>
                    <a:p>
                      <a:r>
                        <a:rPr sz="1575" b="0">
                          <a:solidFill>
                            <a:srgbClr val="EAF3F4"/>
                          </a:solidFill>
                          <a:latin typeface="Segoe UI"/>
                          <a:ea typeface="Segoe UI"/>
                          <a:cs typeface="Segoe UI"/>
                        </a:rPr>
                        <a:t>Elegir orden entre modelos de proyección variable con AIC/BIC.</a:t>
                      </a:r>
                    </a:p>
                  </a:txBody>
                  <a:tcPr>
                    <a:solidFill>
                      <a:srgbClr val="081522"/>
                    </a:solidFill>
                  </a:tcPr>
                </a:tc>
                <a:tc>
                  <a:txBody>
                    <a:bodyPr/>
                    <a:lstStyle/>
                    <a:p>
                      <a:r>
                        <a:rPr sz="1575" b="0">
                          <a:solidFill>
                            <a:srgbClr val="EAF3F4"/>
                          </a:solidFill>
                          <a:latin typeface="Segoe UI"/>
                          <a:ea typeface="Segoe UI"/>
                          <a:cs typeface="Segoe UI"/>
                        </a:rPr>
                        <a:t>No incluye K=0. No es DISCRETE ni SPLMOD original; el ruido debe estar especificado.</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91">
            <a:extLst>
              <a:ext uri="{FF2B5EF4-FFF2-40B4-BE49-F238E27FC236}">
                <a16:creationId xmlns:a16="http://schemas.microsoft.com/office/drawing/2014/main" id="{365EDF7A-91D3-402B-823D-A0111A774142}"/>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800159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86CA5D8C-9E2A-4C52-B177-99003ACBCDF5}"/>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33</a:t>
            </a:r>
          </a:p>
        </p:txBody>
      </p:sp>
      <p:sp>
        <p:nvSpPr>
          <p:cNvPr id="2" name="slide_title">
            <a:extLst>
              <a:ext uri="{FF2B5EF4-FFF2-40B4-BE49-F238E27FC236}">
                <a16:creationId xmlns:a16="http://schemas.microsoft.com/office/drawing/2014/main" id="{7FD40A43-E825-4236-8703-505CB6B5CD7E}"/>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Biblioteca · componentes discretos 2/2</a:t>
            </a:r>
          </a:p>
        </p:txBody>
      </p:sp>
      <p:graphicFrame>
        <p:nvGraphicFramePr>
          <p:cNvPr id="3" name="Tabla 2">
            <a:extLst>
              <a:ext uri="{FF2B5EF4-FFF2-40B4-BE49-F238E27FC236}">
                <a16:creationId xmlns:a16="http://schemas.microsoft.com/office/drawing/2014/main" id="{7722A2B3-FCA8-4D11-AC98-76BB1D9E6FE8}"/>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DECRA</a:t>
                      </a:r>
                    </a:p>
                  </a:txBody>
                  <a:tcPr>
                    <a:solidFill>
                      <a:srgbClr val="081522"/>
                    </a:solidFill>
                  </a:tcPr>
                </a:tc>
                <a:tc>
                  <a:txBody>
                    <a:bodyPr/>
                    <a:lstStyle/>
                    <a:p>
                      <a:r>
                        <a:rPr sz="1575" b="0">
                          <a:solidFill>
                            <a:srgbClr val="EAF3F4"/>
                          </a:solidFill>
                          <a:latin typeface="Segoe UI"/>
                          <a:ea typeface="Segoe UI"/>
                          <a:cs typeface="Segoe UI"/>
                        </a:rPr>
                        <a:t>Descomposición algebraica de componentes exponenciales con b uniforme.</a:t>
                      </a:r>
                    </a:p>
                  </a:txBody>
                  <a:tcPr>
                    <a:solidFill>
                      <a:srgbClr val="081522"/>
                    </a:solidFill>
                  </a:tcPr>
                </a:tc>
                <a:tc>
                  <a:txBody>
                    <a:bodyPr/>
                    <a:lstStyle/>
                    <a:p>
                      <a:r>
                        <a:rPr sz="1575" b="0">
                          <a:solidFill>
                            <a:srgbClr val="EAF3F4"/>
                          </a:solidFill>
                          <a:latin typeface="Segoe UI"/>
                          <a:ea typeface="Segoe UI"/>
                          <a:cs typeface="Segoe UI"/>
                        </a:rPr>
                        <a:t>Exige pasos b uniformes y rango suficiente; puede dar polos no físicos.</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Explicit-region local SCORE</a:t>
                      </a:r>
                    </a:p>
                  </a:txBody>
                  <a:tcPr>
                    <a:solidFill>
                      <a:srgbClr val="081522"/>
                    </a:solidFill>
                  </a:tcPr>
                </a:tc>
                <a:tc>
                  <a:txBody>
                    <a:bodyPr/>
                    <a:lstStyle/>
                    <a:p>
                      <a:r>
                        <a:rPr sz="1575" b="0">
                          <a:solidFill>
                            <a:srgbClr val="EAF3F4"/>
                          </a:solidFill>
                          <a:latin typeface="Segoe UI"/>
                          <a:ea typeface="Segoe UI"/>
                          <a:cs typeface="Segoe UI"/>
                        </a:rPr>
                        <a:t>Aplicar SCORE a regiones ppm elegidas explícitamente.</a:t>
                      </a:r>
                    </a:p>
                  </a:txBody>
                  <a:tcPr>
                    <a:solidFill>
                      <a:srgbClr val="081522"/>
                    </a:solidFill>
                  </a:tcPr>
                </a:tc>
                <a:tc>
                  <a:txBody>
                    <a:bodyPr/>
                    <a:lstStyle/>
                    <a:p>
                      <a:r>
                        <a:rPr sz="1575" b="0">
                          <a:solidFill>
                            <a:srgbClr val="EAF3F4"/>
                          </a:solidFill>
                          <a:latin typeface="Segoe UI"/>
                          <a:ea typeface="Segoe UI"/>
                          <a:cs typeface="Segoe UI"/>
                        </a:rPr>
                        <a:t>Usar regiones disjuntas; no segmenta automáticamente.</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Automatic LOCODOSY local inversion</a:t>
                      </a:r>
                    </a:p>
                  </a:txBody>
                  <a:tcPr>
                    <a:solidFill>
                      <a:srgbClr val="081522"/>
                    </a:solidFill>
                  </a:tcPr>
                </a:tc>
                <a:tc>
                  <a:txBody>
                    <a:bodyPr/>
                    <a:lstStyle/>
                    <a:p>
                      <a:r>
                        <a:rPr sz="1575" b="0">
                          <a:solidFill>
                            <a:srgbClr val="EAF3F4"/>
                          </a:solidFill>
                          <a:latin typeface="Segoe UI"/>
                          <a:ea typeface="Segoe UI"/>
                          <a:cs typeface="Segoe UI"/>
                        </a:rPr>
                        <a:t>Segmentar regiones, estimar orden local y reducir componentes.</a:t>
                      </a:r>
                    </a:p>
                  </a:txBody>
                  <a:tcPr>
                    <a:solidFill>
                      <a:srgbClr val="081522"/>
                    </a:solidFill>
                  </a:tcPr>
                </a:tc>
                <a:tc>
                  <a:txBody>
                    <a:bodyPr/>
                    <a:lstStyle/>
                    <a:p>
                      <a:r>
                        <a:rPr sz="1575" b="0">
                          <a:solidFill>
                            <a:srgbClr val="EAF3F4"/>
                          </a:solidFill>
                          <a:latin typeface="Segoe UI"/>
                          <a:ea typeface="Segoe UI"/>
                          <a:cs typeface="Segoe UI"/>
                        </a:rPr>
                        <a:t>Segmentación adaptada; los intervalos no son incertidumbre calibrada.</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ESPIRA-II AAA-selected Loewner pencil</a:t>
                      </a:r>
                    </a:p>
                  </a:txBody>
                  <a:tcPr>
                    <a:solidFill>
                      <a:srgbClr val="081522"/>
                    </a:solidFill>
                  </a:tcPr>
                </a:tc>
                <a:tc>
                  <a:txBody>
                    <a:bodyPr/>
                    <a:lstStyle/>
                    <a:p>
                      <a:r>
                        <a:rPr sz="1575" b="0">
                          <a:solidFill>
                            <a:srgbClr val="EAF3F4"/>
                          </a:solidFill>
                          <a:latin typeface="Segoe UI"/>
                          <a:ea typeface="Segoe UI"/>
                          <a:cs typeface="Segoe UI"/>
                        </a:rPr>
                        <a:t>Identificar sumas de exponenciales mediante polos y rango fijo.</a:t>
                      </a:r>
                    </a:p>
                  </a:txBody>
                  <a:tcPr>
                    <a:solidFill>
                      <a:srgbClr val="081522"/>
                    </a:solidFill>
                  </a:tcPr>
                </a:tc>
                <a:tc>
                  <a:txBody>
                    <a:bodyPr/>
                    <a:lstStyle/>
                    <a:p>
                      <a:r>
                        <a:rPr sz="1575" b="0">
                          <a:solidFill>
                            <a:srgbClr val="EAF3F4"/>
                          </a:solidFill>
                          <a:latin typeface="Segoe UI"/>
                          <a:ea typeface="Segoe UI"/>
                          <a:cs typeface="Segoe UI"/>
                        </a:rPr>
                        <a:t>Muestreo uniforme y rango fijo; conservar los polos no físicos.</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92">
            <a:extLst>
              <a:ext uri="{FF2B5EF4-FFF2-40B4-BE49-F238E27FC236}">
                <a16:creationId xmlns:a16="http://schemas.microsoft.com/office/drawing/2014/main" id="{BD210BDB-1859-4C1B-8ABF-B01025B74B6F}"/>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04266462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27C7467D-0DB0-4273-9329-DBCE6BEAD705}"/>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34</a:t>
            </a:r>
          </a:p>
        </p:txBody>
      </p:sp>
      <p:sp>
        <p:nvSpPr>
          <p:cNvPr id="2" name="slide_title">
            <a:extLst>
              <a:ext uri="{FF2B5EF4-FFF2-40B4-BE49-F238E27FC236}">
                <a16:creationId xmlns:a16="http://schemas.microsoft.com/office/drawing/2014/main" id="{8D6D5471-A56D-4531-9CF4-9B45D0856D7F}"/>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Biblioteca · descomposición y FID</a:t>
            </a:r>
          </a:p>
        </p:txBody>
      </p:sp>
      <p:graphicFrame>
        <p:nvGraphicFramePr>
          <p:cNvPr id="3" name="Tabla 2">
            <a:extLst>
              <a:ext uri="{FF2B5EF4-FFF2-40B4-BE49-F238E27FC236}">
                <a16:creationId xmlns:a16="http://schemas.microsoft.com/office/drawing/2014/main" id="{AEBFA3A3-7791-4C2A-AF89-BD3A5CEC1597}"/>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MCR-ALS</a:t>
                      </a:r>
                    </a:p>
                  </a:txBody>
                  <a:tcPr>
                    <a:solidFill>
                      <a:srgbClr val="081522"/>
                    </a:solidFill>
                  </a:tcPr>
                </a:tc>
                <a:tc>
                  <a:txBody>
                    <a:bodyPr/>
                    <a:lstStyle/>
                    <a:p>
                      <a:r>
                        <a:rPr sz="1575" b="0">
                          <a:solidFill>
                            <a:srgbClr val="EAF3F4"/>
                          </a:solidFill>
                          <a:latin typeface="Segoe UI"/>
                          <a:ea typeface="Segoe UI"/>
                          <a:cs typeface="Segoe UI"/>
                        </a:rPr>
                        <a:t>Descomposición multivariada con restricciones y posibles perfiles exponenciales.</a:t>
                      </a:r>
                    </a:p>
                  </a:txBody>
                  <a:tcPr>
                    <a:solidFill>
                      <a:srgbClr val="081522"/>
                    </a:solidFill>
                  </a:tcPr>
                </a:tc>
                <a:tc>
                  <a:txBody>
                    <a:bodyPr/>
                    <a:lstStyle/>
                    <a:p>
                      <a:r>
                        <a:rPr sz="1575" b="0">
                          <a:solidFill>
                            <a:srgbClr val="EAF3F4"/>
                          </a:solidFill>
                          <a:latin typeface="Segoe UI"/>
                          <a:ea typeface="Segoe UI"/>
                          <a:cs typeface="Segoe UI"/>
                        </a:rPr>
                        <a:t>Ambigüedad rotacional; requiere ajuste exponencial para obtener D.</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Symmetric FastICA</a:t>
                      </a:r>
                    </a:p>
                  </a:txBody>
                  <a:tcPr>
                    <a:solidFill>
                      <a:srgbClr val="081522"/>
                    </a:solidFill>
                  </a:tcPr>
                </a:tc>
                <a:tc>
                  <a:txBody>
                    <a:bodyPr/>
                    <a:lstStyle/>
                    <a:p>
                      <a:r>
                        <a:rPr sz="1575" b="0">
                          <a:solidFill>
                            <a:srgbClr val="EAF3F4"/>
                          </a:solidFill>
                          <a:latin typeface="Segoe UI"/>
                          <a:ea typeface="Segoe UI"/>
                          <a:cs typeface="Segoe UI"/>
                        </a:rPr>
                        <a:t>Explorar factores estadísticamente independientes; ajustar D después si procede.</a:t>
                      </a:r>
                    </a:p>
                  </a:txBody>
                  <a:tcPr>
                    <a:solidFill>
                      <a:srgbClr val="081522"/>
                    </a:solidFill>
                  </a:tcPr>
                </a:tc>
                <a:tc>
                  <a:txBody>
                    <a:bodyPr/>
                    <a:lstStyle/>
                    <a:p>
                      <a:r>
                        <a:rPr sz="1575" b="0">
                          <a:solidFill>
                            <a:srgbClr val="EAF3F4"/>
                          </a:solidFill>
                          <a:latin typeface="Segoe UI"/>
                          <a:ea typeface="Segoe UI"/>
                          <a:cs typeface="Segoe UI"/>
                        </a:rPr>
                        <a:t>La independencia estadística no estima D ni identifica moléculas.</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Three-way CP-ALS</a:t>
                      </a:r>
                    </a:p>
                  </a:txBody>
                  <a:tcPr>
                    <a:solidFill>
                      <a:srgbClr val="081522"/>
                    </a:solidFill>
                  </a:tcPr>
                </a:tc>
                <a:tc>
                  <a:txBody>
                    <a:bodyPr/>
                    <a:lstStyle/>
                    <a:p>
                      <a:r>
                        <a:rPr sz="1575" b="0">
                          <a:solidFill>
                            <a:srgbClr val="EAF3F4"/>
                          </a:solidFill>
                          <a:latin typeface="Segoe UI"/>
                          <a:ea typeface="Segoe UI"/>
                          <a:cs typeface="Segoe UI"/>
                        </a:rPr>
                        <a:t>Datos de tres dimensiones con factores compartidos entre modos.</a:t>
                      </a:r>
                    </a:p>
                  </a:txBody>
                  <a:tcPr>
                    <a:solidFill>
                      <a:srgbClr val="081522"/>
                    </a:solidFill>
                  </a:tcPr>
                </a:tc>
                <a:tc>
                  <a:txBody>
                    <a:bodyPr/>
                    <a:lstStyle/>
                    <a:p>
                      <a:r>
                        <a:rPr sz="1575" b="0">
                          <a:solidFill>
                            <a:srgbClr val="EAF3F4"/>
                          </a:solidFill>
                          <a:latin typeface="Segoe UI"/>
                          <a:ea typeface="Segoe UI"/>
                          <a:cs typeface="Segoe UI"/>
                        </a:rPr>
                        <a:t>Solución local; por sí solo no realiza la inversión DOSY.</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GNAT Fourier RRT</a:t>
                      </a:r>
                    </a:p>
                  </a:txBody>
                  <a:tcPr>
                    <a:solidFill>
                      <a:srgbClr val="081522"/>
                    </a:solidFill>
                  </a:tcPr>
                </a:tc>
                <a:tc>
                  <a:txBody>
                    <a:bodyPr/>
                    <a:lstStyle/>
                    <a:p>
                      <a:r>
                        <a:rPr sz="1575" b="0">
                          <a:solidFill>
                            <a:srgbClr val="EAF3F4"/>
                          </a:solidFill>
                          <a:latin typeface="Segoe UI"/>
                          <a:ea typeface="Segoe UI"/>
                          <a:cs typeface="Segoe UI"/>
                        </a:rPr>
                        <a:t>Reconstrucción Fourier-Laplace a partir de FID complejo y b uniforme.</a:t>
                      </a:r>
                    </a:p>
                  </a:txBody>
                  <a:tcPr>
                    <a:solidFill>
                      <a:srgbClr val="081522"/>
                    </a:solidFill>
                  </a:tcPr>
                </a:tc>
                <a:tc>
                  <a:txBody>
                    <a:bodyPr/>
                    <a:lstStyle/>
                    <a:p>
                      <a:r>
                        <a:rPr sz="1575" b="0">
                          <a:solidFill>
                            <a:srgbClr val="EAF3F4"/>
                          </a:solidFill>
                          <a:latin typeface="Segoe UI"/>
                          <a:ea typeface="Segoe UI"/>
                          <a:cs typeface="Segoe UI"/>
                        </a:rPr>
                        <a:t>Exige b uniforme y FID orientado correctamente; el mapa es complejo.</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GNAT Fourier FDM</a:t>
                      </a:r>
                    </a:p>
                  </a:txBody>
                  <a:tcPr>
                    <a:solidFill>
                      <a:srgbClr val="081522"/>
                    </a:solidFill>
                  </a:tcPr>
                </a:tc>
                <a:tc>
                  <a:txBody>
                    <a:bodyPr/>
                    <a:lstStyle/>
                    <a:p>
                      <a:r>
                        <a:rPr sz="1575" b="0">
                          <a:solidFill>
                            <a:srgbClr val="EAF3F4"/>
                          </a:solidFill>
                          <a:latin typeface="Segoe UI"/>
                          <a:ea typeface="Segoe UI"/>
                          <a:cs typeface="Segoe UI"/>
                        </a:rPr>
                        <a:t>Resolver polos/frecuencias desde FID mediante diagonalización filtrada.</a:t>
                      </a:r>
                    </a:p>
                  </a:txBody>
                  <a:tcPr>
                    <a:solidFill>
                      <a:srgbClr val="081522"/>
                    </a:solidFill>
                  </a:tcPr>
                </a:tc>
                <a:tc>
                  <a:txBody>
                    <a:bodyPr/>
                    <a:lstStyle/>
                    <a:p>
                      <a:r>
                        <a:rPr sz="1575" b="0">
                          <a:solidFill>
                            <a:srgbClr val="EAF3F4"/>
                          </a:solidFill>
                          <a:latin typeface="Segoe UI"/>
                          <a:ea typeface="Segoe UI"/>
                          <a:cs typeface="Segoe UI"/>
                        </a:rPr>
                        <a:t>Las políticas numéricas difieren; la salida no es una densidad calibrada.</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93">
            <a:extLst>
              <a:ext uri="{FF2B5EF4-FFF2-40B4-BE49-F238E27FC236}">
                <a16:creationId xmlns:a16="http://schemas.microsoft.com/office/drawing/2014/main" id="{39628CF5-9848-4C44-A688-1791D592D8E3}"/>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56028959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BD89988F-35D0-4C6A-9DF9-F3EAE6BD56EB}"/>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35</a:t>
            </a:r>
          </a:p>
        </p:txBody>
      </p:sp>
      <p:sp>
        <p:nvSpPr>
          <p:cNvPr id="2" name="slide_title">
            <a:extLst>
              <a:ext uri="{FF2B5EF4-FFF2-40B4-BE49-F238E27FC236}">
                <a16:creationId xmlns:a16="http://schemas.microsoft.com/office/drawing/2014/main" id="{D0EDFB73-D2BA-4AF0-A9AA-6654661D26AE}"/>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Biblioteca · núcleos lineales</a:t>
            </a:r>
          </a:p>
        </p:txBody>
      </p:sp>
      <p:graphicFrame>
        <p:nvGraphicFramePr>
          <p:cNvPr id="3" name="Tabla 2">
            <a:extLst>
              <a:ext uri="{FF2B5EF4-FFF2-40B4-BE49-F238E27FC236}">
                <a16:creationId xmlns:a16="http://schemas.microsoft.com/office/drawing/2014/main" id="{12112DBE-295F-411B-B83D-7F4889601F69}"/>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Signed L1 interior point</a:t>
                      </a:r>
                    </a:p>
                  </a:txBody>
                  <a:tcPr>
                    <a:solidFill>
                      <a:srgbClr val="081522"/>
                    </a:solidFill>
                  </a:tcPr>
                </a:tc>
                <a:tc>
                  <a:txBody>
                    <a:bodyPr/>
                    <a:lstStyle/>
                    <a:p>
                      <a:r>
                        <a:rPr sz="1575" b="0">
                          <a:solidFill>
                            <a:srgbClr val="EAF3F4"/>
                          </a:solidFill>
                          <a:latin typeface="Segoe UI"/>
                          <a:ea typeface="Segoe UI"/>
                          <a:cs typeface="Segoe UI"/>
                        </a:rPr>
                        <a:t>Ajustes lineales escasos con signo; no distribución positiva automática.</a:t>
                      </a:r>
                    </a:p>
                  </a:txBody>
                  <a:tcPr>
                    <a:solidFill>
                      <a:srgbClr val="081522"/>
                    </a:solidFill>
                  </a:tcPr>
                </a:tc>
                <a:tc>
                  <a:txBody>
                    <a:bodyPr/>
                    <a:lstStyle/>
                    <a:p>
                      <a:r>
                        <a:rPr sz="1575" b="0">
                          <a:solidFill>
                            <a:srgbClr val="EAF3F4"/>
                          </a:solidFill>
                          <a:latin typeface="Segoe UI"/>
                          <a:ea typeface="Segoe UI"/>
                          <a:cs typeface="Segoe UI"/>
                        </a:rPr>
                        <a:t>La salida puede ser negativa; no representa masas positivas sin restricciones.</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PLSS residual recursive solver</a:t>
                      </a:r>
                    </a:p>
                  </a:txBody>
                  <a:tcPr>
                    <a:solidFill>
                      <a:srgbClr val="081522"/>
                    </a:solidFill>
                  </a:tcPr>
                </a:tc>
                <a:tc>
                  <a:txBody>
                    <a:bodyPr/>
                    <a:lstStyle/>
                    <a:p>
                      <a:r>
                        <a:rPr sz="1575" b="0">
                          <a:solidFill>
                            <a:srgbClr val="EAF3F4"/>
                          </a:solidFill>
                          <a:latin typeface="Segoe UI"/>
                          <a:ea typeface="Segoe UI"/>
                          <a:cs typeface="Segoe UI"/>
                        </a:rPr>
                        <a:t>Sistemas lineales compatibles; núcleo auxiliar sin regularización.</a:t>
                      </a:r>
                    </a:p>
                  </a:txBody>
                  <a:tcPr>
                    <a:solidFill>
                      <a:srgbClr val="081522"/>
                    </a:solidFill>
                  </a:tcPr>
                </a:tc>
                <a:tc>
                  <a:txBody>
                    <a:bodyPr/>
                    <a:lstStyle/>
                    <a:p>
                      <a:r>
                        <a:rPr sz="1575" b="0">
                          <a:solidFill>
                            <a:srgbClr val="EAF3F4"/>
                          </a:solidFill>
                          <a:latin typeface="Segoe UI"/>
                          <a:ea typeface="Segoe UI"/>
                          <a:cs typeface="Segoe UI"/>
                        </a:rPr>
                        <a:t>Para sistemas consistentes; salida con signo y sin regularización.</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IRLS (fixed p)</a:t>
                      </a:r>
                    </a:p>
                    <a:p>
                      <a:r>
                        <a:rPr sz="1575" b="0">
                          <a:solidFill>
                            <a:srgbClr val="EAF3F4"/>
                          </a:solidFill>
                          <a:latin typeface="Segoe UI"/>
                          <a:ea typeface="Segoe UI"/>
                          <a:cs typeface="Segoe UI"/>
                        </a:rPr>
                        <a:t>dictionary adapter</a:t>
                      </a:r>
                    </a:p>
                  </a:txBody>
                  <a:tcPr>
                    <a:solidFill>
                      <a:srgbClr val="081522"/>
                    </a:solidFill>
                  </a:tcPr>
                </a:tc>
                <a:tc>
                  <a:txBody>
                    <a:bodyPr/>
                    <a:lstStyle/>
                    <a:p>
                      <a:r>
                        <a:rPr sz="1575" b="0">
                          <a:solidFill>
                            <a:srgbClr val="EAF3F4"/>
                          </a:solidFill>
                          <a:latin typeface="Segoe UI"/>
                          <a:ea typeface="Segoe UI"/>
                          <a:cs typeface="Segoe UI"/>
                        </a:rPr>
                        <a:t>Explorar soluciones escasas mediante mínimos cuadrados reponderados.</a:t>
                      </a:r>
                    </a:p>
                  </a:txBody>
                  <a:tcPr>
                    <a:solidFill>
                      <a:srgbClr val="081522"/>
                    </a:solidFill>
                  </a:tcPr>
                </a:tc>
                <a:tc>
                  <a:txBody>
                    <a:bodyPr/>
                    <a:lstStyle/>
                    <a:p>
                      <a:r>
                        <a:rPr sz="1575" b="0">
                          <a:solidFill>
                            <a:srgbClr val="EAF3F4"/>
                          </a:solidFill>
                          <a:latin typeface="Segoe UI"/>
                          <a:ea typeface="Segoe UI"/>
                          <a:cs typeface="Segoe UI"/>
                        </a:rPr>
                        <a:t>Salida con signo; estabilidad no demuestra óptimo global.</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Weighted PLSS recursive core</a:t>
                      </a:r>
                    </a:p>
                  </a:txBody>
                  <a:tcPr>
                    <a:solidFill>
                      <a:srgbClr val="081522"/>
                    </a:solidFill>
                  </a:tcPr>
                </a:tc>
                <a:tc>
                  <a:txBody>
                    <a:bodyPr/>
                    <a:lstStyle/>
                    <a:p>
                      <a:r>
                        <a:rPr sz="1575" b="0">
                          <a:solidFill>
                            <a:srgbClr val="EAF3F4"/>
                          </a:solidFill>
                          <a:latin typeface="Segoe UI"/>
                          <a:ea typeface="Segoe UI"/>
                          <a:cs typeface="Segoe UI"/>
                        </a:rPr>
                        <a:t>Sistema lineal compatible ponderado; núcleo auxiliar.</a:t>
                      </a:r>
                    </a:p>
                  </a:txBody>
                  <a:tcPr>
                    <a:solidFill>
                      <a:srgbClr val="081522"/>
                    </a:solidFill>
                  </a:tcPr>
                </a:tc>
                <a:tc>
                  <a:txBody>
                    <a:bodyPr/>
                    <a:lstStyle/>
                    <a:p>
                      <a:r>
                        <a:rPr sz="1575" b="0">
                          <a:solidFill>
                            <a:srgbClr val="EAF3F4"/>
                          </a:solidFill>
                          <a:latin typeface="Segoe UI"/>
                          <a:ea typeface="Segoe UI"/>
                          <a:cs typeface="Segoe UI"/>
                        </a:rPr>
                        <a:t>Sistemas consistentes y salida con signo; no incluye todas las variantes PLSS.</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CP-ALS 3D / 4D</a:t>
                      </a:r>
                    </a:p>
                  </a:txBody>
                  <a:tcPr>
                    <a:solidFill>
                      <a:srgbClr val="081522"/>
                    </a:solidFill>
                  </a:tcPr>
                </a:tc>
                <a:tc>
                  <a:txBody>
                    <a:bodyPr/>
                    <a:lstStyle/>
                    <a:p>
                      <a:r>
                        <a:rPr sz="1575" b="0">
                          <a:solidFill>
                            <a:srgbClr val="EAF3F4"/>
                          </a:solidFill>
                          <a:latin typeface="Segoe UI"/>
                          <a:ea typeface="Segoe UI"/>
                          <a:cs typeface="Segoe UI"/>
                        </a:rPr>
                        <a:t>Factorizar tensores de tres/cuatro modos; estudios multi-experimento.</a:t>
                      </a:r>
                    </a:p>
                  </a:txBody>
                  <a:tcPr>
                    <a:solidFill>
                      <a:srgbClr val="081522"/>
                    </a:solidFill>
                  </a:tcPr>
                </a:tc>
                <a:tc>
                  <a:txBody>
                    <a:bodyPr/>
                    <a:lstStyle/>
                    <a:p>
                      <a:r>
                        <a:rPr sz="1575" b="0">
                          <a:solidFill>
                            <a:srgbClr val="EAF3F4"/>
                          </a:solidFill>
                          <a:latin typeface="Segoe UI"/>
                          <a:ea typeface="Segoe UI"/>
                          <a:cs typeface="Segoe UI"/>
                        </a:rPr>
                        <a:t>Solución local; estabilidad no certifica estacionariedad.</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94">
            <a:extLst>
              <a:ext uri="{FF2B5EF4-FFF2-40B4-BE49-F238E27FC236}">
                <a16:creationId xmlns:a16="http://schemas.microsoft.com/office/drawing/2014/main" id="{C3597A12-2F95-447E-856D-08449737F833}"/>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96084820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E9EFAF51-668B-4564-8406-10A79EEDF4EE}"/>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36</a:t>
            </a:r>
          </a:p>
        </p:txBody>
      </p:sp>
      <p:sp>
        <p:nvSpPr>
          <p:cNvPr id="2" name="slide_title">
            <a:extLst>
              <a:ext uri="{FF2B5EF4-FFF2-40B4-BE49-F238E27FC236}">
                <a16:creationId xmlns:a16="http://schemas.microsoft.com/office/drawing/2014/main" id="{BCFDA823-4436-441E-98AE-432EF42C6EB3}"/>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Biblioteca · otros núcleos Laplace</a:t>
            </a:r>
          </a:p>
        </p:txBody>
      </p:sp>
      <p:graphicFrame>
        <p:nvGraphicFramePr>
          <p:cNvPr id="3" name="Tabla 2">
            <a:extLst>
              <a:ext uri="{FF2B5EF4-FFF2-40B4-BE49-F238E27FC236}">
                <a16:creationId xmlns:a16="http://schemas.microsoft.com/office/drawing/2014/main" id="{0201A2E5-51E8-4EB2-BC90-B6E2095010C1}"/>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ADSpLRU archived reweighted ADMM</a:t>
                      </a:r>
                    </a:p>
                  </a:txBody>
                  <a:tcPr>
                    <a:solidFill>
                      <a:srgbClr val="081522"/>
                    </a:solidFill>
                  </a:tcPr>
                </a:tc>
                <a:tc>
                  <a:txBody>
                    <a:bodyPr/>
                    <a:lstStyle/>
                    <a:p>
                      <a:r>
                        <a:rPr sz="1575" b="0">
                          <a:solidFill>
                            <a:srgbClr val="EAF3F4"/>
                          </a:solidFill>
                          <a:latin typeface="Segoe UI"/>
                          <a:ea typeface="Segoe UI"/>
                          <a:cs typeface="Segoe UI"/>
                        </a:rPr>
                        <a:t>Desmezcla conjunta escasa/de bajo rango con ADMM reponderado.</a:t>
                      </a:r>
                    </a:p>
                  </a:txBody>
                  <a:tcPr>
                    <a:solidFill>
                      <a:srgbClr val="081522"/>
                    </a:solidFill>
                  </a:tcPr>
                </a:tc>
                <a:tc>
                  <a:txBody>
                    <a:bodyPr/>
                    <a:lstStyle/>
                    <a:p>
                      <a:r>
                        <a:rPr sz="1575" b="0">
                          <a:solidFill>
                            <a:srgbClr val="EAF3F4"/>
                          </a:solidFill>
                          <a:latin typeface="Segoe UI"/>
                          <a:ea typeface="Segoe UI"/>
                          <a:cs typeface="Segoe UI"/>
                        </a:rPr>
                        <a:t>Parada histórica; no certifica un objetivo convexo fijo.</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IPSpLRU incremental proximal recurrence</a:t>
                      </a:r>
                    </a:p>
                  </a:txBody>
                  <a:tcPr>
                    <a:solidFill>
                      <a:srgbClr val="081522"/>
                    </a:solidFill>
                  </a:tcPr>
                </a:tc>
                <a:tc>
                  <a:txBody>
                    <a:bodyPr/>
                    <a:lstStyle/>
                    <a:p>
                      <a:r>
                        <a:rPr sz="1575" b="0">
                          <a:solidFill>
                            <a:srgbClr val="EAF3F4"/>
                          </a:solidFill>
                          <a:latin typeface="Segoe UI"/>
                          <a:ea typeface="Segoe UI"/>
                          <a:cs typeface="Segoe UI"/>
                        </a:rPr>
                        <a:t>Desmezcla conjunta con recurrencia proximal incremental.</a:t>
                      </a:r>
                    </a:p>
                  </a:txBody>
                  <a:tcPr>
                    <a:solidFill>
                      <a:srgbClr val="081522"/>
                    </a:solidFill>
                  </a:tcPr>
                </a:tc>
                <a:tc>
                  <a:txBody>
                    <a:bodyPr/>
                    <a:lstStyle/>
                    <a:p>
                      <a:r>
                        <a:rPr sz="1575" b="0">
                          <a:solidFill>
                            <a:srgbClr val="EAF3F4"/>
                          </a:solidFill>
                          <a:latin typeface="Segoe UI"/>
                          <a:ea typeface="Segoe UI"/>
                          <a:cs typeface="Segoe UI"/>
                        </a:rPr>
                        <a:t>Inicialización y número de pasos explícitos; no garantiza convergencia.</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LRSpILT archived ADMM recurrence</a:t>
                      </a:r>
                    </a:p>
                  </a:txBody>
                  <a:tcPr>
                    <a:solidFill>
                      <a:srgbClr val="081522"/>
                    </a:solidFill>
                  </a:tcPr>
                </a:tc>
                <a:tc>
                  <a:txBody>
                    <a:bodyPr/>
                    <a:lstStyle/>
                    <a:p>
                      <a:r>
                        <a:rPr sz="1575" b="0">
                          <a:solidFill>
                            <a:srgbClr val="EAF3F4"/>
                          </a:solidFill>
                          <a:latin typeface="Segoe UI"/>
                          <a:ea typeface="Segoe UI"/>
                          <a:cs typeface="Segoe UI"/>
                        </a:rPr>
                        <a:t>Reconstrucción DOSY conjunta con estructura de bajo rango y escasez.</a:t>
                      </a:r>
                    </a:p>
                  </a:txBody>
                  <a:tcPr>
                    <a:solidFill>
                      <a:srgbClr val="081522"/>
                    </a:solidFill>
                  </a:tcPr>
                </a:tc>
                <a:tc>
                  <a:txBody>
                    <a:bodyPr/>
                    <a:lstStyle/>
                    <a:p>
                      <a:r>
                        <a:rPr sz="1575" b="0">
                          <a:solidFill>
                            <a:srgbClr val="EAF3F4"/>
                          </a:solidFill>
                          <a:latin typeface="Segoe UI"/>
                          <a:ea typeface="Segoe UI"/>
                          <a:cs typeface="Segoe UI"/>
                        </a:rPr>
                        <a:t>Umbrales adaptativos; la parada relativa no certifica optimalidad.</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PDHGM2</a:t>
                      </a:r>
                    </a:p>
                    <a:p>
                      <a:r>
                        <a:rPr sz="1575" b="0">
                          <a:solidFill>
                            <a:srgbClr val="EAF3F4"/>
                          </a:solidFill>
                          <a:latin typeface="Segoe UI"/>
                          <a:ea typeface="Segoe UI"/>
                          <a:cs typeface="Segoe UI"/>
                        </a:rPr>
                        <a:t>NMRInversions.jl</a:t>
                      </a:r>
                    </a:p>
                  </a:txBody>
                  <a:tcPr>
                    <a:solidFill>
                      <a:srgbClr val="081522"/>
                    </a:solidFill>
                  </a:tcPr>
                </a:tc>
                <a:tc>
                  <a:txBody>
                    <a:bodyPr/>
                    <a:lstStyle/>
                    <a:p>
                      <a:r>
                        <a:rPr sz="1575" b="0">
                          <a:solidFill>
                            <a:srgbClr val="EAF3F4"/>
                          </a:solidFill>
                          <a:latin typeface="Segoe UI"/>
                          <a:ea typeface="Segoe UI"/>
                          <a:cs typeface="Segoe UI"/>
                        </a:rPr>
                        <a:t>Reproducir recurrencia NMRInversions.jl y comprobar KKT por separado.</a:t>
                      </a:r>
                    </a:p>
                  </a:txBody>
                  <a:tcPr>
                    <a:solidFill>
                      <a:srgbClr val="081522"/>
                    </a:solidFill>
                  </a:tcPr>
                </a:tc>
                <a:tc>
                  <a:txBody>
                    <a:bodyPr/>
                    <a:lstStyle/>
                    <a:p>
                      <a:r>
                        <a:rPr sz="1575" b="0">
                          <a:solidFill>
                            <a:srgbClr val="EAF3F4"/>
                          </a:solidFill>
                          <a:latin typeface="Segoe UI"/>
                          <a:ea typeface="Segoe UI"/>
                          <a:cs typeface="Segoe UI"/>
                        </a:rPr>
                        <a:t>La proyección no garantiza el objetivo positivo; comprobar KKT real.</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ILT.jl</a:t>
                      </a:r>
                    </a:p>
                    <a:p>
                      <a:r>
                        <a:rPr sz="1575" b="0">
                          <a:solidFill>
                            <a:srgbClr val="EAF3F4"/>
                          </a:solidFill>
                          <a:latin typeface="Segoe UI"/>
                          <a:ea typeface="Segoe UI"/>
                          <a:cs typeface="Segoe UI"/>
                        </a:rPr>
                        <a:t>positive ridge</a:t>
                      </a:r>
                    </a:p>
                  </a:txBody>
                  <a:tcPr>
                    <a:solidFill>
                      <a:srgbClr val="081522"/>
                    </a:solidFill>
                  </a:tcPr>
                </a:tc>
                <a:tc>
                  <a:txBody>
                    <a:bodyPr/>
                    <a:lstStyle/>
                    <a:p>
                      <a:r>
                        <a:rPr sz="1575" b="0">
                          <a:solidFill>
                            <a:srgbClr val="EAF3F4"/>
                          </a:solidFill>
                          <a:latin typeface="Segoe UI"/>
                          <a:ea typeface="Segoe UI"/>
                          <a:cs typeface="Segoe UI"/>
                        </a:rPr>
                        <a:t>Inversión positiva con término de línea base con signo.</a:t>
                      </a:r>
                    </a:p>
                  </a:txBody>
                  <a:tcPr>
                    <a:solidFill>
                      <a:srgbClr val="081522"/>
                    </a:solidFill>
                  </a:tcPr>
                </a:tc>
                <a:tc>
                  <a:txBody>
                    <a:bodyPr/>
                    <a:lstStyle/>
                    <a:p>
                      <a:r>
                        <a:rPr sz="1575" b="0">
                          <a:solidFill>
                            <a:srgbClr val="EAF3F4"/>
                          </a:solidFill>
                          <a:latin typeface="Segoe UI"/>
                          <a:ea typeface="Segoe UI"/>
                          <a:cs typeface="Segoe UI"/>
                        </a:rPr>
                        <a:t>NNLS sustituye Ipopt; el fondo también se penaliza y alpha es fijo.</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95">
            <a:extLst>
              <a:ext uri="{FF2B5EF4-FFF2-40B4-BE49-F238E27FC236}">
                <a16:creationId xmlns:a16="http://schemas.microsoft.com/office/drawing/2014/main" id="{4A275B57-57F0-4D4E-B4E3-2AB6C2A17FEF}"/>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528273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7703A3A6-4933-458D-BC70-8C4F74820EBE}"/>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37</a:t>
            </a:r>
          </a:p>
        </p:txBody>
      </p:sp>
      <p:sp>
        <p:nvSpPr>
          <p:cNvPr id="2" name="slide_title">
            <a:extLst>
              <a:ext uri="{FF2B5EF4-FFF2-40B4-BE49-F238E27FC236}">
                <a16:creationId xmlns:a16="http://schemas.microsoft.com/office/drawing/2014/main" id="{F04C7CA0-E8DC-41A1-86F9-5A25571A7CE0}"/>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Biblioteca · regularización y desmezcla</a:t>
            </a:r>
          </a:p>
        </p:txBody>
      </p:sp>
      <p:graphicFrame>
        <p:nvGraphicFramePr>
          <p:cNvPr id="3" name="Tabla 2">
            <a:extLst>
              <a:ext uri="{FF2B5EF4-FFF2-40B4-BE49-F238E27FC236}">
                <a16:creationId xmlns:a16="http://schemas.microsoft.com/office/drawing/2014/main" id="{CF897098-C78A-4082-B3DE-3282D377B001}"/>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TailoredNorm archived p sweep</a:t>
                      </a:r>
                    </a:p>
                  </a:txBody>
                  <a:tcPr>
                    <a:solidFill>
                      <a:srgbClr val="081522"/>
                    </a:solidFill>
                  </a:tcPr>
                </a:tc>
                <a:tc>
                  <a:txBody>
                    <a:bodyPr/>
                    <a:lstStyle/>
                    <a:p>
                      <a:r>
                        <a:rPr sz="1575" b="0">
                          <a:solidFill>
                            <a:srgbClr val="EAF3F4"/>
                          </a:solidFill>
                          <a:latin typeface="Segoe UI"/>
                          <a:ea typeface="Segoe UI"/>
                          <a:cs typeface="Segoe UI"/>
                        </a:rPr>
                        <a:t>Explorar barrido de norma p; reproducir la política numérica archivada.</a:t>
                      </a:r>
                    </a:p>
                  </a:txBody>
                  <a:tcPr>
                    <a:solidFill>
                      <a:srgbClr val="081522"/>
                    </a:solidFill>
                  </a:tcPr>
                </a:tc>
                <a:tc>
                  <a:txBody>
                    <a:bodyPr/>
                    <a:lstStyle/>
                    <a:p>
                      <a:r>
                        <a:rPr sz="1575" b="0">
                          <a:solidFill>
                            <a:srgbClr val="EAF3F4"/>
                          </a:solidFill>
                          <a:latin typeface="Segoe UI"/>
                          <a:ea typeface="Segoe UI"/>
                          <a:cs typeface="Segoe UI"/>
                        </a:rPr>
                        <a:t>El umbral original puede anular la salida; no ocultar este fallo.</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UPEN2D adaptive spatial penalties</a:t>
                      </a:r>
                    </a:p>
                  </a:txBody>
                  <a:tcPr>
                    <a:solidFill>
                      <a:srgbClr val="081522"/>
                    </a:solidFill>
                  </a:tcPr>
                </a:tc>
                <a:tc>
                  <a:txBody>
                    <a:bodyPr/>
                    <a:lstStyle/>
                    <a:p>
                      <a:r>
                        <a:rPr sz="1575" b="0">
                          <a:solidFill>
                            <a:srgbClr val="EAF3F4"/>
                          </a:solidFill>
                          <a:latin typeface="Segoe UI"/>
                          <a:ea typeface="Segoe UI"/>
                          <a:cs typeface="Segoe UI"/>
                        </a:rPr>
                        <a:t>Distribuciones 2D con suavizado local adaptativo; dos operadores físicos.</a:t>
                      </a:r>
                    </a:p>
                  </a:txBody>
                  <a:tcPr>
                    <a:solidFill>
                      <a:srgbClr val="081522"/>
                    </a:solidFill>
                  </a:tcPr>
                </a:tc>
                <a:tc>
                  <a:txBody>
                    <a:bodyPr/>
                    <a:lstStyle/>
                    <a:p>
                      <a:r>
                        <a:rPr sz="1575" b="0">
                          <a:solidFill>
                            <a:srgbClr val="EAF3F4"/>
                          </a:solidFill>
                          <a:latin typeface="Segoe UI"/>
                          <a:ea typeface="Segoe UI"/>
                          <a:cs typeface="Segoe UI"/>
                        </a:rPr>
                        <a:t>NNLS interno; no incluye la compresión original. Revisar ambos operadores.</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MUPEN2D spatial multi-penalty FISTA</a:t>
                      </a:r>
                    </a:p>
                  </a:txBody>
                  <a:tcPr>
                    <a:solidFill>
                      <a:srgbClr val="081522"/>
                    </a:solidFill>
                  </a:tcPr>
                </a:tc>
                <a:tc>
                  <a:txBody>
                    <a:bodyPr/>
                    <a:lstStyle/>
                    <a:p>
                      <a:r>
                        <a:rPr sz="1575" b="0">
                          <a:solidFill>
                            <a:srgbClr val="EAF3F4"/>
                          </a:solidFill>
                          <a:latin typeface="Segoe UI"/>
                          <a:ea typeface="Segoe UI"/>
                          <a:cs typeface="Segoe UI"/>
                        </a:rPr>
                        <a:t>Inversión 2D con múltiples penalizaciones adaptativas; salida con signo.</a:t>
                      </a:r>
                    </a:p>
                  </a:txBody>
                  <a:tcPr>
                    <a:solidFill>
                      <a:srgbClr val="081522"/>
                    </a:solidFill>
                  </a:tcPr>
                </a:tc>
                <a:tc>
                  <a:txBody>
                    <a:bodyPr/>
                    <a:lstStyle/>
                    <a:p>
                      <a:r>
                        <a:rPr sz="1575" b="0">
                          <a:solidFill>
                            <a:srgbClr val="EAF3F4"/>
                          </a:solidFill>
                          <a:latin typeface="Segoe UI"/>
                          <a:ea typeface="Segoe UI"/>
                          <a:cs typeface="Segoe UI"/>
                        </a:rPr>
                        <a:t>Salida con signo; distinguir adjunto corregido y política histórica.</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SUnSAL unmixing ADMM</a:t>
                      </a:r>
                    </a:p>
                  </a:txBody>
                  <a:tcPr>
                    <a:solidFill>
                      <a:srgbClr val="081522"/>
                    </a:solidFill>
                  </a:tcPr>
                </a:tc>
                <a:tc>
                  <a:txBody>
                    <a:bodyPr/>
                    <a:lstStyle/>
                    <a:p>
                      <a:r>
                        <a:rPr sz="1575" b="0">
                          <a:solidFill>
                            <a:srgbClr val="EAF3F4"/>
                          </a:solidFill>
                          <a:latin typeface="Segoe UI"/>
                          <a:ea typeface="Segoe UI"/>
                          <a:cs typeface="Segoe UI"/>
                        </a:rPr>
                        <a:t>Desmezcla escasa con diccionario explícito y restricciones opcionales.</a:t>
                      </a:r>
                    </a:p>
                  </a:txBody>
                  <a:tcPr>
                    <a:solidFill>
                      <a:srgbClr val="081522"/>
                    </a:solidFill>
                  </a:tcPr>
                </a:tc>
                <a:tc>
                  <a:txBody>
                    <a:bodyPr/>
                    <a:lstStyle/>
                    <a:p>
                      <a:r>
                        <a:rPr sz="1575" b="0">
                          <a:solidFill>
                            <a:srgbClr val="EAF3F4"/>
                          </a:solidFill>
                          <a:latin typeface="Segoe UI"/>
                          <a:ea typeface="Segoe UI"/>
                          <a:cs typeface="Segoe UI"/>
                        </a:rPr>
                        <a:t>Positividad y suma uno deben justificarse; en simplex positivo L1 es constante.</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CLSUnSAL collaborative unmixing</a:t>
                      </a:r>
                    </a:p>
                  </a:txBody>
                  <a:tcPr>
                    <a:solidFill>
                      <a:srgbClr val="081522"/>
                    </a:solidFill>
                  </a:tcPr>
                </a:tc>
                <a:tc>
                  <a:txBody>
                    <a:bodyPr/>
                    <a:lstStyle/>
                    <a:p>
                      <a:r>
                        <a:rPr sz="1575" b="0">
                          <a:solidFill>
                            <a:srgbClr val="EAF3F4"/>
                          </a:solidFill>
                          <a:latin typeface="Segoe UI"/>
                          <a:ea typeface="Segoe UI"/>
                          <a:cs typeface="Segoe UI"/>
                        </a:rPr>
                        <a:t>Desmezcla colaborativa que comparte soporte entre columnas.</a:t>
                      </a:r>
                    </a:p>
                  </a:txBody>
                  <a:tcPr>
                    <a:solidFill>
                      <a:srgbClr val="081522"/>
                    </a:solidFill>
                  </a:tcPr>
                </a:tc>
                <a:tc>
                  <a:txBody>
                    <a:bodyPr/>
                    <a:lstStyle/>
                    <a:p>
                      <a:r>
                        <a:rPr sz="1575" b="0">
                          <a:solidFill>
                            <a:srgbClr val="EAF3F4"/>
                          </a:solidFill>
                          <a:latin typeface="Segoe UI"/>
                          <a:ea typeface="Segoe UI"/>
                          <a:cs typeface="Segoe UI"/>
                        </a:rPr>
                        <a:t>La parada histórica no certifica optimalidad.</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96">
            <a:extLst>
              <a:ext uri="{FF2B5EF4-FFF2-40B4-BE49-F238E27FC236}">
                <a16:creationId xmlns:a16="http://schemas.microsoft.com/office/drawing/2014/main" id="{94F66FEE-2147-458B-B915-52F12140F2BF}"/>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73438774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1F63BCCB-98B7-423A-B12F-A0DAE159769F}"/>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38</a:t>
            </a:r>
          </a:p>
        </p:txBody>
      </p:sp>
      <p:sp>
        <p:nvSpPr>
          <p:cNvPr id="2" name="slide_title">
            <a:extLst>
              <a:ext uri="{FF2B5EF4-FFF2-40B4-BE49-F238E27FC236}">
                <a16:creationId xmlns:a16="http://schemas.microsoft.com/office/drawing/2014/main" id="{76FBCAFA-033D-45EF-B2E7-F2C9919C129B}"/>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Biblioteca · dominios específicos</a:t>
            </a:r>
          </a:p>
        </p:txBody>
      </p:sp>
      <p:graphicFrame>
        <p:nvGraphicFramePr>
          <p:cNvPr id="3" name="Tabla 2">
            <a:extLst>
              <a:ext uri="{FF2B5EF4-FFF2-40B4-BE49-F238E27FC236}">
                <a16:creationId xmlns:a16="http://schemas.microsoft.com/office/drawing/2014/main" id="{D136DF72-F7E3-44C4-9212-626AF090364C}"/>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1023938">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1023938">
                <a:tc>
                  <a:txBody>
                    <a:bodyPr/>
                    <a:lstStyle/>
                    <a:p>
                      <a:r>
                        <a:rPr sz="1575" b="0">
                          <a:solidFill>
                            <a:srgbClr val="EAF3F4"/>
                          </a:solidFill>
                          <a:latin typeface="Segoe UI"/>
                          <a:ea typeface="Segoe UI"/>
                          <a:cs typeface="Segoe UI"/>
                        </a:rPr>
                        <a:t>Fully constrained least squares</a:t>
                      </a:r>
                    </a:p>
                  </a:txBody>
                  <a:tcPr>
                    <a:solidFill>
                      <a:srgbClr val="081522"/>
                    </a:solidFill>
                  </a:tcPr>
                </a:tc>
                <a:tc>
                  <a:txBody>
                    <a:bodyPr/>
                    <a:lstStyle/>
                    <a:p>
                      <a:r>
                        <a:rPr sz="1575" b="0">
                          <a:solidFill>
                            <a:srgbClr val="EAF3F4"/>
                          </a:solidFill>
                          <a:latin typeface="Segoe UI"/>
                          <a:ea typeface="Segoe UI"/>
                          <a:cs typeface="Segoe UI"/>
                        </a:rPr>
                        <a:t>Desmezcla positiva con suma uno, sólo si la normalización lo justifica.</a:t>
                      </a:r>
                    </a:p>
                  </a:txBody>
                  <a:tcPr>
                    <a:solidFill>
                      <a:srgbClr val="081522"/>
                    </a:solidFill>
                  </a:tcPr>
                </a:tc>
                <a:tc>
                  <a:txBody>
                    <a:bodyPr/>
                    <a:lstStyle/>
                    <a:p>
                      <a:r>
                        <a:rPr sz="1575" b="0">
                          <a:solidFill>
                            <a:srgbClr val="EAF3F4"/>
                          </a:solidFill>
                          <a:latin typeface="Segoe UI"/>
                          <a:ea typeface="Segoe UI"/>
                          <a:cs typeface="Segoe UI"/>
                        </a:rPr>
                        <a:t>Suma uno obligatoria: justificarla para intensidades DOSY.</a:t>
                      </a:r>
                    </a:p>
                  </a:txBody>
                  <a:tcPr>
                    <a:solidFill>
                      <a:srgbClr val="081522"/>
                    </a:solidFill>
                  </a:tcPr>
                </a:tc>
                <a:extLst>
                  <a:ext uri="{0D108BD9-81ED-4DB2-BD59-A6C34878D82A}">
                    <a16:rowId xmlns:a16="http://schemas.microsoft.com/office/drawing/2014/main" val="10001"/>
                  </a:ext>
                </a:extLst>
              </a:tr>
              <a:tr h="1023938">
                <a:tc>
                  <a:txBody>
                    <a:bodyPr/>
                    <a:lstStyle/>
                    <a:p>
                      <a:r>
                        <a:rPr sz="1575" b="0">
                          <a:solidFill>
                            <a:srgbClr val="EAF3F4"/>
                          </a:solidFill>
                          <a:latin typeface="Segoe UI"/>
                          <a:ea typeface="Segoe UI"/>
                          <a:cs typeface="Segoe UI"/>
                        </a:rPr>
                        <a:t>MRI mixture of Wisharts/tensors matrix core</a:t>
                      </a:r>
                    </a:p>
                  </a:txBody>
                  <a:tcPr>
                    <a:solidFill>
                      <a:srgbClr val="081522"/>
                    </a:solidFill>
                  </a:tcPr>
                </a:tc>
                <a:tc>
                  <a:txBody>
                    <a:bodyPr/>
                    <a:lstStyle/>
                    <a:p>
                      <a:r>
                        <a:rPr sz="1575" b="0">
                          <a:solidFill>
                            <a:srgbClr val="EAF3F4"/>
                          </a:solidFill>
                          <a:latin typeface="Segoe UI"/>
                          <a:ea typeface="Segoe UI"/>
                          <a:cs typeface="Segoe UI"/>
                        </a:rPr>
                        <a:t>Difusión MRI direccional mediante mezclas Wishart/tensores.</a:t>
                      </a:r>
                    </a:p>
                  </a:txBody>
                  <a:tcPr>
                    <a:solidFill>
                      <a:srgbClr val="081522"/>
                    </a:solidFill>
                  </a:tcPr>
                </a:tc>
                <a:tc>
                  <a:txBody>
                    <a:bodyPr/>
                    <a:lstStyle/>
                    <a:p>
                      <a:r>
                        <a:rPr sz="1575" b="0">
                          <a:solidFill>
                            <a:srgbClr val="EAF3F4"/>
                          </a:solidFill>
                          <a:latin typeface="Segoe UI"/>
                          <a:ea typeface="Segoe UI"/>
                          <a:cs typeface="Segoe UI"/>
                        </a:rPr>
                        <a:t>No es ILT DOSY escalar; necesita codificación direccional.</a:t>
                      </a:r>
                    </a:p>
                  </a:txBody>
                  <a:tcPr>
                    <a:solidFill>
                      <a:srgbClr val="081522"/>
                    </a:solidFill>
                  </a:tcPr>
                </a:tc>
                <a:extLst>
                  <a:ext uri="{0D108BD9-81ED-4DB2-BD59-A6C34878D82A}">
                    <a16:rowId xmlns:a16="http://schemas.microsoft.com/office/drawing/2014/main" val="10002"/>
                  </a:ext>
                </a:extLst>
              </a:tr>
              <a:tr h="1023938">
                <a:tc>
                  <a:txBody>
                    <a:bodyPr/>
                    <a:lstStyle/>
                    <a:p>
                      <a:r>
                        <a:rPr sz="1575" b="0">
                          <a:solidFill>
                            <a:srgbClr val="EAF3F4"/>
                          </a:solidFill>
                          <a:latin typeface="Segoe UI"/>
                          <a:ea typeface="Segoe UI"/>
                          <a:cs typeface="Segoe UI"/>
                        </a:rPr>
                        <a:t>MRI Q-ball harmonic transform</a:t>
                      </a:r>
                    </a:p>
                  </a:txBody>
                  <a:tcPr>
                    <a:solidFill>
                      <a:srgbClr val="081522"/>
                    </a:solidFill>
                  </a:tcPr>
                </a:tc>
                <a:tc>
                  <a:txBody>
                    <a:bodyPr/>
                    <a:lstStyle/>
                    <a:p>
                      <a:r>
                        <a:rPr sz="1575" b="0">
                          <a:solidFill>
                            <a:srgbClr val="EAF3F4"/>
                          </a:solidFill>
                          <a:latin typeface="Segoe UI"/>
                          <a:ea typeface="Segoe UI"/>
                          <a:cs typeface="Segoe UI"/>
                        </a:rPr>
                        <a:t>Reconstrucción angular Q-ball MRI en base armónica suministrada.</a:t>
                      </a:r>
                    </a:p>
                  </a:txBody>
                  <a:tcPr>
                    <a:solidFill>
                      <a:srgbClr val="081522"/>
                    </a:solidFill>
                  </a:tcPr>
                </a:tc>
                <a:tc>
                  <a:txBody>
                    <a:bodyPr/>
                    <a:lstStyle/>
                    <a:p>
                      <a:r>
                        <a:rPr sz="1575" b="0">
                          <a:solidFill>
                            <a:srgbClr val="EAF3F4"/>
                          </a:solidFill>
                          <a:latin typeface="Segoe UI"/>
                          <a:ea typeface="Segoe UI"/>
                          <a:cs typeface="Segoe UI"/>
                        </a:rPr>
                        <a:t>Base armónica externa; no es ILT escalar ni probabilidad normalizada.</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97">
            <a:extLst>
              <a:ext uri="{FF2B5EF4-FFF2-40B4-BE49-F238E27FC236}">
                <a16:creationId xmlns:a16="http://schemas.microsoft.com/office/drawing/2014/main" id="{BD64308D-AC78-4ED1-B273-908783A5F064}"/>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154382180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3ADDE7E2-E7A6-41FE-8D26-9CD9441EA51E}"/>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39</a:t>
            </a:r>
          </a:p>
        </p:txBody>
      </p:sp>
      <p:sp>
        <p:nvSpPr>
          <p:cNvPr id="2" name="slide_title">
            <a:extLst>
              <a:ext uri="{FF2B5EF4-FFF2-40B4-BE49-F238E27FC236}">
                <a16:creationId xmlns:a16="http://schemas.microsoft.com/office/drawing/2014/main" id="{7775B652-60D0-4D62-B80E-31AA718A4C82}"/>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Contexto · modelos y motores</a:t>
            </a:r>
          </a:p>
        </p:txBody>
      </p:sp>
      <p:graphicFrame>
        <p:nvGraphicFramePr>
          <p:cNvPr id="3" name="Tabla 2">
            <a:extLst>
              <a:ext uri="{FF2B5EF4-FFF2-40B4-BE49-F238E27FC236}">
                <a16:creationId xmlns:a16="http://schemas.microsoft.com/office/drawing/2014/main" id="{6ACDEA2A-6D16-4327-9085-E52240AAFD81}"/>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82625">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682625">
                <a:tc>
                  <a:txBody>
                    <a:bodyPr/>
                    <a:lstStyle/>
                    <a:p>
                      <a:r>
                        <a:rPr sz="1575" b="0">
                          <a:solidFill>
                            <a:srgbClr val="EAF3F4"/>
                          </a:solidFill>
                          <a:latin typeface="Segoe UI"/>
                          <a:ea typeface="Segoe UI"/>
                          <a:cs typeface="Segoe UI"/>
                        </a:rPr>
                        <a:t>Mono / multi-exponential fitting</a:t>
                      </a:r>
                    </a:p>
                  </a:txBody>
                  <a:tcPr>
                    <a:solidFill>
                      <a:srgbClr val="081522"/>
                    </a:solidFill>
                  </a:tcPr>
                </a:tc>
                <a:tc>
                  <a:txBody>
                    <a:bodyPr/>
                    <a:lstStyle/>
                    <a:p>
                      <a:r>
                        <a:rPr sz="1575" b="0">
                          <a:solidFill>
                            <a:srgbClr val="EAF3F4"/>
                          </a:solidFill>
                          <a:latin typeface="Segoe UI"/>
                          <a:ea typeface="Segoe UI"/>
                          <a:cs typeface="Segoe UI"/>
                        </a:rPr>
                        <a:t>Pocos componentes conocidos; empezar por monoexponencial en señal aislada.</a:t>
                      </a:r>
                    </a:p>
                  </a:txBody>
                  <a:tcPr>
                    <a:solidFill>
                      <a:srgbClr val="081522"/>
                    </a:solidFill>
                  </a:tcPr>
                </a:tc>
                <a:tc>
                  <a:txBody>
                    <a:bodyPr/>
                    <a:lstStyle/>
                    <a:p>
                      <a:r>
                        <a:rPr sz="1575" b="0">
                          <a:solidFill>
                            <a:srgbClr val="EAF3F4"/>
                          </a:solidFill>
                          <a:latin typeface="Segoe UI"/>
                          <a:ea typeface="Segoe UI"/>
                          <a:cs typeface="Segoe UI"/>
                        </a:rPr>
                        <a:t>El ajuste de k exponentes presupone k; dos D próximos son difíciles de resolver.</a:t>
                      </a:r>
                    </a:p>
                  </a:txBody>
                  <a:tcPr>
                    <a:solidFill>
                      <a:srgbClr val="081522"/>
                    </a:solidFill>
                  </a:tcPr>
                </a:tc>
                <a:extLst>
                  <a:ext uri="{0D108BD9-81ED-4DB2-BD59-A6C34878D82A}">
                    <a16:rowId xmlns:a16="http://schemas.microsoft.com/office/drawing/2014/main" val="10001"/>
                  </a:ext>
                </a:extLst>
              </a:tr>
              <a:tr h="682625">
                <a:tc>
                  <a:txBody>
                    <a:bodyPr/>
                    <a:lstStyle/>
                    <a:p>
                      <a:r>
                        <a:rPr sz="1575" b="0">
                          <a:solidFill>
                            <a:srgbClr val="EAF3F4"/>
                          </a:solidFill>
                          <a:latin typeface="Segoe UI"/>
                          <a:ea typeface="Segoe UI"/>
                          <a:cs typeface="Segoe UI"/>
                        </a:rPr>
                        <a:t>CONTIN</a:t>
                      </a:r>
                    </a:p>
                  </a:txBody>
                  <a:tcPr>
                    <a:solidFill>
                      <a:srgbClr val="081522"/>
                    </a:solidFill>
                  </a:tcPr>
                </a:tc>
                <a:tc>
                  <a:txBody>
                    <a:bodyPr/>
                    <a:lstStyle/>
                    <a:p>
                      <a:r>
                        <a:rPr sz="1575" b="0">
                          <a:solidFill>
                            <a:srgbClr val="EAF3F4"/>
                          </a:solidFill>
                          <a:latin typeface="Segoe UI"/>
                          <a:ea typeface="Segoe UI"/>
                          <a:cs typeface="Segoe UI"/>
                        </a:rPr>
                        <a:t>Distribución continua positiva con regularización y selección propia del parámetro.</a:t>
                      </a:r>
                    </a:p>
                  </a:txBody>
                  <a:tcPr>
                    <a:solidFill>
                      <a:srgbClr val="081522"/>
                    </a:solidFill>
                  </a:tcPr>
                </a:tc>
                <a:tc>
                  <a:txBody>
                    <a:bodyPr/>
                    <a:lstStyle/>
                    <a:p>
                      <a:r>
                        <a:rPr sz="1575" b="0">
                          <a:solidFill>
                            <a:srgbClr val="EAF3F4"/>
                          </a:solidFill>
                          <a:latin typeface="Segoe UI"/>
                          <a:ea typeface="Segoe UI"/>
                          <a:cs typeface="Segoe UI"/>
                        </a:rPr>
                        <a:t>Tikhonov a λ fijo no es el programa CONTIN completo.</a:t>
                      </a:r>
                    </a:p>
                  </a:txBody>
                  <a:tcPr>
                    <a:solidFill>
                      <a:srgbClr val="081522"/>
                    </a:solidFill>
                  </a:tcPr>
                </a:tc>
                <a:extLst>
                  <a:ext uri="{0D108BD9-81ED-4DB2-BD59-A6C34878D82A}">
                    <a16:rowId xmlns:a16="http://schemas.microsoft.com/office/drawing/2014/main" val="10002"/>
                  </a:ext>
                </a:extLst>
              </a:tr>
              <a:tr h="682625">
                <a:tc>
                  <a:txBody>
                    <a:bodyPr/>
                    <a:lstStyle/>
                    <a:p>
                      <a:r>
                        <a:rPr sz="1575" b="0">
                          <a:solidFill>
                            <a:srgbClr val="EAF3F4"/>
                          </a:solidFill>
                          <a:latin typeface="Segoe UI"/>
                          <a:ea typeface="Segoe UI"/>
                          <a:cs typeface="Segoe UI"/>
                        </a:rPr>
                        <a:t>SVD / TSVD</a:t>
                      </a:r>
                    </a:p>
                  </a:txBody>
                  <a:tcPr>
                    <a:solidFill>
                      <a:srgbClr val="081522"/>
                    </a:solidFill>
                  </a:tcPr>
                </a:tc>
                <a:tc>
                  <a:txBody>
                    <a:bodyPr/>
                    <a:lstStyle/>
                    <a:p>
                      <a:r>
                        <a:rPr sz="1575" b="0">
                          <a:solidFill>
                            <a:srgbClr val="EAF3F4"/>
                          </a:solidFill>
                          <a:latin typeface="Segoe UI"/>
                          <a:ea typeface="Segoe UI"/>
                          <a:cs typeface="Segoe UI"/>
                        </a:rPr>
                        <a:t>Diagnosticar rango informativo; comprimir el problema o truncar modos débiles.</a:t>
                      </a:r>
                    </a:p>
                  </a:txBody>
                  <a:tcPr>
                    <a:solidFill>
                      <a:srgbClr val="081522"/>
                    </a:solidFill>
                  </a:tcPr>
                </a:tc>
                <a:tc>
                  <a:txBody>
                    <a:bodyPr/>
                    <a:lstStyle/>
                    <a:p>
                      <a:r>
                        <a:rPr sz="1575" b="0">
                          <a:solidFill>
                            <a:srgbClr val="EAF3F4"/>
                          </a:solidFill>
                          <a:latin typeface="Segoe UI"/>
                          <a:ea typeface="Segoe UI"/>
                          <a:cs typeface="Segoe UI"/>
                        </a:rPr>
                        <a:t>SVD sola no garantiza positividad; más bins no crean resolución.</a:t>
                      </a:r>
                    </a:p>
                  </a:txBody>
                  <a:tcPr>
                    <a:solidFill>
                      <a:srgbClr val="081522"/>
                    </a:solidFill>
                  </a:tcPr>
                </a:tc>
                <a:extLst>
                  <a:ext uri="{0D108BD9-81ED-4DB2-BD59-A6C34878D82A}">
                    <a16:rowId xmlns:a16="http://schemas.microsoft.com/office/drawing/2014/main" val="10003"/>
                  </a:ext>
                </a:extLst>
              </a:tr>
              <a:tr h="682625">
                <a:tc>
                  <a:txBody>
                    <a:bodyPr/>
                    <a:lstStyle/>
                    <a:p>
                      <a:r>
                        <a:rPr sz="1575" b="0">
                          <a:solidFill>
                            <a:srgbClr val="EAF3F4"/>
                          </a:solidFill>
                          <a:latin typeface="Segoe UI"/>
                          <a:ea typeface="Segoe UI"/>
                          <a:cs typeface="Segoe UI"/>
                        </a:rPr>
                        <a:t>FISTA</a:t>
                      </a:r>
                    </a:p>
                  </a:txBody>
                  <a:tcPr>
                    <a:solidFill>
                      <a:srgbClr val="081522"/>
                    </a:solidFill>
                  </a:tcPr>
                </a:tc>
                <a:tc>
                  <a:txBody>
                    <a:bodyPr/>
                    <a:lstStyle/>
                    <a:p>
                      <a:r>
                        <a:rPr sz="1575" b="0">
                          <a:solidFill>
                            <a:srgbClr val="EAF3F4"/>
                          </a:solidFill>
                          <a:latin typeface="Segoe UI"/>
                          <a:ea typeface="Segoe UI"/>
                          <a:cs typeface="Segoe UI"/>
                        </a:rPr>
                        <a:t>Motor numérico para objetivos L1 o L2 con proyección/proximales.</a:t>
                      </a:r>
                    </a:p>
                  </a:txBody>
                  <a:tcPr>
                    <a:solidFill>
                      <a:srgbClr val="081522"/>
                    </a:solidFill>
                  </a:tcPr>
                </a:tc>
                <a:tc>
                  <a:txBody>
                    <a:bodyPr/>
                    <a:lstStyle/>
                    <a:p>
                      <a:r>
                        <a:rPr sz="1575" b="0">
                          <a:solidFill>
                            <a:srgbClr val="EAF3F4"/>
                          </a:solidFill>
                          <a:latin typeface="Segoe UI"/>
                          <a:ea typeface="Segoe UI"/>
                          <a:cs typeface="Segoe UI"/>
                        </a:rPr>
                        <a:t>El motor no define por sí mismo el prior ni el experimento.</a:t>
                      </a:r>
                    </a:p>
                  </a:txBody>
                  <a:tcPr>
                    <a:solidFill>
                      <a:srgbClr val="081522"/>
                    </a:solidFill>
                  </a:tcPr>
                </a:tc>
                <a:extLst>
                  <a:ext uri="{0D108BD9-81ED-4DB2-BD59-A6C34878D82A}">
                    <a16:rowId xmlns:a16="http://schemas.microsoft.com/office/drawing/2014/main" val="10004"/>
                  </a:ext>
                </a:extLst>
              </a:tr>
              <a:tr h="682625">
                <a:tc>
                  <a:txBody>
                    <a:bodyPr/>
                    <a:lstStyle/>
                    <a:p>
                      <a:r>
                        <a:rPr sz="1575" b="0">
                          <a:solidFill>
                            <a:srgbClr val="EAF3F4"/>
                          </a:solidFill>
                          <a:latin typeface="Segoe UI"/>
                          <a:ea typeface="Segoe UI"/>
                          <a:cs typeface="Segoe UI"/>
                        </a:rPr>
                        <a:t>UPEN / 2DUPEN / MUPEN2D</a:t>
                      </a:r>
                    </a:p>
                  </a:txBody>
                  <a:tcPr>
                    <a:solidFill>
                      <a:srgbClr val="081522"/>
                    </a:solidFill>
                  </a:tcPr>
                </a:tc>
                <a:tc>
                  <a:txBody>
                    <a:bodyPr/>
                    <a:lstStyle/>
                    <a:p>
                      <a:r>
                        <a:rPr sz="1575" b="0">
                          <a:solidFill>
                            <a:srgbClr val="EAF3F4"/>
                          </a:solidFill>
                          <a:latin typeface="Segoe UI"/>
                          <a:ea typeface="Segoe UI"/>
                          <a:cs typeface="Segoe UI"/>
                        </a:rPr>
                        <a:t>Suavizado local adaptativo para máximos estrechos y regiones anchas.</a:t>
                      </a:r>
                    </a:p>
                  </a:txBody>
                  <a:tcPr>
                    <a:solidFill>
                      <a:srgbClr val="081522"/>
                    </a:solidFill>
                  </a:tcPr>
                </a:tc>
                <a:tc>
                  <a:txBody>
                    <a:bodyPr/>
                    <a:lstStyle/>
                    <a:p>
                      <a:r>
                        <a:rPr sz="1575" b="0">
                          <a:solidFill>
                            <a:srgbClr val="EAF3F4"/>
                          </a:solidFill>
                          <a:latin typeface="Segoe UI"/>
                          <a:ea typeface="Segoe UI"/>
                          <a:cs typeface="Segoe UI"/>
                        </a:rPr>
                        <a:t>Indicar versión, positividad y operadores; no equiparar a curvature_reweighted genérico.</a:t>
                      </a:r>
                    </a:p>
                  </a:txBody>
                  <a:tcPr>
                    <a:solidFill>
                      <a:srgbClr val="081522"/>
                    </a:solidFill>
                  </a:tcPr>
                </a:tc>
                <a:extLst>
                  <a:ext uri="{0D108BD9-81ED-4DB2-BD59-A6C34878D82A}">
                    <a16:rowId xmlns:a16="http://schemas.microsoft.com/office/drawing/2014/main" val="10005"/>
                  </a:ext>
                </a:extLst>
              </a:tr>
            </a:tbl>
          </a:graphicData>
        </a:graphic>
      </p:graphicFrame>
      <p:sp>
        <p:nvSpPr>
          <p:cNvPr id="4" name="text_98">
            <a:extLst>
              <a:ext uri="{FF2B5EF4-FFF2-40B4-BE49-F238E27FC236}">
                <a16:creationId xmlns:a16="http://schemas.microsoft.com/office/drawing/2014/main" id="{9B3D1474-F456-4F1F-8E31-6ACD761BCF76}"/>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54150596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BD7C5464-4671-4485-84EB-AFA08FF6534D}"/>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40</a:t>
            </a:r>
          </a:p>
        </p:txBody>
      </p:sp>
      <p:sp>
        <p:nvSpPr>
          <p:cNvPr id="2" name="slide_title">
            <a:extLst>
              <a:ext uri="{FF2B5EF4-FFF2-40B4-BE49-F238E27FC236}">
                <a16:creationId xmlns:a16="http://schemas.microsoft.com/office/drawing/2014/main" id="{31CAD90D-FA14-402F-9F0C-71936735B2CA}"/>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Contexto · multidimensional y aprendizaje</a:t>
            </a:r>
          </a:p>
        </p:txBody>
      </p:sp>
      <p:graphicFrame>
        <p:nvGraphicFramePr>
          <p:cNvPr id="3" name="Tabla 2">
            <a:extLst>
              <a:ext uri="{FF2B5EF4-FFF2-40B4-BE49-F238E27FC236}">
                <a16:creationId xmlns:a16="http://schemas.microsoft.com/office/drawing/2014/main" id="{0B461E1A-4048-4BDF-9747-FDF8D3408795}"/>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819150">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819150">
                <a:tc>
                  <a:txBody>
                    <a:bodyPr/>
                    <a:lstStyle/>
                    <a:p>
                      <a:r>
                        <a:rPr sz="1575" b="0">
                          <a:solidFill>
                            <a:srgbClr val="EAF3F4"/>
                          </a:solidFill>
                          <a:latin typeface="Segoe UI"/>
                          <a:ea typeface="Segoe UI"/>
                          <a:cs typeface="Segoe UI"/>
                        </a:rPr>
                        <a:t>EDMILT</a:t>
                      </a:r>
                    </a:p>
                  </a:txBody>
                  <a:tcPr>
                    <a:solidFill>
                      <a:srgbClr val="081522"/>
                    </a:solidFill>
                  </a:tcPr>
                </a:tc>
                <a:tc>
                  <a:txBody>
                    <a:bodyPr/>
                    <a:lstStyle/>
                    <a:p>
                      <a:r>
                        <a:rPr sz="1575" b="0">
                          <a:solidFill>
                            <a:srgbClr val="EAF3F4"/>
                          </a:solidFill>
                          <a:latin typeface="Segoe UI"/>
                          <a:ea typeface="Segoe UI"/>
                          <a:cs typeface="Segoe UI"/>
                        </a:rPr>
                        <a:t>ILT multidimensional con regularización adaptada; correlaciones D–T₂/T₁–T₂.</a:t>
                      </a:r>
                    </a:p>
                  </a:txBody>
                  <a:tcPr>
                    <a:solidFill>
                      <a:srgbClr val="081522"/>
                    </a:solidFill>
                  </a:tcPr>
                </a:tc>
                <a:tc>
                  <a:txBody>
                    <a:bodyPr/>
                    <a:lstStyle/>
                    <a:p>
                      <a:r>
                        <a:rPr sz="1575" b="0">
                          <a:solidFill>
                            <a:srgbClr val="EAF3F4"/>
                          </a:solidFill>
                          <a:latin typeface="Segoe UI"/>
                          <a:ea typeface="Segoe UI"/>
                          <a:cs typeface="Segoe UI"/>
                        </a:rPr>
                        <a:t>Requiere datos/operadores multidimensionales; no se asume implementado en el selector Prime.</a:t>
                      </a:r>
                    </a:p>
                  </a:txBody>
                  <a:tcPr>
                    <a:solidFill>
                      <a:srgbClr val="081522"/>
                    </a:solidFill>
                  </a:tcPr>
                </a:tc>
                <a:extLst>
                  <a:ext uri="{0D108BD9-81ED-4DB2-BD59-A6C34878D82A}">
                    <a16:rowId xmlns:a16="http://schemas.microsoft.com/office/drawing/2014/main" val="10001"/>
                  </a:ext>
                </a:extLst>
              </a:tr>
              <a:tr h="819150">
                <a:tc>
                  <a:txBody>
                    <a:bodyPr/>
                    <a:lstStyle/>
                    <a:p>
                      <a:r>
                        <a:rPr sz="1575" b="0">
                          <a:solidFill>
                            <a:srgbClr val="EAF3F4"/>
                          </a:solidFill>
                          <a:latin typeface="Segoe UI"/>
                          <a:ea typeface="Segoe UI"/>
                          <a:cs typeface="Segoe UI"/>
                        </a:rPr>
                        <a:t>DRECT</a:t>
                      </a:r>
                    </a:p>
                  </a:txBody>
                  <a:tcPr>
                    <a:solidFill>
                      <a:srgbClr val="081522"/>
                    </a:solidFill>
                  </a:tcPr>
                </a:tc>
                <a:tc>
                  <a:txBody>
                    <a:bodyPr/>
                    <a:lstStyle/>
                    <a:p>
                      <a:r>
                        <a:rPr sz="1575" b="0">
                          <a:solidFill>
                            <a:srgbClr val="EAF3F4"/>
                          </a:solidFill>
                          <a:latin typeface="Segoe UI"/>
                          <a:ea typeface="Segoe UI"/>
                          <a:cs typeface="Segoe UI"/>
                        </a:rPr>
                        <a:t>Reconstrucción aprendida de mapas Laplace a partir de entrenamiento sintético.</a:t>
                      </a:r>
                    </a:p>
                  </a:txBody>
                  <a:tcPr>
                    <a:solidFill>
                      <a:srgbClr val="081522"/>
                    </a:solidFill>
                  </a:tcPr>
                </a:tc>
                <a:tc>
                  <a:txBody>
                    <a:bodyPr/>
                    <a:lstStyle/>
                    <a:p>
                      <a:r>
                        <a:rPr sz="1575" b="0">
                          <a:solidFill>
                            <a:srgbClr val="EAF3F4"/>
                          </a:solidFill>
                          <a:latin typeface="Segoe UI"/>
                          <a:ea typeface="Segoe UI"/>
                          <a:cs typeface="Segoe UI"/>
                        </a:rPr>
                        <a:t>Revisar kernel, SNR y dominio; un checkpoint no es validación local.</a:t>
                      </a:r>
                    </a:p>
                  </a:txBody>
                  <a:tcPr>
                    <a:solidFill>
                      <a:srgbClr val="081522"/>
                    </a:solidFill>
                  </a:tcPr>
                </a:tc>
                <a:extLst>
                  <a:ext uri="{0D108BD9-81ED-4DB2-BD59-A6C34878D82A}">
                    <a16:rowId xmlns:a16="http://schemas.microsoft.com/office/drawing/2014/main" val="10002"/>
                  </a:ext>
                </a:extLst>
              </a:tr>
              <a:tr h="819150">
                <a:tc>
                  <a:txBody>
                    <a:bodyPr/>
                    <a:lstStyle/>
                    <a:p>
                      <a:r>
                        <a:rPr sz="1575" b="0">
                          <a:solidFill>
                            <a:srgbClr val="EAF3F4"/>
                          </a:solidFill>
                          <a:latin typeface="Segoe UI"/>
                          <a:ea typeface="Segoe UI"/>
                          <a:cs typeface="Segoe UI"/>
                        </a:rPr>
                        <a:t>DREAM</a:t>
                      </a:r>
                    </a:p>
                  </a:txBody>
                  <a:tcPr>
                    <a:solidFill>
                      <a:srgbClr val="081522"/>
                    </a:solidFill>
                  </a:tcPr>
                </a:tc>
                <a:tc>
                  <a:txBody>
                    <a:bodyPr/>
                    <a:lstStyle/>
                    <a:p>
                      <a:r>
                        <a:rPr sz="1575" b="0">
                          <a:solidFill>
                            <a:srgbClr val="EAF3F4"/>
                          </a:solidFill>
                          <a:latin typeface="Segoe UI"/>
                          <a:ea typeface="Segoe UI"/>
                          <a:cs typeface="Segoe UI"/>
                        </a:rPr>
                        <a:t>Reconstrucción aprendida con estimación de incertidumbre aleatoria.</a:t>
                      </a:r>
                    </a:p>
                  </a:txBody>
                  <a:tcPr>
                    <a:solidFill>
                      <a:srgbClr val="081522"/>
                    </a:solidFill>
                  </a:tcPr>
                </a:tc>
                <a:tc>
                  <a:txBody>
                    <a:bodyPr/>
                    <a:lstStyle/>
                    <a:p>
                      <a:r>
                        <a:rPr sz="1575" b="0">
                          <a:solidFill>
                            <a:srgbClr val="EAF3F4"/>
                          </a:solidFill>
                          <a:latin typeface="Segoe UI"/>
                          <a:ea typeface="Segoe UI"/>
                          <a:cs typeface="Segoe UI"/>
                        </a:rPr>
                        <a:t>Incertidumbre de la red no certifica identidad ni cobertura fuera del entrenamiento.</a:t>
                      </a:r>
                    </a:p>
                  </a:txBody>
                  <a:tcPr>
                    <a:solidFill>
                      <a:srgbClr val="081522"/>
                    </a:solidFill>
                  </a:tcPr>
                </a:tc>
                <a:extLst>
                  <a:ext uri="{0D108BD9-81ED-4DB2-BD59-A6C34878D82A}">
                    <a16:rowId xmlns:a16="http://schemas.microsoft.com/office/drawing/2014/main" val="10003"/>
                  </a:ext>
                </a:extLst>
              </a:tr>
              <a:tr h="819150">
                <a:tc>
                  <a:txBody>
                    <a:bodyPr/>
                    <a:lstStyle/>
                    <a:p>
                      <a:r>
                        <a:rPr sz="1575" b="0">
                          <a:solidFill>
                            <a:srgbClr val="EAF3F4"/>
                          </a:solidFill>
                          <a:latin typeface="Segoe UI"/>
                          <a:ea typeface="Segoe UI"/>
                          <a:cs typeface="Segoe UI"/>
                        </a:rPr>
                        <a:t>CoMeF / DOSY-Net / DLEMLR / DILT</a:t>
                      </a:r>
                    </a:p>
                  </a:txBody>
                  <a:tcPr>
                    <a:solidFill>
                      <a:srgbClr val="081522"/>
                    </a:solidFill>
                  </a:tcPr>
                </a:tc>
                <a:tc>
                  <a:txBody>
                    <a:bodyPr/>
                    <a:lstStyle/>
                    <a:p>
                      <a:r>
                        <a:rPr sz="1575" b="0">
                          <a:solidFill>
                            <a:srgbClr val="EAF3F4"/>
                          </a:solidFill>
                          <a:latin typeface="Segoe UI"/>
                          <a:ea typeface="Segoe UI"/>
                          <a:cs typeface="Segoe UI"/>
                        </a:rPr>
                        <a:t>Otras arquitecturas aprendidas para ILT/DOSY/multidimensional.</a:t>
                      </a:r>
                    </a:p>
                  </a:txBody>
                  <a:tcPr>
                    <a:solidFill>
                      <a:srgbClr val="081522"/>
                    </a:solidFill>
                  </a:tcPr>
                </a:tc>
                <a:tc>
                  <a:txBody>
                    <a:bodyPr/>
                    <a:lstStyle/>
                    <a:p>
                      <a:r>
                        <a:rPr sz="1575" b="0">
                          <a:solidFill>
                            <a:srgbClr val="EAF3F4"/>
                          </a:solidFill>
                          <a:latin typeface="Segoe UI"/>
                          <a:ea typeface="Segoe UI"/>
                          <a:cs typeface="Segoe UI"/>
                        </a:rPr>
                        <a:t>Revisar arquitectura, pesos y dominio; código archivado no implica uso en Prime.</a:t>
                      </a:r>
                    </a:p>
                  </a:txBody>
                  <a:tcPr>
                    <a:solidFill>
                      <a:srgbClr val="081522"/>
                    </a:solidFill>
                  </a:tcPr>
                </a:tc>
                <a:extLst>
                  <a:ext uri="{0D108BD9-81ED-4DB2-BD59-A6C34878D82A}">
                    <a16:rowId xmlns:a16="http://schemas.microsoft.com/office/drawing/2014/main" val="10004"/>
                  </a:ext>
                </a:extLst>
              </a:tr>
            </a:tbl>
          </a:graphicData>
        </a:graphic>
      </p:graphicFrame>
      <p:sp>
        <p:nvSpPr>
          <p:cNvPr id="4" name="text_99">
            <a:extLst>
              <a:ext uri="{FF2B5EF4-FFF2-40B4-BE49-F238E27FC236}">
                <a16:creationId xmlns:a16="http://schemas.microsoft.com/office/drawing/2014/main" id="{88A77274-F4EF-4BE7-A1C4-30B566BDECA3}"/>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61234961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5" name="slide_number">
            <a:extLst>
              <a:ext uri="{FF2B5EF4-FFF2-40B4-BE49-F238E27FC236}">
                <a16:creationId xmlns:a16="http://schemas.microsoft.com/office/drawing/2014/main" id="{0A0AAD74-1624-4964-8406-62DCD11E6D49}"/>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41</a:t>
            </a:r>
          </a:p>
        </p:txBody>
      </p:sp>
      <p:sp>
        <p:nvSpPr>
          <p:cNvPr id="2" name="slide_title">
            <a:extLst>
              <a:ext uri="{FF2B5EF4-FFF2-40B4-BE49-F238E27FC236}">
                <a16:creationId xmlns:a16="http://schemas.microsoft.com/office/drawing/2014/main" id="{1C4AC671-DA04-45C6-8468-682332C50E95}"/>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00" b="1">
                <a:solidFill>
                  <a:srgbClr val="EAF3F4"/>
                </a:solidFill>
                <a:latin typeface="Segoe UI"/>
                <a:ea typeface="Segoe UI"/>
                <a:cs typeface="Segoe UI"/>
              </a:defRPr>
            </a:defPPr>
          </a:lstStyle>
          <a:p>
            <a:pPr>
              <a:defRPr sz="3300" b="1">
                <a:solidFill>
                  <a:srgbClr val="EAF3F4"/>
                </a:solidFill>
                <a:latin typeface="Segoe UI"/>
                <a:ea typeface="Segoe UI"/>
                <a:cs typeface="Segoe UI"/>
              </a:defRPr>
            </a:pPr>
            <a:r>
              <a:rPr sz="3300" b="1">
                <a:solidFill>
                  <a:srgbClr val="EAF3F4"/>
                </a:solidFill>
                <a:latin typeface="Segoe UI"/>
                <a:ea typeface="Segoe UI"/>
                <a:cs typeface="Segoe UI"/>
              </a:rPr>
              <a:t>Contexto · discreto y selección</a:t>
            </a:r>
          </a:p>
        </p:txBody>
      </p:sp>
      <p:graphicFrame>
        <p:nvGraphicFramePr>
          <p:cNvPr id="3" name="Tabla 2">
            <a:extLst>
              <a:ext uri="{FF2B5EF4-FFF2-40B4-BE49-F238E27FC236}">
                <a16:creationId xmlns:a16="http://schemas.microsoft.com/office/drawing/2014/main" id="{3E263309-C80B-4877-A60E-13DF559104A9}"/>
              </a:ext>
            </a:extLst>
          </p:cNvPr>
          <p:cNvGraphicFramePr/>
          <p:nvPr/>
        </p:nvGraphicFramePr>
        <p:xfrm>
          <a:off x="514350" y="1743075"/>
          <a:ext cx="11163300" cy="4095750"/>
        </p:xfrm>
        <a:graphic>
          <a:graphicData uri="http://schemas.openxmlformats.org/drawingml/2006/table">
            <a:tbl>
              <a:tblPr/>
              <a:tblGrid>
                <a:gridCol w="2428875">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1023938">
                <a:tc>
                  <a:txBody>
                    <a:bodyPr/>
                    <a:lstStyle/>
                    <a:p>
                      <a:r>
                        <a:rPr sz="1575" b="1">
                          <a:solidFill>
                            <a:srgbClr val="EAF3F4"/>
                          </a:solidFill>
                          <a:latin typeface="Segoe UI"/>
                          <a:ea typeface="Segoe UI"/>
                          <a:cs typeface="Segoe UI"/>
                        </a:rPr>
                        <a:t>Método / componente</a:t>
                      </a:r>
                    </a:p>
                  </a:txBody>
                  <a:tcPr>
                    <a:solidFill>
                      <a:srgbClr val="1D3E50"/>
                    </a:solidFill>
                  </a:tcPr>
                </a:tc>
                <a:tc>
                  <a:txBody>
                    <a:bodyPr/>
                    <a:lstStyle/>
                    <a:p>
                      <a:r>
                        <a:rPr sz="1575" b="1">
                          <a:solidFill>
                            <a:srgbClr val="EAF3F4"/>
                          </a:solidFill>
                          <a:latin typeface="Segoe UI"/>
                          <a:ea typeface="Segoe UI"/>
                          <a:cs typeface="Segoe UI"/>
                        </a:rPr>
                        <a:t>Para qué se usa</a:t>
                      </a:r>
                    </a:p>
                  </a:txBody>
                  <a:tcPr>
                    <a:solidFill>
                      <a:srgbClr val="1D3E50"/>
                    </a:solidFill>
                  </a:tcPr>
                </a:tc>
                <a:tc>
                  <a:txBody>
                    <a:bodyPr/>
                    <a:lstStyle/>
                    <a:p>
                      <a:r>
                        <a:rPr sz="1575" b="1">
                          <a:solidFill>
                            <a:srgbClr val="EAF3F4"/>
                          </a:solidFill>
                          <a:latin typeface="Segoe UI"/>
                          <a:ea typeface="Segoe UI"/>
                          <a:cs typeface="Segoe UI"/>
                        </a:rPr>
                        <a:t>Precaución principal</a:t>
                      </a:r>
                    </a:p>
                  </a:txBody>
                  <a:tcPr>
                    <a:solidFill>
                      <a:srgbClr val="1D3E50"/>
                    </a:solidFill>
                  </a:tcPr>
                </a:tc>
                <a:extLst>
                  <a:ext uri="{0D108BD9-81ED-4DB2-BD59-A6C34878D82A}">
                    <a16:rowId xmlns:a16="http://schemas.microsoft.com/office/drawing/2014/main" val="10000"/>
                  </a:ext>
                </a:extLst>
              </a:tr>
              <a:tr h="1023938">
                <a:tc>
                  <a:txBody>
                    <a:bodyPr/>
                    <a:lstStyle/>
                    <a:p>
                      <a:r>
                        <a:rPr sz="1575" b="0">
                          <a:solidFill>
                            <a:srgbClr val="EAF3F4"/>
                          </a:solidFill>
                          <a:latin typeface="Segoe UI"/>
                          <a:ea typeface="Segoe UI"/>
                          <a:cs typeface="Segoe UI"/>
                        </a:rPr>
                        <a:t>DISCRETE / SPLMOD / Prony</a:t>
                      </a:r>
                    </a:p>
                  </a:txBody>
                  <a:tcPr>
                    <a:solidFill>
                      <a:srgbClr val="081522"/>
                    </a:solidFill>
                  </a:tcPr>
                </a:tc>
                <a:tc>
                  <a:txBody>
                    <a:bodyPr/>
                    <a:lstStyle/>
                    <a:p>
                      <a:r>
                        <a:rPr sz="1575" b="0">
                          <a:solidFill>
                            <a:srgbClr val="EAF3F4"/>
                          </a:solidFill>
                          <a:latin typeface="Segoe UI"/>
                          <a:ea typeface="Segoe UI"/>
                          <a:cs typeface="Segoe UI"/>
                        </a:rPr>
                        <a:t>Sumas de un número finito de exponenciales; polos y amplitudes.</a:t>
                      </a:r>
                    </a:p>
                  </a:txBody>
                  <a:tcPr>
                    <a:solidFill>
                      <a:srgbClr val="081522"/>
                    </a:solidFill>
                  </a:tcPr>
                </a:tc>
                <a:tc>
                  <a:txBody>
                    <a:bodyPr/>
                    <a:lstStyle/>
                    <a:p>
                      <a:r>
                        <a:rPr sz="1575" b="0">
                          <a:solidFill>
                            <a:srgbClr val="EAF3F4"/>
                          </a:solidFill>
                          <a:latin typeface="Segoe UI"/>
                          <a:ea typeface="Segoe UI"/>
                          <a:cs typeface="Segoe UI"/>
                        </a:rPr>
                        <a:t>Hipótesis discreta, orden y muestreo importan; no son una distribución continua.</a:t>
                      </a:r>
                    </a:p>
                  </a:txBody>
                  <a:tcPr>
                    <a:solidFill>
                      <a:srgbClr val="081522"/>
                    </a:solidFill>
                  </a:tcPr>
                </a:tc>
                <a:extLst>
                  <a:ext uri="{0D108BD9-81ED-4DB2-BD59-A6C34878D82A}">
                    <a16:rowId xmlns:a16="http://schemas.microsoft.com/office/drawing/2014/main" val="10001"/>
                  </a:ext>
                </a:extLst>
              </a:tr>
              <a:tr h="1023938">
                <a:tc>
                  <a:txBody>
                    <a:bodyPr/>
                    <a:lstStyle/>
                    <a:p>
                      <a:r>
                        <a:rPr sz="1575" b="0">
                          <a:solidFill>
                            <a:srgbClr val="EAF3F4"/>
                          </a:solidFill>
                          <a:latin typeface="Segoe UI"/>
                          <a:ea typeface="Segoe UI"/>
                          <a:cs typeface="Segoe UI"/>
                        </a:rPr>
                        <a:t>Landweber / CG / LSQR</a:t>
                      </a:r>
                    </a:p>
                  </a:txBody>
                  <a:tcPr>
                    <a:solidFill>
                      <a:srgbClr val="081522"/>
                    </a:solidFill>
                  </a:tcPr>
                </a:tc>
                <a:tc>
                  <a:txBody>
                    <a:bodyPr/>
                    <a:lstStyle/>
                    <a:p>
                      <a:r>
                        <a:rPr sz="1575" b="0">
                          <a:solidFill>
                            <a:srgbClr val="EAF3F4"/>
                          </a:solidFill>
                          <a:latin typeface="Segoe UI"/>
                          <a:ea typeface="Segoe UI"/>
                          <a:cs typeface="Segoe UI"/>
                        </a:rPr>
                        <a:t>Motores iterativos; parada temprana como regularización.</a:t>
                      </a:r>
                    </a:p>
                  </a:txBody>
                  <a:tcPr>
                    <a:solidFill>
                      <a:srgbClr val="081522"/>
                    </a:solidFill>
                  </a:tcPr>
                </a:tc>
                <a:tc>
                  <a:txBody>
                    <a:bodyPr/>
                    <a:lstStyle/>
                    <a:p>
                      <a:r>
                        <a:rPr sz="1575" b="0">
                          <a:solidFill>
                            <a:srgbClr val="EAF3F4"/>
                          </a:solidFill>
                          <a:latin typeface="Segoe UI"/>
                          <a:ea typeface="Segoe UI"/>
                          <a:cs typeface="Segoe UI"/>
                        </a:rPr>
                        <a:t>Convergencia del residuo no prueba resolución de componentes.</a:t>
                      </a:r>
                    </a:p>
                  </a:txBody>
                  <a:tcPr>
                    <a:solidFill>
                      <a:srgbClr val="081522"/>
                    </a:solidFill>
                  </a:tcPr>
                </a:tc>
                <a:extLst>
                  <a:ext uri="{0D108BD9-81ED-4DB2-BD59-A6C34878D82A}">
                    <a16:rowId xmlns:a16="http://schemas.microsoft.com/office/drawing/2014/main" val="10002"/>
                  </a:ext>
                </a:extLst>
              </a:tr>
              <a:tr h="1023938">
                <a:tc>
                  <a:txBody>
                    <a:bodyPr/>
                    <a:lstStyle/>
                    <a:p>
                      <a:r>
                        <a:rPr sz="1575" b="0">
                          <a:solidFill>
                            <a:srgbClr val="EAF3F4"/>
                          </a:solidFill>
                          <a:latin typeface="Segoe UI"/>
                          <a:ea typeface="Segoe UI"/>
                          <a:cs typeface="Segoe UI"/>
                        </a:rPr>
                        <a:t>Discrepancia / L-curve / GCV</a:t>
                      </a:r>
                    </a:p>
                  </a:txBody>
                  <a:tcPr>
                    <a:solidFill>
                      <a:srgbClr val="081522"/>
                    </a:solidFill>
                  </a:tcPr>
                </a:tc>
                <a:tc>
                  <a:txBody>
                    <a:bodyPr/>
                    <a:lstStyle/>
                    <a:p>
                      <a:r>
                        <a:rPr sz="1575" b="0">
                          <a:solidFill>
                            <a:srgbClr val="EAF3F4"/>
                          </a:solidFill>
                          <a:latin typeface="Segoe UI"/>
                          <a:ea typeface="Segoe UI"/>
                          <a:cs typeface="Segoe UI"/>
                        </a:rPr>
                        <a:t>Elegir regularización o rango y estudiar estabilidad/incertidumbre.</a:t>
                      </a:r>
                    </a:p>
                  </a:txBody>
                  <a:tcPr>
                    <a:solidFill>
                      <a:srgbClr val="081522"/>
                    </a:solidFill>
                  </a:tcPr>
                </a:tc>
                <a:tc>
                  <a:txBody>
                    <a:bodyPr/>
                    <a:lstStyle/>
                    <a:p>
                      <a:r>
                        <a:rPr sz="1575" b="0">
                          <a:solidFill>
                            <a:srgbClr val="EAF3F4"/>
                          </a:solidFill>
                          <a:latin typeface="Segoe UI"/>
                          <a:ea typeface="Segoe UI"/>
                          <a:cs typeface="Segoe UI"/>
                        </a:rPr>
                        <a:t>Son estrategias de selección/diagnóstico; no nuevos solvers ni verdad experimental.</a:t>
                      </a:r>
                    </a:p>
                  </a:txBody>
                  <a:tcPr>
                    <a:solidFill>
                      <a:srgbClr val="081522"/>
                    </a:solidFill>
                  </a:tcPr>
                </a:tc>
                <a:extLst>
                  <a:ext uri="{0D108BD9-81ED-4DB2-BD59-A6C34878D82A}">
                    <a16:rowId xmlns:a16="http://schemas.microsoft.com/office/drawing/2014/main" val="10003"/>
                  </a:ext>
                </a:extLst>
              </a:tr>
            </a:tbl>
          </a:graphicData>
        </a:graphic>
      </p:graphicFrame>
      <p:sp>
        <p:nvSpPr>
          <p:cNvPr id="4" name="text_100">
            <a:extLst>
              <a:ext uri="{FF2B5EF4-FFF2-40B4-BE49-F238E27FC236}">
                <a16:creationId xmlns:a16="http://schemas.microsoft.com/office/drawing/2014/main" id="{73C50576-2516-4295-A86E-300EE7A24F27}"/>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Catálogo de consulta · detalle, disponibilidad y fuentes en notas y CSV / TXT adjunto</a:t>
            </a:r>
          </a:p>
        </p:txBody>
      </p:sp>
    </p:spTree>
    <p:extLst>
      <p:ext uri="{BB962C8B-B14F-4D97-AF65-F5344CB8AC3E}">
        <p14:creationId xmlns:p14="http://schemas.microsoft.com/office/powerpoint/2010/main" val="31841182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5F5F0"/>
        </a:solidFill>
        <a:effectLst/>
      </p:bgPr>
    </p:bg>
    <p:spTree>
      <p:nvGrpSpPr>
        <p:cNvPr id="1" name=""/>
        <p:cNvGrpSpPr/>
        <p:nvPr/>
      </p:nvGrpSpPr>
      <p:grpSpPr>
        <a:xfrm>
          <a:off x="0" y="0"/>
          <a:ext cx="0" cy="0"/>
          <a:chOff x="0" y="0"/>
          <a:chExt cx="0" cy="0"/>
        </a:xfrm>
      </p:grpSpPr>
      <p:sp>
        <p:nvSpPr>
          <p:cNvPr id="7" name="slide_number">
            <a:extLst>
              <a:ext uri="{FF2B5EF4-FFF2-40B4-BE49-F238E27FC236}">
                <a16:creationId xmlns:a16="http://schemas.microsoft.com/office/drawing/2014/main" id="{D7F1FE50-5B1F-498A-9864-F924EB1171A4}"/>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42</a:t>
            </a:r>
          </a:p>
        </p:txBody>
      </p:sp>
      <p:sp>
        <p:nvSpPr>
          <p:cNvPr id="2" name="slide_title">
            <a:extLst>
              <a:ext uri="{FF2B5EF4-FFF2-40B4-BE49-F238E27FC236}">
                <a16:creationId xmlns:a16="http://schemas.microsoft.com/office/drawing/2014/main" id="{81DB5210-543D-4049-97B8-0F9EDC9F9D2D}"/>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675" b="1">
                <a:solidFill>
                  <a:srgbClr val="123447"/>
                </a:solidFill>
                <a:latin typeface="Segoe UI"/>
                <a:ea typeface="Segoe UI"/>
                <a:cs typeface="Segoe UI"/>
              </a:defRPr>
            </a:defPPr>
          </a:lstStyle>
          <a:p>
            <a:pPr>
              <a:defRPr sz="3675" b="1">
                <a:solidFill>
                  <a:srgbClr val="123447"/>
                </a:solidFill>
                <a:latin typeface="Segoe UI"/>
                <a:ea typeface="Segoe UI"/>
                <a:cs typeface="Segoe UI"/>
              </a:defRPr>
            </a:pPr>
            <a:r>
              <a:rPr sz="3675" b="1">
                <a:solidFill>
                  <a:srgbClr val="123447"/>
                </a:solidFill>
                <a:latin typeface="Segoe UI"/>
                <a:ea typeface="Segoe UI"/>
                <a:cs typeface="Segoe UI"/>
              </a:rPr>
              <a:t>Ecuaciones según secuencia</a:t>
            </a:r>
          </a:p>
        </p:txBody>
      </p:sp>
      <p:sp>
        <p:nvSpPr>
          <p:cNvPr id="3" name="text_101">
            <a:extLst>
              <a:ext uri="{FF2B5EF4-FFF2-40B4-BE49-F238E27FC236}">
                <a16:creationId xmlns:a16="http://schemas.microsoft.com/office/drawing/2014/main" id="{C2CAA3EB-3BBF-484D-ADAD-6A01A25101A0}"/>
              </a:ext>
            </a:extLst>
          </p:cNvPr>
          <p:cNvSpPr>
            <a:spLocks noGrp="1"/>
          </p:cNvSpPr>
          <p:nvPr/>
        </p:nvSpPr>
        <p:spPr>
          <a:xfrm>
            <a:off x="571500" y="1657350"/>
            <a:ext cx="11020425" cy="609600"/>
          </a:xfrm>
          <a:prstGeom prst="rect">
            <a:avLst/>
          </a:prstGeom>
          <a:noFill/>
          <a:ln w="0">
            <a:noFill/>
          </a:ln>
        </p:spPr>
        <p:txBody>
          <a:bodyPr lIns="0" tIns="0" rIns="0" bIns="0">
            <a:noAutofit/>
          </a:bodyPr>
          <a:lstStyle>
            <a:defPPr>
              <a:defRPr sz="2925" b="1">
                <a:solidFill>
                  <a:srgbClr val="087E98"/>
                </a:solidFill>
                <a:latin typeface="Segoe UI"/>
                <a:ea typeface="Segoe UI"/>
                <a:cs typeface="Segoe UI"/>
              </a:defRPr>
            </a:defPPr>
          </a:lstStyle>
          <a:p>
            <a:pPr>
              <a:defRPr sz="2925" b="1">
                <a:solidFill>
                  <a:srgbClr val="087E98"/>
                </a:solidFill>
                <a:latin typeface="Segoe UI"/>
                <a:ea typeface="Segoe UI"/>
                <a:cs typeface="Segoe UI"/>
              </a:defRPr>
            </a:pPr>
            <a:r>
              <a:rPr sz="2925" b="1">
                <a:solidFill>
                  <a:srgbClr val="087E98"/>
                </a:solidFill>
                <a:latin typeface="Segoe UI"/>
                <a:ea typeface="Segoe UI"/>
                <a:cs typeface="Segoe UI"/>
              </a:rPr>
              <a:t>b = (γgδ)² F</a:t>
            </a:r>
          </a:p>
        </p:txBody>
      </p:sp>
      <p:graphicFrame>
        <p:nvGraphicFramePr>
          <p:cNvPr id="4" name="Tabla 3">
            <a:extLst>
              <a:ext uri="{FF2B5EF4-FFF2-40B4-BE49-F238E27FC236}">
                <a16:creationId xmlns:a16="http://schemas.microsoft.com/office/drawing/2014/main" id="{0BD48495-BE4E-47F2-A665-1BD6A36BA362}"/>
              </a:ext>
            </a:extLst>
          </p:cNvPr>
          <p:cNvGraphicFramePr/>
          <p:nvPr/>
        </p:nvGraphicFramePr>
        <p:xfrm>
          <a:off x="552450" y="2524125"/>
          <a:ext cx="11087100" cy="2400300"/>
        </p:xfrm>
        <a:graphic>
          <a:graphicData uri="http://schemas.openxmlformats.org/drawingml/2006/table">
            <a:tbl>
              <a:tblPr/>
              <a:tblGrid>
                <a:gridCol w="5048250">
                  <a:extLst>
                    <a:ext uri="{9D8B030D-6E8A-4147-A177-3AD203B41FA5}">
                      <a16:colId xmlns:a16="http://schemas.microsoft.com/office/drawing/2014/main" val="20000"/>
                    </a:ext>
                  </a:extLst>
                </a:gridCol>
                <a:gridCol w="6038850">
                  <a:extLst>
                    <a:ext uri="{9D8B030D-6E8A-4147-A177-3AD203B41FA5}">
                      <a16:colId xmlns:a16="http://schemas.microsoft.com/office/drawing/2014/main" val="20001"/>
                    </a:ext>
                  </a:extLst>
                </a:gridCol>
              </a:tblGrid>
              <a:tr h="600075">
                <a:tc>
                  <a:txBody>
                    <a:bodyPr/>
                    <a:lstStyle/>
                    <a:p>
                      <a:r>
                        <a:rPr sz="2250" b="1">
                          <a:solidFill>
                            <a:srgbClr val="EAF3F4"/>
                          </a:solidFill>
                          <a:latin typeface="Segoe UI"/>
                          <a:ea typeface="Segoe UI"/>
                          <a:cs typeface="Segoe UI"/>
                        </a:rPr>
                        <a:t>Gradientes rectangulares</a:t>
                      </a:r>
                    </a:p>
                  </a:txBody>
                  <a:tcPr>
                    <a:solidFill>
                      <a:srgbClr val="123447"/>
                    </a:solidFill>
                  </a:tcPr>
                </a:tc>
                <a:tc>
                  <a:txBody>
                    <a:bodyPr/>
                    <a:lstStyle/>
                    <a:p>
                      <a:r>
                        <a:rPr sz="2250" b="1">
                          <a:solidFill>
                            <a:srgbClr val="EAF3F4"/>
                          </a:solidFill>
                          <a:latin typeface="Segoe UI"/>
                          <a:ea typeface="Segoe UI"/>
                          <a:cs typeface="Segoe UI"/>
                        </a:rPr>
                        <a:t>F</a:t>
                      </a:r>
                    </a:p>
                  </a:txBody>
                  <a:tcPr>
                    <a:solidFill>
                      <a:srgbClr val="123447"/>
                    </a:solidFill>
                  </a:tcPr>
                </a:tc>
                <a:extLst>
                  <a:ext uri="{0D108BD9-81ED-4DB2-BD59-A6C34878D82A}">
                    <a16:rowId xmlns:a16="http://schemas.microsoft.com/office/drawing/2014/main" val="10000"/>
                  </a:ext>
                </a:extLst>
              </a:tr>
              <a:tr h="600075">
                <a:tc>
                  <a:txBody>
                    <a:bodyPr/>
                    <a:lstStyle/>
                    <a:p>
                      <a:r>
                        <a:rPr sz="2250" b="0">
                          <a:solidFill>
                            <a:srgbClr val="123447"/>
                          </a:solidFill>
                          <a:latin typeface="Segoe UI"/>
                          <a:ea typeface="Segoe UI"/>
                          <a:cs typeface="Segoe UI"/>
                        </a:rPr>
                        <a:t>PGSE / PGSTE</a:t>
                      </a:r>
                    </a:p>
                  </a:txBody>
                  <a:tcPr>
                    <a:solidFill>
                      <a:srgbClr val="F5F5F0"/>
                    </a:solidFill>
                  </a:tcPr>
                </a:tc>
                <a:tc>
                  <a:txBody>
                    <a:bodyPr/>
                    <a:lstStyle/>
                    <a:p>
                      <a:r>
                        <a:rPr sz="2250" b="0">
                          <a:solidFill>
                            <a:srgbClr val="123447"/>
                          </a:solidFill>
                          <a:latin typeface="Segoe UI"/>
                          <a:ea typeface="Segoe UI"/>
                          <a:cs typeface="Segoe UI"/>
                        </a:rPr>
                        <a:t>Δ − δ/3</a:t>
                      </a:r>
                    </a:p>
                  </a:txBody>
                  <a:tcPr>
                    <a:solidFill>
                      <a:srgbClr val="F5F5F0"/>
                    </a:solidFill>
                  </a:tcPr>
                </a:tc>
                <a:extLst>
                  <a:ext uri="{0D108BD9-81ED-4DB2-BD59-A6C34878D82A}">
                    <a16:rowId xmlns:a16="http://schemas.microsoft.com/office/drawing/2014/main" val="10001"/>
                  </a:ext>
                </a:extLst>
              </a:tr>
              <a:tr h="600075">
                <a:tc>
                  <a:txBody>
                    <a:bodyPr/>
                    <a:lstStyle/>
                    <a:p>
                      <a:r>
                        <a:rPr sz="2250" b="0">
                          <a:solidFill>
                            <a:srgbClr val="123447"/>
                          </a:solidFill>
                          <a:latin typeface="Segoe UI"/>
                          <a:ea typeface="Segoe UI"/>
                          <a:cs typeface="Segoe UI"/>
                        </a:rPr>
                        <a:t>Bipolar equilibrada</a:t>
                      </a:r>
                    </a:p>
                  </a:txBody>
                  <a:tcPr>
                    <a:solidFill>
                      <a:srgbClr val="F5F5F0"/>
                    </a:solidFill>
                  </a:tcPr>
                </a:tc>
                <a:tc>
                  <a:txBody>
                    <a:bodyPr/>
                    <a:lstStyle/>
                    <a:p>
                      <a:r>
                        <a:rPr sz="2250" b="0">
                          <a:solidFill>
                            <a:srgbClr val="123447"/>
                          </a:solidFill>
                          <a:latin typeface="Segoe UI"/>
                          <a:ea typeface="Segoe UI"/>
                          <a:cs typeface="Segoe UI"/>
                        </a:rPr>
                        <a:t>Δ − δ/3 − τ/2</a:t>
                      </a:r>
                    </a:p>
                  </a:txBody>
                  <a:tcPr>
                    <a:solidFill>
                      <a:srgbClr val="F5F5F0"/>
                    </a:solidFill>
                  </a:tcPr>
                </a:tc>
                <a:extLst>
                  <a:ext uri="{0D108BD9-81ED-4DB2-BD59-A6C34878D82A}">
                    <a16:rowId xmlns:a16="http://schemas.microsoft.com/office/drawing/2014/main" val="10002"/>
                  </a:ext>
                </a:extLst>
              </a:tr>
              <a:tr h="600075">
                <a:tc>
                  <a:txBody>
                    <a:bodyPr/>
                    <a:lstStyle/>
                    <a:p>
                      <a:r>
                        <a:rPr sz="2250" b="0">
                          <a:solidFill>
                            <a:srgbClr val="123447"/>
                          </a:solidFill>
                          <a:latin typeface="Segoe UI"/>
                          <a:ea typeface="Segoe UI"/>
                          <a:cs typeface="Segoe UI"/>
                        </a:rPr>
                        <a:t>Doble bipolar</a:t>
                      </a:r>
                    </a:p>
                  </a:txBody>
                  <a:tcPr>
                    <a:solidFill>
                      <a:srgbClr val="F5F5F0"/>
                    </a:solidFill>
                  </a:tcPr>
                </a:tc>
                <a:tc>
                  <a:txBody>
                    <a:bodyPr/>
                    <a:lstStyle/>
                    <a:p>
                      <a:r>
                        <a:rPr sz="2250" b="0">
                          <a:solidFill>
                            <a:srgbClr val="123447"/>
                          </a:solidFill>
                          <a:latin typeface="Segoe UI"/>
                          <a:ea typeface="Segoe UI"/>
                          <a:cs typeface="Segoe UI"/>
                        </a:rPr>
                        <a:t>Δ − 2δ/3 − (τ₁ + τ₂)/2</a:t>
                      </a:r>
                    </a:p>
                  </a:txBody>
                  <a:tcPr>
                    <a:solidFill>
                      <a:srgbClr val="F5F5F0"/>
                    </a:solidFill>
                  </a:tcPr>
                </a:tc>
                <a:extLst>
                  <a:ext uri="{0D108BD9-81ED-4DB2-BD59-A6C34878D82A}">
                    <a16:rowId xmlns:a16="http://schemas.microsoft.com/office/drawing/2014/main" val="10003"/>
                  </a:ext>
                </a:extLst>
              </a:tr>
            </a:tbl>
          </a:graphicData>
        </a:graphic>
      </p:graphicFrame>
      <p:sp>
        <p:nvSpPr>
          <p:cNvPr id="5" name="text_102">
            <a:extLst>
              <a:ext uri="{FF2B5EF4-FFF2-40B4-BE49-F238E27FC236}">
                <a16:creationId xmlns:a16="http://schemas.microsoft.com/office/drawing/2014/main" id="{C4745334-14C1-4E8A-A3DC-372FCD2627D8}"/>
              </a:ext>
            </a:extLst>
          </p:cNvPr>
          <p:cNvSpPr>
            <a:spLocks noGrp="1"/>
          </p:cNvSpPr>
          <p:nvPr/>
        </p:nvSpPr>
        <p:spPr>
          <a:xfrm>
            <a:off x="590550" y="5267325"/>
            <a:ext cx="11001375" cy="914400"/>
          </a:xfrm>
          <a:prstGeom prst="rect">
            <a:avLst/>
          </a:prstGeom>
          <a:noFill/>
          <a:ln w="0">
            <a:noFill/>
          </a:ln>
        </p:spPr>
        <p:txBody>
          <a:bodyPr lIns="0" tIns="0" rIns="0" bIns="0">
            <a:noAutofit/>
          </a:bodyPr>
          <a:lstStyle>
            <a:defPPr>
              <a:defRPr sz="2100" b="0">
                <a:solidFill>
                  <a:srgbClr val="123447"/>
                </a:solidFill>
                <a:latin typeface="Segoe UI"/>
                <a:ea typeface="Segoe UI"/>
                <a:cs typeface="Segoe UI"/>
              </a:defRPr>
            </a:defPPr>
          </a:lstStyle>
          <a:p>
            <a:pPr>
              <a:defRPr sz="2100" b="0">
                <a:solidFill>
                  <a:srgbClr val="123447"/>
                </a:solidFill>
                <a:latin typeface="Segoe UI"/>
                <a:ea typeface="Segoe UI"/>
                <a:cs typeface="Segoe UI"/>
              </a:defRPr>
            </a:pPr>
            <a:r>
              <a:rPr sz="2100" b="0">
                <a:solidFill>
                  <a:srgbClr val="123447"/>
                </a:solidFill>
                <a:latin typeface="Segoe UI"/>
                <a:ea typeface="Segoe UI"/>
                <a:cs typeface="Segoe UI"/>
              </a:rPr>
              <a:t>δ bipolar: suma de lóbulos · τ: separación interna con RF</a:t>
            </a:r>
          </a:p>
          <a:p>
            <a:pPr>
              <a:defRPr sz="2100" b="0">
                <a:solidFill>
                  <a:srgbClr val="123447"/>
                </a:solidFill>
                <a:latin typeface="Segoe UI"/>
                <a:ea typeface="Segoe UI"/>
                <a:cs typeface="Segoe UI"/>
              </a:defRPr>
            </a:pPr>
            <a:r>
              <a:rPr sz="2100" b="0">
                <a:solidFill>
                  <a:srgbClr val="123447"/>
                </a:solidFill>
                <a:latin typeface="Segoe UI"/>
                <a:ea typeface="Segoe UI"/>
                <a:cs typeface="Segoe UI"/>
              </a:rPr>
              <a:t>Doble: dos bloques iguales Δ/2; verificar la definición del programa</a:t>
            </a:r>
          </a:p>
        </p:txBody>
      </p:sp>
      <p:sp>
        <p:nvSpPr>
          <p:cNvPr id="6" name="text_103">
            <a:extLst>
              <a:ext uri="{FF2B5EF4-FFF2-40B4-BE49-F238E27FC236}">
                <a16:creationId xmlns:a16="http://schemas.microsoft.com/office/drawing/2014/main" id="{66953088-224A-46E4-B1E2-9E40015F1D71}"/>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617580"/>
                </a:solidFill>
                <a:latin typeface="Segoe UI"/>
                <a:ea typeface="Segoe UI"/>
                <a:cs typeface="Segoe UI"/>
              </a:defRPr>
            </a:defPPr>
          </a:lstStyle>
          <a:p>
            <a:pPr>
              <a:defRPr sz="1725" b="0">
                <a:solidFill>
                  <a:srgbClr val="617580"/>
                </a:solidFill>
                <a:latin typeface="Segoe UI"/>
                <a:ea typeface="Segoe UI"/>
                <a:cs typeface="Segoe UI"/>
              </a:defRPr>
            </a:pPr>
            <a:r>
              <a:rPr sz="1725" b="0">
                <a:solidFill>
                  <a:srgbClr val="617580"/>
                </a:solidFill>
                <a:latin typeface="Segoe UI"/>
                <a:ea typeface="Segoe UI"/>
                <a:cs typeface="Segoe UI"/>
              </a:rPr>
              <a:t>Sinnaeve (2012) · doi: 10.1002/cmr.a.21223</a:t>
            </a:r>
          </a:p>
        </p:txBody>
      </p:sp>
    </p:spTree>
    <p:extLst>
      <p:ext uri="{BB962C8B-B14F-4D97-AF65-F5344CB8AC3E}">
        <p14:creationId xmlns:p14="http://schemas.microsoft.com/office/powerpoint/2010/main" val="50116514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5F5F0"/>
        </a:solidFill>
        <a:effectLst/>
      </p:bgPr>
    </p:bg>
    <p:spTree>
      <p:nvGrpSpPr>
        <p:cNvPr id="1" name=""/>
        <p:cNvGrpSpPr/>
        <p:nvPr/>
      </p:nvGrpSpPr>
      <p:grpSpPr>
        <a:xfrm>
          <a:off x="0" y="0"/>
          <a:ext cx="0" cy="0"/>
          <a:chOff x="0" y="0"/>
          <a:chExt cx="0" cy="0"/>
        </a:xfrm>
      </p:grpSpPr>
      <p:sp>
        <p:nvSpPr>
          <p:cNvPr id="9" name="slide_number">
            <a:extLst>
              <a:ext uri="{FF2B5EF4-FFF2-40B4-BE49-F238E27FC236}">
                <a16:creationId xmlns:a16="http://schemas.microsoft.com/office/drawing/2014/main" id="{96AFCF63-19F1-4013-81CF-BD84810CEEC9}"/>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617580"/>
                </a:solidFill>
                <a:latin typeface="Segoe UI"/>
                <a:ea typeface="Segoe UI"/>
                <a:cs typeface="Segoe UI"/>
              </a:defRPr>
            </a:defPPr>
          </a:lstStyle>
          <a:p>
            <a:pPr>
              <a:defRPr sz="1200" b="0">
                <a:solidFill>
                  <a:srgbClr val="617580"/>
                </a:solidFill>
                <a:latin typeface="Segoe UI"/>
                <a:ea typeface="Segoe UI"/>
                <a:cs typeface="Segoe UI"/>
              </a:defRPr>
            </a:pPr>
            <a:r>
              <a:rPr sz="1200" b="0">
                <a:solidFill>
                  <a:srgbClr val="617580"/>
                </a:solidFill>
                <a:latin typeface="Segoe UI"/>
                <a:ea typeface="Segoe UI"/>
                <a:cs typeface="Segoe UI"/>
              </a:rPr>
              <a:t>43</a:t>
            </a:r>
          </a:p>
        </p:txBody>
      </p:sp>
      <p:sp>
        <p:nvSpPr>
          <p:cNvPr id="2" name="slide_title">
            <a:extLst>
              <a:ext uri="{FF2B5EF4-FFF2-40B4-BE49-F238E27FC236}">
                <a16:creationId xmlns:a16="http://schemas.microsoft.com/office/drawing/2014/main" id="{70C44004-0819-4C7B-A8AF-1FA85B31A125}"/>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675" b="1">
                <a:solidFill>
                  <a:srgbClr val="123447"/>
                </a:solidFill>
                <a:latin typeface="Segoe UI"/>
                <a:ea typeface="Segoe UI"/>
                <a:cs typeface="Segoe UI"/>
              </a:defRPr>
            </a:defPPr>
          </a:lstStyle>
          <a:p>
            <a:pPr>
              <a:defRPr sz="3675" b="1">
                <a:solidFill>
                  <a:srgbClr val="123447"/>
                </a:solidFill>
                <a:latin typeface="Segoe UI"/>
                <a:ea typeface="Segoe UI"/>
                <a:cs typeface="Segoe UI"/>
              </a:defRPr>
            </a:pPr>
            <a:r>
              <a:rPr sz="3675" b="1">
                <a:solidFill>
                  <a:srgbClr val="123447"/>
                </a:solidFill>
                <a:latin typeface="Segoe UI"/>
                <a:ea typeface="Segoe UI"/>
                <a:cs typeface="Segoe UI"/>
              </a:rPr>
              <a:t>stebpgp1s1d + SMSQ10.100</a:t>
            </a:r>
          </a:p>
        </p:txBody>
      </p:sp>
      <p:sp>
        <p:nvSpPr>
          <p:cNvPr id="3" name="text_104">
            <a:extLst>
              <a:ext uri="{FF2B5EF4-FFF2-40B4-BE49-F238E27FC236}">
                <a16:creationId xmlns:a16="http://schemas.microsoft.com/office/drawing/2014/main" id="{77A72BD7-E503-48D7-8E26-1B9F220605DB}"/>
              </a:ext>
            </a:extLst>
          </p:cNvPr>
          <p:cNvSpPr>
            <a:spLocks noGrp="1"/>
          </p:cNvSpPr>
          <p:nvPr/>
        </p:nvSpPr>
        <p:spPr>
          <a:xfrm>
            <a:off x="561975" y="2047875"/>
            <a:ext cx="11106150" cy="790575"/>
          </a:xfrm>
          <a:prstGeom prst="rect">
            <a:avLst/>
          </a:prstGeom>
          <a:noFill/>
          <a:ln w="0">
            <a:noFill/>
          </a:ln>
        </p:spPr>
        <p:txBody>
          <a:bodyPr lIns="0" tIns="0" rIns="0" bIns="0">
            <a:noAutofit/>
          </a:bodyPr>
          <a:lstStyle>
            <a:defPPr>
              <a:defRPr sz="3225" b="1">
                <a:solidFill>
                  <a:srgbClr val="087E98"/>
                </a:solidFill>
                <a:latin typeface="Segoe UI"/>
                <a:ea typeface="Segoe UI"/>
                <a:cs typeface="Segoe UI"/>
              </a:defRPr>
            </a:defPPr>
          </a:lstStyle>
          <a:p>
            <a:pPr>
              <a:defRPr sz="3225" b="1">
                <a:solidFill>
                  <a:srgbClr val="087E98"/>
                </a:solidFill>
                <a:latin typeface="Segoe UI"/>
                <a:ea typeface="Segoe UI"/>
                <a:cs typeface="Segoe UI"/>
              </a:defRPr>
            </a:pPr>
            <a:r>
              <a:rPr sz="3225" b="1">
                <a:solidFill>
                  <a:srgbClr val="087E98"/>
                </a:solidFill>
                <a:latin typeface="Segoe UI"/>
                <a:ea typeface="Segoe UI"/>
                <a:cs typeface="Segoe UI"/>
              </a:rPr>
              <a:t>b = 0.81 (γgδ)² [Δ − 0.32525 δ − τ/2]</a:t>
            </a:r>
          </a:p>
        </p:txBody>
      </p:sp>
      <p:sp>
        <p:nvSpPr>
          <p:cNvPr id="4" name="text_105">
            <a:extLst>
              <a:ext uri="{FF2B5EF4-FFF2-40B4-BE49-F238E27FC236}">
                <a16:creationId xmlns:a16="http://schemas.microsoft.com/office/drawing/2014/main" id="{622BCEF0-20D8-4A97-B484-0D28C7711A21}"/>
              </a:ext>
            </a:extLst>
          </p:cNvPr>
          <p:cNvSpPr>
            <a:spLocks noGrp="1"/>
          </p:cNvSpPr>
          <p:nvPr/>
        </p:nvSpPr>
        <p:spPr>
          <a:xfrm>
            <a:off x="581025" y="3514725"/>
            <a:ext cx="5219700" cy="638175"/>
          </a:xfrm>
          <a:prstGeom prst="rect">
            <a:avLst/>
          </a:prstGeom>
          <a:noFill/>
          <a:ln w="0">
            <a:noFill/>
          </a:ln>
        </p:spPr>
        <p:txBody>
          <a:bodyPr lIns="0" tIns="0" rIns="0" bIns="0">
            <a:noAutofit/>
          </a:bodyPr>
          <a:lstStyle>
            <a:defPPr>
              <a:defRPr sz="2925" b="1">
                <a:solidFill>
                  <a:srgbClr val="123447"/>
                </a:solidFill>
                <a:latin typeface="Segoe UI"/>
                <a:ea typeface="Segoe UI"/>
                <a:cs typeface="Segoe UI"/>
              </a:defRPr>
            </a:defPPr>
          </a:lstStyle>
          <a:p>
            <a:pPr>
              <a:defRPr sz="2925" b="1">
                <a:solidFill>
                  <a:srgbClr val="123447"/>
                </a:solidFill>
                <a:latin typeface="Segoe UI"/>
                <a:ea typeface="Segoe UI"/>
                <a:cs typeface="Segoe UI"/>
              </a:defRPr>
            </a:pPr>
            <a:r>
              <a:rPr sz="2925" b="1">
                <a:solidFill>
                  <a:srgbClr val="123447"/>
                </a:solidFill>
                <a:latin typeface="Segoe UI"/>
                <a:ea typeface="Segoe UI"/>
                <a:cs typeface="Segoe UI"/>
              </a:rPr>
              <a:t>δ = 2 × P30</a:t>
            </a:r>
          </a:p>
        </p:txBody>
      </p:sp>
      <p:sp>
        <p:nvSpPr>
          <p:cNvPr id="5" name="text_106">
            <a:extLst>
              <a:ext uri="{FF2B5EF4-FFF2-40B4-BE49-F238E27FC236}">
                <a16:creationId xmlns:a16="http://schemas.microsoft.com/office/drawing/2014/main" id="{A4202E25-9363-434F-91B5-BCE0F4768E91}"/>
              </a:ext>
            </a:extLst>
          </p:cNvPr>
          <p:cNvSpPr>
            <a:spLocks noGrp="1"/>
          </p:cNvSpPr>
          <p:nvPr/>
        </p:nvSpPr>
        <p:spPr>
          <a:xfrm>
            <a:off x="6477000" y="3514725"/>
            <a:ext cx="5153025" cy="638175"/>
          </a:xfrm>
          <a:prstGeom prst="rect">
            <a:avLst/>
          </a:prstGeom>
          <a:noFill/>
          <a:ln w="0">
            <a:noFill/>
          </a:ln>
        </p:spPr>
        <p:txBody>
          <a:bodyPr lIns="0" tIns="0" rIns="0" bIns="0">
            <a:noAutofit/>
          </a:bodyPr>
          <a:lstStyle>
            <a:defPPr>
              <a:defRPr sz="2925" b="1">
                <a:solidFill>
                  <a:srgbClr val="123447"/>
                </a:solidFill>
                <a:latin typeface="Segoe UI"/>
                <a:ea typeface="Segoe UI"/>
                <a:cs typeface="Segoe UI"/>
              </a:defRPr>
            </a:defPPr>
          </a:lstStyle>
          <a:p>
            <a:pPr>
              <a:defRPr sz="2925" b="1">
                <a:solidFill>
                  <a:srgbClr val="123447"/>
                </a:solidFill>
                <a:latin typeface="Segoe UI"/>
                <a:ea typeface="Segoe UI"/>
                <a:cs typeface="Segoe UI"/>
              </a:defRPr>
            </a:pPr>
            <a:r>
              <a:rPr sz="2925" b="1">
                <a:solidFill>
                  <a:srgbClr val="123447"/>
                </a:solidFill>
                <a:latin typeface="Segoe UI"/>
                <a:ea typeface="Segoe UI"/>
                <a:cs typeface="Segoe UI"/>
              </a:rPr>
              <a:t>τ = D16 + P2</a:t>
            </a:r>
          </a:p>
        </p:txBody>
      </p:sp>
      <p:sp>
        <p:nvSpPr>
          <p:cNvPr id="6" name="text_107">
            <a:extLst>
              <a:ext uri="{FF2B5EF4-FFF2-40B4-BE49-F238E27FC236}">
                <a16:creationId xmlns:a16="http://schemas.microsoft.com/office/drawing/2014/main" id="{FB5ADE1D-86B1-4A31-B3EB-8538228B3D65}"/>
              </a:ext>
            </a:extLst>
          </p:cNvPr>
          <p:cNvSpPr>
            <a:spLocks noGrp="1"/>
          </p:cNvSpPr>
          <p:nvPr/>
        </p:nvSpPr>
        <p:spPr>
          <a:xfrm>
            <a:off x="590550" y="4448175"/>
            <a:ext cx="5219700" cy="1066800"/>
          </a:xfrm>
          <a:prstGeom prst="rect">
            <a:avLst/>
          </a:prstGeom>
          <a:noFill/>
          <a:ln w="0">
            <a:noFill/>
          </a:ln>
        </p:spPr>
        <p:txBody>
          <a:bodyPr lIns="0" tIns="0" rIns="0" bIns="0">
            <a:noAutofit/>
          </a:bodyPr>
          <a:lstStyle>
            <a:defPPr>
              <a:defRPr sz="2400" b="0">
                <a:solidFill>
                  <a:srgbClr val="617580"/>
                </a:solidFill>
                <a:latin typeface="Segoe UI"/>
                <a:ea typeface="Segoe UI"/>
                <a:cs typeface="Segoe UI"/>
              </a:defRPr>
            </a:defPPr>
          </a:lstStyle>
          <a:p>
            <a:pPr>
              <a:defRPr sz="2400" b="0">
                <a:solidFill>
                  <a:srgbClr val="617580"/>
                </a:solidFill>
                <a:latin typeface="Segoe UI"/>
                <a:ea typeface="Segoe UI"/>
                <a:cs typeface="Segoe UI"/>
              </a:defRPr>
            </a:pPr>
            <a:r>
              <a:rPr sz="2400" b="0">
                <a:solidFill>
                  <a:srgbClr val="617580"/>
                </a:solidFill>
                <a:latin typeface="Segoe UI"/>
                <a:ea typeface="Segoe UI"/>
                <a:cs typeface="Segoe UI"/>
              </a:rPr>
              <a:t>Área = 0.90</a:t>
            </a:r>
          </a:p>
          <a:p>
            <a:pPr>
              <a:defRPr sz="2400" b="0">
                <a:solidFill>
                  <a:srgbClr val="617580"/>
                </a:solidFill>
                <a:latin typeface="Segoe UI"/>
                <a:ea typeface="Segoe UI"/>
                <a:cs typeface="Segoe UI"/>
              </a:defRPr>
            </a:pPr>
            <a:r>
              <a:rPr sz="2400" b="0">
                <a:solidFill>
                  <a:srgbClr val="617580"/>
                </a:solidFill>
                <a:latin typeface="Segoe UI"/>
                <a:ea typeface="Segoe UI"/>
                <a:cs typeface="Segoe UI"/>
              </a:rPr>
              <a:t>En b: 0.90² = 0.81</a:t>
            </a:r>
          </a:p>
        </p:txBody>
      </p:sp>
      <p:sp>
        <p:nvSpPr>
          <p:cNvPr id="7" name="text_108">
            <a:extLst>
              <a:ext uri="{FF2B5EF4-FFF2-40B4-BE49-F238E27FC236}">
                <a16:creationId xmlns:a16="http://schemas.microsoft.com/office/drawing/2014/main" id="{1F3E89D0-6CD9-4CDE-88FB-14FE06BA24AB}"/>
              </a:ext>
            </a:extLst>
          </p:cNvPr>
          <p:cNvSpPr>
            <a:spLocks noGrp="1"/>
          </p:cNvSpPr>
          <p:nvPr/>
        </p:nvSpPr>
        <p:spPr>
          <a:xfrm>
            <a:off x="6477000" y="4448175"/>
            <a:ext cx="5153025" cy="1066800"/>
          </a:xfrm>
          <a:prstGeom prst="rect">
            <a:avLst/>
          </a:prstGeom>
          <a:noFill/>
          <a:ln w="0">
            <a:noFill/>
          </a:ln>
        </p:spPr>
        <p:txBody>
          <a:bodyPr lIns="0" tIns="0" rIns="0" bIns="0">
            <a:noAutofit/>
          </a:bodyPr>
          <a:lstStyle>
            <a:defPPr>
              <a:defRPr sz="2175" b="0">
                <a:solidFill>
                  <a:srgbClr val="617580"/>
                </a:solidFill>
                <a:latin typeface="Segoe UI"/>
                <a:ea typeface="Segoe UI"/>
                <a:cs typeface="Segoe UI"/>
              </a:defRPr>
            </a:defPPr>
          </a:lstStyle>
          <a:p>
            <a:pPr>
              <a:defRPr sz="2175" b="0">
                <a:solidFill>
                  <a:srgbClr val="617580"/>
                </a:solidFill>
                <a:latin typeface="Segoe UI"/>
                <a:ea typeface="Segoe UI"/>
                <a:cs typeface="Segoe UI"/>
              </a:defRPr>
            </a:pPr>
            <a:r>
              <a:rPr sz="2175" b="0">
                <a:solidFill>
                  <a:srgbClr val="617580"/>
                </a:solidFill>
                <a:latin typeface="Segoe UI"/>
                <a:ea typeface="Segoe UI"/>
                <a:cs typeface="Segoe UI"/>
              </a:rPr>
              <a:t>El perfil TBO usa τ≈D16</a:t>
            </a:r>
          </a:p>
          <a:p>
            <a:pPr>
              <a:defRPr sz="2175" b="0">
                <a:solidFill>
                  <a:srgbClr val="617580"/>
                </a:solidFill>
                <a:latin typeface="Segoe UI"/>
                <a:ea typeface="Segoe UI"/>
                <a:cs typeface="Segoe UI"/>
              </a:defRPr>
            </a:pPr>
            <a:r>
              <a:rPr sz="2175" b="0">
                <a:solidFill>
                  <a:srgbClr val="617580"/>
                </a:solidFill>
                <a:latin typeface="Segoe UI"/>
                <a:ea typeface="Segoe UI"/>
                <a:cs typeface="Segoe UI"/>
              </a:rPr>
              <a:t>Se conserva su calibración medida</a:t>
            </a:r>
          </a:p>
        </p:txBody>
      </p:sp>
      <p:sp>
        <p:nvSpPr>
          <p:cNvPr id="8" name="text_109">
            <a:extLst>
              <a:ext uri="{FF2B5EF4-FFF2-40B4-BE49-F238E27FC236}">
                <a16:creationId xmlns:a16="http://schemas.microsoft.com/office/drawing/2014/main" id="{0462A96F-B3B3-4517-AC28-F5600F6E8592}"/>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875" b="0">
                <a:solidFill>
                  <a:srgbClr val="617580"/>
                </a:solidFill>
                <a:latin typeface="Segoe UI"/>
                <a:ea typeface="Segoe UI"/>
                <a:cs typeface="Segoe UI"/>
              </a:defRPr>
            </a:defPPr>
          </a:lstStyle>
          <a:p>
            <a:pPr>
              <a:defRPr sz="1875" b="0">
                <a:solidFill>
                  <a:srgbClr val="617580"/>
                </a:solidFill>
                <a:latin typeface="Segoe UI"/>
                <a:ea typeface="Segoe UI"/>
                <a:cs typeface="Segoe UI"/>
              </a:defRPr>
            </a:pPr>
            <a:r>
              <a:rPr sz="1875" b="0">
                <a:solidFill>
                  <a:srgbClr val="617580"/>
                </a:solidFill>
                <a:latin typeface="Segoe UI"/>
                <a:ea typeface="Segoe UI"/>
                <a:cs typeface="Segoe UI"/>
              </a:rPr>
              <a:t>La forma, los tiempos, G y Dref(T) deben corresponder al mismo perfil experimental.</a:t>
            </a:r>
          </a:p>
        </p:txBody>
      </p:sp>
    </p:spTree>
    <p:extLst>
      <p:ext uri="{BB962C8B-B14F-4D97-AF65-F5344CB8AC3E}">
        <p14:creationId xmlns:p14="http://schemas.microsoft.com/office/powerpoint/2010/main" val="99665853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11" name="slide_number">
            <a:extLst>
              <a:ext uri="{FF2B5EF4-FFF2-40B4-BE49-F238E27FC236}">
                <a16:creationId xmlns:a16="http://schemas.microsoft.com/office/drawing/2014/main" id="{D719A15A-61D2-452F-A469-866199B311E3}"/>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44</a:t>
            </a:r>
          </a:p>
        </p:txBody>
      </p:sp>
      <p:sp>
        <p:nvSpPr>
          <p:cNvPr id="2" name="slide_title">
            <a:extLst>
              <a:ext uri="{FF2B5EF4-FFF2-40B4-BE49-F238E27FC236}">
                <a16:creationId xmlns:a16="http://schemas.microsoft.com/office/drawing/2014/main" id="{18593BA0-5DA3-4DBB-B314-075AA039EC45}"/>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El ruido se amplifica al invertir la atenuación</a:t>
            </a:r>
          </a:p>
        </p:txBody>
      </p:sp>
      <p:pic>
        <p:nvPicPr>
          <p:cNvPr id="3" name="Imagen 2">
            <a:extLst>
              <a:ext uri="{FF2B5EF4-FFF2-40B4-BE49-F238E27FC236}">
                <a16:creationId xmlns:a16="http://schemas.microsoft.com/office/drawing/2014/main" id="{87DE0123-8E9E-4069-B990-9F053590AC9B}"/>
              </a:ext>
            </a:extLst>
          </p:cNvPr>
          <p:cNvPicPr>
            <a:picLocks noChangeAspect="1"/>
          </p:cNvPicPr>
          <p:nvPr/>
        </p:nvPicPr>
        <p:blipFill>
          <a:blip r:embed="rId3"/>
          <a:stretch/>
        </p:blipFill>
        <p:spPr>
          <a:xfrm>
            <a:off x="285750" y="1679310"/>
            <a:ext cx="7953375" cy="3623204"/>
          </a:xfrm>
          <a:prstGeom prst="rect">
            <a:avLst/>
          </a:prstGeom>
        </p:spPr>
      </p:pic>
      <p:sp>
        <p:nvSpPr>
          <p:cNvPr id="4" name="text_110">
            <a:extLst>
              <a:ext uri="{FF2B5EF4-FFF2-40B4-BE49-F238E27FC236}">
                <a16:creationId xmlns:a16="http://schemas.microsoft.com/office/drawing/2014/main" id="{ED16DFE4-A258-4148-BE16-270E73FD9CFF}"/>
              </a:ext>
            </a:extLst>
          </p:cNvPr>
          <p:cNvSpPr>
            <a:spLocks noGrp="1"/>
          </p:cNvSpPr>
          <p:nvPr/>
        </p:nvSpPr>
        <p:spPr>
          <a:xfrm>
            <a:off x="8553450" y="1809750"/>
            <a:ext cx="3086100" cy="619125"/>
          </a:xfrm>
          <a:prstGeom prst="rect">
            <a:avLst/>
          </a:prstGeom>
          <a:noFill/>
          <a:ln w="0">
            <a:noFill/>
          </a:ln>
        </p:spPr>
        <p:txBody>
          <a:bodyPr lIns="0" tIns="0" rIns="0" bIns="0">
            <a:noAutofit/>
          </a:bodyPr>
          <a:lstStyle>
            <a:defPPr>
              <a:defRPr sz="2925" b="1">
                <a:solidFill>
                  <a:srgbClr val="55DDE0"/>
                </a:solidFill>
                <a:latin typeface="Segoe UI"/>
                <a:ea typeface="Segoe UI"/>
                <a:cs typeface="Segoe UI"/>
              </a:defRPr>
            </a:defPPr>
          </a:lstStyle>
          <a:p>
            <a:pPr>
              <a:defRPr sz="2925" b="1">
                <a:solidFill>
                  <a:srgbClr val="55DDE0"/>
                </a:solidFill>
                <a:latin typeface="Segoe UI"/>
                <a:ea typeface="Segoe UI"/>
                <a:cs typeface="Segoe UI"/>
              </a:defRPr>
            </a:pPr>
            <a:r>
              <a:rPr sz="2925" b="1">
                <a:solidFill>
                  <a:srgbClr val="55DDE0"/>
                </a:solidFill>
                <a:latin typeface="Segoe UI"/>
                <a:ea typeface="Segoe UI"/>
                <a:cs typeface="Segoe UI"/>
              </a:rPr>
              <a:t>S = Kf + ε</a:t>
            </a:r>
          </a:p>
        </p:txBody>
      </p:sp>
      <p:sp>
        <p:nvSpPr>
          <p:cNvPr id="5" name="text_111">
            <a:extLst>
              <a:ext uri="{FF2B5EF4-FFF2-40B4-BE49-F238E27FC236}">
                <a16:creationId xmlns:a16="http://schemas.microsoft.com/office/drawing/2014/main" id="{1FEB0CA0-DFB7-4B6C-9C17-4F47A44B2BDA}"/>
              </a:ext>
            </a:extLst>
          </p:cNvPr>
          <p:cNvSpPr>
            <a:spLocks noGrp="1"/>
          </p:cNvSpPr>
          <p:nvPr/>
        </p:nvSpPr>
        <p:spPr>
          <a:xfrm>
            <a:off x="8486775" y="2809875"/>
            <a:ext cx="3171825" cy="819150"/>
          </a:xfrm>
          <a:prstGeom prst="rect">
            <a:avLst/>
          </a:prstGeom>
          <a:noFill/>
          <a:ln w="0">
            <a:noFill/>
          </a:ln>
        </p:spPr>
        <p:txBody>
          <a:bodyPr lIns="0" tIns="0" rIns="0" bIns="0">
            <a:noAutofit/>
          </a:bodyPr>
          <a:lstStyle>
            <a:defPPr>
              <a:defRPr sz="4875" b="1">
                <a:solidFill>
                  <a:srgbClr val="EAF3F4"/>
                </a:solidFill>
                <a:latin typeface="Segoe UI"/>
                <a:ea typeface="Segoe UI"/>
                <a:cs typeface="Segoe UI"/>
              </a:defRPr>
            </a:defPPr>
          </a:lstStyle>
          <a:p>
            <a:pPr>
              <a:defRPr sz="4875" b="1">
                <a:solidFill>
                  <a:srgbClr val="EAF3F4"/>
                </a:solidFill>
                <a:latin typeface="Segoe UI"/>
                <a:ea typeface="Segoe UI"/>
                <a:cs typeface="Segoe UI"/>
              </a:defRPr>
            </a:pPr>
            <a:r>
              <a:rPr sz="4875" b="1">
                <a:solidFill>
                  <a:srgbClr val="EAF3F4"/>
                </a:solidFill>
                <a:latin typeface="Segoe UI"/>
                <a:ea typeface="Segoe UI"/>
                <a:cs typeface="Segoe UI"/>
              </a:rPr>
              <a:t>25</a:t>
            </a:r>
          </a:p>
        </p:txBody>
      </p:sp>
      <p:sp>
        <p:nvSpPr>
          <p:cNvPr id="6" name="text_112">
            <a:extLst>
              <a:ext uri="{FF2B5EF4-FFF2-40B4-BE49-F238E27FC236}">
                <a16:creationId xmlns:a16="http://schemas.microsoft.com/office/drawing/2014/main" id="{6E2135AA-FF5D-4598-BFBB-8F16FCCD9D3B}"/>
              </a:ext>
            </a:extLst>
          </p:cNvPr>
          <p:cNvSpPr>
            <a:spLocks noGrp="1"/>
          </p:cNvSpPr>
          <p:nvPr/>
        </p:nvSpPr>
        <p:spPr>
          <a:xfrm>
            <a:off x="8562975" y="3676650"/>
            <a:ext cx="3067050" cy="428625"/>
          </a:xfrm>
          <a:prstGeom prst="rect">
            <a:avLst/>
          </a:prstGeom>
          <a:noFill/>
          <a:ln w="0">
            <a:noFill/>
          </a:ln>
        </p:spPr>
        <p:txBody>
          <a:bodyPr lIns="0" tIns="0" rIns="0" bIns="0">
            <a:noAutofit/>
          </a:bodyPr>
          <a:lstStyle>
            <a:defPPr>
              <a:defRPr sz="1950" b="0">
                <a:solidFill>
                  <a:srgbClr val="A9C0CC"/>
                </a:solidFill>
                <a:latin typeface="Segoe UI"/>
                <a:ea typeface="Segoe UI"/>
                <a:cs typeface="Segoe UI"/>
              </a:defRPr>
            </a:defPPr>
          </a:lstStyle>
          <a:p>
            <a:pPr>
              <a:defRPr sz="1950" b="0">
                <a:solidFill>
                  <a:srgbClr val="A9C0CC"/>
                </a:solidFill>
                <a:latin typeface="Segoe UI"/>
                <a:ea typeface="Segoe UI"/>
                <a:cs typeface="Segoe UI"/>
              </a:defRPr>
            </a:pPr>
            <a:r>
              <a:rPr sz="1950" b="0">
                <a:solidFill>
                  <a:srgbClr val="A9C0CC"/>
                </a:solidFill>
                <a:latin typeface="Segoe UI"/>
                <a:ea typeface="Segoe UI"/>
                <a:cs typeface="Segoe UI"/>
              </a:rPr>
              <a:t>medidas</a:t>
            </a:r>
          </a:p>
        </p:txBody>
      </p:sp>
      <p:sp>
        <p:nvSpPr>
          <p:cNvPr id="7" name="text_113">
            <a:extLst>
              <a:ext uri="{FF2B5EF4-FFF2-40B4-BE49-F238E27FC236}">
                <a16:creationId xmlns:a16="http://schemas.microsoft.com/office/drawing/2014/main" id="{4A576B5A-596E-4CDF-8010-52F172046BC2}"/>
              </a:ext>
            </a:extLst>
          </p:cNvPr>
          <p:cNvSpPr>
            <a:spLocks noGrp="1"/>
          </p:cNvSpPr>
          <p:nvPr/>
        </p:nvSpPr>
        <p:spPr>
          <a:xfrm>
            <a:off x="8486775" y="4191000"/>
            <a:ext cx="3171825" cy="838200"/>
          </a:xfrm>
          <a:prstGeom prst="rect">
            <a:avLst/>
          </a:prstGeom>
          <a:noFill/>
          <a:ln w="0">
            <a:noFill/>
          </a:ln>
        </p:spPr>
        <p:txBody>
          <a:bodyPr lIns="0" tIns="0" rIns="0" bIns="0">
            <a:noAutofit/>
          </a:bodyPr>
          <a:lstStyle>
            <a:defPPr>
              <a:defRPr sz="4875" b="1">
                <a:solidFill>
                  <a:srgbClr val="FF817B"/>
                </a:solidFill>
                <a:latin typeface="Segoe UI"/>
                <a:ea typeface="Segoe UI"/>
                <a:cs typeface="Segoe UI"/>
              </a:defRPr>
            </a:defPPr>
          </a:lstStyle>
          <a:p>
            <a:pPr>
              <a:defRPr sz="4875" b="1">
                <a:solidFill>
                  <a:srgbClr val="FF817B"/>
                </a:solidFill>
                <a:latin typeface="Segoe UI"/>
                <a:ea typeface="Segoe UI"/>
                <a:cs typeface="Segoe UI"/>
              </a:defRPr>
            </a:pPr>
            <a:r>
              <a:rPr sz="4875" b="1">
                <a:solidFill>
                  <a:srgbClr val="FF817B"/>
                </a:solidFill>
                <a:latin typeface="Segoe UI"/>
                <a:ea typeface="Segoe UI"/>
                <a:cs typeface="Segoe UI"/>
              </a:rPr>
              <a:t>110</a:t>
            </a:r>
          </a:p>
        </p:txBody>
      </p:sp>
      <p:sp>
        <p:nvSpPr>
          <p:cNvPr id="8" name="text_114">
            <a:extLst>
              <a:ext uri="{FF2B5EF4-FFF2-40B4-BE49-F238E27FC236}">
                <a16:creationId xmlns:a16="http://schemas.microsoft.com/office/drawing/2014/main" id="{194CD258-78C9-42F3-A2BE-E86365616D05}"/>
              </a:ext>
            </a:extLst>
          </p:cNvPr>
          <p:cNvSpPr>
            <a:spLocks noGrp="1"/>
          </p:cNvSpPr>
          <p:nvPr/>
        </p:nvSpPr>
        <p:spPr>
          <a:xfrm>
            <a:off x="8562975" y="5010150"/>
            <a:ext cx="3076575" cy="552450"/>
          </a:xfrm>
          <a:prstGeom prst="rect">
            <a:avLst/>
          </a:prstGeom>
          <a:noFill/>
          <a:ln w="0">
            <a:noFill/>
          </a:ln>
        </p:spPr>
        <p:txBody>
          <a:bodyPr lIns="0" tIns="0" rIns="0" bIns="0">
            <a:noAutofit/>
          </a:bodyPr>
          <a:lstStyle>
            <a:defPPr>
              <a:defRPr sz="1950" b="0">
                <a:solidFill>
                  <a:srgbClr val="A9C0CC"/>
                </a:solidFill>
                <a:latin typeface="Segoe UI"/>
                <a:ea typeface="Segoe UI"/>
                <a:cs typeface="Segoe UI"/>
              </a:defRPr>
            </a:defPPr>
          </a:lstStyle>
          <a:p>
            <a:pPr>
              <a:defRPr sz="1950" b="0">
                <a:solidFill>
                  <a:srgbClr val="A9C0CC"/>
                </a:solidFill>
                <a:latin typeface="Segoe UI"/>
                <a:ea typeface="Segoe UI"/>
                <a:cs typeface="Segoe UI"/>
              </a:defRPr>
            </a:pPr>
            <a:r>
              <a:rPr sz="1950" b="0">
                <a:solidFill>
                  <a:srgbClr val="A9C0CC"/>
                </a:solidFill>
                <a:latin typeface="Segoe UI"/>
                <a:ea typeface="Segoe UI"/>
                <a:cs typeface="Segoe UI"/>
              </a:rPr>
              <a:t>pesos por reconstruir</a:t>
            </a:r>
          </a:p>
        </p:txBody>
      </p:sp>
      <p:sp>
        <p:nvSpPr>
          <p:cNvPr id="9" name="reveal_115">
            <a:extLst>
              <a:ext uri="{FF2B5EF4-FFF2-40B4-BE49-F238E27FC236}">
                <a16:creationId xmlns:a16="http://schemas.microsoft.com/office/drawing/2014/main" id="{7D0F582C-D770-477D-8C88-BA56E7DD0BB1}"/>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La regularización impone una preferencia sobre la solución</a:t>
            </a:r>
          </a:p>
        </p:txBody>
      </p:sp>
      <p:sp>
        <p:nvSpPr>
          <p:cNvPr id="10" name="text_116">
            <a:extLst>
              <a:ext uri="{FF2B5EF4-FFF2-40B4-BE49-F238E27FC236}">
                <a16:creationId xmlns:a16="http://schemas.microsoft.com/office/drawing/2014/main" id="{DE1950D4-B867-4053-96E3-498353036EB8}"/>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725" b="0">
                <a:solidFill>
                  <a:srgbClr val="A9C0CC"/>
                </a:solidFill>
                <a:latin typeface="Segoe UI"/>
                <a:ea typeface="Segoe UI"/>
                <a:cs typeface="Segoe UI"/>
              </a:defRPr>
            </a:defPPr>
          </a:lstStyle>
          <a:p>
            <a:pPr>
              <a:defRPr sz="1725" b="0">
                <a:solidFill>
                  <a:srgbClr val="A9C0CC"/>
                </a:solidFill>
                <a:latin typeface="Segoe UI"/>
                <a:ea typeface="Segoe UI"/>
                <a:cs typeface="Segoe UI"/>
              </a:defRPr>
            </a:pPr>
            <a:r>
              <a:rPr sz="1725" b="0">
                <a:solidFill>
                  <a:srgbClr val="A9C0CC"/>
                </a:solidFill>
                <a:latin typeface="Segoe UI"/>
                <a:ea typeface="Segoe UI"/>
                <a:cs typeface="Segoe UI"/>
              </a:rPr>
              <a:t>SIMULACIÓN · direcciones débiles del núcleo · residuos pequeños admiten soluciones muy diferentes</a:t>
            </a:r>
          </a:p>
        </p:txBody>
      </p:sp>
    </p:spTree>
    <p:extLst>
      <p:ext uri="{BB962C8B-B14F-4D97-AF65-F5344CB8AC3E}">
        <p14:creationId xmlns:p14="http://schemas.microsoft.com/office/powerpoint/2010/main" val="137176471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081522"/>
        </a:solidFill>
        <a:effectLst/>
      </p:bgPr>
    </p:bg>
    <p:spTree>
      <p:nvGrpSpPr>
        <p:cNvPr id="1" name=""/>
        <p:cNvGrpSpPr/>
        <p:nvPr/>
      </p:nvGrpSpPr>
      <p:grpSpPr>
        <a:xfrm>
          <a:off x="0" y="0"/>
          <a:ext cx="0" cy="0"/>
          <a:chOff x="0" y="0"/>
          <a:chExt cx="0" cy="0"/>
        </a:xfrm>
      </p:grpSpPr>
      <p:sp>
        <p:nvSpPr>
          <p:cNvPr id="6" name="slide_number">
            <a:extLst>
              <a:ext uri="{FF2B5EF4-FFF2-40B4-BE49-F238E27FC236}">
                <a16:creationId xmlns:a16="http://schemas.microsoft.com/office/drawing/2014/main" id="{D5ACB072-968F-4DEA-96C3-28002B3C9DE7}"/>
              </a:ext>
            </a:extLst>
          </p:cNvPr>
          <p:cNvSpPr>
            <a:spLocks noGrp="1"/>
          </p:cNvSpPr>
          <p:nvPr/>
        </p:nvSpPr>
        <p:spPr>
          <a:xfrm>
            <a:off x="11525250" y="6496050"/>
            <a:ext cx="571500" cy="228600"/>
          </a:xfrm>
          <a:prstGeom prst="rect">
            <a:avLst/>
          </a:prstGeom>
          <a:noFill/>
          <a:ln w="0">
            <a:noFill/>
          </a:ln>
        </p:spPr>
        <p:txBody>
          <a:bodyPr lIns="0" tIns="0" rIns="0" bIns="0">
            <a:noAutofit/>
          </a:bodyPr>
          <a:lstStyle>
            <a:defPPr>
              <a:defRPr sz="1200" b="0">
                <a:solidFill>
                  <a:srgbClr val="A9C0CC"/>
                </a:solidFill>
                <a:latin typeface="Segoe UI"/>
                <a:ea typeface="Segoe UI"/>
                <a:cs typeface="Segoe UI"/>
              </a:defRPr>
            </a:defPPr>
          </a:lstStyle>
          <a:p>
            <a:pPr>
              <a:defRPr sz="1200" b="0">
                <a:solidFill>
                  <a:srgbClr val="A9C0CC"/>
                </a:solidFill>
                <a:latin typeface="Segoe UI"/>
                <a:ea typeface="Segoe UI"/>
                <a:cs typeface="Segoe UI"/>
              </a:defRPr>
            </a:pPr>
            <a:r>
              <a:rPr sz="1200" b="0">
                <a:solidFill>
                  <a:srgbClr val="A9C0CC"/>
                </a:solidFill>
                <a:latin typeface="Segoe UI"/>
                <a:ea typeface="Segoe UI"/>
                <a:cs typeface="Segoe UI"/>
              </a:rPr>
              <a:t>45</a:t>
            </a:r>
          </a:p>
        </p:txBody>
      </p:sp>
      <p:sp>
        <p:nvSpPr>
          <p:cNvPr id="2" name="slide_title">
            <a:extLst>
              <a:ext uri="{FF2B5EF4-FFF2-40B4-BE49-F238E27FC236}">
                <a16:creationId xmlns:a16="http://schemas.microsoft.com/office/drawing/2014/main" id="{99A20544-F436-4FDC-9135-945257295FD9}"/>
              </a:ext>
            </a:extLst>
          </p:cNvPr>
          <p:cNvSpPr>
            <a:spLocks noGrp="1"/>
          </p:cNvSpPr>
          <p:nvPr/>
        </p:nvSpPr>
        <p:spPr>
          <a:xfrm>
            <a:off x="552450" y="409575"/>
            <a:ext cx="11106150" cy="1066800"/>
          </a:xfrm>
          <a:prstGeom prst="rect">
            <a:avLst/>
          </a:prstGeom>
          <a:noFill/>
          <a:ln w="0">
            <a:noFill/>
          </a:ln>
        </p:spPr>
        <p:txBody>
          <a:bodyPr lIns="0" tIns="0" rIns="0" bIns="0">
            <a:noAutofit/>
          </a:bodyPr>
          <a:lstStyle>
            <a:defPPr>
              <a:defRPr sz="3375" b="1">
                <a:solidFill>
                  <a:srgbClr val="EAF3F4"/>
                </a:solidFill>
                <a:latin typeface="Segoe UI"/>
                <a:ea typeface="Segoe UI"/>
                <a:cs typeface="Segoe UI"/>
              </a:defRPr>
            </a:defPPr>
          </a:lstStyle>
          <a:p>
            <a:pPr>
              <a:defRPr sz="3375" b="1">
                <a:solidFill>
                  <a:srgbClr val="EAF3F4"/>
                </a:solidFill>
                <a:latin typeface="Segoe UI"/>
                <a:ea typeface="Segoe UI"/>
                <a:cs typeface="Segoe UI"/>
              </a:defRPr>
            </a:pPr>
            <a:r>
              <a:rPr sz="3375" b="1">
                <a:solidFill>
                  <a:srgbClr val="EAF3F4"/>
                </a:solidFill>
                <a:latin typeface="Segoe UI"/>
                <a:ea typeface="Segoe UI"/>
                <a:cs typeface="Segoe UI"/>
              </a:rPr>
              <a:t>Cada algoritmo favorece una solución distinta</a:t>
            </a:r>
          </a:p>
        </p:txBody>
      </p:sp>
      <p:graphicFrame>
        <p:nvGraphicFramePr>
          <p:cNvPr id="3" name="Tabla 2">
            <a:extLst>
              <a:ext uri="{FF2B5EF4-FFF2-40B4-BE49-F238E27FC236}">
                <a16:creationId xmlns:a16="http://schemas.microsoft.com/office/drawing/2014/main" id="{38626936-3ABF-4B80-ABC5-A6A4569A94FB}"/>
              </a:ext>
            </a:extLst>
          </p:cNvPr>
          <p:cNvGraphicFramePr/>
          <p:nvPr/>
        </p:nvGraphicFramePr>
        <p:xfrm>
          <a:off x="514350" y="1743075"/>
          <a:ext cx="11163300" cy="3390900"/>
        </p:xfrm>
        <a:graphic>
          <a:graphicData uri="http://schemas.openxmlformats.org/drawingml/2006/table">
            <a:tbl>
              <a:tblPr/>
              <a:tblGrid>
                <a:gridCol w="2962275">
                  <a:extLst>
                    <a:ext uri="{9D8B030D-6E8A-4147-A177-3AD203B41FA5}">
                      <a16:colId xmlns:a16="http://schemas.microsoft.com/office/drawing/2014/main" val="20000"/>
                    </a:ext>
                  </a:extLst>
                </a:gridCol>
                <a:gridCol w="401002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78180">
                <a:tc>
                  <a:txBody>
                    <a:bodyPr/>
                    <a:lstStyle/>
                    <a:p>
                      <a:r>
                        <a:rPr sz="1725" b="1">
                          <a:solidFill>
                            <a:srgbClr val="EAF3F4"/>
                          </a:solidFill>
                          <a:latin typeface="Segoe UI"/>
                          <a:ea typeface="Segoe UI"/>
                          <a:cs typeface="Segoe UI"/>
                        </a:rPr>
                        <a:t>Problema observado</a:t>
                      </a:r>
                    </a:p>
                  </a:txBody>
                  <a:tcPr>
                    <a:solidFill>
                      <a:srgbClr val="1D3E50"/>
                    </a:solidFill>
                  </a:tcPr>
                </a:tc>
                <a:tc>
                  <a:txBody>
                    <a:bodyPr/>
                    <a:lstStyle/>
                    <a:p>
                      <a:r>
                        <a:rPr sz="1725" b="1">
                          <a:solidFill>
                            <a:srgbClr val="EAF3F4"/>
                          </a:solidFill>
                          <a:latin typeface="Segoe UI"/>
                          <a:ea typeface="Segoe UI"/>
                          <a:cs typeface="Segoe UI"/>
                        </a:rPr>
                        <a:t>Familia / ejemplos</a:t>
                      </a:r>
                    </a:p>
                  </a:txBody>
                  <a:tcPr>
                    <a:solidFill>
                      <a:srgbClr val="1D3E50"/>
                    </a:solidFill>
                  </a:tcPr>
                </a:tc>
                <a:tc>
                  <a:txBody>
                    <a:bodyPr/>
                    <a:lstStyle/>
                    <a:p>
                      <a:r>
                        <a:rPr sz="1725" b="1">
                          <a:solidFill>
                            <a:srgbClr val="EAF3F4"/>
                          </a:solidFill>
                          <a:latin typeface="Segoe UI"/>
                          <a:ea typeface="Segoe UI"/>
                          <a:cs typeface="Segoe UI"/>
                        </a:rPr>
                        <a:t>Preferencia y riesgo</a:t>
                      </a:r>
                    </a:p>
                  </a:txBody>
                  <a:tcPr>
                    <a:solidFill>
                      <a:srgbClr val="1D3E50"/>
                    </a:solidFill>
                  </a:tcPr>
                </a:tc>
                <a:extLst>
                  <a:ext uri="{0D108BD9-81ED-4DB2-BD59-A6C34878D82A}">
                    <a16:rowId xmlns:a16="http://schemas.microsoft.com/office/drawing/2014/main" val="10000"/>
                  </a:ext>
                </a:extLst>
              </a:tr>
              <a:tr h="678180">
                <a:tc>
                  <a:txBody>
                    <a:bodyPr/>
                    <a:lstStyle/>
                    <a:p>
                      <a:r>
                        <a:rPr sz="1725" b="0">
                          <a:solidFill>
                            <a:srgbClr val="EAF3F4"/>
                          </a:solidFill>
                          <a:latin typeface="Segoe UI"/>
                          <a:ea typeface="Segoe UI"/>
                          <a:cs typeface="Segoe UI"/>
                        </a:rPr>
                        <a:t>Señal aislada</a:t>
                      </a:r>
                    </a:p>
                  </a:txBody>
                  <a:tcPr>
                    <a:solidFill>
                      <a:srgbClr val="081522"/>
                    </a:solidFill>
                  </a:tcPr>
                </a:tc>
                <a:tc>
                  <a:txBody>
                    <a:bodyPr/>
                    <a:lstStyle/>
                    <a:p>
                      <a:r>
                        <a:rPr sz="1725" b="0">
                          <a:solidFill>
                            <a:srgbClr val="EAF3F4"/>
                          </a:solidFill>
                          <a:latin typeface="Segoe UI"/>
                          <a:ea typeface="Segoe UI"/>
                          <a:cs typeface="Segoe UI"/>
                        </a:rPr>
                        <a:t>Monoexp. / NNLS</a:t>
                      </a:r>
                    </a:p>
                  </a:txBody>
                  <a:tcPr>
                    <a:solidFill>
                      <a:srgbClr val="081522"/>
                    </a:solidFill>
                  </a:tcPr>
                </a:tc>
                <a:tc>
                  <a:txBody>
                    <a:bodyPr/>
                    <a:lstStyle/>
                    <a:p>
                      <a:r>
                        <a:rPr sz="1725" b="0">
                          <a:solidFill>
                            <a:srgbClr val="EAF3F4"/>
                          </a:solidFill>
                          <a:latin typeface="Segoe UI"/>
                          <a:ea typeface="Segoe UI"/>
                          <a:cs typeface="Segoe UI"/>
                        </a:rPr>
                        <a:t>Modelo mínimo / picos inestables sin regularizar</a:t>
                      </a:r>
                    </a:p>
                  </a:txBody>
                  <a:tcPr>
                    <a:solidFill>
                      <a:srgbClr val="081522"/>
                    </a:solidFill>
                  </a:tcPr>
                </a:tc>
                <a:extLst>
                  <a:ext uri="{0D108BD9-81ED-4DB2-BD59-A6C34878D82A}">
                    <a16:rowId xmlns:a16="http://schemas.microsoft.com/office/drawing/2014/main" val="10001"/>
                  </a:ext>
                </a:extLst>
              </a:tr>
              <a:tr h="678180">
                <a:tc>
                  <a:txBody>
                    <a:bodyPr/>
                    <a:lstStyle/>
                    <a:p>
                      <a:r>
                        <a:rPr sz="1725" b="0">
                          <a:solidFill>
                            <a:srgbClr val="EAF3F4"/>
                          </a:solidFill>
                          <a:latin typeface="Segoe UI"/>
                          <a:ea typeface="Segoe UI"/>
                          <a:cs typeface="Segoe UI"/>
                        </a:rPr>
                        <a:t>Distribución ancha</a:t>
                      </a:r>
                    </a:p>
                  </a:txBody>
                  <a:tcPr>
                    <a:solidFill>
                      <a:srgbClr val="081522"/>
                    </a:solidFill>
                  </a:tcPr>
                </a:tc>
                <a:tc>
                  <a:txBody>
                    <a:bodyPr/>
                    <a:lstStyle/>
                    <a:p>
                      <a:r>
                        <a:rPr sz="1725" b="0">
                          <a:solidFill>
                            <a:srgbClr val="EAF3F4"/>
                          </a:solidFill>
                          <a:latin typeface="Segoe UI"/>
                          <a:ea typeface="Segoe UI"/>
                          <a:cs typeface="Segoe UI"/>
                        </a:rPr>
                        <a:t>Tikhonov / MaxEnt / PALMA</a:t>
                      </a:r>
                    </a:p>
                  </a:txBody>
                  <a:tcPr>
                    <a:solidFill>
                      <a:srgbClr val="081522"/>
                    </a:solidFill>
                  </a:tcPr>
                </a:tc>
                <a:tc>
                  <a:txBody>
                    <a:bodyPr/>
                    <a:lstStyle/>
                    <a:p>
                      <a:r>
                        <a:rPr sz="1725" b="0">
                          <a:solidFill>
                            <a:srgbClr val="EAF3F4"/>
                          </a:solidFill>
                          <a:latin typeface="Segoe UI"/>
                          <a:ea typeface="Segoe UI"/>
                          <a:cs typeface="Segoe UI"/>
                        </a:rPr>
                        <a:t>Regularización / puede fusionar componentes</a:t>
                      </a:r>
                    </a:p>
                  </a:txBody>
                  <a:tcPr>
                    <a:solidFill>
                      <a:srgbClr val="081522"/>
                    </a:solidFill>
                  </a:tcPr>
                </a:tc>
                <a:extLst>
                  <a:ext uri="{0D108BD9-81ED-4DB2-BD59-A6C34878D82A}">
                    <a16:rowId xmlns:a16="http://schemas.microsoft.com/office/drawing/2014/main" val="10002"/>
                  </a:ext>
                </a:extLst>
              </a:tr>
              <a:tr h="678180">
                <a:tc>
                  <a:txBody>
                    <a:bodyPr/>
                    <a:lstStyle/>
                    <a:p>
                      <a:r>
                        <a:rPr sz="1725" b="0">
                          <a:solidFill>
                            <a:srgbClr val="EAF3F4"/>
                          </a:solidFill>
                          <a:latin typeface="Segoe UI"/>
                          <a:ea typeface="Segoe UI"/>
                          <a:cs typeface="Segoe UI"/>
                        </a:rPr>
                        <a:t>Pocos componentes</a:t>
                      </a:r>
                    </a:p>
                  </a:txBody>
                  <a:tcPr>
                    <a:solidFill>
                      <a:srgbClr val="081522"/>
                    </a:solidFill>
                  </a:tcPr>
                </a:tc>
                <a:tc>
                  <a:txBody>
                    <a:bodyPr/>
                    <a:lstStyle/>
                    <a:p>
                      <a:r>
                        <a:rPr sz="1725" b="0">
                          <a:solidFill>
                            <a:srgbClr val="EAF3F4"/>
                          </a:solidFill>
                          <a:latin typeface="Segoe UI"/>
                          <a:ea typeface="Segoe UI"/>
                          <a:cs typeface="Segoe UI"/>
                        </a:rPr>
                        <a:t>ITAMeD / L1 / VP / SCORE</a:t>
                      </a:r>
                    </a:p>
                  </a:txBody>
                  <a:tcPr>
                    <a:solidFill>
                      <a:srgbClr val="081522"/>
                    </a:solidFill>
                  </a:tcPr>
                </a:tc>
                <a:tc>
                  <a:txBody>
                    <a:bodyPr/>
                    <a:lstStyle/>
                    <a:p>
                      <a:r>
                        <a:rPr sz="1725" b="0">
                          <a:solidFill>
                            <a:srgbClr val="EAF3F4"/>
                          </a:solidFill>
                          <a:latin typeface="Segoe UI"/>
                          <a:ea typeface="Segoe UI"/>
                          <a:cs typeface="Segoe UI"/>
                        </a:rPr>
                        <a:t>Esparsidad u orden / modelo incorrecto</a:t>
                      </a:r>
                    </a:p>
                  </a:txBody>
                  <a:tcPr>
                    <a:solidFill>
                      <a:srgbClr val="081522"/>
                    </a:solidFill>
                  </a:tcPr>
                </a:tc>
                <a:extLst>
                  <a:ext uri="{0D108BD9-81ED-4DB2-BD59-A6C34878D82A}">
                    <a16:rowId xmlns:a16="http://schemas.microsoft.com/office/drawing/2014/main" val="10003"/>
                  </a:ext>
                </a:extLst>
              </a:tr>
              <a:tr h="678180">
                <a:tc>
                  <a:txBody>
                    <a:bodyPr/>
                    <a:lstStyle/>
                    <a:p>
                      <a:r>
                        <a:rPr sz="1725" b="0">
                          <a:solidFill>
                            <a:srgbClr val="EAF3F4"/>
                          </a:solidFill>
                          <a:latin typeface="Segoe UI"/>
                          <a:ea typeface="Segoe UI"/>
                          <a:cs typeface="Segoe UI"/>
                        </a:rPr>
                        <a:t>Señales solapadas</a:t>
                      </a:r>
                    </a:p>
                  </a:txBody>
                  <a:tcPr>
                    <a:solidFill>
                      <a:srgbClr val="081522"/>
                    </a:solidFill>
                  </a:tcPr>
                </a:tc>
                <a:tc>
                  <a:txBody>
                    <a:bodyPr/>
                    <a:lstStyle/>
                    <a:p>
                      <a:r>
                        <a:rPr sz="1725" b="0">
                          <a:solidFill>
                            <a:srgbClr val="EAF3F4"/>
                          </a:solidFill>
                          <a:latin typeface="Segoe UI"/>
                          <a:ea typeface="Segoe UI"/>
                          <a:cs typeface="Segoe UI"/>
                        </a:rPr>
                        <a:t>MF / TRAIn-MF / SILT</a:t>
                      </a:r>
                    </a:p>
                  </a:txBody>
                  <a:tcPr>
                    <a:solidFill>
                      <a:srgbClr val="081522"/>
                    </a:solidFill>
                  </a:tcPr>
                </a:tc>
                <a:tc>
                  <a:txBody>
                    <a:bodyPr/>
                    <a:lstStyle/>
                    <a:p>
                      <a:r>
                        <a:rPr sz="1725" b="0">
                          <a:solidFill>
                            <a:srgbClr val="EAF3F4"/>
                          </a:solidFill>
                          <a:latin typeface="Segoe UI"/>
                          <a:ea typeface="Segoe UI"/>
                          <a:cs typeface="Segoe UI"/>
                        </a:rPr>
                        <a:t>Estructura compartida / factores espurios</a:t>
                      </a:r>
                    </a:p>
                  </a:txBody>
                  <a:tcPr>
                    <a:solidFill>
                      <a:srgbClr val="081522"/>
                    </a:solidFill>
                  </a:tcPr>
                </a:tc>
                <a:extLst>
                  <a:ext uri="{0D108BD9-81ED-4DB2-BD59-A6C34878D82A}">
                    <a16:rowId xmlns:a16="http://schemas.microsoft.com/office/drawing/2014/main" val="10004"/>
                  </a:ext>
                </a:extLst>
              </a:tr>
            </a:tbl>
          </a:graphicData>
        </a:graphic>
      </p:graphicFrame>
      <p:sp>
        <p:nvSpPr>
          <p:cNvPr id="4" name="reveal_117">
            <a:extLst>
              <a:ext uri="{FF2B5EF4-FFF2-40B4-BE49-F238E27FC236}">
                <a16:creationId xmlns:a16="http://schemas.microsoft.com/office/drawing/2014/main" id="{BB84C9AB-9036-40D0-BE6D-5938F4D84C04}"/>
              </a:ext>
            </a:extLst>
          </p:cNvPr>
          <p:cNvSpPr>
            <a:spLocks noGrp="1"/>
          </p:cNvSpPr>
          <p:nvPr/>
        </p:nvSpPr>
        <p:spPr>
          <a:xfrm>
            <a:off x="581025" y="5572125"/>
            <a:ext cx="10953750" cy="609600"/>
          </a:xfrm>
          <a:prstGeom prst="rect">
            <a:avLst/>
          </a:prstGeom>
          <a:noFill/>
          <a:ln w="0">
            <a:noFill/>
          </a:ln>
        </p:spPr>
        <p:txBody>
          <a:bodyPr lIns="0" tIns="0" rIns="0" bIns="0">
            <a:noAutofit/>
          </a:bodyPr>
          <a:lstStyle>
            <a:defPPr>
              <a:defRPr sz="2100" b="1">
                <a:solidFill>
                  <a:srgbClr val="55DDE0"/>
                </a:solidFill>
                <a:latin typeface="Segoe UI"/>
                <a:ea typeface="Segoe UI"/>
                <a:cs typeface="Segoe UI"/>
              </a:defRPr>
            </a:defPPr>
          </a:lstStyle>
          <a:p>
            <a:pPr>
              <a:defRPr sz="2100" b="1">
                <a:solidFill>
                  <a:srgbClr val="55DDE0"/>
                </a:solidFill>
                <a:latin typeface="Segoe UI"/>
                <a:ea typeface="Segoe UI"/>
                <a:cs typeface="Segoe UI"/>
              </a:defRPr>
            </a:pPr>
            <a:r>
              <a:rPr sz="2100" b="1">
                <a:solidFill>
                  <a:srgbClr val="55DDE0"/>
                </a:solidFill>
                <a:latin typeface="Segoe UI"/>
                <a:ea typeface="Segoe UI"/>
                <a:cs typeface="Segoe UI"/>
              </a:rPr>
              <a:t>Comparar soluciones bajo el mismo b, ruido y preprocesado</a:t>
            </a:r>
          </a:p>
        </p:txBody>
      </p:sp>
      <p:sp>
        <p:nvSpPr>
          <p:cNvPr id="5" name="text_118">
            <a:extLst>
              <a:ext uri="{FF2B5EF4-FFF2-40B4-BE49-F238E27FC236}">
                <a16:creationId xmlns:a16="http://schemas.microsoft.com/office/drawing/2014/main" id="{1922002E-BFE0-473A-B000-8E3325806A3F}"/>
              </a:ext>
            </a:extLst>
          </p:cNvPr>
          <p:cNvSpPr>
            <a:spLocks noGrp="1"/>
          </p:cNvSpPr>
          <p:nvPr/>
        </p:nvSpPr>
        <p:spPr>
          <a:xfrm>
            <a:off x="571500" y="6191250"/>
            <a:ext cx="10934700" cy="523875"/>
          </a:xfrm>
          <a:prstGeom prst="rect">
            <a:avLst/>
          </a:prstGeom>
          <a:noFill/>
          <a:ln w="0">
            <a:noFill/>
          </a:ln>
        </p:spPr>
        <p:txBody>
          <a:bodyPr lIns="0" tIns="0" rIns="0" bIns="0">
            <a:noAutofit/>
          </a:bodyPr>
          <a:lstStyle>
            <a:defPPr>
              <a:defRPr sz="1650" b="0">
                <a:solidFill>
                  <a:srgbClr val="A9C0CC"/>
                </a:solidFill>
                <a:latin typeface="Segoe UI"/>
                <a:ea typeface="Segoe UI"/>
                <a:cs typeface="Segoe UI"/>
              </a:defRPr>
            </a:defPPr>
          </a:lstStyle>
          <a:p>
            <a:pPr>
              <a:defRPr sz="1650" b="0">
                <a:solidFill>
                  <a:srgbClr val="A9C0CC"/>
                </a:solidFill>
                <a:latin typeface="Segoe UI"/>
                <a:ea typeface="Segoe UI"/>
                <a:cs typeface="Segoe UI"/>
              </a:defRPr>
            </a:pPr>
            <a:r>
              <a:rPr sz="1650" b="0">
                <a:solidFill>
                  <a:srgbClr val="A9C0CC"/>
                </a:solidFill>
                <a:latin typeface="Segoe UI"/>
                <a:ea typeface="Segoe UI"/>
                <a:cs typeface="Segoe UI"/>
              </a:rPr>
              <a:t>Catálogo completo en el apéndice: usos, límites y disponibilidad. FISTA/ADMM/SVD son motores, no modelos físicos.</a:t>
            </a:r>
          </a:p>
        </p:txBody>
      </p:sp>
    </p:spTree>
    <p:extLst>
      <p:ext uri="{BB962C8B-B14F-4D97-AF65-F5344CB8AC3E}">
        <p14:creationId xmlns:p14="http://schemas.microsoft.com/office/powerpoint/2010/main" val="212752951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31164</Words>
  <Application>Microsoft Office PowerPoint</Application>
  <DocSecurity>0</DocSecurity>
  <PresentationFormat>Panorámica</PresentationFormat>
  <Paragraphs>2622</Paragraphs>
  <Slides>45</Slides>
  <Notes>45</Notes>
  <HiddenSlides>20</HiddenSlides>
  <MMClips>7</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45</vt:i4>
      </vt:variant>
    </vt:vector>
  </HeadingPairs>
  <TitlesOfParts>
    <vt:vector size="49" baseType="lpstr">
      <vt:lpstr>Aptos</vt:lpstr>
      <vt:lpstr>Consolas</vt:lpstr>
      <vt:lpstr>Segoe UI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Francisco Manuel Arrabal Campos</cp:lastModifiedBy>
  <cp:revision>1</cp:revision>
  <dcterms:created xsi:type="dcterms:W3CDTF">2026-10-02T22:15:23Z</dcterms:created>
  <dcterms:modified xsi:type="dcterms:W3CDTF">2026-10-02T22:16:14Z</dcterms:modified>
</cp:coreProperties>
</file>